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handoutMasterIdLst>
    <p:handoutMasterId r:id="rId57"/>
  </p:handoutMasterIdLst>
  <p:sldIdLst>
    <p:sldId id="489" r:id="rId2"/>
    <p:sldId id="466" r:id="rId3"/>
    <p:sldId id="469" r:id="rId4"/>
    <p:sldId id="258" r:id="rId5"/>
    <p:sldId id="272" r:id="rId6"/>
    <p:sldId id="259" r:id="rId7"/>
    <p:sldId id="260" r:id="rId8"/>
    <p:sldId id="267" r:id="rId9"/>
    <p:sldId id="273" r:id="rId10"/>
    <p:sldId id="274" r:id="rId11"/>
    <p:sldId id="268" r:id="rId12"/>
    <p:sldId id="282" r:id="rId13"/>
    <p:sldId id="468" r:id="rId14"/>
    <p:sldId id="470" r:id="rId15"/>
    <p:sldId id="471" r:id="rId16"/>
    <p:sldId id="257" r:id="rId17"/>
    <p:sldId id="472" r:id="rId18"/>
    <p:sldId id="473" r:id="rId19"/>
    <p:sldId id="474" r:id="rId20"/>
    <p:sldId id="261" r:id="rId21"/>
    <p:sldId id="475" r:id="rId22"/>
    <p:sldId id="476" r:id="rId23"/>
    <p:sldId id="477" r:id="rId24"/>
    <p:sldId id="275" r:id="rId25"/>
    <p:sldId id="276" r:id="rId26"/>
    <p:sldId id="478" r:id="rId27"/>
    <p:sldId id="479" r:id="rId28"/>
    <p:sldId id="480" r:id="rId29"/>
    <p:sldId id="481" r:id="rId30"/>
    <p:sldId id="482" r:id="rId31"/>
    <p:sldId id="483" r:id="rId32"/>
    <p:sldId id="278" r:id="rId33"/>
    <p:sldId id="380" r:id="rId34"/>
    <p:sldId id="484" r:id="rId35"/>
    <p:sldId id="485" r:id="rId36"/>
    <p:sldId id="486" r:id="rId37"/>
    <p:sldId id="277" r:id="rId38"/>
    <p:sldId id="385" r:id="rId39"/>
    <p:sldId id="487" r:id="rId40"/>
    <p:sldId id="488" r:id="rId41"/>
    <p:sldId id="457" r:id="rId42"/>
    <p:sldId id="419" r:id="rId43"/>
    <p:sldId id="436" r:id="rId44"/>
    <p:sldId id="437" r:id="rId45"/>
    <p:sldId id="440" r:id="rId46"/>
    <p:sldId id="416" r:id="rId47"/>
    <p:sldId id="417" r:id="rId48"/>
    <p:sldId id="420" r:id="rId49"/>
    <p:sldId id="421" r:id="rId50"/>
    <p:sldId id="422" r:id="rId51"/>
    <p:sldId id="423" r:id="rId52"/>
    <p:sldId id="426" r:id="rId53"/>
    <p:sldId id="427" r:id="rId54"/>
    <p:sldId id="428" r:id="rId55"/>
  </p:sldIdLst>
  <p:sldSz cx="9144000" cy="6858000" type="screen4x3"/>
  <p:notesSz cx="6858000" cy="9144000"/>
  <p:custDataLst>
    <p:tags r:id="rId5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1186" y="62"/>
      </p:cViewPr>
      <p:guideLst/>
    </p:cSldViewPr>
  </p:slideViewPr>
  <p:notesTextViewPr>
    <p:cViewPr>
      <p:scale>
        <a:sx n="1" d="1"/>
        <a:sy n="1" d="1"/>
      </p:scale>
      <p:origin x="0" y="0"/>
    </p:cViewPr>
  </p:notesTextViewPr>
  <p:notesViewPr>
    <p:cSldViewPr snapToGrid="0">
      <p:cViewPr varScale="1">
        <p:scale>
          <a:sx n="63" d="100"/>
          <a:sy n="63" d="100"/>
        </p:scale>
        <p:origin x="3027" y="65"/>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676F4F-B55F-43F0-9524-BC0CF192312D}" type="datetimeFigureOut">
              <a:rPr lang="zh-CN" altLang="en-US" smtClean="0"/>
              <a:t>2025/11/17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BF08144-F952-4C3F-9204-EFBCAD7151D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D0DE6-1997-47ED-9161-D52A911907A5}" type="datetimeFigureOut">
              <a:rPr lang="zh-CN" altLang="en-US" smtClean="0"/>
              <a:t>2025/11/17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008A88-B2F3-47A2-8A22-CC53A4F94AA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p:sp>
      <p:sp>
        <p:nvSpPr>
          <p:cNvPr id="993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993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eaLnBrk="0" hangingPunct="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eaLnBrk="0" hangingPunct="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fld id="{DB1D6337-CB59-4FB3-8D20-ACB027846D86}" type="slidenum">
              <a:rPr lang="en-US" altLang="zh-CN"/>
              <a:t>50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5D7FE79-B130-4505-9664-8B10FD76844A}" type="datetimeFigureOut">
              <a:rPr lang="zh-CN" altLang="en-US" smtClean="0"/>
              <a:t>2025/11/17</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74DF28-A336-40FB-A12C-95183419D61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40"/>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dirty="0"/>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A95E9FE-D3D4-4D50-B683-6E8377F53E6C}"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文本框 2"/>
          <p:cNvSpPr txBox="1"/>
          <p:nvPr userDrawn="1"/>
        </p:nvSpPr>
        <p:spPr>
          <a:xfrm>
            <a:off x="1619672" y="116632"/>
            <a:ext cx="6984776" cy="523220"/>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r>
              <a:rPr lang="en-US" altLang="zh-CN" sz="2800" b="0" kern="100" cap="none" spc="0" dirty="0">
                <a:ln w="0"/>
                <a:solidFill>
                  <a:schemeClr val="accent2"/>
                </a:solidFill>
                <a:effectLst>
                  <a:outerShdw blurRad="38100" dist="25400" dir="5400000" algn="ctr" rotWithShape="0">
                    <a:srgbClr val="6E747A">
                      <a:alpha val="43000"/>
                    </a:srgbClr>
                  </a:outerShdw>
                </a:effectLst>
                <a:latin typeface="宋体" panose="02010600030101010101" pitchFamily="2" charset="-122"/>
                <a:cs typeface="Times New Roman" panose="02020603050405020304" pitchFamily="18" charset="0"/>
              </a:rPr>
              <a:t>BP</a:t>
            </a:r>
            <a:r>
              <a:rPr lang="zh-CN" altLang="en-US" sz="2800" b="0" kern="100" cap="none" spc="0" dirty="0">
                <a:ln w="0"/>
                <a:solidFill>
                  <a:schemeClr val="accent2"/>
                </a:solidFill>
                <a:effectLst>
                  <a:outerShdw blurRad="38100" dist="25400" dir="5400000" algn="ctr" rotWithShape="0">
                    <a:srgbClr val="6E747A">
                      <a:alpha val="43000"/>
                    </a:srgbClr>
                  </a:outerShdw>
                </a:effectLst>
                <a:latin typeface="宋体" panose="02010600030101010101" pitchFamily="2" charset="-122"/>
                <a:cs typeface="Times New Roman" panose="02020603050405020304" pitchFamily="18" charset="0"/>
              </a:rPr>
              <a:t>神经网络</a:t>
            </a:r>
            <a:endParaRPr lang="zh-CN" altLang="en-US" sz="2800" b="0" cap="none" spc="0" dirty="0">
              <a:ln w="0"/>
              <a:solidFill>
                <a:schemeClr val="accent2"/>
              </a:solidFill>
              <a:effectLst>
                <a:outerShdw blurRad="38100" dist="25400" dir="5400000" algn="ctr" rotWithShape="0">
                  <a:srgbClr val="6E747A">
                    <a:alpha val="43000"/>
                  </a:srgbClr>
                </a:outerShdw>
              </a:effectLst>
              <a:latin typeface="宋体" panose="02010600030101010101" pitchFamily="2" charset="-122"/>
            </a:endParaRPr>
          </a:p>
        </p:txBody>
      </p:sp>
      <p:cxnSp>
        <p:nvCxnSpPr>
          <p:cNvPr id="5" name="直接连接符 4"/>
          <p:cNvCxnSpPr/>
          <p:nvPr userDrawn="1"/>
        </p:nvCxnSpPr>
        <p:spPr>
          <a:xfrm>
            <a:off x="1475192" y="639852"/>
            <a:ext cx="7561304" cy="0"/>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scut hanle</a:t>
            </a:r>
            <a:endParaRPr lang="zh-CN" alt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74DF28-A336-40FB-A12C-95183419D6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image" Target="../media/image5.wmf"/><Relationship Id="rId3" Type="http://schemas.openxmlformats.org/officeDocument/2006/relationships/image" Target="../media/image3.wmf"/><Relationship Id="rId7" Type="http://schemas.openxmlformats.org/officeDocument/2006/relationships/image" Target="../media/image4.wmf"/><Relationship Id="rId12" Type="http://schemas.openxmlformats.org/officeDocument/2006/relationships/oleObject" Target="../embeddings/oleObject3.bin"/><Relationship Id="rId17" Type="http://schemas.openxmlformats.org/officeDocument/2006/relationships/image" Target="../media/image21.png"/><Relationship Id="rId2" Type="http://schemas.openxmlformats.org/officeDocument/2006/relationships/oleObject" Target="../embeddings/oleObject1.bin"/><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oleObject" Target="../embeddings/oleObject2.bin"/><Relationship Id="rId11" Type="http://schemas.openxmlformats.org/officeDocument/2006/relationships/image" Target="../media/image5.wmf"/><Relationship Id="rId5" Type="http://schemas.openxmlformats.org/officeDocument/2006/relationships/image" Target="../media/image3.wmf"/><Relationship Id="rId15" Type="http://schemas.openxmlformats.org/officeDocument/2006/relationships/image" Target="../media/image19.png"/><Relationship Id="rId10" Type="http://schemas.openxmlformats.org/officeDocument/2006/relationships/oleObject" Target="../embeddings/oleObject3.bin"/><Relationship Id="rId4" Type="http://schemas.openxmlformats.org/officeDocument/2006/relationships/oleObject" Target="../embeddings/oleObject1.bin"/><Relationship Id="rId9" Type="http://schemas.openxmlformats.org/officeDocument/2006/relationships/image" Target="../media/image4.wmf"/><Relationship Id="rId1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5.wmf"/><Relationship Id="rId18" Type="http://schemas.openxmlformats.org/officeDocument/2006/relationships/image" Target="../media/image6.wmf"/><Relationship Id="rId3" Type="http://schemas.openxmlformats.org/officeDocument/2006/relationships/image" Target="../media/image3.wmf"/><Relationship Id="rId21" Type="http://schemas.openxmlformats.org/officeDocument/2006/relationships/image" Target="../media/image26.png"/><Relationship Id="rId7" Type="http://schemas.openxmlformats.org/officeDocument/2006/relationships/image" Target="../media/image4.wmf"/><Relationship Id="rId12" Type="http://schemas.openxmlformats.org/officeDocument/2006/relationships/oleObject" Target="../embeddings/oleObject6.bin"/><Relationship Id="rId17" Type="http://schemas.openxmlformats.org/officeDocument/2006/relationships/oleObject" Target="../embeddings/oleObject7.bin"/><Relationship Id="rId2" Type="http://schemas.openxmlformats.org/officeDocument/2006/relationships/oleObject" Target="../embeddings/oleObject4.bin"/><Relationship Id="rId16" Type="http://schemas.openxmlformats.org/officeDocument/2006/relationships/image" Target="../media/image24.png"/><Relationship Id="rId20" Type="http://schemas.openxmlformats.org/officeDocument/2006/relationships/image" Target="../media/image6.wmf"/><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5.wmf"/><Relationship Id="rId5" Type="http://schemas.openxmlformats.org/officeDocument/2006/relationships/image" Target="../media/image3.wmf"/><Relationship Id="rId15" Type="http://schemas.openxmlformats.org/officeDocument/2006/relationships/image" Target="../media/image23.png"/><Relationship Id="rId10" Type="http://schemas.openxmlformats.org/officeDocument/2006/relationships/oleObject" Target="../embeddings/oleObject6.bin"/><Relationship Id="rId19"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4.wmf"/><Relationship Id="rId14" Type="http://schemas.openxmlformats.org/officeDocument/2006/relationships/image" Target="../media/image22.png"/><Relationship Id="rId22"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26.png"/><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image" Target="../media/image6.wmf"/><Relationship Id="rId2"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10.bin"/><Relationship Id="rId11" Type="http://schemas.openxmlformats.org/officeDocument/2006/relationships/oleObject" Target="../embeddings/oleObject11.bin"/><Relationship Id="rId5" Type="http://schemas.openxmlformats.org/officeDocument/2006/relationships/image" Target="../media/image4.wmf"/><Relationship Id="rId15" Type="http://schemas.openxmlformats.org/officeDocument/2006/relationships/image" Target="../media/image29.png"/><Relationship Id="rId10" Type="http://schemas.openxmlformats.org/officeDocument/2006/relationships/image" Target="../media/image20.png"/><Relationship Id="rId4" Type="http://schemas.openxmlformats.org/officeDocument/2006/relationships/oleObject" Target="../embeddings/oleObject9.bin"/><Relationship Id="rId9" Type="http://schemas.openxmlformats.org/officeDocument/2006/relationships/image" Target="../media/image19.png"/><Relationship Id="rId14"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7.wmf"/><Relationship Id="rId7" Type="http://schemas.openxmlformats.org/officeDocument/2006/relationships/image" Target="../media/image9.wmf"/><Relationship Id="rId2"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oleObject" Target="../embeddings/oleObject14.bin"/><Relationship Id="rId5" Type="http://schemas.openxmlformats.org/officeDocument/2006/relationships/image" Target="../media/image8.wmf"/><Relationship Id="rId4" Type="http://schemas.openxmlformats.org/officeDocument/2006/relationships/oleObject" Target="../embeddings/oleObject13.bin"/><Relationship Id="rId9" Type="http://schemas.openxmlformats.org/officeDocument/2006/relationships/image" Target="../media/image10.wmf"/></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oleObject" Target="../embeddings/oleObject16.bin"/><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5.png"/><Relationship Id="rId7" Type="http://schemas.openxmlformats.org/officeDocument/2006/relationships/image" Target="../media/image62.png"/><Relationship Id="rId2" Type="http://schemas.openxmlformats.org/officeDocument/2006/relationships/image" Target="../media/image32.png"/><Relationship Id="rId1" Type="http://schemas.openxmlformats.org/officeDocument/2006/relationships/slideLayout" Target="../slideLayouts/slideLayout13.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5.emf"/><Relationship Id="rId2" Type="http://schemas.openxmlformats.org/officeDocument/2006/relationships/oleObject" Target="../embeddings/oleObject17.bin"/><Relationship Id="rId1" Type="http://schemas.openxmlformats.org/officeDocument/2006/relationships/slideLayout" Target="../slideLayouts/slideLayout13.xml"/><Relationship Id="rId6" Type="http://schemas.openxmlformats.org/officeDocument/2006/relationships/oleObject" Target="../embeddings/oleObject19.bin"/><Relationship Id="rId5" Type="http://schemas.openxmlformats.org/officeDocument/2006/relationships/image" Target="../media/image34.emf"/><Relationship Id="rId4" Type="http://schemas.openxmlformats.org/officeDocument/2006/relationships/oleObject" Target="../embeddings/oleObject18.bin"/></Relationships>
</file>

<file path=ppt/slides/_rels/slide44.xml.rels><?xml version="1.0" encoding="UTF-8" standalone="yes"?>
<Relationships xmlns="http://schemas.openxmlformats.org/package/2006/relationships"><Relationship Id="rId3" Type="http://schemas.openxmlformats.org/officeDocument/2006/relationships/image" Target="../media/image36.emf"/><Relationship Id="rId7" Type="http://schemas.openxmlformats.org/officeDocument/2006/relationships/image" Target="../media/image38.emf"/><Relationship Id="rId2" Type="http://schemas.openxmlformats.org/officeDocument/2006/relationships/oleObject" Target="../embeddings/oleObject20.bin"/><Relationship Id="rId1" Type="http://schemas.openxmlformats.org/officeDocument/2006/relationships/slideLayout" Target="../slideLayouts/slideLayout13.xml"/><Relationship Id="rId6" Type="http://schemas.openxmlformats.org/officeDocument/2006/relationships/oleObject" Target="../embeddings/oleObject22.bin"/><Relationship Id="rId5" Type="http://schemas.openxmlformats.org/officeDocument/2006/relationships/image" Target="../media/image37.emf"/><Relationship Id="rId4" Type="http://schemas.openxmlformats.org/officeDocument/2006/relationships/oleObject" Target="../embeddings/oleObject21.bin"/></Relationships>
</file>

<file path=ppt/slides/_rels/slide4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23.bin"/><Relationship Id="rId1" Type="http://schemas.openxmlformats.org/officeDocument/2006/relationships/slideLayout" Target="../slideLayouts/slideLayout13.xml"/><Relationship Id="rId5" Type="http://schemas.openxmlformats.org/officeDocument/2006/relationships/image" Target="../media/image40.emf"/><Relationship Id="rId4" Type="http://schemas.openxmlformats.org/officeDocument/2006/relationships/oleObject" Target="../embeddings/oleObject24.bin"/></Relationships>
</file>

<file path=ppt/slides/_rels/slide4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25.bin"/><Relationship Id="rId1" Type="http://schemas.openxmlformats.org/officeDocument/2006/relationships/slideLayout" Target="../slideLayouts/slideLayout13.xml"/><Relationship Id="rId5" Type="http://schemas.openxmlformats.org/officeDocument/2006/relationships/image" Target="../media/image42.emf"/><Relationship Id="rId4" Type="http://schemas.openxmlformats.org/officeDocument/2006/relationships/oleObject" Target="../embeddings/oleObject26.bin"/></Relationships>
</file>

<file path=ppt/slides/_rels/slide4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27.bin"/><Relationship Id="rId1" Type="http://schemas.openxmlformats.org/officeDocument/2006/relationships/slideLayout" Target="../slideLayouts/slideLayout13.xml"/><Relationship Id="rId5" Type="http://schemas.openxmlformats.org/officeDocument/2006/relationships/image" Target="../media/image44.emf"/><Relationship Id="rId4" Type="http://schemas.openxmlformats.org/officeDocument/2006/relationships/oleObject" Target="../embeddings/oleObject28.bin"/></Relationships>
</file>

<file path=ppt/slides/_rels/slide48.xml.rels><?xml version="1.0" encoding="UTF-8" standalone="yes"?>
<Relationships xmlns="http://schemas.openxmlformats.org/package/2006/relationships"><Relationship Id="rId3" Type="http://schemas.openxmlformats.org/officeDocument/2006/relationships/image" Target="../media/image45.emf"/><Relationship Id="rId7" Type="http://schemas.openxmlformats.org/officeDocument/2006/relationships/image" Target="../media/image47.emf"/><Relationship Id="rId2" Type="http://schemas.openxmlformats.org/officeDocument/2006/relationships/oleObject" Target="../embeddings/oleObject29.bin"/><Relationship Id="rId1" Type="http://schemas.openxmlformats.org/officeDocument/2006/relationships/slideLayout" Target="../slideLayouts/slideLayout13.xml"/><Relationship Id="rId6" Type="http://schemas.openxmlformats.org/officeDocument/2006/relationships/oleObject" Target="../embeddings/oleObject31.bin"/><Relationship Id="rId5" Type="http://schemas.openxmlformats.org/officeDocument/2006/relationships/image" Target="../media/image46.emf"/><Relationship Id="rId4" Type="http://schemas.openxmlformats.org/officeDocument/2006/relationships/oleObject" Target="../embeddings/oleObject30.bin"/></Relationships>
</file>

<file path=ppt/slides/_rels/slide4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32.bin"/><Relationship Id="rId1" Type="http://schemas.openxmlformats.org/officeDocument/2006/relationships/slideLayout" Target="../slideLayouts/slideLayout13.xml"/><Relationship Id="rId5" Type="http://schemas.openxmlformats.org/officeDocument/2006/relationships/image" Target="../media/image49.emf"/><Relationship Id="rId4" Type="http://schemas.openxmlformats.org/officeDocument/2006/relationships/oleObject" Target="../embeddings/oleObject33.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61.emf"/><Relationship Id="rId3" Type="http://schemas.openxmlformats.org/officeDocument/2006/relationships/oleObject" Target="../embeddings/oleObject34.bin"/><Relationship Id="rId7" Type="http://schemas.openxmlformats.org/officeDocument/2006/relationships/image" Target="../media/image58.emf"/><Relationship Id="rId12" Type="http://schemas.openxmlformats.org/officeDocument/2006/relationships/oleObject" Target="../embeddings/oleObject38.bin"/><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oleObject" Target="../embeddings/oleObject35.bin"/><Relationship Id="rId11" Type="http://schemas.openxmlformats.org/officeDocument/2006/relationships/image" Target="../media/image60.emf"/><Relationship Id="rId5" Type="http://schemas.openxmlformats.org/officeDocument/2006/relationships/image" Target="../media/image57.png"/><Relationship Id="rId10" Type="http://schemas.openxmlformats.org/officeDocument/2006/relationships/oleObject" Target="../embeddings/oleObject37.bin"/><Relationship Id="rId4" Type="http://schemas.openxmlformats.org/officeDocument/2006/relationships/image" Target="../media/image50.emf"/><Relationship Id="rId9" Type="http://schemas.openxmlformats.org/officeDocument/2006/relationships/image" Target="../media/image59.emf"/></Relationships>
</file>

<file path=ppt/slides/_rels/slide51.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oleObject" Target="../embeddings/oleObject39.bin"/><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63.emf"/><Relationship Id="rId7" Type="http://schemas.openxmlformats.org/officeDocument/2006/relationships/image" Target="../media/image65.emf"/><Relationship Id="rId2" Type="http://schemas.openxmlformats.org/officeDocument/2006/relationships/oleObject" Target="../embeddings/oleObject40.bin"/><Relationship Id="rId1" Type="http://schemas.openxmlformats.org/officeDocument/2006/relationships/slideLayout" Target="../slideLayouts/slideLayout13.xml"/><Relationship Id="rId6" Type="http://schemas.openxmlformats.org/officeDocument/2006/relationships/oleObject" Target="../embeddings/oleObject42.bin"/><Relationship Id="rId5" Type="http://schemas.openxmlformats.org/officeDocument/2006/relationships/image" Target="../media/image64.emf"/><Relationship Id="rId4" Type="http://schemas.openxmlformats.org/officeDocument/2006/relationships/oleObject" Target="../embeddings/oleObject41.bin"/><Relationship Id="rId9" Type="http://schemas.openxmlformats.org/officeDocument/2006/relationships/image" Target="../media/image66.emf"/></Relationships>
</file>

<file path=ppt/slides/_rels/slide53.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embeddings/oleObject44.bin"/><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68.emf"/><Relationship Id="rId7" Type="http://schemas.openxmlformats.org/officeDocument/2006/relationships/image" Target="../media/image70.emf"/><Relationship Id="rId2" Type="http://schemas.openxmlformats.org/officeDocument/2006/relationships/oleObject" Target="../embeddings/oleObject45.bin"/><Relationship Id="rId1" Type="http://schemas.openxmlformats.org/officeDocument/2006/relationships/slideLayout" Target="../slideLayouts/slideLayout13.xml"/><Relationship Id="rId6" Type="http://schemas.openxmlformats.org/officeDocument/2006/relationships/oleObject" Target="../embeddings/oleObject47.bin"/><Relationship Id="rId5" Type="http://schemas.openxmlformats.org/officeDocument/2006/relationships/image" Target="../media/image69.emf"/><Relationship Id="rId4" Type="http://schemas.openxmlformats.org/officeDocument/2006/relationships/oleObject" Target="../embeddings/oleObject46.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3247974" y="2507376"/>
                <a:ext cx="1950662" cy="7210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3600" i="1" smtClean="0">
                              <a:latin typeface="Cambria Math" panose="02040503050406030204" pitchFamily="18" charset="0"/>
                            </a:rPr>
                          </m:ctrlPr>
                        </m:funcPr>
                        <m:fName>
                          <m:limLow>
                            <m:limLowPr>
                              <m:ctrlPr>
                                <a:rPr lang="en-US" altLang="zh-CN" sz="3600" i="1" smtClean="0">
                                  <a:latin typeface="Cambria Math" panose="02040503050406030204" pitchFamily="18" charset="0"/>
                                </a:rPr>
                              </m:ctrlPr>
                            </m:limLowPr>
                            <m:e>
                              <m:r>
                                <m:rPr>
                                  <m:sty m:val="p"/>
                                </m:rPr>
                                <a:rPr lang="en-US" altLang="zh-CN" sz="3600" i="0" smtClean="0">
                                  <a:latin typeface="Cambria Math" panose="02040503050406030204" pitchFamily="18" charset="0"/>
                                </a:rPr>
                                <m:t>min</m:t>
                              </m:r>
                            </m:e>
                            <m:lim>
                              <m:r>
                                <a:rPr lang="en-US" altLang="zh-CN" sz="3600" b="0" i="1" smtClean="0">
                                  <a:latin typeface="Cambria Math" panose="02040503050406030204" pitchFamily="18" charset="0"/>
                                </a:rPr>
                                <m:t>𝑥</m:t>
                              </m:r>
                              <m:r>
                                <a:rPr lang="en-US" altLang="zh-CN" sz="3600" b="0" i="1" smtClean="0">
                                  <a:latin typeface="Cambria Math" panose="02040503050406030204" pitchFamily="18" charset="0"/>
                                  <a:ea typeface="Cambria Math" panose="02040503050406030204" pitchFamily="18" charset="0"/>
                                </a:rPr>
                                <m:t>∈</m:t>
                              </m:r>
                              <m:sSup>
                                <m:sSupPr>
                                  <m:ctrlPr>
                                    <a:rPr lang="en-US" altLang="zh-CN" sz="3600" b="0" i="1" smtClean="0">
                                      <a:latin typeface="Cambria Math" panose="02040503050406030204" pitchFamily="18" charset="0"/>
                                      <a:ea typeface="Cambria Math" panose="02040503050406030204" pitchFamily="18" charset="0"/>
                                    </a:rPr>
                                  </m:ctrlPr>
                                </m:sSupPr>
                                <m:e>
                                  <m:r>
                                    <a:rPr lang="en-US" altLang="zh-CN" sz="3600" b="0" i="1" smtClean="0">
                                      <a:latin typeface="Cambria Math" panose="02040503050406030204" pitchFamily="18" charset="0"/>
                                      <a:ea typeface="Cambria Math" panose="02040503050406030204" pitchFamily="18" charset="0"/>
                                    </a:rPr>
                                    <m:t>𝑅</m:t>
                                  </m:r>
                                </m:e>
                                <m:sup>
                                  <m:r>
                                    <a:rPr lang="en-US" altLang="zh-CN" sz="3600" b="0" i="1" smtClean="0">
                                      <a:latin typeface="Cambria Math" panose="02040503050406030204" pitchFamily="18" charset="0"/>
                                      <a:ea typeface="Cambria Math" panose="02040503050406030204" pitchFamily="18" charset="0"/>
                                    </a:rPr>
                                    <m:t>𝑛</m:t>
                                  </m:r>
                                </m:sup>
                              </m:sSup>
                            </m:lim>
                          </m:limLow>
                        </m:fName>
                        <m:e>
                          <m:r>
                            <a:rPr lang="en-US" altLang="zh-CN" sz="3600" b="0" i="1" smtClean="0">
                              <a:latin typeface="Cambria Math" panose="02040503050406030204" pitchFamily="18" charset="0"/>
                            </a:rPr>
                            <m:t>𝑓</m:t>
                          </m:r>
                          <m:r>
                            <a:rPr lang="en-US" altLang="zh-CN" sz="3600" b="0" i="1" smtClean="0">
                              <a:latin typeface="Cambria Math" panose="02040503050406030204" pitchFamily="18" charset="0"/>
                            </a:rPr>
                            <m:t>(</m:t>
                          </m:r>
                          <m:r>
                            <a:rPr lang="en-US" altLang="zh-CN" sz="3600" b="0" i="1" smtClean="0">
                              <a:latin typeface="Cambria Math" panose="02040503050406030204" pitchFamily="18" charset="0"/>
                            </a:rPr>
                            <m:t>𝑥</m:t>
                          </m:r>
                          <m:r>
                            <a:rPr lang="en-US" altLang="zh-CN" sz="3600" b="0" i="1" smtClean="0">
                              <a:latin typeface="Cambria Math" panose="02040503050406030204" pitchFamily="18" charset="0"/>
                            </a:rPr>
                            <m:t>)</m:t>
                          </m:r>
                        </m:e>
                      </m:func>
                    </m:oMath>
                  </m:oMathPara>
                </a14:m>
                <a:endParaRPr lang="zh-CN" altLang="en-US" sz="3600" dirty="0"/>
              </a:p>
            </p:txBody>
          </p:sp>
        </mc:Choice>
        <mc:Fallback xmlns="">
          <p:sp>
            <p:nvSpPr>
              <p:cNvPr id="2" name="文本框 1"/>
              <p:cNvSpPr txBox="1">
                <a:spLocks noRot="1" noChangeAspect="1" noMove="1" noResize="1" noEditPoints="1" noAdjustHandles="1" noChangeArrowheads="1" noChangeShapeType="1" noTextEdit="1"/>
              </p:cNvSpPr>
              <p:nvPr/>
            </p:nvSpPr>
            <p:spPr>
              <a:xfrm>
                <a:off x="3247974" y="2507376"/>
                <a:ext cx="1950662" cy="721095"/>
              </a:xfrm>
              <a:prstGeom prst="rect">
                <a:avLst/>
              </a:prstGeom>
              <a:blipFill rotWithShape="1">
                <a:blip r:embed="rId2"/>
                <a:stretch>
                  <a:fillRect l="-30" t="-55" r="-266" b="18"/>
                </a:stretch>
              </a:blipFill>
            </p:spPr>
            <p:txBody>
              <a:bodyPr/>
              <a:lstStyle/>
              <a:p>
                <a:r>
                  <a:rPr lang="zh-CN" altLang="en-US">
                    <a:noFill/>
                  </a:rPr>
                  <a:t> </a:t>
                </a:r>
              </a:p>
            </p:txBody>
          </p:sp>
        </mc:Fallback>
      </mc:AlternateContent>
      <p:sp>
        <p:nvSpPr>
          <p:cNvPr id="3" name="文本框 2"/>
          <p:cNvSpPr txBox="1"/>
          <p:nvPr/>
        </p:nvSpPr>
        <p:spPr>
          <a:xfrm>
            <a:off x="994299" y="1384917"/>
            <a:ext cx="4305670" cy="523220"/>
          </a:xfrm>
          <a:prstGeom prst="rect">
            <a:avLst/>
          </a:prstGeom>
          <a:noFill/>
        </p:spPr>
        <p:txBody>
          <a:bodyPr wrap="square" rtlCol="0">
            <a:spAutoFit/>
          </a:bodyPr>
          <a:lstStyle/>
          <a:p>
            <a:r>
              <a:rPr lang="zh-CN" altLang="en-US" sz="2800" dirty="0"/>
              <a:t>第 八 章 研 究 的 问 题</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25728" y="2564904"/>
            <a:ext cx="3228769" cy="600164"/>
          </a:xfrm>
          <a:prstGeom prst="rect">
            <a:avLst/>
          </a:prstGeom>
        </p:spPr>
        <p:txBody>
          <a:bodyPr wrap="none">
            <a:spAutoFit/>
          </a:bodyPr>
          <a:lstStyle/>
          <a:p>
            <a:pPr algn="ctr"/>
            <a:r>
              <a:rPr lang="en-US" altLang="zh-CN" sz="3300" b="1" dirty="0"/>
              <a:t>   8.1 </a:t>
            </a:r>
            <a:r>
              <a:rPr lang="zh-CN" altLang="en-US" sz="3300" b="1" dirty="0"/>
              <a:t>变量轮换法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79721" y="1046252"/>
            <a:ext cx="7384558" cy="3329758"/>
          </a:xfrm>
          <a:prstGeom prst="rect">
            <a:avLst/>
          </a:prstGeom>
          <a:noFill/>
        </p:spPr>
        <p:txBody>
          <a:bodyPr wrap="square">
            <a:spAutoFit/>
          </a:bodyPr>
          <a:lstStyle/>
          <a:p>
            <a:pPr indent="200025" algn="just">
              <a:lnSpc>
                <a:spcPct val="150000"/>
              </a:lnSpc>
            </a:pPr>
            <a:r>
              <a:rPr lang="en-US" altLang="zh-CN" sz="2400" kern="100" dirty="0">
                <a:latin typeface="宋体" panose="02010600030101010101" pitchFamily="2" charset="-122"/>
                <a:ea typeface="宋体" panose="02010600030101010101" pitchFamily="2" charset="-122"/>
              </a:rPr>
              <a:t>  </a:t>
            </a:r>
            <a:r>
              <a:rPr lang="zh-CN" altLang="zh-CN" sz="2400" kern="100" dirty="0">
                <a:latin typeface="宋体" panose="02010600030101010101" pitchFamily="2" charset="-122"/>
                <a:ea typeface="宋体" panose="02010600030101010101" pitchFamily="2" charset="-122"/>
              </a:rPr>
              <a:t>在求解无约束非线性规划问题时，如果遇到问题的目标函数不可导或导函数的解析式难以表示时，人们一般需要使用直接搜索方法</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同时，由于这些方法一般都比较直观和易于理解，因而在实际应用中常为人们所采用</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变量轮换法又叫坐标轮换法</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就是一种最简单的直接搜索方法</a:t>
            </a:r>
            <a:r>
              <a:rPr lang="en-US" altLang="zh-CN" sz="2400" kern="100" dirty="0">
                <a:latin typeface="宋体" panose="02010600030101010101" pitchFamily="2" charset="-122"/>
                <a:ea typeface="宋体" panose="02010600030101010101" pitchFamily="2" charset="-122"/>
              </a:rPr>
              <a:t>, </a:t>
            </a:r>
            <a:r>
              <a:rPr lang="zh-CN" altLang="zh-CN" sz="2400" kern="100" dirty="0">
                <a:latin typeface="宋体" panose="02010600030101010101" pitchFamily="2" charset="-122"/>
                <a:ea typeface="宋体" panose="02010600030101010101" pitchFamily="2" charset="-122"/>
              </a:rPr>
              <a:t>也称为交替方向法</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idx="4294967295"/>
          </p:nvPr>
        </p:nvSpPr>
        <p:spPr>
          <a:xfrm>
            <a:off x="612559" y="1897013"/>
            <a:ext cx="7056438" cy="3230563"/>
          </a:xfrm>
        </p:spPr>
        <p:txBody>
          <a:bodyPr>
            <a:normAutofit/>
          </a:bodyPr>
          <a:lstStyle/>
          <a:p>
            <a:pPr algn="just" fontAlgn="auto">
              <a:lnSpc>
                <a:spcPct val="150000"/>
              </a:lnSpc>
              <a:buFont typeface="Wingdings" panose="05000000000000000000" pitchFamily="2" charset="2"/>
              <a:buNone/>
            </a:pPr>
            <a:r>
              <a:rPr lang="zh-CN" altLang="en-US" sz="2400" dirty="0">
                <a:latin typeface="宋体" panose="02010600030101010101" pitchFamily="2" charset="-122"/>
                <a:ea typeface="宋体" panose="02010600030101010101" pitchFamily="2" charset="-122"/>
              </a:rPr>
              <a:t>     变量轮换法是多变量函数寻优方法中原理最简单的一种方法，它把多变量函数的优化问题转化为一系列单变量函数的优化问题来解。它的基本思想是：每次搜索只允许一个变量变化，其余变量保持不变，即沿坐标方向轮流进行搜索寻优。</a:t>
            </a:r>
          </a:p>
        </p:txBody>
      </p:sp>
      <p:sp>
        <p:nvSpPr>
          <p:cNvPr id="4" name="文本框 3"/>
          <p:cNvSpPr txBox="1"/>
          <p:nvPr/>
        </p:nvSpPr>
        <p:spPr>
          <a:xfrm>
            <a:off x="538565" y="1000295"/>
            <a:ext cx="5154105" cy="461665"/>
          </a:xfrm>
          <a:prstGeom prst="rect">
            <a:avLst/>
          </a:prstGeom>
          <a:noFill/>
        </p:spPr>
        <p:txBody>
          <a:bodyPr wrap="square">
            <a:spAutoFit/>
          </a:bodyPr>
          <a:lstStyle/>
          <a:p>
            <a:pPr algn="just">
              <a:spcBef>
                <a:spcPts val="450"/>
              </a:spcBef>
              <a:spcAft>
                <a:spcPts val="450"/>
              </a:spcAft>
            </a:pPr>
            <a:r>
              <a:rPr lang="zh-CN" altLang="zh-CN" sz="2400" kern="100" dirty="0">
                <a:latin typeface="Times New Roman" panose="02020603050405020304" pitchFamily="18" charset="0"/>
                <a:ea typeface="黑体" panose="02010609060101010101" pitchFamily="49" charset="-122"/>
              </a:rPr>
              <a:t>一、</a:t>
            </a:r>
            <a:r>
              <a:rPr lang="zh-CN" altLang="en-US" sz="2400" kern="100" dirty="0">
                <a:latin typeface="Times New Roman" panose="02020603050405020304" pitchFamily="18" charset="0"/>
                <a:ea typeface="黑体" panose="02010609060101010101" pitchFamily="49" charset="-122"/>
              </a:rPr>
              <a:t>主要思想</a:t>
            </a:r>
            <a:endParaRPr lang="zh-CN" altLang="zh-CN" sz="2400" kern="100" dirty="0">
              <a:latin typeface="Times New Roman" panose="02020603050405020304" pitchFamily="18" charset="0"/>
              <a:ea typeface="宋体" panose="02010600030101010101" pitchFamily="2" charset="-122"/>
            </a:endParaRPr>
          </a:p>
        </p:txBody>
      </p:sp>
    </p:spTree>
  </p:cSld>
  <p:clrMapOvr>
    <a:masterClrMapping/>
  </p:clrMapOvr>
  <p:transition>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778794" y="1321594"/>
            <a:ext cx="5586413" cy="4214813"/>
          </a:xfrm>
          <a:prstGeom prst="rect">
            <a:avLst/>
          </a:prstGeom>
        </p:spPr>
      </p:pic>
      <p:sp>
        <p:nvSpPr>
          <p:cNvPr id="4" name="Rectangle 14"/>
          <p:cNvSpPr>
            <a:spLocks noChangeArrowheads="1"/>
          </p:cNvSpPr>
          <p:nvPr/>
        </p:nvSpPr>
        <p:spPr bwMode="auto">
          <a:xfrm>
            <a:off x="1171005" y="1127776"/>
            <a:ext cx="507831"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lang="zh-CN" altLang="en-US" sz="2100" dirty="0">
                <a:solidFill>
                  <a:srgbClr val="FF0000"/>
                </a:solidFill>
              </a:rPr>
              <a:t>如图，以二元函数为例。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6"/>
          <p:cNvSpPr txBox="1">
            <a:spLocks noChangeArrowheads="1"/>
          </p:cNvSpPr>
          <p:nvPr/>
        </p:nvSpPr>
        <p:spPr>
          <a:xfrm>
            <a:off x="105513" y="119975"/>
            <a:ext cx="5772150" cy="400110"/>
          </a:xfrm>
          <a:prstGeom prst="rect">
            <a:avLst/>
          </a:prstGeom>
          <a:noFill/>
        </p:spPr>
        <p:txBody>
          <a:bodyPr wrap="square">
            <a:spAutoFit/>
          </a:bodyPr>
          <a:lstStyle>
            <a:defPPr>
              <a:defRPr lang="en-US"/>
            </a:defPPr>
            <a:lvl1pPr algn="just">
              <a:spcBef>
                <a:spcPts val="600"/>
              </a:spcBef>
              <a:spcAft>
                <a:spcPts val="600"/>
              </a:spcAft>
              <a:defRPr sz="3200" kern="100">
                <a:effectLst/>
                <a:latin typeface="Times New Roman" panose="02020603050405020304" pitchFamily="18" charset="0"/>
                <a:ea typeface="黑体" panose="02010609060101010101" pitchFamily="49"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t>二、计算步骤与举例</a:t>
            </a:r>
          </a:p>
        </p:txBody>
      </p:sp>
      <mc:AlternateContent xmlns:mc="http://schemas.openxmlformats.org/markup-compatibility/2006" xmlns:a14="http://schemas.microsoft.com/office/drawing/2010/main">
        <mc:Choice Requires="a14">
          <p:sp>
            <p:nvSpPr>
              <p:cNvPr id="2" name="文本框 1"/>
              <p:cNvSpPr txBox="1"/>
              <p:nvPr/>
            </p:nvSpPr>
            <p:spPr>
              <a:xfrm>
                <a:off x="355107" y="604936"/>
                <a:ext cx="8700116" cy="5726824"/>
              </a:xfrm>
              <a:prstGeom prst="rect">
                <a:avLst/>
              </a:prstGeom>
              <a:noFill/>
            </p:spPr>
            <p:txBody>
              <a:bodyPr wrap="square" rtlCol="0">
                <a:spAutoFit/>
              </a:bodyPr>
              <a:lstStyle/>
              <a:p>
                <a:pPr>
                  <a:lnSpc>
                    <a:spcPct val="11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设</a:t>
                </a:r>
                <a14:m>
                  <m:oMath xmlns:m="http://schemas.openxmlformats.org/officeDocument/2006/math">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为第</a:t>
                </a:r>
                <a14:m>
                  <m:oMath xmlns:m="http://schemas.openxmlformats.org/officeDocument/2006/math">
                    <m:r>
                      <a:rPr kumimoji="1" lang="en-US" altLang="zh-CN" sz="2400" i="1">
                        <a:latin typeface="Cambria Math" panose="02040503050406030204" pitchFamily="18" charset="0"/>
                        <a:ea typeface="MS Mincho" panose="02020609040205080304" charset="-128"/>
                        <a:cs typeface="Cambria Math" panose="02040503050406030204" pitchFamily="18" charset="0"/>
                      </a:rPr>
                      <m:t>𝑖</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个坐标轴的单位向量，即</a:t>
                </a:r>
              </a:p>
              <a:p>
                <a:pPr algn="ctr">
                  <a:lnSpc>
                    <a:spcPct val="110000"/>
                  </a:lnSpc>
                </a:pPr>
                <a14:m>
                  <m:oMath xmlns:m="http://schemas.openxmlformats.org/officeDocument/2006/math">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𝑖</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d>
                      <m:d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kumimoji="1" lang="en-US" altLang="zh-CN" sz="2400" i="1">
                                <a:latin typeface="Cambria Math" panose="02040503050406030204" pitchFamily="18" charset="0"/>
                                <a:ea typeface="MS Mincho" panose="02020609040205080304" charset="-128"/>
                                <a:cs typeface="Cambria Math" panose="02040503050406030204" pitchFamily="18" charset="0"/>
                              </a:rPr>
                            </m:ctrlPr>
                          </m:eqArrPr>
                          <m:e>
                            <m:r>
                              <a:rPr kumimoji="1" lang="en-US" altLang="zh-CN" sz="2400" i="1">
                                <a:latin typeface="Cambria Math" panose="02040503050406030204" pitchFamily="18" charset="0"/>
                                <a:ea typeface="MS Mincho" panose="02020609040205080304" charset="-128"/>
                                <a:cs typeface="Cambria Math" panose="02040503050406030204" pitchFamily="18" charset="0"/>
                              </a:rPr>
                              <m:t>0</m:t>
                            </m:r>
                          </m:e>
                          <m:e>
                            <m:r>
                              <a:rPr kumimoji="1" lang="en-US" altLang="zh-CN" sz="2400" i="1">
                                <a:latin typeface="Cambria Math" panose="02040503050406030204" pitchFamily="18" charset="0"/>
                                <a:ea typeface="MS Mincho" panose="02020609040205080304" charset="-128"/>
                                <a:cs typeface="Cambria Math" panose="02040503050406030204" pitchFamily="18" charset="0"/>
                              </a:rPr>
                              <m:t>⋮</m:t>
                            </m:r>
                          </m:e>
                          <m:e>
                            <m:r>
                              <a:rPr kumimoji="1" lang="en-US" altLang="zh-CN" sz="2400" i="1">
                                <a:latin typeface="Cambria Math" panose="02040503050406030204" pitchFamily="18" charset="0"/>
                                <a:ea typeface="MS Mincho" panose="02020609040205080304" charset="-128"/>
                                <a:cs typeface="Cambria Math" panose="02040503050406030204" pitchFamily="18" charset="0"/>
                              </a:rPr>
                              <m:t>0</m:t>
                            </m:r>
                          </m:e>
                          <m:e>
                            <m:r>
                              <a:rPr kumimoji="1" lang="en-US" altLang="zh-CN" sz="2400" i="1">
                                <a:latin typeface="Cambria Math" panose="02040503050406030204" pitchFamily="18" charset="0"/>
                                <a:ea typeface="MS Mincho" panose="02020609040205080304" charset="-128"/>
                                <a:cs typeface="Cambria Math" panose="02040503050406030204" pitchFamily="18" charset="0"/>
                              </a:rPr>
                              <m:t>1</m:t>
                            </m:r>
                          </m:e>
                          <m:e>
                            <m:r>
                              <a:rPr kumimoji="1" lang="en-US" altLang="zh-CN" sz="2400" i="1">
                                <a:latin typeface="Cambria Math" panose="02040503050406030204" pitchFamily="18" charset="0"/>
                                <a:ea typeface="MS Mincho" panose="02020609040205080304" charset="-128"/>
                                <a:cs typeface="Cambria Math" panose="02040503050406030204" pitchFamily="18" charset="0"/>
                              </a:rPr>
                              <m:t>0</m:t>
                            </m:r>
                          </m:e>
                          <m:e>
                            <m:r>
                              <a:rPr kumimoji="1" lang="en-US" altLang="zh-CN" sz="2400" i="1">
                                <a:latin typeface="Cambria Math" panose="02040503050406030204" pitchFamily="18" charset="0"/>
                                <a:ea typeface="MS Mincho" panose="02020609040205080304" charset="-128"/>
                                <a:cs typeface="Cambria Math" panose="02040503050406030204" pitchFamily="18" charset="0"/>
                              </a:rPr>
                              <m:t>⋮</m:t>
                            </m:r>
                          </m:e>
                          <m:e>
                            <m:r>
                              <a:rPr kumimoji="1" lang="en-US" altLang="zh-CN" sz="2400" i="1">
                                <a:latin typeface="Cambria Math" panose="02040503050406030204" pitchFamily="18" charset="0"/>
                                <a:ea typeface="MS Mincho" panose="02020609040205080304" charset="-128"/>
                                <a:cs typeface="Cambria Math" panose="02040503050406030204" pitchFamily="18" charset="0"/>
                              </a:rPr>
                              <m:t>0</m:t>
                            </m:r>
                          </m:e>
                        </m:eqArr>
                      </m:e>
                    </m:d>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第</a:t>
                </a:r>
                <a14:m>
                  <m:oMath xmlns:m="http://schemas.openxmlformats.org/officeDocument/2006/math">
                    <m:r>
                      <a:rPr kumimoji="1" lang="en-US" altLang="zh-CN" sz="2400" i="1">
                        <a:latin typeface="Cambria Math" panose="02040503050406030204" pitchFamily="18" charset="0"/>
                        <a:ea typeface="MS Mincho" panose="02020609040205080304" charset="-128"/>
                        <a:cs typeface="Cambria Math" panose="02040503050406030204" pitchFamily="18" charset="0"/>
                      </a:rPr>
                      <m:t>𝑖</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行(</a:t>
                </a:r>
                <a14:m>
                  <m:oMath xmlns:m="http://schemas.openxmlformats.org/officeDocument/2006/math">
                    <m:r>
                      <a:rPr kumimoji="1" lang="en-US" altLang="zh-CN" sz="2400" i="1">
                        <a:latin typeface="Cambria Math" panose="02040503050406030204" pitchFamily="18" charset="0"/>
                        <a:ea typeface="MS Mincho" panose="02020609040205080304" charset="-128"/>
                        <a:cs typeface="Cambria Math" panose="02040503050406030204" pitchFamily="18" charset="0"/>
                      </a:rPr>
                      <m:t>𝑖</m:t>
                    </m:r>
                    <m:r>
                      <a:rPr kumimoji="1" lang="en-US" altLang="zh-CN" sz="2400" i="1">
                        <a:latin typeface="Cambria Math" panose="02040503050406030204" pitchFamily="18" charset="0"/>
                        <a:ea typeface="MS Mincho" panose="02020609040205080304" charset="-128"/>
                        <a:cs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=1,2,...</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kumimoji="1" lang="en-US" altLang="zh-CN" sz="2400" dirty="0">
                    <a:ea typeface="MS Mincho" panose="02020609040205080304" charset="-128"/>
                    <a:cs typeface="Cambria Math" panose="02040503050406030204" pitchFamily="18" charset="0"/>
                  </a:rPr>
                  <a:t> </a:t>
                </a:r>
                <a14:m>
                  <m:oMath xmlns:m="http://schemas.openxmlformats.org/officeDocument/2006/math">
                    <m:r>
                      <a:rPr kumimoji="1" lang="en-US" altLang="zh-CN" sz="2400" i="1">
                        <a:latin typeface="Cambria Math" panose="02040503050406030204" pitchFamily="18" charset="0"/>
                        <a:ea typeface="MS Mincho" panose="02020609040205080304" charset="-128"/>
                        <a:cs typeface="Cambria Math" panose="02040503050406030204" pitchFamily="18" charset="0"/>
                      </a:rPr>
                      <m:t>𝑛</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p>
              <a:p>
                <a:pPr>
                  <a:lnSpc>
                    <a:spcPct val="11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1</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给定初始点</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400" i="1">
                        <a:latin typeface="Cambria Math" panose="02040503050406030204" pitchFamily="18" charset="0"/>
                        <a:ea typeface="Cambria Math" panose="02040503050406030204" pitchFamily="18" charset="0"/>
                        <a:cs typeface="Cambria Math" panose="02040503050406030204" pitchFamily="18" charset="0"/>
                      </a:rPr>
                      <m:t>∈</m:t>
                    </m:r>
                    <m:r>
                      <a:rPr kumimoji="1" lang="en-US" altLang="zh-CN" sz="2400" i="1">
                        <a:latin typeface="Cambria Math" panose="02040503050406030204" pitchFamily="18" charset="0"/>
                        <a:ea typeface="MS Mincho" panose="02020609040205080304" charset="-128"/>
                        <a:cs typeface="Cambria Math" panose="02040503050406030204" pitchFamily="18" charset="0"/>
                      </a:rPr>
                      <m:t> </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𝑅</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𝑛</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p>
              <a:p>
                <a:pPr>
                  <a:lnSpc>
                    <a:spcPct val="11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2</a:t>
                </a:r>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zh-CN" altLang="en-US" sz="2400" dirty="0">
                    <a:latin typeface="宋体" panose="02010600030101010101" pitchFamily="2" charset="-122"/>
                    <a:ea typeface="宋体" panose="02010600030101010101" pitchFamily="2" charset="-122"/>
                    <a:cs typeface="宋体" panose="02010600030101010101" pitchFamily="2" charset="-122"/>
                  </a:rPr>
                  <a:t>从</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出发，先沿第一个坐标轴方向</a:t>
                </a:r>
                <a14:m>
                  <m:oMath xmlns:m="http://schemas.openxmlformats.org/officeDocument/2006/math">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进行一维搜索，求出最优步长</a:t>
                </a:r>
                <a14:m>
                  <m:oMath xmlns:m="http://schemas.openxmlformats.org/officeDocument/2006/math">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，得新点</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，即</a:t>
                </a:r>
              </a:p>
              <a:p>
                <a:pPr>
                  <a:lnSpc>
                    <a:spcPct val="110000"/>
                  </a:lnSpc>
                </a:pPr>
                <a14:m>
                  <m:oMathPara xmlns:m="http://schemas.openxmlformats.org/officeDocument/2006/math">
                    <m:oMathParaPr>
                      <m:jc m:val="centerGroup"/>
                    </m:oMathParaPr>
                    <m:oMath xmlns:m="http://schemas.openxmlformats.org/officeDocument/2006/math">
                      <m:d>
                        <m:dPr>
                          <m:begChr m:val="{"/>
                          <m:endChr m:val=""/>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eqArr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Sub>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func>
                                <m:func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limLowPr>
                                    <m:e>
                                      <m:r>
                                        <m:rPr>
                                          <m:sty m:val="p"/>
                                        </m:rPr>
                                        <a:rPr kumimoji="1" lang="en-US" altLang="zh-CN" sz="2400">
                                          <a:latin typeface="Cambria Math" panose="02040503050406030204" pitchFamily="18" charset="0"/>
                                          <a:ea typeface="宋体" panose="02010600030101010101" pitchFamily="2" charset="-122"/>
                                          <a:cs typeface="Cambria Math" panose="02040503050406030204" pitchFamily="18" charset="0"/>
                                        </a:rPr>
                                        <m:t>min</m:t>
                                      </m:r>
                                    </m:e>
                                    <m:lim>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lim>
                                  </m:limLow>
                                </m:fName>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e>
                              </m:func>
                            </m:e>
                            <m:e>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Sub>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b>
                              </m:sSub>
                            </m:e>
                          </m:eqArr>
                        </m:e>
                      </m:d>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55107" y="604936"/>
                <a:ext cx="8700116" cy="5726824"/>
              </a:xfrm>
              <a:prstGeom prst="rect">
                <a:avLst/>
              </a:prstGeom>
              <a:blipFill rotWithShape="1">
                <a:blip r:embed="rId2"/>
                <a:stretch>
                  <a:fillRect l="-2" t="-7" r="1" b="3"/>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456300" y="234247"/>
                <a:ext cx="7980521" cy="5983241"/>
              </a:xfrm>
              <a:prstGeom prst="rect">
                <a:avLst/>
              </a:prstGeom>
              <a:noFill/>
            </p:spPr>
            <p:txBody>
              <a:bodyPr wrap="square" rtlCol="0">
                <a:spAutoFit/>
              </a:bodyPr>
              <a:lstStyle/>
              <a:p>
                <a:pPr lvl="1" algn="just">
                  <a:lnSpc>
                    <a:spcPct val="11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类似地，以</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为出发点，沿第二个坐标轴方向</a:t>
                </a:r>
                <a14:m>
                  <m:oMath xmlns:m="http://schemas.openxmlformats.org/officeDocument/2006/math">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进行一维搜索，求出最优步长</a:t>
                </a:r>
                <a14:m>
                  <m:oMath xmlns:m="http://schemas.openxmlformats.org/officeDocument/2006/math">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，得新点</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(3)</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a:latin typeface="宋体" panose="02010600030101010101" pitchFamily="2" charset="-122"/>
                    <a:ea typeface="宋体" panose="02010600030101010101" pitchFamily="2" charset="-122"/>
                    <a:cs typeface="宋体" panose="02010600030101010101" pitchFamily="2" charset="-122"/>
                  </a:rPr>
                  <a:t>                                  </a:t>
                </a:r>
              </a:p>
              <a:p>
                <a:pPr lvl="1" algn="just">
                  <a:lnSpc>
                    <a:spcPct val="110000"/>
                  </a:lnSpc>
                </a:pPr>
                <a:r>
                  <a:rPr kumimoji="1" lang="en-US" altLang="zh-CN" sz="2400" dirty="0">
                    <a:latin typeface="宋体" panose="02010600030101010101" pitchFamily="2" charset="-122"/>
                    <a:ea typeface="宋体" panose="02010600030101010101" pitchFamily="2" charset="-122"/>
                    <a:cs typeface="Cambria Math" panose="02040503050406030204" pitchFamily="18" charset="0"/>
                  </a:rPr>
                  <a:t>        </a:t>
                </a:r>
                <a14:m>
                  <m:oMath xmlns:m="http://schemas.openxmlformats.org/officeDocument/2006/math">
                    <m:d>
                      <m:dPr>
                        <m:begChr m:val="{"/>
                        <m:endChr m:val=""/>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eqArr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Sub>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func>
                              <m:func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limLowPr>
                                  <m:e>
                                    <m:r>
                                      <m:rPr>
                                        <m:sty m:val="p"/>
                                      </m:rPr>
                                      <a:rPr kumimoji="1" lang="en-US" altLang="zh-CN" sz="2400">
                                        <a:latin typeface="Cambria Math" panose="02040503050406030204" pitchFamily="18" charset="0"/>
                                        <a:ea typeface="宋体" panose="02010600030101010101" pitchFamily="2" charset="-122"/>
                                        <a:cs typeface="Cambria Math" panose="02040503050406030204" pitchFamily="18" charset="0"/>
                                      </a:rPr>
                                      <m:t>min</m:t>
                                    </m:r>
                                  </m:e>
                                  <m:lim>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lim>
                                </m:limLow>
                              </m:fName>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e>
                            </m:func>
                          </m:e>
                          <m:e>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(3)</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Sub>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MS Mincho" panose="02020609040205080304" charset="-128"/>
                                    <a:cs typeface="Cambria Math" panose="02040503050406030204" pitchFamily="18" charset="0"/>
                                  </a:rPr>
                                  <m:t>2</m:t>
                                </m:r>
                              </m:sub>
                            </m:sSub>
                          </m:e>
                        </m:eqArr>
                      </m:e>
                    </m:d>
                  </m:oMath>
                </a14:m>
                <a:r>
                  <a:rPr lang="zh-CN" altLang="en-US" sz="2400" dirty="0">
                    <a:latin typeface="宋体" panose="02010600030101010101" pitchFamily="2" charset="-122"/>
                    <a:ea typeface="宋体" panose="02010600030101010101" pitchFamily="2" charset="-122"/>
                    <a:cs typeface="宋体" panose="02010600030101010101" pitchFamily="2" charset="-122"/>
                  </a:rPr>
                  <a:t>			       </a:t>
                </a:r>
              </a:p>
              <a:p>
                <a:pPr lvl="1" algn="just">
                  <a:lnSpc>
                    <a:spcPct val="11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就这样依次沿各坐标轴方向进行一维搜索，直到</a:t>
                </a:r>
                <a14:m>
                  <m:oMath xmlns:m="http://schemas.openxmlformats.org/officeDocument/2006/math">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个坐标轴方向全部搜索一遍，最后可得到点</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p>
              <a:p>
                <a:pPr lvl="1" algn="ctr">
                  <a:lnSpc>
                    <a:spcPct val="110000"/>
                  </a:lnSpc>
                </a:pP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 </a:t>
                </a:r>
                <a14:m>
                  <m:oMath xmlns:m="http://schemas.openxmlformats.org/officeDocument/2006/math">
                    <m:d>
                      <m:dPr>
                        <m:begChr m:val="{"/>
                        <m:endChr m:val=""/>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dPr>
                      <m:e>
                        <m:eqArr>
                          <m:eqArr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eqArr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sub>
                            </m:sSub>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func>
                              <m:func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limLowPr>
                                  <m:e>
                                    <m:r>
                                      <m:rPr>
                                        <m:sty m:val="p"/>
                                      </m:rPr>
                                      <a:rPr kumimoji="1" lang="en-US" altLang="zh-CN" sz="2400">
                                        <a:latin typeface="Cambria Math" panose="02040503050406030204" pitchFamily="18" charset="0"/>
                                        <a:ea typeface="宋体" panose="02010600030101010101" pitchFamily="2" charset="-122"/>
                                        <a:cs typeface="Cambria Math" panose="02040503050406030204" pitchFamily="18" charset="0"/>
                                      </a:rPr>
                                      <m:t>min</m:t>
                                    </m:r>
                                  </m:e>
                                  <m:lim>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lim>
                                </m:limLow>
                              </m:fName>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e>
                            </m:func>
                          </m:e>
                          <m:e>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sub>
                            </m:sSub>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sub>
                            </m:sSub>
                          </m:e>
                        </m:eqArr>
                      </m:e>
                    </m:d>
                  </m:oMath>
                </a14:m>
                <a:endParaRPr kumimoji="1" lang="en-US" altLang="zh-CN" sz="2400" i="1" dirty="0">
                  <a:latin typeface="宋体" panose="02010600030101010101" pitchFamily="2" charset="-122"/>
                  <a:ea typeface="宋体" panose="02010600030101010101" pitchFamily="2" charset="-122"/>
                  <a:cs typeface="宋体" panose="02010600030101010101" pitchFamily="2" charset="-122"/>
                </a:endParaRPr>
              </a:p>
              <a:p>
                <a:pPr lvl="1" algn="just">
                  <a:lnSpc>
                    <a:spcPct val="11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就完成了变量轮换法的一轮迭代。</a:t>
                </a:r>
              </a:p>
              <a:p>
                <a:pPr algn="just">
                  <a:lnSpc>
                    <a:spcPct val="110000"/>
                  </a:lnSpc>
                </a:pP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algn="just">
                  <a:lnSpc>
                    <a:spcPct val="11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3. </a:t>
                </a:r>
                <a:r>
                  <a:rPr lang="zh-CN" altLang="en-US" sz="2400" dirty="0">
                    <a:latin typeface="宋体" panose="02010600030101010101" pitchFamily="2" charset="-122"/>
                    <a:ea typeface="宋体" panose="02010600030101010101" pitchFamily="2" charset="-122"/>
                    <a:cs typeface="宋体" panose="02010600030101010101" pitchFamily="2" charset="-122"/>
                  </a:rPr>
                  <a:t>若</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满足给定精度，停止计算；否则，令 </a:t>
                </a:r>
                <a14:m>
                  <m:oMath xmlns:m="http://schemas.openxmlformats.org/officeDocument/2006/math">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400" i="1">
                            <a:latin typeface="Cambria Math" panose="02040503050406030204" pitchFamily="18" charset="0"/>
                            <a:ea typeface="MS Mincho" panose="02020609040205080304" charset="-128"/>
                            <a:cs typeface="Cambria Math" panose="02040503050406030204" pitchFamily="18" charset="0"/>
                          </a:rPr>
                          <m:t>+1)</m:t>
                        </m:r>
                      </m:sup>
                    </m:sSup>
                  </m:oMath>
                </a14:m>
                <a:r>
                  <a:rPr lang="zh-CN" altLang="en-US" sz="2400" dirty="0">
                    <a:latin typeface="宋体" panose="02010600030101010101" pitchFamily="2" charset="-122"/>
                    <a:ea typeface="宋体" panose="02010600030101010101" pitchFamily="2" charset="-122"/>
                    <a:cs typeface="宋体" panose="02010600030101010101" pitchFamily="2" charset="-122"/>
                  </a:rPr>
                  <a:t>，返回步骤2。</a:t>
                </a:r>
              </a:p>
            </p:txBody>
          </p:sp>
        </mc:Choice>
        <mc:Fallback xmlns="">
          <p:sp>
            <p:nvSpPr>
              <p:cNvPr id="4" name="文本框 3"/>
              <p:cNvSpPr txBox="1">
                <a:spLocks noRot="1" noChangeAspect="1" noMove="1" noResize="1" noEditPoints="1" noAdjustHandles="1" noChangeArrowheads="1" noChangeShapeType="1" noTextEdit="1"/>
              </p:cNvSpPr>
              <p:nvPr/>
            </p:nvSpPr>
            <p:spPr>
              <a:xfrm>
                <a:off x="456300" y="234247"/>
                <a:ext cx="7980521" cy="5983241"/>
              </a:xfrm>
              <a:prstGeom prst="rect">
                <a:avLst/>
              </a:prstGeom>
              <a:blipFill rotWithShape="1">
                <a:blip r:embed="rId2"/>
                <a:stretch>
                  <a:fillRect l="-5" t="-9" r="3" b="3"/>
                </a:stretch>
              </a:blipFill>
            </p:spPr>
            <p:txBody>
              <a:bodyPr/>
              <a:lstStyle/>
              <a:p>
                <a:r>
                  <a:rPr lang="zh-CN"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310021" y="186578"/>
                <a:ext cx="8346402" cy="1620520"/>
              </a:xfrm>
              <a:prstGeom prst="rect">
                <a:avLst/>
              </a:prstGeom>
              <a:noFill/>
            </p:spPr>
            <p:txBody>
              <a:bodyPr wrap="square" rtlCol="0">
                <a:spAutoFit/>
              </a:bodyPr>
              <a:lstStyle/>
              <a:p>
                <a:pPr fontAlgn="auto">
                  <a:lnSpc>
                    <a:spcPct val="150000"/>
                  </a:lnSpc>
                </a:pPr>
                <a:r>
                  <a:rPr lang="zh-CN" altLang="en-US" sz="2000" b="1" dirty="0">
                    <a:solidFill>
                      <a:schemeClr val="accent1"/>
                    </a:solidFill>
                    <a:latin typeface="宋体" panose="02010600030101010101" pitchFamily="2" charset="-122"/>
                    <a:ea typeface="宋体" panose="02010600030101010101" pitchFamily="2" charset="-122"/>
                    <a:cs typeface="宋体" panose="02010600030101010101" pitchFamily="2" charset="-122"/>
                  </a:rPr>
                  <a:t>例</a:t>
                </a:r>
                <a:r>
                  <a:rPr lang="en-US" altLang="zh-CN" sz="2000" b="1" dirty="0">
                    <a:latin typeface="宋体" panose="02010600030101010101" pitchFamily="2" charset="-122"/>
                    <a:ea typeface="宋体" panose="02010600030101010101" pitchFamily="2" charset="-122"/>
                    <a:cs typeface="宋体" panose="02010600030101010101" pitchFamily="2" charset="-122"/>
                  </a:rPr>
                  <a:t> </a:t>
                </a:r>
                <a:r>
                  <a:rPr lang="en-US" altLang="zh-CN" sz="2000" dirty="0" err="1">
                    <a:latin typeface="宋体" panose="02010600030101010101" pitchFamily="2" charset="-122"/>
                    <a:ea typeface="宋体" panose="02010600030101010101" pitchFamily="2" charset="-122"/>
                    <a:cs typeface="宋体" panose="02010600030101010101" pitchFamily="2" charset="-122"/>
                  </a:rPr>
                  <a:t>用变量轮换法求解</a:t>
                </a:r>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lang="en-US" altLang="zh-CN" sz="2000">
                        <a:latin typeface="Cambria Math" panose="02040503050406030204" pitchFamily="18" charset="0"/>
                        <a:ea typeface="宋体" panose="02010600030101010101" pitchFamily="2" charset="-122"/>
                        <a:cs typeface="Cambria Math" panose="02040503050406030204" pitchFamily="18" charset="0"/>
                      </a:rPr>
                      <m:t>𝑚𝑖</m:t>
                    </m:r>
                    <m:r>
                      <m:rPr>
                        <m:sty m:val="p"/>
                      </m:rPr>
                      <a:rPr lang="en-US" altLang="zh-CN" sz="2000">
                        <a:latin typeface="Cambria Math" panose="02040503050406030204" pitchFamily="18" charset="0"/>
                        <a:ea typeface="宋体" panose="02010600030101010101" pitchFamily="2" charset="-122"/>
                        <a:cs typeface="Cambria Math" panose="02040503050406030204" pitchFamily="18" charset="0"/>
                      </a:rPr>
                      <m:t>n</m:t>
                    </m:r>
                    <m:r>
                      <a:rPr lang="en-US" altLang="zh-CN" sz="2000">
                        <a:latin typeface="Cambria Math" panose="02040503050406030204" pitchFamily="18" charset="0"/>
                        <a:ea typeface="MS Mincho" panose="02020609040205080304" charset="-128"/>
                        <a:cs typeface="Cambria Math" panose="02040503050406030204" pitchFamily="18" charset="0"/>
                      </a:rPr>
                      <m:t> </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r>
                      <a:rPr kumimoji="1" lang="en-US" altLang="zh-CN" sz="2000" i="1">
                        <a:latin typeface="Cambria Math" panose="02040503050406030204" pitchFamily="18" charset="0"/>
                        <a:ea typeface="MS Mincho" panose="02020609040205080304" charset="-128"/>
                        <a:cs typeface="Cambria Math" panose="02040503050406030204" pitchFamily="18" charset="0"/>
                      </a:rPr>
                      <m:t>)=3</m:t>
                    </m:r>
                    <m:sSubSup>
                      <m:sSub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b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SubSup>
                      <m:sSub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b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bSup>
                      <m:sSub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bSup>
                  </m:oMath>
                </a14:m>
                <a:r>
                  <a:rPr lang="en-US" altLang="zh-CN" sz="2000" dirty="0">
                    <a:latin typeface="宋体" panose="02010600030101010101" pitchFamily="2" charset="-122"/>
                    <a:ea typeface="宋体" panose="02010600030101010101" pitchFamily="2" charset="-122"/>
                    <a:cs typeface="宋体" panose="02010600030101010101" pitchFamily="2" charset="-122"/>
                  </a:rPr>
                  <a:t>，</a:t>
                </a:r>
              </a:p>
              <a:p>
                <a:pPr fontAlgn="auto">
                  <a:lnSpc>
                    <a:spcPct val="150000"/>
                  </a:lnSpc>
                </a:pP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en-US" altLang="zh-CN" sz="2000" dirty="0" err="1">
                    <a:latin typeface="宋体" panose="02010600030101010101" pitchFamily="2" charset="-122"/>
                    <a:ea typeface="宋体" panose="02010600030101010101" pitchFamily="2" charset="-122"/>
                    <a:cs typeface="宋体" panose="02010600030101010101" pitchFamily="2" charset="-122"/>
                  </a:rPr>
                  <a:t>已知初始点</a:t>
                </a:r>
                <a14:m>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=(1,2,3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en-US" altLang="zh-CN" sz="2000" dirty="0">
                    <a:latin typeface="宋体" panose="02010600030101010101" pitchFamily="2" charset="-122"/>
                    <a:ea typeface="宋体" panose="02010600030101010101" pitchFamily="2" charset="-122"/>
                    <a:cs typeface="宋体" panose="02010600030101010101" pitchFamily="2" charset="-122"/>
                  </a:rPr>
                  <a:t>，当</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rPr>
                        </m:ctrlPr>
                      </m:sSubPr>
                      <m:e>
                        <m:d>
                          <m:dPr>
                            <m:begChr m:val="‖"/>
                            <m:endChr m:val="‖"/>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𝑛</m:t>
                                </m:r>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𝑛</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up>
                            </m:sSup>
                          </m:e>
                        </m:d>
                      </m:e>
                      <m:sub>
                        <m:r>
                          <a:rPr kumimoji="1" lang="en-US" altLang="zh-CN" sz="2000" i="1">
                            <a:latin typeface="Cambria Math" panose="02040503050406030204" pitchFamily="18" charset="0"/>
                            <a:ea typeface="宋体" panose="02010600030101010101" pitchFamily="2" charset="-122"/>
                          </a:rPr>
                          <m:t>2</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&lt;0.01</m:t>
                    </m:r>
                  </m:oMath>
                </a14:m>
                <a:r>
                  <a:rPr lang="en-US" altLang="zh-CN" sz="2000" dirty="0" err="1">
                    <a:latin typeface="宋体" panose="02010600030101010101" pitchFamily="2" charset="-122"/>
                    <a:ea typeface="宋体" panose="02010600030101010101" pitchFamily="2" charset="-122"/>
                    <a:cs typeface="宋体" panose="02010600030101010101" pitchFamily="2" charset="-122"/>
                  </a:rPr>
                  <a:t>时停止迭代</a:t>
                </a:r>
                <a:r>
                  <a:rPr lang="en-US" altLang="zh-CN" sz="2000" dirty="0">
                    <a:latin typeface="宋体" panose="02010600030101010101" pitchFamily="2" charset="-122"/>
                    <a:ea typeface="宋体" panose="02010600030101010101" pitchFamily="2" charset="-122"/>
                    <a:cs typeface="宋体" panose="02010600030101010101" pitchFamily="2" charset="-122"/>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310021" y="186578"/>
                <a:ext cx="8346402" cy="1620520"/>
              </a:xfrm>
              <a:prstGeom prst="rect">
                <a:avLst/>
              </a:prstGeom>
              <a:blipFill rotWithShape="1">
                <a:blip r:embed="rId2"/>
                <a:stretch>
                  <a:fillRect l="-2" t="-32" r="1" b="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381042" y="2124440"/>
                <a:ext cx="8576527" cy="3837012"/>
              </a:xfrm>
              <a:prstGeom prst="rect">
                <a:avLst/>
              </a:prstGeom>
              <a:noFill/>
            </p:spPr>
            <p:txBody>
              <a:bodyPr wrap="square" rtlCol="0">
                <a:spAutoFit/>
              </a:bodyPr>
              <a:lstStyle/>
              <a:p>
                <a:pPr algn="just">
                  <a:lnSpc>
                    <a:spcPct val="130000"/>
                  </a:lnSpc>
                </a:pPr>
                <a:r>
                  <a:rPr lang="zh-CN" altLang="en-US" sz="2000" b="1" dirty="0">
                    <a:solidFill>
                      <a:schemeClr val="accent1"/>
                    </a:solidFill>
                    <a:latin typeface="宋体" panose="02010600030101010101" pitchFamily="2" charset="-122"/>
                    <a:ea typeface="宋体" panose="02010600030101010101" pitchFamily="2" charset="-122"/>
                    <a:cs typeface="宋体" panose="02010600030101010101" pitchFamily="2" charset="-122"/>
                  </a:rPr>
                  <a:t>解</a:t>
                </a:r>
                <a:r>
                  <a:rPr lang="zh-CN" altLang="en-US" sz="2000" dirty="0">
                    <a:latin typeface="宋体" panose="02010600030101010101" pitchFamily="2" charset="-122"/>
                    <a:ea typeface="宋体" panose="02010600030101010101" pitchFamily="2" charset="-122"/>
                    <a:cs typeface="宋体" panose="02010600030101010101" pitchFamily="2" charset="-122"/>
                  </a:rPr>
                  <a:t> 令</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=(1,0,0</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=(0,1,0</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=(0,0,1</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。首先从初始点</a:t>
                </a:r>
                <a14:m>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=(1,2,3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 出发，沿</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轴</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方向进行一维搜索</a:t>
                </a:r>
                <a:r>
                  <a:rPr lang="en-US" altLang="zh-CN" sz="2000" dirty="0">
                    <a:latin typeface="宋体" panose="02010600030101010101" pitchFamily="2" charset="-122"/>
                    <a:ea typeface="宋体" panose="02010600030101010101" pitchFamily="2" charset="-122"/>
                    <a:cs typeface="宋体" panose="02010600030101010101" pitchFamily="2" charset="-122"/>
                  </a:rPr>
                  <a:t>:</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30000"/>
                  </a:lnSpc>
                </a:pPr>
                <a14:m>
                  <m:oMathPara xmlns:m="http://schemas.openxmlformats.org/officeDocument/2006/math">
                    <m:oMathParaPr>
                      <m:jc m:val="centerGroup"/>
                    </m:oMathParaPr>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=(1,2,3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r>
                        <a:rPr kumimoji="1" lang="en-US" altLang="zh-CN" sz="2000" i="1">
                          <a:latin typeface="Cambria Math" panose="02040503050406030204" pitchFamily="18" charset="0"/>
                          <a:ea typeface="MS Mincho" panose="02020609040205080304" charset="-128"/>
                          <a:cs typeface="Cambria Math" panose="02040503050406030204" pitchFamily="18" charset="0"/>
                        </a:rPr>
                        <m:t>(1,0,0</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=(1+</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𝜆</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3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   则有</a:t>
                </a: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)=3∙(1+</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3</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3(1+</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+17</m:t>
                    </m:r>
                  </m:oMath>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3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   现在</a:t>
                </a:r>
                <a14:m>
                  <m:oMath xmlns:m="http://schemas.openxmlformats.org/officeDocument/2006/math">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是关于</a:t>
                </a:r>
                <a14:m>
                  <m:oMath xmlns:m="http://schemas.openxmlformats.org/officeDocument/2006/math">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的一元函数，令</a:t>
                </a:r>
              </a:p>
              <a:p>
                <a:pPr algn="just">
                  <a:lnSpc>
                    <a:spcPct val="130000"/>
                  </a:lnSpc>
                </a:pPr>
                <a14:m>
                  <m:oMathPara xmlns:m="http://schemas.openxmlformats.org/officeDocument/2006/math">
                    <m:oMathParaPr>
                      <m:jc m:val="centerGroup"/>
                    </m:oMathParaPr>
                    <m:oMath xmlns:m="http://schemas.openxmlformats.org/officeDocument/2006/math">
                      <m:sSubSup>
                        <m:sSub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e>
                        <m:sub>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𝜆</m:t>
                          </m:r>
                        </m:sub>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=6</m:t>
                      </m:r>
                      <m:r>
                        <a:rPr kumimoji="1" lang="en-US" altLang="zh-CN" sz="2000" i="1">
                          <a:latin typeface="Cambria Math" panose="02040503050406030204" pitchFamily="18" charset="0"/>
                          <a:ea typeface="MS Mincho" panose="02020609040205080304" charset="-128"/>
                          <a:cs typeface="Cambria Math" panose="02040503050406030204" pitchFamily="18" charset="0"/>
                        </a:rPr>
                        <m:t>(1+</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r>
                        <a:rPr kumimoji="1" lang="en-US" altLang="zh-CN" sz="2000" i="1">
                          <a:latin typeface="Cambria Math" panose="02040503050406030204" pitchFamily="18" charset="0"/>
                          <a:ea typeface="MS Mincho" panose="02020609040205080304" charset="-128"/>
                          <a:cs typeface="Cambria Math" panose="02040503050406030204" pitchFamily="18" charset="0"/>
                        </a:rPr>
                        <m:t>)=0</m:t>
                      </m:r>
                    </m:oMath>
                  </m:oMathPara>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3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   则                </a:t>
                </a: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         </a:t>
                </a:r>
              </a:p>
              <a:p>
                <a:pPr algn="just">
                  <a:lnSpc>
                    <a:spcPct val="13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   故         </a:t>
                </a: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=(1,2,3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+(−1)</m:t>
                    </m:r>
                    <m:r>
                      <a:rPr kumimoji="1" lang="en-US" altLang="zh-CN" sz="2000" i="1">
                        <a:latin typeface="Cambria Math" panose="02040503050406030204" pitchFamily="18" charset="0"/>
                        <a:ea typeface="MS Mincho" panose="02020609040205080304" charset="-128"/>
                        <a:cs typeface="Cambria Math" panose="02040503050406030204" pitchFamily="18" charset="0"/>
                      </a:rPr>
                      <m:t>(1,0,0</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(0,2,3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endParaRPr kumimoji="1"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a:lnSpc>
                    <a:spcPct val="130000"/>
                  </a:lnSpc>
                </a:pPr>
                <a14:m>
                  <m:oMathPara xmlns:m="http://schemas.openxmlformats.org/officeDocument/2006/math">
                    <m:oMathParaPr>
                      <m:jc m:val="centerGroup"/>
                    </m:oMathParaPr>
                    <m:oMath xmlns:m="http://schemas.openxmlformats.org/officeDocument/2006/math">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)=17</m:t>
                      </m:r>
                    </m:oMath>
                  </m:oMathPara>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81042" y="2124440"/>
                <a:ext cx="8576527" cy="3837012"/>
              </a:xfrm>
              <a:prstGeom prst="rect">
                <a:avLst/>
              </a:prstGeom>
              <a:blipFill rotWithShape="1">
                <a:blip r:embed="rId3"/>
                <a:stretch>
                  <a:fillRect t="-10" r="3" b="2"/>
                </a:stretch>
              </a:blipFill>
            </p:spPr>
            <p:txBody>
              <a:bodyPr/>
              <a:lstStyle/>
              <a:p>
                <a:r>
                  <a:rPr lang="zh-CN" altLang="en-US">
                    <a:noFill/>
                  </a:rPr>
                  <a:t> </a:t>
                </a:r>
              </a:p>
            </p:txBody>
          </p:sp>
        </mc:Fallback>
      </mc:AlternateContent>
      <p:sp>
        <p:nvSpPr>
          <p:cNvPr id="4" name="文本框 3"/>
          <p:cNvSpPr txBox="1"/>
          <p:nvPr/>
        </p:nvSpPr>
        <p:spPr>
          <a:xfrm>
            <a:off x="98415" y="6271312"/>
            <a:ext cx="4570890" cy="400110"/>
          </a:xfrm>
          <a:prstGeom prst="rect">
            <a:avLst/>
          </a:prstGeom>
          <a:noFill/>
        </p:spPr>
        <p:txBody>
          <a:bodyPr wrap="square">
            <a:spAutoFit/>
          </a:bodyPr>
          <a:lstStyle/>
          <a:p>
            <a:r>
              <a:rPr lang="en-US" altLang="zh-CN" sz="2000" dirty="0">
                <a:solidFill>
                  <a:schemeClr val="bg1">
                    <a:lumMod val="65000"/>
                  </a:schemeClr>
                </a:solidFill>
              </a:rPr>
              <a:t>SCUTHANLE</a:t>
            </a:r>
            <a:endParaRPr lang="zh-CN" altLang="en-US" sz="2000" dirty="0">
              <a:solidFill>
                <a:schemeClr val="bg1">
                  <a:lumMod val="6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590920" y="680234"/>
                <a:ext cx="8204359" cy="5458460"/>
              </a:xfrm>
              <a:prstGeom prst="rect">
                <a:avLst/>
              </a:prstGeom>
              <a:noFill/>
            </p:spPr>
            <p:txBody>
              <a:bodyPr wrap="square" rtlCol="0">
                <a:spAutoFit/>
              </a:bodyPr>
              <a:lstStyle/>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再从</a:t>
                </a:r>
                <a14:m>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=(0,2,3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出发，沿</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轴</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方向进行一维搜索</a:t>
                </a:r>
              </a:p>
              <a:p>
                <a:pPr algn="just">
                  <a:lnSpc>
                    <a:spcPct val="120000"/>
                  </a:lnSpc>
                </a:pPr>
                <a14:m>
                  <m:oMathPara xmlns:m="http://schemas.openxmlformats.org/officeDocument/2006/math">
                    <m:oMathParaPr>
                      <m:jc m:val="centerGroup"/>
                    </m:oMathParaPr>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=(0,2,3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r>
                        <a:rPr kumimoji="1" lang="en-US" altLang="zh-CN" sz="2000" i="1">
                          <a:latin typeface="Cambria Math" panose="02040503050406030204" pitchFamily="18" charset="0"/>
                          <a:ea typeface="MS Mincho" panose="02020609040205080304" charset="-128"/>
                          <a:cs typeface="Cambria Math" panose="02040503050406030204" pitchFamily="18" charset="0"/>
                        </a:rPr>
                        <m:t>(0,1,0</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=(0,2+</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𝜆</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kumimoji="1"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a:lnSpc>
                    <a:spcPct val="120000"/>
                  </a:lnSpc>
                </a:pPr>
                <a14:m>
                  <m:oMathPara xmlns:m="http://schemas.openxmlformats.org/officeDocument/2006/math">
                    <m:oMathParaPr>
                      <m:jc m:val="centerGroup"/>
                    </m:oMathParaPr>
                    <m:oMath xmlns:m="http://schemas.openxmlformats.org/officeDocument/2006/math">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)=2∙(2+</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+0</m:t>
                      </m:r>
                    </m:oMath>
                  </m:oMathPara>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令 </a:t>
                </a:r>
                <a:r>
                  <a:rPr lang="en-US" altLang="zh-CN" sz="2000"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Sup>
                      <m:sSub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e>
                      <m:sub>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𝜆</m:t>
                        </m:r>
                      </m:sub>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sup>
                    </m:sSub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=4</m:t>
                    </m:r>
                    <m:r>
                      <a:rPr kumimoji="1" lang="en-US" altLang="zh-CN" sz="2000" i="1">
                        <a:latin typeface="Cambria Math" panose="02040503050406030204" pitchFamily="18" charset="0"/>
                        <a:ea typeface="MS Mincho" panose="02020609040205080304" charset="-128"/>
                        <a:cs typeface="Cambria Math" panose="02040503050406030204" pitchFamily="18" charset="0"/>
                      </a:rPr>
                      <m:t>(2+</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r>
                      <a:rPr kumimoji="1" lang="en-US" altLang="zh-CN" sz="2000" i="1">
                        <a:latin typeface="Cambria Math" panose="02040503050406030204" pitchFamily="18" charset="0"/>
                        <a:ea typeface="MS Mincho" panose="02020609040205080304" charset="-128"/>
                        <a:cs typeface="Cambria Math" panose="02040503050406030204" pitchFamily="18" charset="0"/>
                      </a:rPr>
                      <m:t>)=0</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       </a:t>
                </a:r>
              </a:p>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有         </a:t>
                </a: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MS Mincho" panose="02020609040205080304" charset="-128"/>
                            <a:cs typeface="Cambria Math" panose="02040503050406030204" pitchFamily="18" charset="0"/>
                          </a:rPr>
                          <m:t>        </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2</m:t>
                    </m:r>
                  </m:oMath>
                </a14:m>
                <a:endParaRPr kumimoji="1" lang="en-US" altLang="zh-CN" sz="2000" i="1"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故</a:t>
                </a:r>
                <a14:m>
                  <m:oMath xmlns:m="http://schemas.openxmlformats.org/officeDocument/2006/math">
                    <m:r>
                      <a:rPr lang="en-US" altLang="zh-CN" sz="2000">
                        <a:latin typeface="Cambria Math" panose="02040503050406030204" pitchFamily="18" charset="0"/>
                        <a:ea typeface="宋体" panose="02010600030101010101" pitchFamily="2" charset="-122"/>
                        <a:cs typeface="宋体" panose="02010600030101010101" pitchFamily="2" charset="-122"/>
                      </a:rPr>
                      <m:t>              </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      </m:t>
                        </m:r>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=(0,2,3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+(−2)</m:t>
                    </m:r>
                    <m:r>
                      <a:rPr kumimoji="1" lang="en-US" altLang="zh-CN" sz="2000" i="1">
                        <a:latin typeface="Cambria Math" panose="02040503050406030204" pitchFamily="18" charset="0"/>
                        <a:ea typeface="MS Mincho" panose="02020609040205080304" charset="-128"/>
                        <a:cs typeface="Cambria Math" panose="02040503050406030204" pitchFamily="18" charset="0"/>
                      </a:rPr>
                      <m:t>(0,1,0</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(0,0,3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endParaRPr kumimoji="1"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algn="just">
                  <a:lnSpc>
                    <a:spcPct val="120000"/>
                  </a:lnSpc>
                </a:pPr>
                <a14:m>
                  <m:oMathPara xmlns:m="http://schemas.openxmlformats.org/officeDocument/2006/math">
                    <m:oMathParaPr>
                      <m:jc m:val="centerGroup"/>
                    </m:oMathParaPr>
                    <m:oMath xmlns:m="http://schemas.openxmlformats.org/officeDocument/2006/math">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)=9</m:t>
                      </m:r>
                    </m:oMath>
                  </m:oMathPara>
                </a14:m>
                <a:endParaRPr lang="en-US" altLang="zh-CN" sz="2000"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再从</a:t>
                </a:r>
                <a14:m>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=(0,0,3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000" dirty="0">
                    <a:latin typeface="宋体" panose="02010600030101010101" pitchFamily="2" charset="-122"/>
                    <a:ea typeface="宋体" panose="02010600030101010101" pitchFamily="2" charset="-122"/>
                    <a:cs typeface="宋体" panose="02010600030101010101" pitchFamily="2" charset="-122"/>
                  </a:rPr>
                  <a:t>出发，沿</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轴方向</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oMath>
                </a14:m>
                <a:r>
                  <a:rPr lang="zh-CN" altLang="en-US" sz="2000" dirty="0">
                    <a:latin typeface="宋体" panose="02010600030101010101" pitchFamily="2" charset="-122"/>
                    <a:ea typeface="宋体" panose="02010600030101010101" pitchFamily="2" charset="-122"/>
                    <a:cs typeface="宋体" panose="02010600030101010101" pitchFamily="2" charset="-122"/>
                  </a:rPr>
                  <a:t>进行一维搜索：</a:t>
                </a:r>
              </a:p>
              <a:p>
                <a:pPr algn="just">
                  <a:lnSpc>
                    <a:spcPct val="120000"/>
                  </a:lnSpc>
                </a:pPr>
                <a14:m>
                  <m:oMathPara xmlns:m="http://schemas.openxmlformats.org/officeDocument/2006/math">
                    <m:oMathParaPr>
                      <m:jc m:val="centerGroup"/>
                    </m:oMathParaPr>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=(0,0,3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r>
                        <a:rPr kumimoji="1" lang="en-US" altLang="zh-CN" sz="2000" i="1">
                          <a:latin typeface="Cambria Math" panose="02040503050406030204" pitchFamily="18" charset="0"/>
                          <a:ea typeface="MS Mincho" panose="02020609040205080304" charset="-128"/>
                          <a:cs typeface="Cambria Math" panose="02040503050406030204" pitchFamily="18" charset="0"/>
                        </a:rPr>
                        <m:t>(0,0,1</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=(0,0,3+</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m:oMathPara>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14:m>
                  <m:oMathPara xmlns:m="http://schemas.openxmlformats.org/officeDocument/2006/math">
                    <m:oMathParaPr>
                      <m:jc m:val="centerGroup"/>
                    </m:oMathParaPr>
                    <m:oMath xmlns:m="http://schemas.openxmlformats.org/officeDocument/2006/math">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r>
                        <a:rPr kumimoji="1" lang="en-US" altLang="zh-CN" sz="2000" i="1">
                          <a:latin typeface="Cambria Math" panose="02040503050406030204" pitchFamily="18" charset="0"/>
                          <a:ea typeface="MS Mincho" panose="02020609040205080304" charset="-128"/>
                          <a:cs typeface="Cambria Math" panose="02040503050406030204" pitchFamily="18" charset="0"/>
                        </a:rPr>
                        <m:t>+3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sup>
                      </m:sSup>
                    </m:oMath>
                  </m:oMathPara>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令       </a:t>
                </a: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Sup>
                      <m:sSub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sub>
                      <m: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up>
                    </m:sSubSup>
                    <m:r>
                      <a:rPr kumimoji="1" lang="en-US" altLang="zh-CN" sz="2000" i="1">
                        <a:latin typeface="Cambria Math" panose="02040503050406030204" pitchFamily="18" charset="0"/>
                        <a:ea typeface="MS Mincho" panose="02020609040205080304" charset="-128"/>
                        <a:cs typeface="Cambria Math" panose="02040503050406030204" pitchFamily="18" charset="0"/>
                      </a:rPr>
                      <m:t>=2(</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r>
                      <a:rPr kumimoji="1" lang="en-US" altLang="zh-CN" sz="2000" i="1">
                        <a:latin typeface="Cambria Math" panose="02040503050406030204" pitchFamily="18" charset="0"/>
                        <a:ea typeface="MS Mincho" panose="02020609040205080304" charset="-128"/>
                        <a:cs typeface="Cambria Math" panose="02040503050406030204" pitchFamily="18" charset="0"/>
                      </a:rPr>
                      <m:t>+3)=0</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                </a:t>
                </a:r>
              </a:p>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有               </a:t>
                </a: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MS Mincho" panose="02020609040205080304" charset="-128"/>
                            <a:cs typeface="Cambria Math" panose="02040503050406030204" pitchFamily="18" charset="0"/>
                          </a:rPr>
                          <m:t>                  </m:t>
                        </m:r>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oMath>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故</a:t>
                </a:r>
                <a:r>
                  <a:rPr lang="en-US" altLang="zh-CN" sz="20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(4)</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MS Mincho" panose="02020609040205080304" charset="-128"/>
                            <a:cs typeface="Cambria Math" panose="02040503050406030204" pitchFamily="18" charset="0"/>
                          </a:rPr>
                          <m:t>𝜆</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sSub>
                      <m:sSub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kumimoji="1" lang="en-US" altLang="zh-CN" sz="2000" i="1">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000" i="1">
                        <a:latin typeface="Cambria Math" panose="02040503050406030204" pitchFamily="18" charset="0"/>
                        <a:ea typeface="MS Mincho" panose="02020609040205080304" charset="-128"/>
                        <a:cs typeface="Cambria Math" panose="02040503050406030204" pitchFamily="18" charset="0"/>
                      </a:rPr>
                      <m:t>=(0,0,3</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+(−3)(0,0,1</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=(0,0,0</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MS Mincho" panose="02020609040205080304" charset="-128"/>
                            <a:cs typeface="Cambria Math" panose="02040503050406030204" pitchFamily="18" charset="0"/>
                          </a:rPr>
                          <m:t>)</m:t>
                        </m:r>
                      </m:e>
                      <m:sup>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oMath>
                </a14:m>
                <a:endParaRPr kumimoji="1" lang="en-US" altLang="zh-CN" sz="2000" i="1" dirty="0">
                  <a:latin typeface="宋体" panose="02010600030101010101" pitchFamily="2" charset="-122"/>
                  <a:ea typeface="宋体" panose="02010600030101010101" pitchFamily="2" charset="-122"/>
                  <a:cs typeface="宋体" panose="02010600030101010101" pitchFamily="2" charset="-122"/>
                </a:endParaRPr>
              </a:p>
              <a:p>
                <a:pPr algn="just">
                  <a:lnSpc>
                    <a:spcPct val="120000"/>
                  </a:lnSpc>
                </a:pPr>
                <a14:m>
                  <m:oMathPara xmlns:m="http://schemas.openxmlformats.org/officeDocument/2006/math">
                    <m:oMathParaPr>
                      <m:jc m:val="centerGroup"/>
                    </m:oMathParaPr>
                    <m:oMath xmlns:m="http://schemas.openxmlformats.org/officeDocument/2006/math">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000" i="1">
                          <a:latin typeface="Cambria Math" panose="02040503050406030204" pitchFamily="18" charset="0"/>
                          <a:ea typeface="MS Mincho" panose="02020609040205080304" charset="-128"/>
                          <a:cs typeface="Cambria Math" panose="02040503050406030204" pitchFamily="18" charset="0"/>
                        </a:rPr>
                        <m:t>(</m:t>
                      </m:r>
                      <m:sSup>
                        <m:sSupPr>
                          <m:ctrlPr>
                            <a:rPr kumimoji="1"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kumimoji="1"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kumimoji="1" lang="en-US" altLang="zh-CN" sz="2000" i="1">
                              <a:latin typeface="Cambria Math" panose="02040503050406030204" pitchFamily="18" charset="0"/>
                              <a:ea typeface="MS Mincho" panose="02020609040205080304" charset="-128"/>
                              <a:cs typeface="Cambria Math" panose="02040503050406030204" pitchFamily="18" charset="0"/>
                            </a:rPr>
                            <m:t>(4)</m:t>
                          </m:r>
                        </m:sup>
                      </m:sSup>
                      <m:r>
                        <a:rPr kumimoji="1" lang="en-US" altLang="zh-CN" sz="2000" i="1">
                          <a:latin typeface="Cambria Math" panose="02040503050406030204" pitchFamily="18" charset="0"/>
                          <a:ea typeface="MS Mincho" panose="02020609040205080304" charset="-128"/>
                          <a:cs typeface="Cambria Math" panose="02040503050406030204" pitchFamily="18" charset="0"/>
                        </a:rPr>
                        <m:t>)=0</m:t>
                      </m:r>
                    </m:oMath>
                  </m:oMathPara>
                </a14:m>
                <a:endParaRPr lang="zh-CN" altLang="en-US" sz="20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590920" y="680234"/>
                <a:ext cx="8204359" cy="5458460"/>
              </a:xfrm>
              <a:prstGeom prst="rect">
                <a:avLst/>
              </a:prstGeom>
              <a:blipFill rotWithShape="1">
                <a:blip r:embed="rId2"/>
                <a:stretch>
                  <a:fillRect l="-5" t="-3" r="6" b="3"/>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456300" y="446584"/>
                <a:ext cx="8400098" cy="4824730"/>
              </a:xfrm>
              <a:prstGeom prst="rect">
                <a:avLst/>
              </a:prstGeom>
              <a:noFill/>
            </p:spPr>
            <p:txBody>
              <a:bodyPr wrap="square" rtlCol="0">
                <a:spAutoFit/>
              </a:bodyPr>
              <a:lstStyle>
                <a:defPPr>
                  <a:defRPr lang="en-US"/>
                </a:defPPr>
                <a:lvl1pPr algn="just">
                  <a:lnSpc>
                    <a:spcPct val="120000"/>
                  </a:lnSpc>
                  <a:defRPr sz="2400">
                    <a:latin typeface="宋体" panose="02010600030101010101" pitchFamily="2" charset="-122"/>
                    <a:ea typeface="宋体" panose="02010600030101010101" pitchFamily="2" charset="-122"/>
                    <a:cs typeface="宋体" panose="02010600030101010101" pitchFamily="2" charset="-122"/>
                  </a:defRPr>
                </a:lvl1pPr>
              </a:lstStyle>
              <a:p>
                <a:r>
                  <a:rPr lang="zh-CN" altLang="en-US" sz="2000" dirty="0"/>
                  <a:t>    因为</a:t>
                </a:r>
                <a14:m>
                  <m:oMath xmlns:m="http://schemas.openxmlformats.org/officeDocument/2006/math">
                    <m:sSub>
                      <m:sSubPr>
                        <m:ctrlPr>
                          <a:rPr lang="en-US" altLang="zh-CN" sz="2000" i="1">
                            <a:latin typeface="Cambria Math" panose="02040503050406030204" pitchFamily="18" charset="0"/>
                          </a:rPr>
                        </m:ctrlPr>
                      </m:sSubPr>
                      <m:e>
                        <m:d>
                          <m:dPr>
                            <m:begChr m:val="‖"/>
                            <m:endChr m:val="‖"/>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(4)</m:t>
                                </m:r>
                              </m:sup>
                            </m:sSup>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(1)</m:t>
                                </m:r>
                              </m:sup>
                            </m:sSup>
                          </m:e>
                        </m:d>
                      </m:e>
                      <m:sub>
                        <m:r>
                          <a:rPr lang="en-US" altLang="zh-CN" sz="2000" i="1">
                            <a:latin typeface="Cambria Math" panose="02040503050406030204" pitchFamily="18" charset="0"/>
                          </a:rPr>
                          <m:t>2</m:t>
                        </m:r>
                      </m:sub>
                    </m:sSub>
                    <m:r>
                      <a:rPr lang="en-US" altLang="zh-CN" sz="2000">
                        <a:latin typeface="Cambria Math" panose="02040503050406030204" pitchFamily="18" charset="0"/>
                      </a:rPr>
                      <m:t>&gt;0.01</m:t>
                    </m:r>
                  </m:oMath>
                </a14:m>
                <a:r>
                  <a:rPr lang="zh-CN" altLang="en-US" sz="2000" dirty="0"/>
                  <a:t>，故以</a:t>
                </a:r>
                <a14:m>
                  <m:oMath xmlns:m="http://schemas.openxmlformats.org/officeDocument/2006/math">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(4)</m:t>
                        </m:r>
                      </m:sup>
                    </m:sSup>
                  </m:oMath>
                </a14:m>
                <a:r>
                  <a:rPr lang="zh-CN" altLang="en-US" sz="2000" dirty="0"/>
                  <a:t>作为新的</a:t>
                </a:r>
                <a14:m>
                  <m:oMath xmlns:m="http://schemas.openxmlformats.org/officeDocument/2006/math">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(1)</m:t>
                        </m:r>
                      </m:sup>
                    </m:sSup>
                  </m:oMath>
                </a14:m>
                <a:r>
                  <a:rPr lang="zh-CN" altLang="en-US" sz="2000" dirty="0"/>
                  <a:t>进行新一轮迭代。</a:t>
                </a:r>
              </a:p>
              <a:p>
                <a:r>
                  <a:rPr lang="zh-CN" altLang="en-US" sz="2000" dirty="0"/>
                  <a:t>令      </a:t>
                </a:r>
                <a:r>
                  <a:rPr lang="en-US" altLang="zh-CN" sz="2000" dirty="0"/>
                  <a:t>                   </a:t>
                </a:r>
                <a14:m>
                  <m:oMath xmlns:m="http://schemas.openxmlformats.org/officeDocument/2006/math">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(1)</m:t>
                        </m:r>
                      </m:sup>
                    </m:sSup>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(4)</m:t>
                        </m:r>
                      </m:sup>
                    </m:sSup>
                    <m:r>
                      <a:rPr lang="en-US" altLang="zh-CN" sz="2000">
                        <a:latin typeface="Cambria Math" panose="02040503050406030204" pitchFamily="18" charset="0"/>
                      </a:rPr>
                      <m:t>=(0,0,0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oMath>
                </a14:m>
                <a:r>
                  <a:rPr lang="zh-CN" altLang="en-US" sz="2000" dirty="0"/>
                  <a:t>    </a:t>
                </a:r>
              </a:p>
              <a:p>
                <a:r>
                  <a:rPr lang="zh-CN" altLang="en-US" sz="2000" dirty="0"/>
                  <a:t>以</a:t>
                </a:r>
                <a14:m>
                  <m:oMath xmlns:m="http://schemas.openxmlformats.org/officeDocument/2006/math">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(1)</m:t>
                        </m:r>
                      </m:sup>
                    </m:sSup>
                  </m:oMath>
                </a14:m>
                <a:r>
                  <a:rPr lang="zh-CN" altLang="en-US" sz="2000" dirty="0"/>
                  <a:t>为起点，沿</a:t>
                </a:r>
                <a14:m>
                  <m:oMath xmlns:m="http://schemas.openxmlformats.org/officeDocument/2006/math">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𝑒</m:t>
                        </m:r>
                      </m:e>
                      <m:sub>
                        <m:r>
                          <a:rPr lang="en-US" altLang="zh-CN" sz="2000">
                            <a:latin typeface="Cambria Math" panose="02040503050406030204" pitchFamily="18" charset="0"/>
                          </a:rPr>
                          <m:t>1</m:t>
                        </m:r>
                      </m:sub>
                    </m:sSub>
                  </m:oMath>
                </a14:m>
                <a:r>
                  <a:rPr lang="zh-CN" altLang="en-US" sz="2000" dirty="0"/>
                  <a:t>方向进行一维搜索:</a:t>
                </a:r>
              </a:p>
              <a:p>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(1)</m:t>
                          </m:r>
                        </m:sup>
                      </m:sSup>
                      <m:r>
                        <a:rPr lang="en-US" altLang="zh-CN" sz="2000">
                          <a:latin typeface="Cambria Math" panose="02040503050406030204" pitchFamily="18" charset="0"/>
                        </a:rPr>
                        <m:t>+</m:t>
                      </m:r>
                      <m:r>
                        <a:rPr lang="en-US" altLang="zh-CN" sz="2000">
                          <a:latin typeface="Cambria Math" panose="02040503050406030204" pitchFamily="18" charset="0"/>
                        </a:rPr>
                        <m:t>𝜆</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𝑒</m:t>
                          </m:r>
                        </m:e>
                        <m:sub>
                          <m:r>
                            <a:rPr lang="en-US" altLang="zh-CN" sz="2000">
                              <a:latin typeface="Cambria Math" panose="02040503050406030204" pitchFamily="18" charset="0"/>
                            </a:rPr>
                            <m:t>1</m:t>
                          </m:r>
                        </m:sub>
                      </m:sSub>
                      <m:r>
                        <a:rPr lang="en-US" altLang="zh-CN" sz="2000">
                          <a:latin typeface="Cambria Math" panose="02040503050406030204" pitchFamily="18" charset="0"/>
                        </a:rPr>
                        <m:t>=(0,0,0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r>
                        <a:rPr lang="en-US" altLang="zh-CN" sz="2000">
                          <a:latin typeface="Cambria Math" panose="02040503050406030204" pitchFamily="18" charset="0"/>
                        </a:rPr>
                        <m:t>+</m:t>
                      </m:r>
                      <m:r>
                        <a:rPr lang="en-US" altLang="zh-CN" sz="2000">
                          <a:latin typeface="Cambria Math" panose="02040503050406030204" pitchFamily="18" charset="0"/>
                        </a:rPr>
                        <m:t>𝜆</m:t>
                      </m:r>
                      <m:r>
                        <a:rPr lang="en-US" altLang="zh-CN" sz="2000">
                          <a:latin typeface="Cambria Math" panose="02040503050406030204" pitchFamily="18" charset="0"/>
                        </a:rPr>
                        <m:t>(1,0,0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r>
                        <a:rPr lang="en-US" altLang="zh-CN" sz="2000">
                          <a:latin typeface="Cambria Math" panose="02040503050406030204" pitchFamily="18" charset="0"/>
                        </a:rPr>
                        <m:t>=(</m:t>
                      </m:r>
                      <m:r>
                        <a:rPr lang="en-US" altLang="zh-CN" sz="2000">
                          <a:latin typeface="Cambria Math" panose="02040503050406030204" pitchFamily="18" charset="0"/>
                        </a:rPr>
                        <m:t>𝜆</m:t>
                      </m:r>
                      <m:r>
                        <a:rPr lang="en-US" altLang="zh-CN" sz="2000">
                          <a:latin typeface="Cambria Math" panose="02040503050406030204" pitchFamily="18" charset="0"/>
                        </a:rPr>
                        <m:t>,0,0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oMath>
                  </m:oMathPara>
                </a14:m>
                <a:endParaRPr lang="zh-CN" altLang="en-US" sz="2000" dirty="0"/>
              </a:p>
              <a:p>
                <a:r>
                  <a:rPr lang="zh-CN" altLang="en-US" sz="2000" dirty="0"/>
                  <a:t>则有         </a:t>
                </a:r>
                <a:r>
                  <a:rPr lang="en-US" altLang="zh-CN" sz="2000" dirty="0"/>
                  <a:t>              </a:t>
                </a:r>
                <a:r>
                  <a:rPr lang="zh-CN" altLang="en-US" sz="2000" dirty="0"/>
                  <a:t> </a:t>
                </a:r>
                <a14:m>
                  <m:oMath xmlns:m="http://schemas.openxmlformats.org/officeDocument/2006/math">
                    <m:r>
                      <a:rPr lang="en-US" altLang="zh-CN" sz="2000">
                        <a:latin typeface="Cambria Math" panose="02040503050406030204" pitchFamily="18" charset="0"/>
                      </a:rPr>
                      <m:t>𝑓</m:t>
                    </m:r>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(1)</m:t>
                        </m:r>
                      </m:sup>
                    </m:sSup>
                    <m:r>
                      <a:rPr lang="en-US" altLang="zh-CN" sz="2000">
                        <a:latin typeface="Cambria Math" panose="02040503050406030204" pitchFamily="18" charset="0"/>
                      </a:rPr>
                      <m:t>+</m:t>
                    </m:r>
                    <m:r>
                      <a:rPr lang="en-US" altLang="zh-CN" sz="2000">
                        <a:latin typeface="Cambria Math" panose="02040503050406030204" pitchFamily="18" charset="0"/>
                      </a:rPr>
                      <m:t>𝜆</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𝑒</m:t>
                        </m:r>
                      </m:e>
                      <m:sub>
                        <m:r>
                          <a:rPr lang="en-US" altLang="zh-CN" sz="2000">
                            <a:latin typeface="Cambria Math" panose="02040503050406030204" pitchFamily="18" charset="0"/>
                          </a:rPr>
                          <m:t>1</m:t>
                        </m:r>
                      </m:sub>
                    </m:sSub>
                    <m:r>
                      <a:rPr lang="en-US" altLang="zh-CN" sz="2000">
                        <a:latin typeface="Cambria Math" panose="02040503050406030204" pitchFamily="18" charset="0"/>
                      </a:rPr>
                      <m:t>)=3∙</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𝜆</m:t>
                        </m:r>
                      </m:e>
                      <m:sup>
                        <m:r>
                          <a:rPr lang="en-US" altLang="zh-CN" sz="2000">
                            <a:latin typeface="Cambria Math" panose="02040503050406030204" pitchFamily="18" charset="0"/>
                          </a:rPr>
                          <m:t>2</m:t>
                        </m:r>
                      </m:sup>
                    </m:sSup>
                  </m:oMath>
                </a14:m>
                <a:r>
                  <a:rPr lang="zh-CN" altLang="en-US" sz="2000" dirty="0"/>
                  <a:t>     </a:t>
                </a:r>
              </a:p>
              <a:p>
                <a:r>
                  <a:rPr lang="zh-CN" altLang="en-US" sz="2000" dirty="0"/>
                  <a:t>令                    </a:t>
                </a:r>
                <a:r>
                  <a:rPr lang="en-US" altLang="zh-CN" sz="2000" dirty="0"/>
                  <a:t>         </a:t>
                </a:r>
                <a14:m>
                  <m:oMath xmlns:m="http://schemas.openxmlformats.org/officeDocument/2006/math">
                    <m:sSubSup>
                      <m:sSubSupPr>
                        <m:ctrlPr>
                          <a:rPr lang="en-US" altLang="zh-CN" sz="2000" i="1">
                            <a:latin typeface="Cambria Math" panose="02040503050406030204" pitchFamily="18" charset="0"/>
                          </a:rPr>
                        </m:ctrlPr>
                      </m:sSubSupPr>
                      <m:e>
                        <m:r>
                          <a:rPr lang="en-US" altLang="zh-CN" sz="2000">
                            <a:latin typeface="Cambria Math" panose="02040503050406030204" pitchFamily="18" charset="0"/>
                          </a:rPr>
                          <m:t>𝑓</m:t>
                        </m:r>
                      </m:e>
                      <m:sub>
                        <m:r>
                          <a:rPr lang="en-US" altLang="zh-CN" sz="2000">
                            <a:latin typeface="Cambria Math" panose="02040503050406030204" pitchFamily="18" charset="0"/>
                          </a:rPr>
                          <m:t>𝜆</m:t>
                        </m:r>
                      </m:sub>
                      <m:sup>
                        <m:r>
                          <a:rPr lang="en-US" altLang="zh-CN" sz="2000">
                            <a:latin typeface="Cambria Math" panose="02040503050406030204" pitchFamily="18" charset="0"/>
                          </a:rPr>
                          <m:t>’</m:t>
                        </m:r>
                      </m:sup>
                    </m:sSubSup>
                    <m:r>
                      <a:rPr lang="en-US" altLang="zh-CN" sz="2000">
                        <a:latin typeface="Cambria Math" panose="02040503050406030204" pitchFamily="18" charset="0"/>
                      </a:rPr>
                      <m:t>=6</m:t>
                    </m:r>
                    <m:r>
                      <a:rPr lang="en-US" altLang="zh-CN" sz="2000">
                        <a:latin typeface="Cambria Math" panose="02040503050406030204" pitchFamily="18" charset="0"/>
                      </a:rPr>
                      <m:t>𝜆</m:t>
                    </m:r>
                    <m:r>
                      <a:rPr lang="en-US" altLang="zh-CN" sz="2000">
                        <a:latin typeface="Cambria Math" panose="02040503050406030204" pitchFamily="18" charset="0"/>
                      </a:rPr>
                      <m:t>=0</m:t>
                    </m:r>
                  </m:oMath>
                </a14:m>
                <a:endParaRPr lang="zh-CN" altLang="en-US" sz="2000" dirty="0"/>
              </a:p>
              <a:p>
                <a:r>
                  <a:rPr lang="zh-CN" altLang="en-US" sz="2000" dirty="0"/>
                  <a:t>有        </a:t>
                </a:r>
                <a:r>
                  <a:rPr lang="en-US" altLang="zh-CN" sz="2000" dirty="0"/>
                  <a:t>            </a:t>
                </a:r>
                <a:r>
                  <a:rPr lang="zh-CN" altLang="en-US" sz="2000" dirty="0"/>
                  <a:t>             </a:t>
                </a:r>
                <a14:m>
                  <m:oMath xmlns:m="http://schemas.openxmlformats.org/officeDocument/2006/math">
                    <m:r>
                      <a:rPr lang="en-US" altLang="zh-CN" sz="2000">
                        <a:latin typeface="Cambria Math" panose="02040503050406030204" pitchFamily="18" charset="0"/>
                      </a:rPr>
                      <m:t>𝜆</m:t>
                    </m:r>
                    <m:r>
                      <a:rPr lang="en-US" altLang="zh-CN" sz="2000">
                        <a:latin typeface="Cambria Math" panose="02040503050406030204" pitchFamily="18" charset="0"/>
                      </a:rPr>
                      <m:t>=0</m:t>
                    </m:r>
                  </m:oMath>
                </a14:m>
                <a:endParaRPr lang="zh-CN" altLang="en-US" sz="2000" dirty="0"/>
              </a:p>
              <a:p>
                <a:r>
                  <a:rPr lang="zh-CN" altLang="en-US" sz="2000" dirty="0"/>
                  <a:t>故有 </a:t>
                </a:r>
                <a:r>
                  <a:rPr lang="en-US" altLang="zh-CN" sz="2000" dirty="0"/>
                  <a:t>         </a:t>
                </a:r>
                <a14:m>
                  <m:oMath xmlns:m="http://schemas.openxmlformats.org/officeDocument/2006/math">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(2)</m:t>
                        </m:r>
                      </m:sup>
                    </m:sSup>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(1)</m:t>
                        </m:r>
                      </m:sup>
                    </m:sSup>
                    <m:r>
                      <a:rPr lang="en-US" altLang="zh-CN" sz="2000">
                        <a:latin typeface="Cambria Math" panose="02040503050406030204" pitchFamily="18" charset="0"/>
                      </a:rPr>
                      <m:t>+</m:t>
                    </m:r>
                    <m:r>
                      <a:rPr lang="en-US" altLang="zh-CN" sz="2000">
                        <a:latin typeface="Cambria Math" panose="02040503050406030204" pitchFamily="18" charset="0"/>
                      </a:rPr>
                      <m:t>𝜆</m:t>
                    </m:r>
                    <m:sSub>
                      <m:sSubPr>
                        <m:ctrlPr>
                          <a:rPr lang="en-US" altLang="zh-CN" sz="2000" i="1">
                            <a:latin typeface="Cambria Math" panose="02040503050406030204" pitchFamily="18" charset="0"/>
                          </a:rPr>
                        </m:ctrlPr>
                      </m:sSubPr>
                      <m:e>
                        <m:r>
                          <a:rPr lang="en-US" altLang="zh-CN" sz="2000">
                            <a:latin typeface="Cambria Math" panose="02040503050406030204" pitchFamily="18" charset="0"/>
                          </a:rPr>
                          <m:t>𝑒</m:t>
                        </m:r>
                      </m:e>
                      <m:sub>
                        <m:r>
                          <a:rPr lang="en-US" altLang="zh-CN" sz="2000">
                            <a:latin typeface="Cambria Math" panose="02040503050406030204" pitchFamily="18" charset="0"/>
                          </a:rPr>
                          <m:t>1</m:t>
                        </m:r>
                      </m:sub>
                    </m:sSub>
                    <m:r>
                      <a:rPr lang="en-US" altLang="zh-CN" sz="2000">
                        <a:latin typeface="Cambria Math" panose="02040503050406030204" pitchFamily="18" charset="0"/>
                      </a:rPr>
                      <m:t>=(0,0,</m:t>
                    </m:r>
                    <m:sSup>
                      <m:sSupPr>
                        <m:ctrlPr>
                          <a:rPr lang="en-US" altLang="zh-CN" sz="2000" i="1">
                            <a:latin typeface="Cambria Math" panose="02040503050406030204" pitchFamily="18" charset="0"/>
                          </a:rPr>
                        </m:ctrlPr>
                      </m:sSupPr>
                      <m:e>
                        <m:r>
                          <a:rPr lang="en-US" altLang="zh-CN" sz="2000" b="0" i="1" smtClean="0">
                            <a:latin typeface="Cambria Math" panose="02040503050406030204" pitchFamily="18" charset="0"/>
                          </a:rPr>
                          <m:t>0</m:t>
                        </m:r>
                        <m:r>
                          <a:rPr lang="en-US" altLang="zh-CN" sz="2000">
                            <a:latin typeface="Cambria Math" panose="02040503050406030204" pitchFamily="18" charset="0"/>
                          </a:rPr>
                          <m:t>)</m:t>
                        </m:r>
                      </m:e>
                      <m:sup>
                        <m:r>
                          <a:rPr lang="en-US" altLang="zh-CN" sz="2000">
                            <a:latin typeface="Cambria Math" panose="02040503050406030204" pitchFamily="18" charset="0"/>
                          </a:rPr>
                          <m:t>𝑇</m:t>
                        </m:r>
                      </m:sup>
                    </m:sSup>
                    <m:r>
                      <a:rPr lang="en-US" altLang="zh-CN" sz="2000">
                        <a:latin typeface="Cambria Math" panose="02040503050406030204" pitchFamily="18" charset="0"/>
                      </a:rPr>
                      <m:t>+0(1,0,0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r>
                      <a:rPr lang="en-US" altLang="zh-CN" sz="2000">
                        <a:latin typeface="Cambria Math" panose="02040503050406030204" pitchFamily="18" charset="0"/>
                      </a:rPr>
                      <m:t>=(0,0,0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oMath>
                </a14:m>
                <a:endParaRPr lang="zh-CN" altLang="en-US" sz="2000" dirty="0"/>
              </a:p>
              <a:p>
                <a:r>
                  <a:rPr lang="en-US" altLang="zh-CN" sz="2000" dirty="0"/>
                  <a:t>	</a:t>
                </a:r>
                <a:r>
                  <a:rPr lang="zh-CN" altLang="en-US" sz="2000" dirty="0"/>
                  <a:t>同理可得           </a:t>
                </a:r>
                <a14:m>
                  <m:oMath xmlns:m="http://schemas.openxmlformats.org/officeDocument/2006/math">
                    <m:r>
                      <a:rPr lang="en-US" altLang="zh-CN" sz="2000">
                        <a:latin typeface="Cambria Math" panose="02040503050406030204" pitchFamily="18" charset="0"/>
                      </a:rPr>
                      <m:t>                      </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(3)</m:t>
                        </m:r>
                      </m:sup>
                    </m:sSup>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(4)</m:t>
                        </m:r>
                      </m:sup>
                    </m:sSup>
                    <m:r>
                      <a:rPr lang="en-US" altLang="zh-CN" sz="2000">
                        <a:latin typeface="Cambria Math" panose="02040503050406030204" pitchFamily="18" charset="0"/>
                      </a:rPr>
                      <m:t>=(0,0,0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oMath>
                </a14:m>
                <a:endParaRPr lang="zh-CN" altLang="en-US" sz="2000" dirty="0"/>
              </a:p>
              <a:p>
                <a:r>
                  <a:rPr lang="zh-CN" altLang="en-US" sz="2000" dirty="0"/>
                  <a:t>现有                   </a:t>
                </a:r>
                <a14:m>
                  <m:oMath xmlns:m="http://schemas.openxmlformats.org/officeDocument/2006/math">
                    <m:sSub>
                      <m:sSubPr>
                        <m:ctrlPr>
                          <a:rPr lang="en-US" altLang="zh-CN" sz="2000" i="1">
                            <a:latin typeface="Cambria Math" panose="02040503050406030204" pitchFamily="18" charset="0"/>
                          </a:rPr>
                        </m:ctrlPr>
                      </m:sSubPr>
                      <m:e>
                        <m:d>
                          <m:dPr>
                            <m:begChr m:val="‖"/>
                            <m:endChr m:val="‖"/>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(4)</m:t>
                                </m:r>
                              </m:sup>
                            </m:sSup>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(3)</m:t>
                                </m:r>
                              </m:sup>
                            </m:sSup>
                          </m:e>
                        </m:d>
                      </m:e>
                      <m:sub>
                        <m:r>
                          <a:rPr lang="en-US" altLang="zh-CN" sz="2000" i="1">
                            <a:latin typeface="Cambria Math" panose="02040503050406030204" pitchFamily="18" charset="0"/>
                          </a:rPr>
                          <m:t>2</m:t>
                        </m:r>
                      </m:sub>
                    </m:sSub>
                    <m:r>
                      <a:rPr lang="en-US" altLang="zh-CN" sz="2000">
                        <a:latin typeface="Cambria Math" panose="02040503050406030204" pitchFamily="18" charset="0"/>
                      </a:rPr>
                      <m:t>=0&lt;0.01</m:t>
                    </m:r>
                  </m:oMath>
                </a14:m>
                <a:endParaRPr lang="zh-CN" altLang="en-US" sz="2000" dirty="0"/>
              </a:p>
              <a:p>
                <a:r>
                  <a:rPr lang="zh-CN" altLang="en-US" sz="2000" dirty="0"/>
                  <a:t>故</a:t>
                </a:r>
                <a14:m>
                  <m:oMath xmlns:m="http://schemas.openxmlformats.org/officeDocument/2006/math">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(4)</m:t>
                        </m:r>
                      </m:sup>
                    </m:sSup>
                    <m:r>
                      <a:rPr lang="en-US" altLang="zh-CN" sz="2000">
                        <a:latin typeface="Cambria Math" panose="02040503050406030204" pitchFamily="18" charset="0"/>
                      </a:rPr>
                      <m:t>=(0,0,0</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m:t>
                        </m:r>
                      </m:e>
                      <m:sup>
                        <m:r>
                          <a:rPr lang="en-US" altLang="zh-CN" sz="2000">
                            <a:latin typeface="Cambria Math" panose="02040503050406030204" pitchFamily="18" charset="0"/>
                          </a:rPr>
                          <m:t>𝑇</m:t>
                        </m:r>
                      </m:sup>
                    </m:sSup>
                  </m:oMath>
                </a14:m>
                <a:r>
                  <a:rPr lang="zh-CN" altLang="en-US" sz="2000" dirty="0"/>
                  <a:t>即为极小点，</a:t>
                </a:r>
                <a:endParaRPr lang="en-US" altLang="zh-CN" sz="2000" dirty="0"/>
              </a:p>
              <a:p>
                <a:pPr algn="ctr"/>
                <a14:m>
                  <m:oMath xmlns:m="http://schemas.openxmlformats.org/officeDocument/2006/math">
                    <m:r>
                      <a:rPr lang="en-US" altLang="zh-CN" sz="2000">
                        <a:latin typeface="Cambria Math" panose="02040503050406030204" pitchFamily="18" charset="0"/>
                      </a:rPr>
                      <m:t>𝑓</m:t>
                    </m:r>
                    <m:r>
                      <a:rPr lang="en-US" altLang="zh-CN" sz="2000">
                        <a:latin typeface="Cambria Math" panose="02040503050406030204" pitchFamily="18" charset="0"/>
                      </a:rPr>
                      <m:t>(</m:t>
                    </m:r>
                    <m:sSup>
                      <m:sSupPr>
                        <m:ctrlPr>
                          <a:rPr lang="en-US" altLang="zh-CN" sz="2000" i="1">
                            <a:latin typeface="Cambria Math" panose="02040503050406030204" pitchFamily="18" charset="0"/>
                          </a:rPr>
                        </m:ctrlPr>
                      </m:sSupPr>
                      <m:e>
                        <m:r>
                          <a:rPr lang="en-US" altLang="zh-CN" sz="2000">
                            <a:latin typeface="Cambria Math" panose="02040503050406030204" pitchFamily="18" charset="0"/>
                          </a:rPr>
                          <m:t>𝑥</m:t>
                        </m:r>
                      </m:e>
                      <m:sup>
                        <m:r>
                          <a:rPr lang="en-US" altLang="zh-CN" sz="2000">
                            <a:latin typeface="Cambria Math" panose="02040503050406030204" pitchFamily="18" charset="0"/>
                          </a:rPr>
                          <m:t>(4)</m:t>
                        </m:r>
                      </m:sup>
                    </m:sSup>
                    <m:r>
                      <a:rPr lang="en-US" altLang="zh-CN" sz="2000">
                        <a:latin typeface="Cambria Math" panose="02040503050406030204" pitchFamily="18" charset="0"/>
                      </a:rPr>
                      <m:t>)=0</m:t>
                    </m:r>
                  </m:oMath>
                </a14:m>
                <a:r>
                  <a:rPr lang="zh-CN" altLang="en-US" sz="2000" dirty="0"/>
                  <a:t>。</a:t>
                </a:r>
              </a:p>
            </p:txBody>
          </p:sp>
        </mc:Choice>
        <mc:Fallback xmlns="">
          <p:sp>
            <p:nvSpPr>
              <p:cNvPr id="2" name="文本框 1"/>
              <p:cNvSpPr txBox="1">
                <a:spLocks noRot="1" noChangeAspect="1" noMove="1" noResize="1" noEditPoints="1" noAdjustHandles="1" noChangeArrowheads="1" noChangeShapeType="1" noTextEdit="1"/>
              </p:cNvSpPr>
              <p:nvPr/>
            </p:nvSpPr>
            <p:spPr>
              <a:xfrm>
                <a:off x="456300" y="446584"/>
                <a:ext cx="8400098" cy="4824730"/>
              </a:xfrm>
              <a:prstGeom prst="rect">
                <a:avLst/>
              </a:prstGeom>
              <a:blipFill rotWithShape="1">
                <a:blip r:embed="rId2"/>
                <a:stretch>
                  <a:fillRect l="-4" t="-4" r="1" b="4"/>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2058780" y="1518867"/>
            <a:ext cx="2406230" cy="1061829"/>
          </a:xfrm>
          <a:prstGeom prst="rect">
            <a:avLst/>
          </a:prstGeom>
        </p:spPr>
        <p:txBody>
          <a:bodyPr wrap="square">
            <a:spAutoFit/>
          </a:bodyPr>
          <a:lstStyle>
            <a:defPPr>
              <a:defRPr lang="en-US"/>
            </a:defPPr>
            <a:lvl1pPr>
              <a:buFont typeface="Wingdings" panose="05000000000000000000" pitchFamily="2" charset="2"/>
              <a:buNone/>
              <a:defRPr sz="2800" b="1">
                <a:solidFill>
                  <a:schemeClr val="hlink"/>
                </a:solidFill>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a:lstStyle>
          <a:p>
            <a:r>
              <a:rPr lang="zh-CN" altLang="en-US" sz="2100" dirty="0">
                <a:latin typeface="宋体" panose="02010600030101010101" pitchFamily="2" charset="-122"/>
                <a:ea typeface="宋体" panose="02010600030101010101" pitchFamily="2" charset="-122"/>
              </a:rPr>
              <a:t>变量轮换法</a:t>
            </a:r>
          </a:p>
          <a:p>
            <a:endParaRPr lang="zh-CN" altLang="en-US" sz="2100" dirty="0"/>
          </a:p>
          <a:p>
            <a:r>
              <a:rPr lang="zh-CN" altLang="en-US" sz="2100" dirty="0"/>
              <a:t> </a:t>
            </a:r>
          </a:p>
        </p:txBody>
      </p:sp>
      <p:grpSp>
        <p:nvGrpSpPr>
          <p:cNvPr id="2" name="组合 1"/>
          <p:cNvGrpSpPr/>
          <p:nvPr/>
        </p:nvGrpSpPr>
        <p:grpSpPr>
          <a:xfrm>
            <a:off x="2058780" y="2063018"/>
            <a:ext cx="6561439" cy="3992118"/>
            <a:chOff x="2576363" y="868970"/>
            <a:chExt cx="8748585" cy="5322824"/>
          </a:xfrm>
        </p:grpSpPr>
        <mc:AlternateContent xmlns:mc="http://schemas.openxmlformats.org/markup-compatibility/2006" xmlns:a14="http://schemas.microsoft.com/office/drawing/2010/main">
          <mc:Choice Requires="a14">
            <p:sp>
              <p:nvSpPr>
                <p:cNvPr id="7" name="文本框 6"/>
                <p:cNvSpPr txBox="1"/>
                <p:nvPr/>
              </p:nvSpPr>
              <p:spPr>
                <a:xfrm>
                  <a:off x="3130518" y="3323373"/>
                  <a:ext cx="8194430" cy="9257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3</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func>
                          <m:func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100" kern="100">
                                    <a:latin typeface="Cambria Math" panose="02040503050406030204" pitchFamily="18" charset="0"/>
                                    <a:ea typeface="等线" panose="02010600030101010101" charset="-122"/>
                                    <a:cs typeface="Times New Roman" panose="02020603050405020304" pitchFamily="18" charset="0"/>
                                  </a:rPr>
                                  <m:t>argmin</m:t>
                                </m:r>
                              </m:e>
                              <m:lim>
                                <m:sSub>
                                  <m:sSub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3</m:t>
                                    </m:r>
                                  </m:sub>
                                </m:sSub>
                                <m:r>
                                  <a:rPr lang="en-US" altLang="zh-CN" sz="2100" i="1" kern="100">
                                    <a:latin typeface="Cambria Math" panose="02040503050406030204" pitchFamily="18" charset="0"/>
                                    <a:ea typeface="等线" panose="02010600030101010101" charset="-122"/>
                                    <a:cs typeface="Times New Roman" panose="02020603050405020304" pitchFamily="18" charset="0"/>
                                  </a:rPr>
                                  <m:t>∈</m:t>
                                </m:r>
                                <m:r>
                                  <a:rPr lang="en-US" altLang="zh-CN" sz="2100" i="1" kern="100">
                                    <a:latin typeface="Cambria Math" panose="02040503050406030204" pitchFamily="18" charset="0"/>
                                    <a:ea typeface="等线" panose="02010600030101010101" charset="-122"/>
                                    <a:cs typeface="Times New Roman" panose="02020603050405020304" pitchFamily="18" charset="0"/>
                                  </a:rPr>
                                  <m:t>𝑅</m:t>
                                </m:r>
                              </m:lim>
                            </m:limLow>
                          </m:fName>
                          <m:e>
                            <m:r>
                              <a:rPr lang="en-US" altLang="zh-CN" sz="2100" i="1" kern="100">
                                <a:latin typeface="Cambria Math" panose="02040503050406030204" pitchFamily="18" charset="0"/>
                                <a:ea typeface="等线" panose="02010600030101010101" charset="-122"/>
                                <a:cs typeface="Times New Roman" panose="02020603050405020304" pitchFamily="18" charset="0"/>
                              </a:rPr>
                              <m:t>𝑓</m:t>
                            </m:r>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1</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2</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3</m:t>
                                    </m:r>
                                  </m:sub>
                                </m:sSub>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4</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r>
                                          <a:rPr lang="en-US" altLang="zh-CN" sz="2100" i="1" kern="100">
                                            <a:latin typeface="Cambria Math" panose="02040503050406030204" pitchFamily="18" charset="0"/>
                                            <a:ea typeface="等线" panose="02010600030101010101" charset="-122"/>
                                            <a:cs typeface="Times New Roman" panose="02020603050405020304" pitchFamily="18" charset="0"/>
                                          </a:rPr>
                                          <m:t>−1</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𝑛</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r>
                                          <a:rPr lang="en-US" altLang="zh-CN" sz="2100" i="1" kern="100">
                                            <a:latin typeface="Cambria Math" panose="02040503050406030204" pitchFamily="18" charset="0"/>
                                            <a:ea typeface="等线" panose="02010600030101010101" charset="-122"/>
                                            <a:cs typeface="Times New Roman" panose="02020603050405020304" pitchFamily="18" charset="0"/>
                                          </a:rPr>
                                          <m:t>−1</m:t>
                                        </m:r>
                                      </m:e>
                                    </m:d>
                                  </m:sup>
                                </m:sSubSup>
                              </m:e>
                            </m:d>
                          </m:e>
                        </m:func>
                      </m:oMath>
                    </m:oMathPara>
                  </a14:m>
                  <a:endParaRPr lang="zh-CN" altLang="zh-CN" sz="2100" kern="100" dirty="0">
                    <a:latin typeface="等线" panose="02010600030101010101" charset="-122"/>
                    <a:ea typeface="等线" panose="02010600030101010101" charset="-122"/>
                    <a:cs typeface="Times New Roman" panose="020206030504050203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3130518" y="3323373"/>
                  <a:ext cx="8194430" cy="925724"/>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3284658" y="2534930"/>
                  <a:ext cx="7090720" cy="9018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2</m:t>
                            </m:r>
                          </m:sub>
                          <m:sup>
                            <m:r>
                              <a:rPr lang="en-US" altLang="zh-CN" sz="2100" i="1" kern="100">
                                <a:latin typeface="Cambria Math" panose="02040503050406030204" pitchFamily="18" charset="0"/>
                                <a:ea typeface="等线" panose="02010600030101010101" charset="-122"/>
                                <a:cs typeface="Times New Roman" panose="02020603050405020304" pitchFamily="18" charset="0"/>
                              </a:rPr>
                              <m:t>(</m:t>
                            </m:r>
                            <m:r>
                              <a:rPr lang="en-US" altLang="zh-CN" sz="2100" i="1" kern="100">
                                <a:latin typeface="Cambria Math" panose="02040503050406030204" pitchFamily="18" charset="0"/>
                                <a:ea typeface="等线" panose="02010600030101010101" charset="-122"/>
                                <a:cs typeface="Times New Roman" panose="02020603050405020304" pitchFamily="18" charset="0"/>
                              </a:rPr>
                              <m:t>𝑘</m:t>
                            </m:r>
                            <m:r>
                              <a:rPr lang="en-US" altLang="zh-CN" sz="2100" i="1" kern="100">
                                <a:latin typeface="Cambria Math" panose="02040503050406030204" pitchFamily="18" charset="0"/>
                                <a:ea typeface="等线" panose="02010600030101010101" charset="-122"/>
                                <a:cs typeface="Times New Roman" panose="02020603050405020304" pitchFamily="18" charset="0"/>
                              </a:rPr>
                              <m:t>)</m:t>
                            </m:r>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func>
                          <m:func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100" kern="100">
                                    <a:latin typeface="Cambria Math" panose="02040503050406030204" pitchFamily="18" charset="0"/>
                                    <a:ea typeface="等线" panose="02010600030101010101" charset="-122"/>
                                    <a:cs typeface="Times New Roman" panose="02020603050405020304" pitchFamily="18" charset="0"/>
                                  </a:rPr>
                                  <m:t>argmin</m:t>
                                </m:r>
                              </m:e>
                              <m:lim>
                                <m:sSub>
                                  <m:sSub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2</m:t>
                                    </m:r>
                                  </m:sub>
                                </m:sSub>
                                <m:r>
                                  <a:rPr lang="en-US" altLang="zh-CN" sz="2100" i="1" kern="100">
                                    <a:latin typeface="Cambria Math" panose="02040503050406030204" pitchFamily="18" charset="0"/>
                                    <a:ea typeface="等线" panose="02010600030101010101" charset="-122"/>
                                    <a:cs typeface="Times New Roman" panose="02020603050405020304" pitchFamily="18" charset="0"/>
                                  </a:rPr>
                                  <m:t>∈</m:t>
                                </m:r>
                                <m:r>
                                  <a:rPr lang="en-US" altLang="zh-CN" sz="2100" i="1" kern="100">
                                    <a:latin typeface="Cambria Math" panose="02040503050406030204" pitchFamily="18" charset="0"/>
                                    <a:ea typeface="等线" panose="02010600030101010101" charset="-122"/>
                                    <a:cs typeface="Times New Roman" panose="02020603050405020304" pitchFamily="18" charset="0"/>
                                  </a:rPr>
                                  <m:t>𝑅</m:t>
                                </m:r>
                              </m:lim>
                            </m:limLow>
                          </m:fName>
                          <m:e>
                            <m:r>
                              <a:rPr lang="en-US" altLang="zh-CN" sz="2100" i="1" kern="100">
                                <a:latin typeface="Cambria Math" panose="02040503050406030204" pitchFamily="18" charset="0"/>
                                <a:ea typeface="等线" panose="02010600030101010101" charset="-122"/>
                                <a:cs typeface="Times New Roman" panose="02020603050405020304" pitchFamily="18" charset="0"/>
                              </a:rPr>
                              <m:t>𝑓</m:t>
                            </m:r>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1</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2</m:t>
                                </m:r>
                              </m:sub>
                            </m:sSub>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3</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r>
                                      <a:rPr lang="en-US" altLang="zh-CN" sz="2100" i="1" kern="100">
                                        <a:latin typeface="Cambria Math" panose="02040503050406030204" pitchFamily="18" charset="0"/>
                                        <a:ea typeface="等线" panose="02010600030101010101" charset="-122"/>
                                        <a:cs typeface="Times New Roman" panose="02020603050405020304" pitchFamily="18" charset="0"/>
                                      </a:rPr>
                                      <m:t>−1</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𝑛</m:t>
                                </m:r>
                              </m:sub>
                              <m:sup>
                                <m:r>
                                  <a:rPr lang="en-US" altLang="zh-CN" sz="2100" i="1" kern="100">
                                    <a:latin typeface="Cambria Math" panose="02040503050406030204" pitchFamily="18" charset="0"/>
                                    <a:ea typeface="等线" panose="02010600030101010101" charset="-122"/>
                                    <a:cs typeface="Times New Roman" panose="02020603050405020304" pitchFamily="18" charset="0"/>
                                  </a:rPr>
                                  <m:t>(</m:t>
                                </m:r>
                                <m:r>
                                  <a:rPr lang="en-US" altLang="zh-CN" sz="2100" i="1" kern="100">
                                    <a:latin typeface="Cambria Math" panose="02040503050406030204" pitchFamily="18" charset="0"/>
                                    <a:ea typeface="等线" panose="02010600030101010101" charset="-122"/>
                                    <a:cs typeface="Times New Roman" panose="02020603050405020304" pitchFamily="18" charset="0"/>
                                  </a:rPr>
                                  <m:t>𝑘</m:t>
                                </m:r>
                                <m:r>
                                  <a:rPr lang="en-US" altLang="zh-CN" sz="2100" i="1" kern="100">
                                    <a:latin typeface="Cambria Math" panose="02040503050406030204" pitchFamily="18" charset="0"/>
                                    <a:ea typeface="等线" panose="02010600030101010101" charset="-122"/>
                                    <a:cs typeface="Times New Roman" panose="02020603050405020304" pitchFamily="18" charset="0"/>
                                  </a:rPr>
                                  <m:t>−1)</m:t>
                                </m:r>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e>
                        </m:func>
                      </m:oMath>
                    </m:oMathPara>
                  </a14:m>
                  <a:endParaRPr lang="zh-CN" altLang="en-US" sz="2100" dirty="0"/>
                </a:p>
              </p:txBody>
            </p:sp>
          </mc:Choice>
          <mc:Fallback xmlns="">
            <p:sp>
              <p:nvSpPr>
                <p:cNvPr id="9" name="文本框 8"/>
                <p:cNvSpPr txBox="1">
                  <a:spLocks noRot="1" noChangeAspect="1" noMove="1" noResize="1" noEditPoints="1" noAdjustHandles="1" noChangeArrowheads="1" noChangeShapeType="1" noTextEdit="1"/>
                </p:cNvSpPr>
                <p:nvPr/>
              </p:nvSpPr>
              <p:spPr>
                <a:xfrm>
                  <a:off x="3284658" y="2534930"/>
                  <a:ext cx="7090720" cy="90187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2673316" y="4606171"/>
                  <a:ext cx="7090720" cy="9040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𝑛</m:t>
                            </m:r>
                          </m:sub>
                          <m:sup>
                            <m:r>
                              <a:rPr lang="en-US" altLang="zh-CN" sz="2100" i="1" kern="100">
                                <a:latin typeface="Cambria Math" panose="02040503050406030204" pitchFamily="18" charset="0"/>
                                <a:ea typeface="等线" panose="02010600030101010101" charset="-122"/>
                                <a:cs typeface="Times New Roman" panose="02020603050405020304" pitchFamily="18" charset="0"/>
                              </a:rPr>
                              <m:t>(</m:t>
                            </m:r>
                            <m:r>
                              <a:rPr lang="en-US" altLang="zh-CN" sz="2100" i="1" kern="100">
                                <a:latin typeface="Cambria Math" panose="02040503050406030204" pitchFamily="18" charset="0"/>
                                <a:ea typeface="等线" panose="02010600030101010101" charset="-122"/>
                                <a:cs typeface="Times New Roman" panose="02020603050405020304" pitchFamily="18" charset="0"/>
                              </a:rPr>
                              <m:t>𝑘</m:t>
                            </m:r>
                            <m:r>
                              <a:rPr lang="en-US" altLang="zh-CN" sz="2100" i="1" kern="100">
                                <a:latin typeface="Cambria Math" panose="02040503050406030204" pitchFamily="18" charset="0"/>
                                <a:ea typeface="等线" panose="02010600030101010101" charset="-122"/>
                                <a:cs typeface="Times New Roman" panose="02020603050405020304" pitchFamily="18" charset="0"/>
                              </a:rPr>
                              <m:t>)</m:t>
                            </m:r>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func>
                          <m:func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100" kern="100">
                                    <a:latin typeface="Cambria Math" panose="02040503050406030204" pitchFamily="18" charset="0"/>
                                    <a:ea typeface="等线" panose="02010600030101010101" charset="-122"/>
                                    <a:cs typeface="Times New Roman" panose="02020603050405020304" pitchFamily="18" charset="0"/>
                                  </a:rPr>
                                  <m:t>argmin</m:t>
                                </m:r>
                              </m:e>
                              <m:lim>
                                <m:sSub>
                                  <m:sSub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𝑛</m:t>
                                    </m:r>
                                  </m:sub>
                                </m:sSub>
                                <m:r>
                                  <a:rPr lang="en-US" altLang="zh-CN" sz="2100" i="1" kern="100">
                                    <a:latin typeface="Cambria Math" panose="02040503050406030204" pitchFamily="18" charset="0"/>
                                    <a:ea typeface="等线" panose="02010600030101010101" charset="-122"/>
                                    <a:cs typeface="Times New Roman" panose="02020603050405020304" pitchFamily="18" charset="0"/>
                                  </a:rPr>
                                  <m:t>∈</m:t>
                                </m:r>
                                <m:r>
                                  <a:rPr lang="en-US" altLang="zh-CN" sz="2100" i="1" kern="100">
                                    <a:latin typeface="Cambria Math" panose="02040503050406030204" pitchFamily="18" charset="0"/>
                                    <a:ea typeface="等线" panose="02010600030101010101" charset="-122"/>
                                    <a:cs typeface="Times New Roman" panose="02020603050405020304" pitchFamily="18" charset="0"/>
                                  </a:rPr>
                                  <m:t>𝑅</m:t>
                                </m:r>
                              </m:lim>
                            </m:limLow>
                          </m:fName>
                          <m:e>
                            <m:r>
                              <a:rPr lang="en-US" altLang="zh-CN" sz="2100" i="1" kern="100">
                                <a:latin typeface="Cambria Math" panose="02040503050406030204" pitchFamily="18" charset="0"/>
                                <a:ea typeface="等线" panose="02010600030101010101" charset="-122"/>
                                <a:cs typeface="Times New Roman" panose="02020603050405020304" pitchFamily="18" charset="0"/>
                              </a:rPr>
                              <m:t>𝑓</m:t>
                            </m:r>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1</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sSubSup>
                              <m:sSubSup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𝑛</m:t>
                                </m:r>
                                <m:r>
                                  <a:rPr lang="en-US" altLang="zh-CN" sz="2100" i="1" kern="100">
                                    <a:latin typeface="Cambria Math" panose="02040503050406030204" pitchFamily="18" charset="0"/>
                                    <a:ea typeface="等线" panose="02010600030101010101" charset="-122"/>
                                    <a:cs typeface="Times New Roman" panose="02020603050405020304" pitchFamily="18" charset="0"/>
                                  </a:rPr>
                                  <m:t>−1</m:t>
                                </m:r>
                              </m:sub>
                              <m:sup>
                                <m:d>
                                  <m:d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100" i="1" kern="100">
                                        <a:latin typeface="Cambria Math" panose="02040503050406030204" pitchFamily="18" charset="0"/>
                                        <a:ea typeface="等线" panose="02010600030101010101" charset="-122"/>
                                        <a:cs typeface="Times New Roman" panose="02020603050405020304" pitchFamily="18" charset="0"/>
                                      </a:rPr>
                                      <m:t>𝑘</m:t>
                                    </m:r>
                                  </m:e>
                                </m:d>
                              </m:sup>
                            </m:sSubSup>
                            <m:r>
                              <a:rPr lang="en-US" altLang="zh-CN" sz="2100" i="1" kern="100">
                                <a:latin typeface="Cambria Math" panose="02040503050406030204" pitchFamily="18" charset="0"/>
                                <a:ea typeface="等线" panose="02010600030101010101" charset="-122"/>
                                <a:cs typeface="Times New Roman" panose="02020603050405020304" pitchFamily="18" charset="0"/>
                              </a:rPr>
                              <m:t>,</m:t>
                            </m:r>
                            <m:sSub>
                              <m:sSubPr>
                                <m:ctrlPr>
                                  <a:rPr lang="zh-CN" altLang="zh-CN" sz="21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100" i="1" kern="100">
                                    <a:latin typeface="Cambria Math" panose="02040503050406030204" pitchFamily="18" charset="0"/>
                                    <a:ea typeface="等线" panose="02010600030101010101" charset="-122"/>
                                    <a:cs typeface="Times New Roman" panose="02020603050405020304" pitchFamily="18" charset="0"/>
                                  </a:rPr>
                                  <m:t>𝑥</m:t>
                                </m:r>
                              </m:e>
                              <m:sub>
                                <m:r>
                                  <a:rPr lang="en-US" altLang="zh-CN" sz="2100" i="1" kern="100">
                                    <a:latin typeface="Cambria Math" panose="02040503050406030204" pitchFamily="18" charset="0"/>
                                    <a:ea typeface="等线" panose="02010600030101010101" charset="-122"/>
                                    <a:cs typeface="Times New Roman" panose="02020603050405020304" pitchFamily="18" charset="0"/>
                                  </a:rPr>
                                  <m:t>𝑛</m:t>
                                </m:r>
                              </m:sub>
                            </m:sSub>
                            <m:r>
                              <a:rPr lang="en-US" altLang="zh-CN" sz="2100" i="1" kern="100">
                                <a:latin typeface="Cambria Math" panose="02040503050406030204" pitchFamily="18" charset="0"/>
                                <a:ea typeface="等线" panose="02010600030101010101" charset="-122"/>
                                <a:cs typeface="Times New Roman" panose="02020603050405020304" pitchFamily="18" charset="0"/>
                              </a:rPr>
                              <m:t>)</m:t>
                            </m:r>
                          </m:e>
                        </m:func>
                      </m:oMath>
                    </m:oMathPara>
                  </a14:m>
                  <a:endParaRPr lang="zh-CN" altLang="en-US" sz="21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2673316" y="4606171"/>
                  <a:ext cx="7090720" cy="904095"/>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3130518" y="1627670"/>
                  <a:ext cx="6633518" cy="9018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CN" altLang="zh-CN" sz="2100" i="1">
                                <a:latin typeface="Cambria Math" panose="02040503050406030204" pitchFamily="18" charset="0"/>
                              </a:rPr>
                            </m:ctrlPr>
                          </m:sSubSupPr>
                          <m:e>
                            <m:r>
                              <a:rPr lang="en-US" altLang="zh-CN" sz="2100">
                                <a:latin typeface="Cambria Math" panose="02040503050406030204" pitchFamily="18" charset="0"/>
                              </a:rPr>
                              <m:t>𝑥</m:t>
                            </m:r>
                          </m:e>
                          <m:sub>
                            <m:r>
                              <a:rPr lang="en-US" altLang="zh-CN" sz="2100">
                                <a:latin typeface="Cambria Math" panose="02040503050406030204" pitchFamily="18" charset="0"/>
                              </a:rPr>
                              <m:t>1</m:t>
                            </m:r>
                          </m:sub>
                          <m:sup>
                            <m:r>
                              <a:rPr lang="en-US" altLang="zh-CN" sz="2100">
                                <a:latin typeface="Cambria Math" panose="02040503050406030204" pitchFamily="18" charset="0"/>
                              </a:rPr>
                              <m:t>(</m:t>
                            </m:r>
                            <m:r>
                              <a:rPr lang="en-US" altLang="zh-CN" sz="2100">
                                <a:latin typeface="Cambria Math" panose="02040503050406030204" pitchFamily="18" charset="0"/>
                              </a:rPr>
                              <m:t>𝑘</m:t>
                            </m:r>
                            <m:r>
                              <a:rPr lang="en-US" altLang="zh-CN" sz="2100">
                                <a:latin typeface="Cambria Math" panose="02040503050406030204" pitchFamily="18" charset="0"/>
                              </a:rPr>
                              <m:t>)</m:t>
                            </m:r>
                          </m:sup>
                        </m:sSubSup>
                        <m:r>
                          <a:rPr lang="en-US" altLang="zh-CN" sz="2100">
                            <a:latin typeface="Cambria Math" panose="02040503050406030204" pitchFamily="18" charset="0"/>
                          </a:rPr>
                          <m:t>∈</m:t>
                        </m:r>
                        <m:func>
                          <m:funcPr>
                            <m:ctrlPr>
                              <a:rPr lang="zh-CN" altLang="zh-CN" sz="2100" i="1">
                                <a:latin typeface="Cambria Math" panose="02040503050406030204" pitchFamily="18" charset="0"/>
                              </a:rPr>
                            </m:ctrlPr>
                          </m:funcPr>
                          <m:fName>
                            <m:limLow>
                              <m:limLowPr>
                                <m:ctrlPr>
                                  <a:rPr lang="zh-CN" altLang="zh-CN" sz="2100" i="1">
                                    <a:latin typeface="Cambria Math" panose="02040503050406030204" pitchFamily="18" charset="0"/>
                                  </a:rPr>
                                </m:ctrlPr>
                              </m:limLowPr>
                              <m:e>
                                <m:r>
                                  <m:rPr>
                                    <m:sty m:val="p"/>
                                  </m:rPr>
                                  <a:rPr lang="en-US" altLang="zh-CN" sz="2100">
                                    <a:latin typeface="Cambria Math" panose="02040503050406030204" pitchFamily="18" charset="0"/>
                                  </a:rPr>
                                  <m:t>argmin</m:t>
                                </m:r>
                              </m:e>
                              <m:lim>
                                <m:sSub>
                                  <m:sSubPr>
                                    <m:ctrlPr>
                                      <a:rPr lang="zh-CN" altLang="zh-CN" sz="2100" i="1">
                                        <a:latin typeface="Cambria Math" panose="02040503050406030204" pitchFamily="18" charset="0"/>
                                      </a:rPr>
                                    </m:ctrlPr>
                                  </m:sSubPr>
                                  <m:e>
                                    <m:r>
                                      <a:rPr lang="en-US" altLang="zh-CN" sz="2100">
                                        <a:latin typeface="Cambria Math" panose="02040503050406030204" pitchFamily="18" charset="0"/>
                                      </a:rPr>
                                      <m:t>𝑥</m:t>
                                    </m:r>
                                  </m:e>
                                  <m:sub>
                                    <m:r>
                                      <a:rPr lang="en-US" altLang="zh-CN" sz="2100">
                                        <a:latin typeface="Cambria Math" panose="02040503050406030204" pitchFamily="18" charset="0"/>
                                      </a:rPr>
                                      <m:t>1</m:t>
                                    </m:r>
                                  </m:sub>
                                </m:sSub>
                                <m:r>
                                  <a:rPr lang="en-US" altLang="zh-CN" sz="2100">
                                    <a:latin typeface="Cambria Math" panose="02040503050406030204" pitchFamily="18" charset="0"/>
                                  </a:rPr>
                                  <m:t>∈</m:t>
                                </m:r>
                                <m:r>
                                  <a:rPr lang="en-US" altLang="zh-CN" sz="2100">
                                    <a:latin typeface="Cambria Math" panose="02040503050406030204" pitchFamily="18" charset="0"/>
                                  </a:rPr>
                                  <m:t>𝑅</m:t>
                                </m:r>
                              </m:lim>
                            </m:limLow>
                          </m:fName>
                          <m:e>
                            <m:r>
                              <a:rPr lang="en-US" altLang="zh-CN" sz="2100">
                                <a:latin typeface="Cambria Math" panose="02040503050406030204" pitchFamily="18" charset="0"/>
                              </a:rPr>
                              <m:t>𝑓</m:t>
                            </m:r>
                            <m:r>
                              <a:rPr lang="en-US" altLang="zh-CN" sz="2100">
                                <a:latin typeface="Cambria Math" panose="02040503050406030204" pitchFamily="18" charset="0"/>
                              </a:rPr>
                              <m:t>(</m:t>
                            </m:r>
                            <m:sSub>
                              <m:sSubPr>
                                <m:ctrlPr>
                                  <a:rPr lang="zh-CN" altLang="zh-CN" sz="2100" i="1">
                                    <a:latin typeface="Cambria Math" panose="02040503050406030204" pitchFamily="18" charset="0"/>
                                  </a:rPr>
                                </m:ctrlPr>
                              </m:sSubPr>
                              <m:e>
                                <m:r>
                                  <a:rPr lang="en-US" altLang="zh-CN" sz="2100">
                                    <a:latin typeface="Cambria Math" panose="02040503050406030204" pitchFamily="18" charset="0"/>
                                  </a:rPr>
                                  <m:t>𝑥</m:t>
                                </m:r>
                              </m:e>
                              <m:sub>
                                <m:r>
                                  <a:rPr lang="en-US" altLang="zh-CN" sz="2100">
                                    <a:latin typeface="Cambria Math" panose="02040503050406030204" pitchFamily="18" charset="0"/>
                                  </a:rPr>
                                  <m:t>1</m:t>
                                </m:r>
                              </m:sub>
                            </m:sSub>
                            <m:r>
                              <a:rPr lang="en-US" altLang="zh-CN" sz="2100">
                                <a:latin typeface="Cambria Math" panose="02040503050406030204" pitchFamily="18" charset="0"/>
                              </a:rPr>
                              <m:t>,</m:t>
                            </m:r>
                            <m:sSubSup>
                              <m:sSubSupPr>
                                <m:ctrlPr>
                                  <a:rPr lang="zh-CN" altLang="zh-CN" sz="2100" i="1">
                                    <a:latin typeface="Cambria Math" panose="02040503050406030204" pitchFamily="18" charset="0"/>
                                  </a:rPr>
                                </m:ctrlPr>
                              </m:sSubSupPr>
                              <m:e>
                                <m:r>
                                  <a:rPr lang="en-US" altLang="zh-CN" sz="2100">
                                    <a:latin typeface="Cambria Math" panose="02040503050406030204" pitchFamily="18" charset="0"/>
                                  </a:rPr>
                                  <m:t>𝑥</m:t>
                                </m:r>
                              </m:e>
                              <m:sub>
                                <m:r>
                                  <a:rPr lang="en-US" altLang="zh-CN" sz="2100">
                                    <a:latin typeface="Cambria Math" panose="02040503050406030204" pitchFamily="18" charset="0"/>
                                  </a:rPr>
                                  <m:t>2</m:t>
                                </m:r>
                              </m:sub>
                              <m:sup>
                                <m:d>
                                  <m:dPr>
                                    <m:ctrlPr>
                                      <a:rPr lang="zh-CN" altLang="zh-CN" sz="2100" i="1">
                                        <a:latin typeface="Cambria Math" panose="02040503050406030204" pitchFamily="18" charset="0"/>
                                      </a:rPr>
                                    </m:ctrlPr>
                                  </m:dPr>
                                  <m:e>
                                    <m:r>
                                      <a:rPr lang="en-US" altLang="zh-CN" sz="2100">
                                        <a:latin typeface="Cambria Math" panose="02040503050406030204" pitchFamily="18" charset="0"/>
                                      </a:rPr>
                                      <m:t>𝑘</m:t>
                                    </m:r>
                                    <m:r>
                                      <a:rPr lang="en-US" altLang="zh-CN" sz="2100">
                                        <a:latin typeface="Cambria Math" panose="02040503050406030204" pitchFamily="18" charset="0"/>
                                      </a:rPr>
                                      <m:t>−1</m:t>
                                    </m:r>
                                  </m:e>
                                </m:d>
                              </m:sup>
                            </m:sSubSup>
                            <m:r>
                              <a:rPr lang="en-US" altLang="zh-CN" sz="2100">
                                <a:latin typeface="Cambria Math" panose="02040503050406030204" pitchFamily="18" charset="0"/>
                              </a:rPr>
                              <m:t>,⋯,</m:t>
                            </m:r>
                            <m:sSubSup>
                              <m:sSubSupPr>
                                <m:ctrlPr>
                                  <a:rPr lang="zh-CN" altLang="zh-CN" sz="2100" i="1">
                                    <a:latin typeface="Cambria Math" panose="02040503050406030204" pitchFamily="18" charset="0"/>
                                  </a:rPr>
                                </m:ctrlPr>
                              </m:sSubSupPr>
                              <m:e>
                                <m:r>
                                  <a:rPr lang="en-US" altLang="zh-CN" sz="2100">
                                    <a:latin typeface="Cambria Math" panose="02040503050406030204" pitchFamily="18" charset="0"/>
                                  </a:rPr>
                                  <m:t>𝑥</m:t>
                                </m:r>
                              </m:e>
                              <m:sub>
                                <m:r>
                                  <a:rPr lang="en-US" altLang="zh-CN" sz="2100">
                                    <a:latin typeface="Cambria Math" panose="02040503050406030204" pitchFamily="18" charset="0"/>
                                  </a:rPr>
                                  <m:t>𝑛</m:t>
                                </m:r>
                              </m:sub>
                              <m:sup>
                                <m:r>
                                  <a:rPr lang="en-US" altLang="zh-CN" sz="2100">
                                    <a:latin typeface="Cambria Math" panose="02040503050406030204" pitchFamily="18" charset="0"/>
                                  </a:rPr>
                                  <m:t>(</m:t>
                                </m:r>
                                <m:r>
                                  <a:rPr lang="en-US" altLang="zh-CN" sz="2100">
                                    <a:latin typeface="Cambria Math" panose="02040503050406030204" pitchFamily="18" charset="0"/>
                                  </a:rPr>
                                  <m:t>𝑘</m:t>
                                </m:r>
                                <m:r>
                                  <a:rPr lang="en-US" altLang="zh-CN" sz="2100">
                                    <a:latin typeface="Cambria Math" panose="02040503050406030204" pitchFamily="18" charset="0"/>
                                  </a:rPr>
                                  <m:t>−1)</m:t>
                                </m:r>
                              </m:sup>
                            </m:sSubSup>
                            <m:r>
                              <a:rPr lang="en-US" altLang="zh-CN" sz="2100">
                                <a:latin typeface="Cambria Math" panose="02040503050406030204" pitchFamily="18" charset="0"/>
                              </a:rPr>
                              <m:t>)</m:t>
                            </m:r>
                          </m:e>
                        </m:func>
                      </m:oMath>
                    </m:oMathPara>
                  </a14:m>
                  <a:endParaRPr lang="zh-CN" altLang="en-US" sz="21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3130518" y="1627670"/>
                  <a:ext cx="6633518" cy="90187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3822210" y="4193533"/>
                  <a:ext cx="136181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100" i="1">
                            <a:latin typeface="Cambria Math" panose="02040503050406030204" pitchFamily="18" charset="0"/>
                          </a:rPr>
                          <m:t>⋯</m:t>
                        </m:r>
                      </m:oMath>
                    </m:oMathPara>
                  </a14:m>
                  <a:endParaRPr lang="zh-CN" altLang="en-US" sz="21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3822210" y="4193533"/>
                  <a:ext cx="1361811" cy="430887"/>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p:cNvSpPr txBox="1"/>
                <p:nvPr/>
              </p:nvSpPr>
              <p:spPr>
                <a:xfrm>
                  <a:off x="2576363" y="868970"/>
                  <a:ext cx="4572000" cy="5322824"/>
                </a:xfrm>
                <a:prstGeom prst="rect">
                  <a:avLst/>
                </a:prstGeom>
                <a:noFill/>
              </p:spPr>
              <p:txBody>
                <a:bodyPr wrap="square">
                  <a:spAutoFit/>
                </a:bodyPr>
                <a:lstStyle/>
                <a:p>
                  <a:r>
                    <a:rPr lang="en-US" altLang="zh-CN" sz="2100" dirty="0"/>
                    <a:t>while </a:t>
                  </a:r>
                  <a14:m>
                    <m:oMath xmlns:m="http://schemas.openxmlformats.org/officeDocument/2006/math">
                      <m:sSub>
                        <m:sSubPr>
                          <m:ctrlPr>
                            <a:rPr lang="en-US" altLang="zh-CN" sz="2100" i="1">
                              <a:latin typeface="Cambria Math" panose="02040503050406030204" pitchFamily="18" charset="0"/>
                            </a:rPr>
                          </m:ctrlPr>
                        </m:sSubPr>
                        <m:e>
                          <m:r>
                            <a:rPr lang="zh-CN" altLang="en-US" sz="2100">
                              <a:latin typeface="Cambria Math" panose="02040503050406030204" pitchFamily="18" charset="0"/>
                            </a:rPr>
                            <m:t>‖</m:t>
                          </m:r>
                          <m:sSup>
                            <m:sSupPr>
                              <m:ctrlPr>
                                <a:rPr lang="zh-CN" altLang="en-US" sz="2100" i="1">
                                  <a:solidFill>
                                    <a:srgbClr val="836967"/>
                                  </a:solidFill>
                                  <a:latin typeface="Cambria Math" panose="02040503050406030204" pitchFamily="18" charset="0"/>
                                </a:rPr>
                              </m:ctrlPr>
                            </m:sSupPr>
                            <m:e>
                              <m:r>
                                <a:rPr lang="zh-CN" altLang="en-US" sz="2100" i="1">
                                  <a:latin typeface="Cambria Math" panose="02040503050406030204" pitchFamily="18" charset="0"/>
                                </a:rPr>
                                <m:t>𝑥</m:t>
                              </m:r>
                            </m:e>
                            <m:sup>
                              <m:d>
                                <m:dPr>
                                  <m:ctrlPr>
                                    <a:rPr lang="zh-CN" altLang="en-US" sz="2100" i="1">
                                      <a:solidFill>
                                        <a:srgbClr val="836967"/>
                                      </a:solidFill>
                                      <a:latin typeface="Cambria Math" panose="02040503050406030204" pitchFamily="18" charset="0"/>
                                    </a:rPr>
                                  </m:ctrlPr>
                                </m:dPr>
                                <m:e>
                                  <m:r>
                                    <a:rPr lang="zh-CN" altLang="en-US" sz="2100" i="1">
                                      <a:latin typeface="Cambria Math" panose="02040503050406030204" pitchFamily="18" charset="0"/>
                                    </a:rPr>
                                    <m:t>𝑘</m:t>
                                  </m:r>
                                </m:e>
                              </m:d>
                            </m:sup>
                          </m:sSup>
                          <m:r>
                            <a:rPr lang="zh-CN" altLang="en-US" sz="2100">
                              <a:latin typeface="Cambria Math" panose="02040503050406030204" pitchFamily="18" charset="0"/>
                            </a:rPr>
                            <m:t>−</m:t>
                          </m:r>
                          <m:sSup>
                            <m:sSupPr>
                              <m:ctrlPr>
                                <a:rPr lang="zh-CN" altLang="en-US" sz="2100" i="1">
                                  <a:solidFill>
                                    <a:srgbClr val="836967"/>
                                  </a:solidFill>
                                  <a:latin typeface="Cambria Math" panose="02040503050406030204" pitchFamily="18" charset="0"/>
                                </a:rPr>
                              </m:ctrlPr>
                            </m:sSupPr>
                            <m:e>
                              <m:r>
                                <a:rPr lang="zh-CN" altLang="en-US" sz="2100" i="1">
                                  <a:latin typeface="Cambria Math" panose="02040503050406030204" pitchFamily="18" charset="0"/>
                                </a:rPr>
                                <m:t>𝑥</m:t>
                              </m:r>
                            </m:e>
                            <m:sup>
                              <m:d>
                                <m:dPr>
                                  <m:ctrlPr>
                                    <a:rPr lang="zh-CN" altLang="en-US" sz="2100" i="1">
                                      <a:solidFill>
                                        <a:srgbClr val="836967"/>
                                      </a:solidFill>
                                      <a:latin typeface="Cambria Math" panose="02040503050406030204" pitchFamily="18" charset="0"/>
                                    </a:rPr>
                                  </m:ctrlPr>
                                </m:dPr>
                                <m:e>
                                  <m:r>
                                    <a:rPr lang="zh-CN" altLang="en-US" sz="2100" i="1">
                                      <a:latin typeface="Cambria Math" panose="02040503050406030204" pitchFamily="18" charset="0"/>
                                    </a:rPr>
                                    <m:t>𝑘</m:t>
                                  </m:r>
                                  <m:r>
                                    <a:rPr lang="zh-CN" altLang="en-US" sz="2100">
                                      <a:latin typeface="Cambria Math" panose="02040503050406030204" pitchFamily="18" charset="0"/>
                                    </a:rPr>
                                    <m:t>−1</m:t>
                                  </m:r>
                                </m:e>
                              </m:d>
                            </m:sup>
                          </m:sSup>
                          <m:r>
                            <a:rPr lang="zh-CN" altLang="en-US" sz="2100">
                              <a:latin typeface="Cambria Math" panose="02040503050406030204" pitchFamily="18" charset="0"/>
                            </a:rPr>
                            <m:t>‖</m:t>
                          </m:r>
                        </m:e>
                        <m:sub>
                          <m:r>
                            <a:rPr lang="en-US" altLang="zh-CN" sz="2100" i="1">
                              <a:latin typeface="Cambria Math" panose="02040503050406030204" pitchFamily="18" charset="0"/>
                            </a:rPr>
                            <m:t>2</m:t>
                          </m:r>
                        </m:sub>
                      </m:sSub>
                      <m:r>
                        <a:rPr lang="en-US" altLang="zh-CN" sz="2100">
                          <a:latin typeface="Cambria Math" panose="02040503050406030204" pitchFamily="18" charset="0"/>
                        </a:rPr>
                        <m:t>&gt;</m:t>
                      </m:r>
                      <m:r>
                        <a:rPr lang="zh-CN" altLang="en-US" sz="2100" i="1">
                          <a:latin typeface="Cambria Math" panose="02040503050406030204" pitchFamily="18" charset="0"/>
                        </a:rPr>
                        <m:t>𝜀</m:t>
                      </m:r>
                    </m:oMath>
                  </a14:m>
                  <a:endParaRPr lang="en-US" altLang="zh-CN" sz="2100" dirty="0"/>
                </a:p>
                <a:p>
                  <a:endParaRPr lang="en-US" altLang="zh-CN" sz="2100" dirty="0"/>
                </a:p>
                <a:p>
                  <a:endParaRPr lang="en-US" altLang="zh-CN" sz="2100" dirty="0"/>
                </a:p>
                <a:p>
                  <a:endParaRPr lang="en-US" altLang="zh-CN" sz="2100" dirty="0"/>
                </a:p>
                <a:p>
                  <a:endParaRPr lang="en-US" altLang="zh-CN" sz="2100" dirty="0"/>
                </a:p>
                <a:p>
                  <a:endParaRPr lang="en-US" altLang="zh-CN" sz="2100" dirty="0"/>
                </a:p>
                <a:p>
                  <a:endParaRPr lang="en-US" altLang="zh-CN" sz="2100" dirty="0"/>
                </a:p>
                <a:p>
                  <a:endParaRPr lang="en-US" altLang="zh-CN" sz="2100" dirty="0"/>
                </a:p>
                <a:p>
                  <a:endParaRPr lang="en-US" altLang="zh-CN" sz="2100" dirty="0"/>
                </a:p>
                <a:p>
                  <a:endParaRPr lang="en-US" altLang="zh-CN" sz="2100" dirty="0"/>
                </a:p>
                <a:p>
                  <a:endParaRPr lang="en-US" altLang="zh-CN" sz="2100" dirty="0"/>
                </a:p>
                <a:p>
                  <a:r>
                    <a:rPr lang="en-US" altLang="zh-CN" sz="2100" dirty="0"/>
                    <a:t>end</a:t>
                  </a:r>
                  <a:endParaRPr lang="zh-CN" altLang="en-US" sz="2100" dirty="0"/>
                </a:p>
              </p:txBody>
            </p:sp>
          </mc:Choice>
          <mc:Fallback xmlns="">
            <p:sp>
              <p:nvSpPr>
                <p:cNvPr id="18" name="文本框 17"/>
                <p:cNvSpPr txBox="1">
                  <a:spLocks noRot="1" noChangeAspect="1" noMove="1" noResize="1" noEditPoints="1" noAdjustHandles="1" noChangeArrowheads="1" noChangeShapeType="1" noTextEdit="1"/>
                </p:cNvSpPr>
                <p:nvPr/>
              </p:nvSpPr>
              <p:spPr>
                <a:xfrm>
                  <a:off x="2576363" y="868970"/>
                  <a:ext cx="4572000" cy="5322824"/>
                </a:xfrm>
                <a:prstGeom prst="rect">
                  <a:avLst/>
                </a:prstGeom>
                <a:blipFill rotWithShape="1">
                  <a:blip r:embed="rId7"/>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2" name="文本框 11"/>
              <p:cNvSpPr txBox="1"/>
              <p:nvPr/>
            </p:nvSpPr>
            <p:spPr>
              <a:xfrm>
                <a:off x="5813560" y="549794"/>
                <a:ext cx="3053129" cy="552972"/>
              </a:xfrm>
              <a:prstGeom prst="rect">
                <a:avLst/>
              </a:prstGeom>
              <a:solidFill>
                <a:schemeClr val="accent3">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𝑥</m:t>
                          </m:r>
                        </m:e>
                        <m:sup>
                          <m:d>
                            <m:dPr>
                              <m:ctrlPr>
                                <a:rPr lang="zh-CN" altLang="en-US" sz="2000" i="1">
                                  <a:solidFill>
                                    <a:srgbClr val="836967"/>
                                  </a:solidFill>
                                  <a:latin typeface="Cambria Math" panose="02040503050406030204" pitchFamily="18" charset="0"/>
                                </a:rPr>
                              </m:ctrlPr>
                            </m:dPr>
                            <m:e>
                              <m:r>
                                <a:rPr lang="zh-CN" altLang="en-US" sz="2000" i="1">
                                  <a:latin typeface="Cambria Math" panose="02040503050406030204" pitchFamily="18" charset="0"/>
                                </a:rPr>
                                <m:t>𝑘</m:t>
                              </m:r>
                            </m:e>
                          </m:d>
                        </m:sup>
                      </m:sSup>
                      <m:r>
                        <a:rPr lang="en-US" altLang="zh-CN" sz="2000" i="1">
                          <a:latin typeface="Cambria Math" panose="02040503050406030204" pitchFamily="18" charset="0"/>
                        </a:rPr>
                        <m:t>=</m:t>
                      </m:r>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sSubSup>
                            <m:sSub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1</m:t>
                              </m:r>
                            </m:sub>
                            <m:sup>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𝑘</m:t>
                                  </m:r>
                                </m:e>
                              </m:d>
                            </m:sup>
                          </m:sSubSup>
                          <m:r>
                            <a:rPr lang="en-US" altLang="zh-CN" sz="2000" i="1" kern="100">
                              <a:latin typeface="Cambria Math" panose="02040503050406030204" pitchFamily="18" charset="0"/>
                              <a:cs typeface="Times New Roman" panose="02020603050405020304" pitchFamily="18" charset="0"/>
                            </a:rPr>
                            <m:t>,</m:t>
                          </m:r>
                          <m:sSubSup>
                            <m:sSub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2</m:t>
                              </m:r>
                            </m:sub>
                            <m:sup>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𝑘</m:t>
                                  </m:r>
                                </m:e>
                              </m:d>
                            </m:sup>
                          </m:sSubSup>
                          <m:r>
                            <a:rPr lang="en-US" altLang="zh-CN" sz="2000" i="1" kern="100">
                              <a:latin typeface="Cambria Math" panose="02040503050406030204" pitchFamily="18" charset="0"/>
                              <a:cs typeface="Times New Roman" panose="02020603050405020304" pitchFamily="18" charset="0"/>
                            </a:rPr>
                            <m:t>,⋯,</m:t>
                          </m:r>
                          <m:sSubSup>
                            <m:sSubSup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000" i="1" kern="100">
                                  <a:latin typeface="Cambria Math" panose="02040503050406030204" pitchFamily="18" charset="0"/>
                                  <a:cs typeface="Times New Roman" panose="02020603050405020304" pitchFamily="18" charset="0"/>
                                </a:rPr>
                                <m:t>𝑥</m:t>
                              </m:r>
                            </m:e>
                            <m:sub>
                              <m:r>
                                <a:rPr lang="en-US" altLang="zh-CN" sz="2000" i="1" kern="100">
                                  <a:latin typeface="Cambria Math" panose="02040503050406030204" pitchFamily="18" charset="0"/>
                                  <a:cs typeface="Times New Roman" panose="02020603050405020304" pitchFamily="18" charset="0"/>
                                </a:rPr>
                                <m:t>𝑛</m:t>
                              </m:r>
                            </m:sub>
                            <m:sup>
                              <m:d>
                                <m:d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000" i="1" kern="100">
                                      <a:latin typeface="Cambria Math" panose="02040503050406030204" pitchFamily="18" charset="0"/>
                                      <a:cs typeface="Times New Roman" panose="02020603050405020304" pitchFamily="18" charset="0"/>
                                    </a:rPr>
                                    <m:t>𝑘</m:t>
                                  </m:r>
                                </m:e>
                              </m:d>
                            </m:sup>
                          </m:sSubSup>
                        </m:e>
                      </m:d>
                    </m:oMath>
                  </m:oMathPara>
                </a14:m>
                <a:endParaRPr lang="zh-CN" altLang="en-US" sz="20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5813560" y="549794"/>
                <a:ext cx="3053129" cy="552972"/>
              </a:xfrm>
              <a:prstGeom prst="rect">
                <a:avLst/>
              </a:prstGeom>
              <a:blipFill rotWithShape="1">
                <a:blip r:embed="rId8"/>
                <a:stretch>
                  <a:fillRect l="-4" t="-94" r="6" b="73"/>
                </a:stretch>
              </a:blipFill>
            </p:spPr>
            <p:txBody>
              <a:bodyPr/>
              <a:lstStyle/>
              <a:p>
                <a:r>
                  <a:rPr lang="zh-CN" altLang="en-US">
                    <a:noFill/>
                  </a:rPr>
                  <a:t> </a:t>
                </a:r>
              </a:p>
            </p:txBody>
          </p:sp>
        </mc:Fallback>
      </mc:AlternateContent>
      <p:sp>
        <p:nvSpPr>
          <p:cNvPr id="16" name="Rectangle 1026"/>
          <p:cNvSpPr txBox="1">
            <a:spLocks noChangeArrowheads="1"/>
          </p:cNvSpPr>
          <p:nvPr/>
        </p:nvSpPr>
        <p:spPr>
          <a:xfrm>
            <a:off x="121309" y="1060940"/>
            <a:ext cx="5772150" cy="68580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b="1" dirty="0">
                <a:latin typeface="黑体" panose="02010609060101010101" pitchFamily="49" charset="-122"/>
                <a:ea typeface="黑体" panose="02010609060101010101" pitchFamily="49" charset="-122"/>
              </a:rPr>
              <a:t>三、收敛性分析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p:cNvSpPr txBox="1"/>
              <p:nvPr/>
            </p:nvSpPr>
            <p:spPr>
              <a:xfrm>
                <a:off x="110971" y="1022581"/>
                <a:ext cx="8922057" cy="3303020"/>
              </a:xfrm>
              <a:prstGeom prst="rect">
                <a:avLst/>
              </a:prstGeom>
              <a:noFill/>
            </p:spPr>
            <p:txBody>
              <a:bodyPr wrap="square">
                <a:spAutoFit/>
              </a:bodyPr>
              <a:lstStyle/>
              <a:p>
                <a:pPr algn="just" fontAlgn="auto">
                  <a:lnSpc>
                    <a:spcPct val="150000"/>
                  </a:lnSpc>
                </a:pPr>
                <a:r>
                  <a:rPr lang="zh-CN" altLang="en-US" sz="2400" b="1" kern="100" dirty="0">
                    <a:latin typeface="宋体" panose="02010600030101010101" pitchFamily="2" charset="-122"/>
                    <a:ea typeface="宋体" panose="02010600030101010101" pitchFamily="2" charset="-122"/>
                    <a:cs typeface="宋体" panose="02010600030101010101" pitchFamily="2" charset="-122"/>
                  </a:rPr>
                  <a:t>定理</a:t>
                </a:r>
                <a:r>
                  <a:rPr lang="zh-CN" altLang="en-US" sz="2400" kern="100" dirty="0">
                    <a:latin typeface="宋体" panose="02010600030101010101" pitchFamily="2" charset="-122"/>
                    <a:ea typeface="宋体" panose="02010600030101010101" pitchFamily="2" charset="-122"/>
                    <a:cs typeface="宋体" panose="02010600030101010101" pitchFamily="2" charset="-122"/>
                  </a:rPr>
                  <a:t> </a:t>
                </a:r>
                <a:r>
                  <a:rPr lang="zh-CN" altLang="zh-CN" sz="2400" kern="100" dirty="0">
                    <a:latin typeface="宋体" panose="02010600030101010101" pitchFamily="2" charset="-122"/>
                    <a:ea typeface="宋体" panose="02010600030101010101" pitchFamily="2" charset="-122"/>
                    <a:cs typeface="宋体" panose="02010600030101010101" pitchFamily="2" charset="-122"/>
                  </a:rPr>
                  <a:t>如果</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𝑛</m:t>
                        </m:r>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𝑅</m:t>
                    </m:r>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是可微的凸函数，对每一个</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𝑛</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𝑅</m:t>
                        </m:r>
                      </m:e>
                      <m:sup>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𝑛</m:t>
                        </m:r>
                      </m:sup>
                    </m:sSup>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，将</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𝑓</m:t>
                    </m:r>
                    <m:r>
                      <a:rPr lang="en-US" altLang="zh-CN" sz="2400"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 </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zh-CN" altLang="en-US" sz="2400" i="1" kern="100">
                        <a:latin typeface="Cambria Math" panose="02040503050406030204" pitchFamily="18" charset="0"/>
                        <a:ea typeface="MS Mincho" panose="02020609040205080304" charset="-128"/>
                        <a:cs typeface="Cambria Math" panose="02040503050406030204" pitchFamily="18" charset="0"/>
                      </a:rPr>
                      <m:t>𝜇</m:t>
                    </m:r>
                    <m:r>
                      <a:rPr lang="en-US" altLang="zh-CN" sz="2400" i="1" kern="100">
                        <a:latin typeface="Cambria Math" panose="02040503050406030204" pitchFamily="18" charset="0"/>
                        <a:ea typeface="MS Mincho" panose="02020609040205080304" charset="-128"/>
                        <a:cs typeface="Cambria Math" panose="02040503050406030204" pitchFamily="18" charset="0"/>
                      </a:rPr>
                      <m:t>, </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kern="100">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 </m:t>
                    </m:r>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m:rPr>
                            <m:sty m:val="p"/>
                          </m:rPr>
                          <a:rPr lang="en-US" altLang="zh-CN" sz="2400" kern="100">
                            <a:latin typeface="Cambria Math" panose="02040503050406030204" pitchFamily="18" charset="0"/>
                            <a:ea typeface="宋体" panose="02010600030101010101" pitchFamily="2" charset="-122"/>
                            <a:cs typeface="Cambria Math" panose="02040503050406030204" pitchFamily="18" charset="0"/>
                          </a:rPr>
                          <m:t>n</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看作是</a:t>
                </a:r>
                <a14:m>
                  <m:oMath xmlns:m="http://schemas.openxmlformats.org/officeDocument/2006/math">
                    <m:r>
                      <a:rPr lang="zh-CN" altLang="en-US" sz="2400" i="1" kern="100">
                        <a:latin typeface="Cambria Math" panose="02040503050406030204" pitchFamily="18" charset="0"/>
                        <a:ea typeface="MS Mincho" panose="02020609040205080304" charset="-128"/>
                        <a:cs typeface="Cambria Math" panose="02040503050406030204" pitchFamily="18" charset="0"/>
                      </a:rPr>
                      <m:t>𝜇</m:t>
                    </m:r>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的函数，且有</a:t>
                </a:r>
                <a:r>
                  <a:rPr lang="zh-CN" altLang="zh-CN" sz="2400" b="1" kern="100" dirty="0">
                    <a:solidFill>
                      <a:srgbClr val="FF0000"/>
                    </a:solidFill>
                    <a:latin typeface="宋体" panose="02010600030101010101" pitchFamily="2" charset="-122"/>
                    <a:ea typeface="宋体" panose="02010600030101010101" pitchFamily="2" charset="-122"/>
                    <a:cs typeface="宋体" panose="02010600030101010101" pitchFamily="2" charset="-122"/>
                  </a:rPr>
                  <a:t>唯一</a:t>
                </a:r>
                <a:r>
                  <a:rPr lang="zh-CN" altLang="zh-CN" sz="2400" kern="100" dirty="0">
                    <a:latin typeface="宋体" panose="02010600030101010101" pitchFamily="2" charset="-122"/>
                    <a:ea typeface="宋体" panose="02010600030101010101" pitchFamily="2" charset="-122"/>
                    <a:cs typeface="宋体" panose="02010600030101010101" pitchFamily="2" charset="-122"/>
                  </a:rPr>
                  <a:t>最小值点，则变量轮换法</a:t>
                </a:r>
                <a:endParaRPr lang="en-US" altLang="zh-CN" sz="24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sSubSup>
                        <m:sSub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up>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func>
                        <m:func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funcPr>
                        <m:fName>
                          <m:limLow>
                            <m:limLow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limLowPr>
                            <m:e>
                              <m:r>
                                <m:rPr>
                                  <m:sty m:val="p"/>
                                </m:rPr>
                                <a:rPr lang="en-US" altLang="zh-CN" sz="2400" kern="100">
                                  <a:latin typeface="Cambria Math" panose="02040503050406030204" pitchFamily="18" charset="0"/>
                                  <a:ea typeface="宋体" panose="02010600030101010101" pitchFamily="2" charset="-122"/>
                                  <a:cs typeface="Cambria Math" panose="02040503050406030204" pitchFamily="18" charset="0"/>
                                </a:rPr>
                                <m:t>argmin</m:t>
                              </m:r>
                            </m:e>
                            <m:lim>
                              <m:sSub>
                                <m:sSub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𝑅</m:t>
                              </m:r>
                            </m:lim>
                          </m:limLow>
                        </m:fName>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𝑓</m:t>
                          </m:r>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sSubSup>
                                <m:sSub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𝑘</m:t>
                                      </m:r>
                                    </m:e>
                                  </m:d>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𝑘</m:t>
                                      </m:r>
                                    </m:e>
                                  </m:d>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
                                <m:sSubPr>
                                  <m:ctrlPr>
                                    <a:rPr lang="zh-CN" altLang="zh-CN" sz="2400" i="1" kern="100" smtClean="0">
                                      <a:solidFill>
                                        <a:srgbClr val="FF0000"/>
                                      </a:solidFill>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solidFill>
                                        <a:srgbClr val="FF0000"/>
                                      </a:solidFill>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sub>
                                <m:sup>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e>
                                  </m:d>
                                </m:sup>
                              </m:sSubSup>
                              <m:r>
                                <a:rPr lang="en-US" altLang="zh-CN" sz="2400" i="1" kern="100">
                                  <a:latin typeface="Cambria Math" panose="02040503050406030204" pitchFamily="18" charset="0"/>
                                  <a:ea typeface="MS Mincho" panose="02020609040205080304" charset="-128"/>
                                  <a:cs typeface="Cambria Math" panose="02040503050406030204" pitchFamily="18" charset="0"/>
                                </a:rPr>
                                <m:t>,⋯,</m:t>
                              </m:r>
                              <m:sSubSup>
                                <m:sSub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𝑛</m:t>
                                  </m:r>
                                </m:sub>
                                <m:sup>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e>
                                  </m:d>
                                </m:sup>
                              </m:sSubSup>
                            </m:e>
                          </m:d>
                        </m:e>
                      </m:func>
                      <m:r>
                        <a:rPr lang="en-US" altLang="zh-CN" sz="2400" i="1" kern="100">
                          <a:latin typeface="Cambria Math" panose="02040503050406030204" pitchFamily="18" charset="0"/>
                          <a:ea typeface="MS Mincho" panose="02020609040205080304" charset="-128"/>
                          <a:cs typeface="Cambria Math" panose="02040503050406030204" pitchFamily="18" charset="0"/>
                        </a:rPr>
                        <m:t>, </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𝑖</m:t>
                      </m:r>
                      <m:r>
                        <a:rPr lang="en-US" altLang="zh-CN" sz="2400" i="1" kern="100">
                          <a:latin typeface="Cambria Math" panose="02040503050406030204" pitchFamily="18" charset="0"/>
                          <a:ea typeface="MS Mincho" panose="02020609040205080304" charset="-128"/>
                          <a:cs typeface="Cambria Math" panose="02040503050406030204" pitchFamily="18" charset="0"/>
                        </a:rPr>
                        <m:t>=1,⋯,</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𝑛</m:t>
                      </m:r>
                    </m:oMath>
                  </m:oMathPara>
                </a14:m>
                <a:endParaRPr lang="zh-CN" altLang="zh-CN" sz="2400" kern="1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zh-CN" sz="2400" kern="100" dirty="0">
                    <a:latin typeface="宋体" panose="02010600030101010101" pitchFamily="2" charset="-122"/>
                    <a:ea typeface="宋体" panose="02010600030101010101" pitchFamily="2" charset="-122"/>
                    <a:cs typeface="宋体" panose="02010600030101010101" pitchFamily="2" charset="-122"/>
                  </a:rPr>
                  <a:t>产生的点列</a:t>
                </a:r>
                <a14:m>
                  <m:oMath xmlns:m="http://schemas.openxmlformats.org/officeDocument/2006/math">
                    <m:r>
                      <a:rPr lang="en-US" altLang="zh-CN" sz="2400" i="1" kern="100">
                        <a:latin typeface="Cambria Math" panose="02040503050406030204" pitchFamily="18" charset="0"/>
                        <a:ea typeface="MS Mincho" panose="02020609040205080304" charset="-128"/>
                        <a:cs typeface="Cambria Math" panose="02040503050406030204" pitchFamily="18" charset="0"/>
                      </a:rPr>
                      <m:t>{</m:t>
                    </m:r>
                    <m:sSup>
                      <m:sSup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e>
                      <m:sup>
                        <m:d>
                          <m:dPr>
                            <m:ctrlPr>
                              <a:rPr lang="zh-CN" altLang="zh-CN" sz="2400" i="1" kern="100">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400" i="1" kern="100">
                        <a:latin typeface="Cambria Math" panose="02040503050406030204" pitchFamily="18" charset="0"/>
                        <a:ea typeface="MS Mincho" panose="02020609040205080304" charset="-128"/>
                        <a:cs typeface="Cambria Math" panose="02040503050406030204" pitchFamily="18" charset="0"/>
                      </a:rPr>
                      <m:t>}</m:t>
                    </m:r>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的每一个</a:t>
                </a:r>
                <a:r>
                  <a:rPr lang="zh-CN" altLang="zh-CN" sz="2400" b="1" kern="100" dirty="0">
                    <a:latin typeface="宋体" panose="02010600030101010101" pitchFamily="2" charset="-122"/>
                    <a:ea typeface="宋体" panose="02010600030101010101" pitchFamily="2" charset="-122"/>
                    <a:cs typeface="宋体" panose="02010600030101010101" pitchFamily="2" charset="-122"/>
                  </a:rPr>
                  <a:t>聚点</a:t>
                </a:r>
                <a:r>
                  <a:rPr lang="zh-CN" altLang="zh-CN" sz="2400" kern="100" dirty="0">
                    <a:latin typeface="宋体" panose="02010600030101010101" pitchFamily="2" charset="-122"/>
                    <a:ea typeface="宋体" panose="02010600030101010101" pitchFamily="2" charset="-122"/>
                    <a:cs typeface="宋体" panose="02010600030101010101" pitchFamily="2" charset="-122"/>
                  </a:rPr>
                  <a:t>都是</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𝑓</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cs typeface="Cambria Math" panose="02040503050406030204" pitchFamily="18" charset="0"/>
                      </a:rPr>
                      <m:t>𝑥</m:t>
                    </m:r>
                    <m:r>
                      <a:rPr lang="en-US" altLang="zh-CN" sz="2400" i="1" kern="100">
                        <a:latin typeface="Cambria Math" panose="02040503050406030204" pitchFamily="18" charset="0"/>
                        <a:ea typeface="MS Mincho" panose="02020609040205080304" charset="-128"/>
                        <a:cs typeface="Cambria Math" panose="02040503050406030204" pitchFamily="18" charset="0"/>
                      </a:rPr>
                      <m:t>)</m:t>
                    </m:r>
                  </m:oMath>
                </a14:m>
                <a:r>
                  <a:rPr lang="zh-CN" altLang="zh-CN" sz="2400" kern="100" dirty="0">
                    <a:latin typeface="宋体" panose="02010600030101010101" pitchFamily="2" charset="-122"/>
                    <a:ea typeface="宋体" panose="02010600030101010101" pitchFamily="2" charset="-122"/>
                    <a:cs typeface="宋体" panose="02010600030101010101" pitchFamily="2" charset="-122"/>
                  </a:rPr>
                  <a:t>的极小点。</a:t>
                </a:r>
              </a:p>
            </p:txBody>
          </p:sp>
        </mc:Choice>
        <mc:Fallback xmlns="">
          <p:sp>
            <p:nvSpPr>
              <p:cNvPr id="6" name="文本框 5"/>
              <p:cNvSpPr txBox="1">
                <a:spLocks noRot="1" noChangeAspect="1" noMove="1" noResize="1" noEditPoints="1" noAdjustHandles="1" noChangeArrowheads="1" noChangeShapeType="1" noTextEdit="1"/>
              </p:cNvSpPr>
              <p:nvPr/>
            </p:nvSpPr>
            <p:spPr>
              <a:xfrm>
                <a:off x="110971" y="1022581"/>
                <a:ext cx="8922057" cy="3303020"/>
              </a:xfrm>
              <a:prstGeom prst="rect">
                <a:avLst/>
              </a:prstGeom>
              <a:blipFill rotWithShape="1">
                <a:blip r:embed="rId2"/>
                <a:stretch>
                  <a:fillRect l="-5" t="-7" r="2" b="19"/>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40911" y="620690"/>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四、小结</a:t>
            </a:r>
            <a:endParaRPr lang="zh-CN" altLang="zh-CN" sz="2400" kern="100" dirty="0">
              <a:latin typeface="Times New Roman" panose="02020603050405020304" pitchFamily="18" charset="0"/>
              <a:ea typeface="宋体" panose="02010600030101010101" pitchFamily="2" charset="-122"/>
            </a:endParaRPr>
          </a:p>
        </p:txBody>
      </p:sp>
      <p:sp>
        <p:nvSpPr>
          <p:cNvPr id="7" name="文本框 6"/>
          <p:cNvSpPr txBox="1"/>
          <p:nvPr/>
        </p:nvSpPr>
        <p:spPr>
          <a:xfrm>
            <a:off x="656565" y="1402621"/>
            <a:ext cx="7830870" cy="4636847"/>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zh-CN" sz="2000" kern="100" dirty="0">
                <a:latin typeface="宋体" panose="02010600030101010101" pitchFamily="2" charset="-122"/>
                <a:ea typeface="宋体" panose="02010600030101010101" pitchFamily="2" charset="-122"/>
                <a:cs typeface="宋体" panose="02010600030101010101" pitchFamily="2" charset="-122"/>
              </a:rPr>
              <a:t>变量轮换法特点是：基本原理非常简单，它对目标函数的解析性质没有特别的要求，适用于各变量之间本质上无联系或沿各坐标轴方向搜索比较容易的特殊结构，而对一般的目标函数，它的收敛速度较慢，搜索效率低</a:t>
            </a:r>
            <a:r>
              <a:rPr lang="zh-CN" altLang="en-US" sz="2000" kern="100" dirty="0">
                <a:latin typeface="宋体" panose="02010600030101010101" pitchFamily="2" charset="-122"/>
                <a:ea typeface="宋体" panose="02010600030101010101" pitchFamily="2" charset="-122"/>
                <a:cs typeface="宋体" panose="02010600030101010101" pitchFamily="2" charset="-122"/>
              </a:rPr>
              <a:t>。</a:t>
            </a:r>
            <a:endParaRPr lang="en-US" altLang="zh-CN" sz="2000" kern="100" dirty="0">
              <a:latin typeface="宋体" panose="02010600030101010101" pitchFamily="2" charset="-122"/>
              <a:ea typeface="宋体" panose="02010600030101010101" pitchFamily="2" charset="-122"/>
              <a:cs typeface="宋体" panose="02010600030101010101" pitchFamily="2" charset="-122"/>
            </a:endParaRPr>
          </a:p>
          <a:p>
            <a:pPr marL="342900" indent="-342900" algn="just">
              <a:lnSpc>
                <a:spcPct val="150000"/>
              </a:lnSpc>
              <a:buFont typeface="Wingdings" panose="05000000000000000000" pitchFamily="2" charset="2"/>
              <a:buChar char="Ø"/>
            </a:pPr>
            <a:r>
              <a:rPr lang="zh-CN" altLang="en-US" sz="2000" dirty="0">
                <a:latin typeface="宋体" panose="02010600030101010101" pitchFamily="2" charset="-122"/>
                <a:ea typeface="宋体" panose="02010600030101010101" pitchFamily="2" charset="-122"/>
                <a:cs typeface="宋体" panose="02010600030101010101" pitchFamily="2" charset="-122"/>
              </a:rPr>
              <a:t>变量轮换法属于直接法，既可以用于无约束优化问题的求解，又可以经过适当处理用于约束优化问题求解。</a:t>
            </a:r>
            <a:endParaRPr lang="zh-CN" altLang="zh-CN" sz="2000" kern="100" dirty="0">
              <a:latin typeface="宋体" panose="02010600030101010101" pitchFamily="2" charset="-122"/>
              <a:ea typeface="宋体" panose="02010600030101010101" pitchFamily="2" charset="-122"/>
              <a:cs typeface="宋体" panose="02010600030101010101" pitchFamily="2" charset="-122"/>
            </a:endParaRPr>
          </a:p>
          <a:p>
            <a:pPr marL="342900" indent="-342900" algn="just">
              <a:lnSpc>
                <a:spcPct val="150000"/>
              </a:lnSpc>
              <a:buFont typeface="Wingdings" panose="05000000000000000000" pitchFamily="2" charset="2"/>
              <a:buChar char="Ø"/>
            </a:pPr>
            <a:r>
              <a:rPr lang="zh-CN" altLang="zh-CN" sz="2000" kern="100" dirty="0">
                <a:latin typeface="宋体" panose="02010600030101010101" pitchFamily="2" charset="-122"/>
                <a:ea typeface="宋体" panose="02010600030101010101" pitchFamily="2" charset="-122"/>
                <a:cs typeface="宋体" panose="02010600030101010101" pitchFamily="2" charset="-122"/>
              </a:rPr>
              <a:t>但是变量轮换法的依次沿各坐标轴方向寻优的思想，是多变量函数寻优的一种基本思想，在这种思想的基础上，后又发展出了模式搜索法</a:t>
            </a:r>
            <a:r>
              <a:rPr lang="zh-CN" altLang="en-US" sz="2000" kern="100" dirty="0">
                <a:latin typeface="宋体" panose="02010600030101010101" pitchFamily="2" charset="-122"/>
                <a:ea typeface="宋体" panose="02010600030101010101" pitchFamily="2" charset="-122"/>
                <a:cs typeface="宋体" panose="02010600030101010101" pitchFamily="2" charset="-122"/>
              </a:rPr>
              <a:t>。</a:t>
            </a:r>
            <a:endParaRPr lang="zh-CN" altLang="zh-CN" sz="2000" kern="100" dirty="0">
              <a:latin typeface="宋体" panose="02010600030101010101" pitchFamily="2" charset="-122"/>
              <a:ea typeface="宋体" panose="02010600030101010101" pitchFamily="2" charset="-122"/>
              <a:cs typeface="宋体" panose="02010600030101010101" pitchFamily="2" charset="-122"/>
            </a:endParaRPr>
          </a:p>
          <a:p>
            <a:pPr marL="342900" indent="-342900" algn="just">
              <a:lnSpc>
                <a:spcPct val="150000"/>
              </a:lnSpc>
              <a:buFont typeface="Wingdings" panose="05000000000000000000" pitchFamily="2" charset="2"/>
              <a:buChar char="Ø"/>
            </a:pPr>
            <a:endParaRPr lang="en-US" altLang="zh-CN" sz="2000" kern="1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735580" y="2997041"/>
            <a:ext cx="3996660" cy="600164"/>
          </a:xfrm>
          <a:prstGeom prst="rect">
            <a:avLst/>
          </a:prstGeom>
          <a:noFill/>
        </p:spPr>
        <p:txBody>
          <a:bodyPr wrap="square" rtlCol="0">
            <a:spAutoFit/>
          </a:bodyPr>
          <a:lstStyle/>
          <a:p>
            <a:r>
              <a:rPr lang="en-US" altLang="zh-CN" sz="3300" b="1" dirty="0">
                <a:latin typeface="Arial" panose="020B0604020202020204" pitchFamily="34" charset="0"/>
              </a:rPr>
              <a:t>    8.2 </a:t>
            </a:r>
            <a:r>
              <a:rPr lang="zh-CN" altLang="en-US" sz="3300" b="1" dirty="0">
                <a:latin typeface="Arial" panose="020B0604020202020204" pitchFamily="34" charset="0"/>
              </a:rPr>
              <a:t>模式搜索法</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40936" y="1268760"/>
            <a:ext cx="7910989" cy="3841180"/>
          </a:xfrm>
          <a:prstGeom prst="rect">
            <a:avLst/>
          </a:prstGeom>
          <a:noFill/>
        </p:spPr>
        <p:txBody>
          <a:bodyPr wrap="square" rtlCol="0">
            <a:spAutoFit/>
          </a:bodyPr>
          <a:lstStyle/>
          <a:p>
            <a:pPr algn="just">
              <a:lnSpc>
                <a:spcPct val="150000"/>
              </a:lnSpc>
              <a:spcBef>
                <a:spcPts val="750"/>
              </a:spcBef>
            </a:pPr>
            <a:r>
              <a:rPr lang="en-US" altLang="zh-CN" sz="2000" dirty="0"/>
              <a:t>         </a:t>
            </a:r>
            <a:r>
              <a:rPr lang="zh-CN" altLang="en-US" sz="2000" dirty="0"/>
              <a:t>模式搜索方法是R.Hooke和T.A.Jeeves于1961年提出的，因此也称为Hook-Jeeves方法。此方法有明显的几何意义，为介绍这种方法，从求一个二元函数的极小点谈起。这相当于寻找某个曲面的最低点，或者形象地说，相当于从一座山岭的某处出发，设法走到附近某一盆地的最低点，怎样才能尽快达到这一目标呢？很显然， 如果能找到一条山谷，沿山谷行进是最好的方法。</a:t>
            </a:r>
          </a:p>
          <a:p>
            <a:pPr algn="just">
              <a:lnSpc>
                <a:spcPct val="150000"/>
              </a:lnSpc>
              <a:spcBef>
                <a:spcPts val="750"/>
              </a:spcBef>
            </a:pPr>
            <a:r>
              <a:rPr lang="zh-CN" altLang="en-US" sz="2000" dirty="0"/>
              <a:t> </a:t>
            </a:r>
            <a:r>
              <a:rPr lang="en-US" altLang="zh-CN" sz="2000" dirty="0"/>
              <a:t>        </a:t>
            </a:r>
            <a:r>
              <a:rPr lang="zh-CN" altLang="en-US" sz="2000" dirty="0"/>
              <a:t>模式搜索方法就是根据上述思想设计的。它由两部分组成，包括探测移动（轴向搜索）和模式移动（模式搜索）。</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107504" y="368863"/>
            <a:ext cx="5154105" cy="461665"/>
          </a:xfrm>
          <a:prstGeom prst="rect">
            <a:avLst/>
          </a:prstGeom>
          <a:noFill/>
        </p:spPr>
        <p:txBody>
          <a:bodyPr wrap="square">
            <a:spAutoFit/>
          </a:bodyPr>
          <a:lstStyle/>
          <a:p>
            <a:pPr algn="just">
              <a:spcBef>
                <a:spcPts val="450"/>
              </a:spcBef>
              <a:spcAft>
                <a:spcPts val="450"/>
              </a:spcAft>
            </a:pPr>
            <a:r>
              <a:rPr lang="zh-CN" altLang="zh-CN" sz="2400" kern="100" dirty="0">
                <a:latin typeface="Times New Roman" panose="02020603050405020304" pitchFamily="18" charset="0"/>
                <a:ea typeface="黑体" panose="02010609060101010101" pitchFamily="49" charset="-122"/>
              </a:rPr>
              <a:t>一、</a:t>
            </a:r>
            <a:r>
              <a:rPr lang="zh-CN" altLang="en-US" sz="2400" kern="100" dirty="0">
                <a:latin typeface="Times New Roman" panose="02020603050405020304" pitchFamily="18" charset="0"/>
                <a:ea typeface="黑体" panose="02010609060101010101" pitchFamily="49" charset="-122"/>
              </a:rPr>
              <a:t>基本思想与算法分析</a:t>
            </a:r>
            <a:endParaRPr lang="zh-CN" altLang="zh-CN" sz="2400" kern="100" dirty="0">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14" name="文本框 13"/>
              <p:cNvSpPr txBox="1"/>
              <p:nvPr/>
            </p:nvSpPr>
            <p:spPr>
              <a:xfrm>
                <a:off x="323528" y="1196752"/>
                <a:ext cx="8224838" cy="4731873"/>
              </a:xfrm>
              <a:prstGeom prst="rect">
                <a:avLst/>
              </a:prstGeom>
              <a:noFill/>
            </p:spPr>
            <p:txBody>
              <a:bodyPr wrap="square" rtlCol="0">
                <a:spAutoFit/>
              </a:bodyPr>
              <a:lstStyle/>
              <a:p>
                <a:pPr algn="just" fontAlgn="auto">
                  <a:lnSpc>
                    <a:spcPct val="150000"/>
                  </a:lnSpc>
                </a:pPr>
                <a:r>
                  <a:rPr lang="en-US" altLang="zh-CN" sz="2000" b="1" dirty="0">
                    <a:latin typeface="宋体" panose="02010600030101010101" pitchFamily="2" charset="-122"/>
                    <a:ea typeface="宋体" panose="02010600030101010101" pitchFamily="2" charset="-122"/>
                    <a:cs typeface="宋体" panose="02010600030101010101" pitchFamily="2" charset="-122"/>
                  </a:rPr>
                  <a:t>1.</a:t>
                </a:r>
                <a:r>
                  <a:rPr lang="zh-CN" altLang="en-US" sz="2000" b="1" dirty="0">
                    <a:latin typeface="宋体" panose="02010600030101010101" pitchFamily="2" charset="-122"/>
                    <a:ea typeface="宋体" panose="02010600030101010101" pitchFamily="2" charset="-122"/>
                    <a:cs typeface="宋体" panose="02010600030101010101" pitchFamily="2" charset="-122"/>
                  </a:rPr>
                  <a:t>基本思想：</a:t>
                </a:r>
                <a:r>
                  <a:rPr lang="zh-CN" altLang="en-US" sz="2000" dirty="0">
                    <a:latin typeface="宋体" panose="02010600030101010101" pitchFamily="2" charset="-122"/>
                    <a:ea typeface="宋体" panose="02010600030101010101" pitchFamily="2" charset="-122"/>
                    <a:cs typeface="宋体" panose="02010600030101010101" pitchFamily="2" charset="-122"/>
                  </a:rPr>
                  <a:t>算法从初始点开始，交替实施两种搜索：轴向搜索和模式搜索。轴向搜索依次沿</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oMath>
                </a14:m>
                <a:r>
                  <a:rPr lang="zh-CN" altLang="en-US" sz="2000" dirty="0">
                    <a:latin typeface="宋体" panose="02010600030101010101" pitchFamily="2" charset="-122"/>
                    <a:ea typeface="宋体" panose="02010600030101010101" pitchFamily="2" charset="-122"/>
                    <a:cs typeface="宋体" panose="02010600030101010101" pitchFamily="2" charset="-122"/>
                  </a:rPr>
                  <a:t>个坐标轴的方向进行，用来明确新的迭代点和有利于函数值下降的方向。模式搜索则沿着相邻两个迭代点的连线方向进行，试图使函数值下降更快。</a:t>
                </a:r>
              </a:p>
              <a:p>
                <a:pPr algn="just" fontAlgn="auto">
                  <a:lnSpc>
                    <a:spcPct val="150000"/>
                  </a:lnSpc>
                </a:pPr>
                <a:r>
                  <a:rPr lang="en-US" altLang="zh-CN" sz="2000" b="1" dirty="0">
                    <a:latin typeface="宋体" panose="02010600030101010101" pitchFamily="2" charset="-122"/>
                    <a:ea typeface="宋体" panose="02010600030101010101" pitchFamily="2" charset="-122"/>
                    <a:cs typeface="宋体" panose="02010600030101010101" pitchFamily="2" charset="-122"/>
                  </a:rPr>
                  <a:t>2.</a:t>
                </a:r>
                <a:r>
                  <a:rPr lang="zh-CN" altLang="en-US" sz="2000" b="1" dirty="0">
                    <a:latin typeface="宋体" panose="02010600030101010101" pitchFamily="2" charset="-122"/>
                    <a:ea typeface="宋体" panose="02010600030101010101" pitchFamily="2" charset="-122"/>
                    <a:cs typeface="宋体" panose="02010600030101010101" pitchFamily="2" charset="-122"/>
                  </a:rPr>
                  <a:t>算法分析</a:t>
                </a:r>
              </a:p>
              <a:p>
                <a:pPr algn="just" fontAlgn="auto">
                  <a:lnSpc>
                    <a:spcPct val="150000"/>
                  </a:lnSpc>
                </a:pPr>
                <a:r>
                  <a:rPr lang="en-US" altLang="zh-CN" sz="2000" b="1" dirty="0">
                    <a:latin typeface="宋体" panose="02010600030101010101" pitchFamily="2" charset="-122"/>
                    <a:ea typeface="宋体" panose="02010600030101010101" pitchFamily="2" charset="-122"/>
                    <a:cs typeface="宋体" panose="02010600030101010101" pitchFamily="2" charset="-122"/>
                  </a:rPr>
                  <a:t>	</a:t>
                </a:r>
                <a:r>
                  <a:rPr lang="zh-CN" altLang="en-US" sz="2000" dirty="0">
                    <a:latin typeface="宋体" panose="02010600030101010101" pitchFamily="2" charset="-122"/>
                    <a:ea typeface="宋体" panose="02010600030101010101" pitchFamily="2" charset="-122"/>
                    <a:cs typeface="宋体" panose="02010600030101010101" pitchFamily="2" charset="-122"/>
                  </a:rPr>
                  <a:t>考虑问题</a:t>
                </a:r>
                <a:r>
                  <a:rPr lang="en-US" altLang="zh-CN" sz="2000" dirty="0">
                    <a:latin typeface="宋体" panose="02010600030101010101" pitchFamily="2" charset="-122"/>
                    <a:ea typeface="宋体" panose="02010600030101010101" pitchFamily="2" charset="-122"/>
                    <a:cs typeface="宋体" panose="02010600030101010101" pitchFamily="2" charset="-122"/>
                  </a:rPr>
                  <a:t> </a:t>
                </a:r>
              </a:p>
              <a:p>
                <a:pPr algn="ctr" fontAlgn="auto">
                  <a:lnSpc>
                    <a:spcPct val="150000"/>
                  </a:lnSpc>
                </a:pP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𝑚𝑖𝑛</m:t>
                    </m:r>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d>
                  </m:oMath>
                </a14:m>
                <a:r>
                  <a:rPr lang="en-US" altLang="zh-CN" sz="2000" dirty="0">
                    <a:latin typeface="宋体" panose="02010600030101010101" pitchFamily="2" charset="-122"/>
                    <a:ea typeface="宋体" panose="02010600030101010101" pitchFamily="2" charset="-122"/>
                    <a:cs typeface="宋体" panose="02010600030101010101" pitchFamily="2" charset="-122"/>
                  </a:rPr>
                  <a:t> </a:t>
                </a:r>
                <a:endParaRPr lang="zh-CN" altLang="en-US" sz="2000" dirty="0">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en-US" sz="2000" dirty="0">
                    <a:latin typeface="宋体" panose="02010600030101010101" pitchFamily="2" charset="-122"/>
                    <a:ea typeface="宋体" panose="02010600030101010101" pitchFamily="2" charset="-122"/>
                    <a:cs typeface="宋体" panose="02010600030101010101" pitchFamily="2" charset="-122"/>
                  </a:rPr>
                  <a:t>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0,...,0,1,0,...0</m:t>
                            </m:r>
                          </m:e>
                        </m:d>
                      </m:e>
                      <m:sup>
                        <m:r>
                          <a:rPr lang="en-US" altLang="zh-CN" sz="20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 </m:t>
                    </m:r>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=1,2,...,</m:t>
                    </m:r>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表示</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个坐标轴方向</a:t>
                </a:r>
                <a:r>
                  <a:rPr lang="zh-CN" altLang="en-US" sz="2000" b="1" dirty="0">
                    <a:latin typeface="Cambria Math" panose="02040503050406030204" pitchFamily="18" charset="0"/>
                    <a:ea typeface="宋体" panose="02010600030101010101" pitchFamily="2" charset="-122"/>
                    <a:cs typeface="Cambria Math" panose="02040503050406030204" pitchFamily="18" charset="0"/>
                  </a:rPr>
                  <a:t>。</a:t>
                </a: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给定初始步长</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，加速因子</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𝛼</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。任取初始点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作为第一个迭代点。</a:t>
                </a:r>
              </a:p>
              <a:p>
                <a:pPr algn="just" fontAlgn="auto">
                  <a:lnSpc>
                    <a:spcPct val="15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以下用</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表示第</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𝑗</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个迭代点。</a:t>
                </a:r>
              </a:p>
            </p:txBody>
          </p:sp>
        </mc:Choice>
        <mc:Fallback xmlns="">
          <p:sp>
            <p:nvSpPr>
              <p:cNvPr id="14" name="文本框 13"/>
              <p:cNvSpPr txBox="1">
                <a:spLocks noRot="1" noChangeAspect="1" noMove="1" noResize="1" noEditPoints="1" noAdjustHandles="1" noChangeArrowheads="1" noChangeShapeType="1" noTextEdit="1"/>
              </p:cNvSpPr>
              <p:nvPr/>
            </p:nvSpPr>
            <p:spPr>
              <a:xfrm>
                <a:off x="323528" y="1196752"/>
                <a:ext cx="8224838" cy="4731873"/>
              </a:xfrm>
              <a:prstGeom prst="rect">
                <a:avLst/>
              </a:prstGeom>
              <a:blipFill rotWithShape="1">
                <a:blip r:embed="rId2"/>
                <a:stretch>
                  <a:fillRect l="-4" t="-9" r="8" b="6"/>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5275422" y="1484471"/>
            <a:ext cx="3447098" cy="3200400"/>
            <a:chOff x="8982" y="2400"/>
            <a:chExt cx="7238" cy="6720"/>
          </a:xfrm>
        </p:grpSpPr>
        <p:sp>
          <p:nvSpPr>
            <p:cNvPr id="7174" name="Line 6"/>
            <p:cNvSpPr>
              <a:spLocks noChangeShapeType="1"/>
            </p:cNvSpPr>
            <p:nvPr/>
          </p:nvSpPr>
          <p:spPr bwMode="auto">
            <a:xfrm>
              <a:off x="10200" y="7440"/>
              <a:ext cx="6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7175" name="Line 7"/>
            <p:cNvSpPr>
              <a:spLocks noChangeShapeType="1"/>
            </p:cNvSpPr>
            <p:nvPr/>
          </p:nvSpPr>
          <p:spPr bwMode="auto">
            <a:xfrm flipV="1">
              <a:off x="10440" y="3000"/>
              <a:ext cx="0" cy="612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mc:AlternateContent xmlns:mc="http://schemas.openxmlformats.org/markup-compatibility/2006" xmlns:a14="http://schemas.microsoft.com/office/drawing/2010/main">
          <mc:Choice Requires="a14">
            <p:graphicFrame>
              <p:nvGraphicFramePr>
                <p:cNvPr id="7176" name="Object 8"/>
                <p:cNvGraphicFramePr>
                  <a:graphicFrameLocks noChangeAspect="1"/>
                </p:cNvGraphicFramePr>
                <p:nvPr/>
              </p:nvGraphicFramePr>
              <p:xfrm>
                <a:off x="9960" y="7560"/>
                <a:ext cx="380" cy="400"/>
              </p:xfrm>
              <a:graphic>
                <a:graphicData uri="http://schemas.openxmlformats.org/presentationml/2006/ole">
                  <mc:AlternateContent>
                    <mc:Choice xmlns:v="urn:schemas-microsoft-com:vml" Requires="v">
                      <p:oleObj name="Equation" r:id="rId2" imgW="241300" imgH="254000" progId="Equation.3">
                        <p:embed/>
                      </p:oleObj>
                    </mc:Choice>
                    <mc:Fallback>
                      <p:oleObj name="Equation" r:id="rId2" imgW="241300" imgH="254000" progId="Equation.3">
                        <p:embed/>
                        <p:pic>
                          <p:nvPicPr>
                            <p:cNvPr id="0" name="Object 8"/>
                            <p:cNvPicPr>
                              <a:picLocks noChangeAspect="1" noChangeArrowheads="1"/>
                            </p:cNvPicPr>
                            <p:nvPr/>
                          </p:nvPicPr>
                          <p:blipFill>
                            <a:blip r:embed="rId3">
                              <a:extLst>
                                <a:ext uri="{28A0092B-C50C-407E-A947-70E740481C1C}">
                                  <a14:useLocalDpi val="0"/>
                                </a:ext>
                              </a:extLst>
                            </a:blip>
                            <a:srcRect/>
                            <a:stretch>
                              <a:fillRect/>
                            </a:stretch>
                          </p:blipFill>
                          <p:spPr bwMode="auto">
                            <a:xfrm>
                              <a:off x="9960" y="7560"/>
                              <a:ext cx="380" cy="40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7176" name="Object 8"/>
                <p:cNvGraphicFramePr>
                  <a:graphicFrameLocks noChangeAspect="1"/>
                </p:cNvGraphicFramePr>
                <p:nvPr/>
              </p:nvGraphicFramePr>
              <p:xfrm>
                <a:off x="9960" y="7560"/>
                <a:ext cx="380" cy="400"/>
              </p:xfrm>
              <a:graphic>
                <a:graphicData uri="http://schemas.openxmlformats.org/presentationml/2006/ole">
                  <mc:AlternateContent>
                    <mc:Choice xmlns:v="urn:schemas-microsoft-com:vml" Requires="v">
                      <p:oleObj name="Equation" r:id="rId4" imgW="241300" imgH="254000" progId="Equation.3">
                        <p:embed/>
                      </p:oleObj>
                    </mc:Choice>
                    <mc:Fallback>
                      <p:oleObj name="Equation" r:id="rId4" imgW="241300" imgH="2540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0" y="7560"/>
                              <a:ext cx="380" cy="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177" name="Object 9"/>
                <p:cNvGraphicFramePr>
                  <a:graphicFrameLocks noChangeAspect="1"/>
                </p:cNvGraphicFramePr>
                <p:nvPr/>
              </p:nvGraphicFramePr>
              <p:xfrm>
                <a:off x="15840" y="7560"/>
                <a:ext cx="380" cy="540"/>
              </p:xfrm>
              <a:graphic>
                <a:graphicData uri="http://schemas.openxmlformats.org/presentationml/2006/ole">
                  <mc:AlternateContent>
                    <mc:Choice xmlns:v="urn:schemas-microsoft-com:vml" Requires="v">
                      <p:oleObj name="Equation" r:id="rId6" imgW="241300" imgH="342900" progId="Equation.3">
                        <p:embed/>
                      </p:oleObj>
                    </mc:Choice>
                    <mc:Fallback>
                      <p:oleObj name="Equation" r:id="rId6" imgW="241300" imgH="342900" progId="Equation.3">
                        <p:embed/>
                        <p:pic>
                          <p:nvPicPr>
                            <p:cNvPr id="0" name="Object 9"/>
                            <p:cNvPicPr>
                              <a:picLocks noChangeAspect="1" noChangeArrowheads="1"/>
                            </p:cNvPicPr>
                            <p:nvPr/>
                          </p:nvPicPr>
                          <p:blipFill>
                            <a:blip r:embed="rId7">
                              <a:extLst>
                                <a:ext uri="{28A0092B-C50C-407E-A947-70E740481C1C}">
                                  <a14:useLocalDpi val="0"/>
                                </a:ext>
                              </a:extLst>
                            </a:blip>
                            <a:srcRect/>
                            <a:stretch>
                              <a:fillRect/>
                            </a:stretch>
                          </p:blipFill>
                          <p:spPr bwMode="auto">
                            <a:xfrm>
                              <a:off x="15840" y="7560"/>
                              <a:ext cx="380" cy="54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7177" name="Object 9"/>
                <p:cNvGraphicFramePr>
                  <a:graphicFrameLocks noChangeAspect="1"/>
                </p:cNvGraphicFramePr>
                <p:nvPr/>
              </p:nvGraphicFramePr>
              <p:xfrm>
                <a:off x="15840" y="7560"/>
                <a:ext cx="380" cy="540"/>
              </p:xfrm>
              <a:graphic>
                <a:graphicData uri="http://schemas.openxmlformats.org/presentationml/2006/ole">
                  <mc:AlternateContent>
                    <mc:Choice xmlns:v="urn:schemas-microsoft-com:vml" Requires="v">
                      <p:oleObj name="Equation" r:id="rId8" imgW="241300" imgH="342900" progId="Equation.3">
                        <p:embed/>
                      </p:oleObj>
                    </mc:Choice>
                    <mc:Fallback>
                      <p:oleObj name="Equation" r:id="rId8" imgW="241300" imgH="3429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40" y="7560"/>
                              <a:ext cx="3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178" name="Object 10"/>
                <p:cNvGraphicFramePr>
                  <a:graphicFrameLocks noChangeAspect="1"/>
                </p:cNvGraphicFramePr>
                <p:nvPr/>
              </p:nvGraphicFramePr>
              <p:xfrm>
                <a:off x="10080" y="2400"/>
                <a:ext cx="420" cy="540"/>
              </p:xfrm>
              <a:graphic>
                <a:graphicData uri="http://schemas.openxmlformats.org/presentationml/2006/ole">
                  <mc:AlternateContent>
                    <mc:Choice xmlns:v="urn:schemas-microsoft-com:vml" Requires="v">
                      <p:oleObj name="Equation" r:id="rId10" imgW="266700" imgH="342900" progId="Equation.3">
                        <p:embed/>
                      </p:oleObj>
                    </mc:Choice>
                    <mc:Fallback>
                      <p:oleObj name="Equation" r:id="rId10" imgW="266700" imgH="342900" progId="Equation.3">
                        <p:embed/>
                        <p:pic>
                          <p:nvPicPr>
                            <p:cNvPr id="0" name="Object 10"/>
                            <p:cNvPicPr>
                              <a:picLocks noChangeAspect="1" noChangeArrowheads="1"/>
                            </p:cNvPicPr>
                            <p:nvPr/>
                          </p:nvPicPr>
                          <p:blipFill>
                            <a:blip r:embed="rId11">
                              <a:extLst>
                                <a:ext uri="{28A0092B-C50C-407E-A947-70E740481C1C}">
                                  <a14:useLocalDpi val="0"/>
                                </a:ext>
                              </a:extLst>
                            </a:blip>
                            <a:srcRect/>
                            <a:stretch>
                              <a:fillRect/>
                            </a:stretch>
                          </p:blipFill>
                          <p:spPr bwMode="auto">
                            <a:xfrm>
                              <a:off x="10080" y="2400"/>
                              <a:ext cx="420" cy="54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7178" name="Object 10"/>
                <p:cNvGraphicFramePr>
                  <a:graphicFrameLocks noChangeAspect="1"/>
                </p:cNvGraphicFramePr>
                <p:nvPr/>
              </p:nvGraphicFramePr>
              <p:xfrm>
                <a:off x="10080" y="2400"/>
                <a:ext cx="420" cy="540"/>
              </p:xfrm>
              <a:graphic>
                <a:graphicData uri="http://schemas.openxmlformats.org/presentationml/2006/ole">
                  <mc:AlternateContent>
                    <mc:Choice xmlns:v="urn:schemas-microsoft-com:vml" Requires="v">
                      <p:oleObj name="Equation" r:id="rId12" imgW="266700" imgH="342900" progId="Equation.3">
                        <p:embed/>
                      </p:oleObj>
                    </mc:Choice>
                    <mc:Fallback>
                      <p:oleObj name="Equation" r:id="rId12" imgW="266700" imgH="342900" progId="Equation.3">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80" y="2400"/>
                              <a:ext cx="4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7179" name="Oval 11"/>
            <p:cNvSpPr>
              <a:spLocks noChangeArrowheads="1"/>
            </p:cNvSpPr>
            <p:nvPr/>
          </p:nvSpPr>
          <p:spPr bwMode="auto">
            <a:xfrm>
              <a:off x="11040" y="3960"/>
              <a:ext cx="120" cy="1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7180" name="Object 12"/>
                <p:cNvSpPr txBox="1"/>
                <p:nvPr/>
              </p:nvSpPr>
              <p:spPr bwMode="auto">
                <a:xfrm>
                  <a:off x="8982" y="3480"/>
                  <a:ext cx="1820" cy="62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(1)</m:t>
                            </m:r>
                          </m:sup>
                        </m:sSup>
                      </m:oMath>
                    </m:oMathPara>
                  </a14:m>
                  <a:endParaRPr lang="zh-CN" altLang="en-US" dirty="0"/>
                </a:p>
              </p:txBody>
            </p:sp>
          </mc:Choice>
          <mc:Fallback xmlns="">
            <p:sp>
              <p:nvSpPr>
                <p:cNvPr id="7180" name="Object 12"/>
                <p:cNvSpPr txBox="1">
                  <a:spLocks noRot="1" noChangeAspect="1" noMove="1" noResize="1" noEditPoints="1" noAdjustHandles="1" noChangeArrowheads="1" noChangeShapeType="1" noTextEdit="1"/>
                </p:cNvSpPr>
                <p:nvPr/>
              </p:nvSpPr>
              <p:spPr bwMode="auto">
                <a:xfrm>
                  <a:off x="8982" y="3480"/>
                  <a:ext cx="1820" cy="620"/>
                </a:xfrm>
                <a:prstGeom prst="rect">
                  <a:avLst/>
                </a:prstGeom>
                <a:blipFill>
                  <a:blip r:embed="rId14"/>
                  <a:stretch>
                    <a:fillRect/>
                  </a:stretch>
                </a:blipFill>
                <a:ln>
                  <a:noFill/>
                </a:ln>
                <a:effectLst/>
              </p:spPr>
              <p:txBody>
                <a:bodyPr/>
                <a:lstStyle/>
                <a:p>
                  <a:r>
                    <a:rPr lang="zh-CN" altLang="en-US">
                      <a:noFill/>
                    </a:rPr>
                    <a:t> </a:t>
                  </a:r>
                </a:p>
              </p:txBody>
            </p:sp>
          </mc:Fallback>
        </mc:AlternateContent>
        <p:sp>
          <p:nvSpPr>
            <p:cNvPr id="7187" name="Line 19"/>
            <p:cNvSpPr>
              <a:spLocks noChangeShapeType="1"/>
            </p:cNvSpPr>
            <p:nvPr/>
          </p:nvSpPr>
          <p:spPr bwMode="auto">
            <a:xfrm>
              <a:off x="11160" y="4023"/>
              <a:ext cx="1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7188" name="Oval 20"/>
            <p:cNvSpPr>
              <a:spLocks noChangeArrowheads="1"/>
            </p:cNvSpPr>
            <p:nvPr/>
          </p:nvSpPr>
          <p:spPr bwMode="auto">
            <a:xfrm flipV="1">
              <a:off x="12480" y="3988"/>
              <a:ext cx="120" cy="1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7189" name="Object 21"/>
                <p:cNvSpPr txBox="1"/>
                <p:nvPr/>
              </p:nvSpPr>
              <p:spPr bwMode="auto">
                <a:xfrm>
                  <a:off x="12602" y="3480"/>
                  <a:ext cx="720" cy="62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7189" name="Object 21"/>
                <p:cNvSpPr txBox="1">
                  <a:spLocks noRot="1" noChangeAspect="1" noMove="1" noResize="1" noEditPoints="1" noAdjustHandles="1" noChangeArrowheads="1" noChangeShapeType="1" noTextEdit="1"/>
                </p:cNvSpPr>
                <p:nvPr/>
              </p:nvSpPr>
              <p:spPr bwMode="auto">
                <a:xfrm>
                  <a:off x="12602" y="3480"/>
                  <a:ext cx="720" cy="620"/>
                </a:xfrm>
                <a:prstGeom prst="rect">
                  <a:avLst/>
                </a:prstGeom>
                <a:blipFill>
                  <a:blip r:embed="rId15"/>
                  <a:stretch>
                    <a:fillRect r="-5357"/>
                  </a:stretch>
                </a:blipFill>
                <a:ln>
                  <a:noFill/>
                </a:ln>
                <a:effectLst/>
              </p:spPr>
              <p:txBody>
                <a:bodyPr/>
                <a:lstStyle/>
                <a:p>
                  <a:r>
                    <a:rPr lang="zh-CN" altLang="en-US">
                      <a:noFill/>
                    </a:rPr>
                    <a:t> </a:t>
                  </a:r>
                </a:p>
              </p:txBody>
            </p:sp>
          </mc:Fallback>
        </mc:AlternateContent>
        <p:sp>
          <p:nvSpPr>
            <p:cNvPr id="7190" name="Line 22"/>
            <p:cNvSpPr>
              <a:spLocks noChangeShapeType="1"/>
            </p:cNvSpPr>
            <p:nvPr/>
          </p:nvSpPr>
          <p:spPr bwMode="auto">
            <a:xfrm flipV="1">
              <a:off x="12515" y="3000"/>
              <a:ext cx="0" cy="96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7191" name="Oval 23"/>
            <p:cNvSpPr>
              <a:spLocks noChangeArrowheads="1"/>
            </p:cNvSpPr>
            <p:nvPr/>
          </p:nvSpPr>
          <p:spPr bwMode="auto">
            <a:xfrm flipV="1">
              <a:off x="12480" y="2880"/>
              <a:ext cx="120" cy="12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7193" name="Line 25"/>
            <p:cNvSpPr>
              <a:spLocks noChangeShapeType="1"/>
            </p:cNvSpPr>
            <p:nvPr/>
          </p:nvSpPr>
          <p:spPr bwMode="auto">
            <a:xfrm>
              <a:off x="12533" y="4080"/>
              <a:ext cx="0" cy="96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7194" name="Oval 26"/>
            <p:cNvSpPr>
              <a:spLocks noChangeArrowheads="1"/>
            </p:cNvSpPr>
            <p:nvPr/>
          </p:nvSpPr>
          <p:spPr bwMode="auto">
            <a:xfrm>
              <a:off x="12480" y="5040"/>
              <a:ext cx="120" cy="1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7196" name="Object 28"/>
                <p:cNvSpPr txBox="1"/>
                <p:nvPr/>
              </p:nvSpPr>
              <p:spPr bwMode="auto">
                <a:xfrm>
                  <a:off x="12722" y="4560"/>
                  <a:ext cx="720" cy="62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(3)</m:t>
                            </m:r>
                          </m:sup>
                        </m:sSup>
                      </m:oMath>
                    </m:oMathPara>
                  </a14:m>
                  <a:endParaRPr lang="zh-CN" altLang="en-US" dirty="0"/>
                </a:p>
              </p:txBody>
            </p:sp>
          </mc:Choice>
          <mc:Fallback xmlns="">
            <p:sp>
              <p:nvSpPr>
                <p:cNvPr id="7196" name="Object 28"/>
                <p:cNvSpPr txBox="1">
                  <a:spLocks noRot="1" noChangeAspect="1" noMove="1" noResize="1" noEditPoints="1" noAdjustHandles="1" noChangeArrowheads="1" noChangeShapeType="1" noTextEdit="1"/>
                </p:cNvSpPr>
                <p:nvPr/>
              </p:nvSpPr>
              <p:spPr bwMode="auto">
                <a:xfrm>
                  <a:off x="12722" y="4560"/>
                  <a:ext cx="720" cy="620"/>
                </a:xfrm>
                <a:prstGeom prst="rect">
                  <a:avLst/>
                </a:prstGeom>
                <a:blipFill>
                  <a:blip r:embed="rId16"/>
                  <a:stretch>
                    <a:fillRect r="-3571"/>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3" name="文本框 22"/>
              <p:cNvSpPr txBox="1"/>
              <p:nvPr/>
            </p:nvSpPr>
            <p:spPr>
              <a:xfrm>
                <a:off x="374809" y="517209"/>
                <a:ext cx="4794885" cy="5414624"/>
              </a:xfrm>
              <a:prstGeom prst="rect">
                <a:avLst/>
              </a:prstGeom>
              <a:noFill/>
            </p:spPr>
            <p:txBody>
              <a:bodyPr wrap="square" rtlCol="0">
                <a:spAutoFit/>
              </a:bodyPr>
              <a:lstStyle/>
              <a:p>
                <a:pPr algn="just" fontAlgn="auto">
                  <a:lnSpc>
                    <a:spcPct val="150000"/>
                  </a:lnSpc>
                </a:pPr>
                <a:r>
                  <a:rPr lang="en-US" altLang="zh-CN" sz="2000" dirty="0">
                    <a:latin typeface="Arial" panose="020B0604020202020204" pitchFamily="34" charset="0"/>
                    <a:ea typeface="宋体" panose="02010600030101010101" pitchFamily="2" charset="-122"/>
                    <a:cs typeface="Arial" panose="020B0604020202020204" pitchFamily="34" charset="0"/>
                  </a:rPr>
                  <a:t>     </a:t>
                </a:r>
                <a:r>
                  <a:rPr lang="zh-CN" altLang="en-US" sz="2000" dirty="0">
                    <a:latin typeface="Arial" panose="020B0604020202020204" pitchFamily="34" charset="0"/>
                    <a:ea typeface="宋体" panose="02010600030101010101" pitchFamily="2" charset="-122"/>
                    <a:cs typeface="Arial" panose="020B0604020202020204" pitchFamily="34" charset="0"/>
                  </a:rPr>
                  <a:t>在每一轮轴向搜索中，用</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up>
                    </m:sSup>
                  </m:oMath>
                </a14:m>
                <a:r>
                  <a:rPr lang="zh-CN" altLang="en-US" sz="2000" dirty="0">
                    <a:latin typeface="Arial" panose="020B0604020202020204" pitchFamily="34" charset="0"/>
                    <a:ea typeface="宋体" panose="02010600030101010101" pitchFamily="2" charset="-122"/>
                    <a:cs typeface="Arial" panose="020B0604020202020204" pitchFamily="34" charset="0"/>
                  </a:rPr>
                  <a:t>表示沿第</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oMath>
                </a14:m>
                <a:r>
                  <a:rPr lang="zh-CN" altLang="en-US" sz="2000" dirty="0">
                    <a:latin typeface="Arial" panose="020B0604020202020204" pitchFamily="34" charset="0"/>
                    <a:ea typeface="宋体" panose="02010600030101010101" pitchFamily="2" charset="-122"/>
                    <a:cs typeface="Arial" panose="020B0604020202020204" pitchFamily="34" charset="0"/>
                  </a:rPr>
                  <a:t>个坐标轴</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oMath>
                </a14:m>
                <a:r>
                  <a:rPr lang="zh-CN" altLang="en-US" sz="2000" dirty="0">
                    <a:latin typeface="Arial" panose="020B0604020202020204" pitchFamily="34" charset="0"/>
                    <a:ea typeface="宋体" panose="02010600030101010101" pitchFamily="2" charset="-122"/>
                    <a:cs typeface="Arial" panose="020B0604020202020204" pitchFamily="34" charset="0"/>
                  </a:rPr>
                  <a:t>方向搜索时的出发点。</a:t>
                </a:r>
              </a:p>
              <a:p>
                <a:pPr algn="just" fontAlgn="auto">
                  <a:lnSpc>
                    <a:spcPct val="150000"/>
                  </a:lnSpc>
                </a:pPr>
                <a:r>
                  <a:rPr lang="zh-CN" altLang="en-US" sz="2000" b="1" dirty="0">
                    <a:latin typeface="Arial" panose="020B0604020202020204" pitchFamily="34" charset="0"/>
                    <a:ea typeface="宋体" panose="02010600030101010101" pitchFamily="2" charset="-122"/>
                    <a:cs typeface="Arial" panose="020B0604020202020204" pitchFamily="34" charset="0"/>
                  </a:rPr>
                  <a:t>轴向搜索</a:t>
                </a:r>
                <a:r>
                  <a:rPr lang="zh-CN" altLang="en-US" sz="2000" dirty="0">
                    <a:latin typeface="Arial" panose="020B0604020202020204" pitchFamily="34" charset="0"/>
                    <a:ea typeface="宋体" panose="02010600030101010101" pitchFamily="2" charset="-122"/>
                    <a:cs typeface="Arial" panose="020B0604020202020204" pitchFamily="34" charset="0"/>
                  </a:rPr>
                  <a:t>：</a:t>
                </a:r>
              </a:p>
              <a:p>
                <a:pPr algn="just" fontAlgn="auto">
                  <a:lnSpc>
                    <a:spcPct val="150000"/>
                  </a:lnSpc>
                </a:pPr>
                <a:r>
                  <a:rPr lang="en-US" altLang="zh-CN" sz="2000" dirty="0">
                    <a:latin typeface="Arial" panose="020B0604020202020204" pitchFamily="34" charset="0"/>
                    <a:ea typeface="宋体" panose="02010600030101010101" pitchFamily="2" charset="-122"/>
                    <a:cs typeface="Arial" panose="020B0604020202020204" pitchFamily="34" charset="0"/>
                  </a:rPr>
                  <a:t>     </a:t>
                </a:r>
                <a:r>
                  <a:rPr lang="zh-CN" altLang="en-US" sz="2000" dirty="0">
                    <a:latin typeface="Arial" panose="020B0604020202020204" pitchFamily="34" charset="0"/>
                    <a:ea typeface="宋体" panose="02010600030101010101" pitchFamily="2" charset="-122"/>
                    <a:cs typeface="Arial" panose="020B0604020202020204" pitchFamily="34" charset="0"/>
                  </a:rPr>
                  <a:t>令</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m:rPr>
                            <m:sty m:val="p"/>
                          </m:rPr>
                          <a:rPr lang="en-US" altLang="zh-CN" sz="2000" i="1">
                            <a:latin typeface="Cambria Math" panose="02040503050406030204" pitchFamily="18" charset="0"/>
                            <a:ea typeface="宋体" panose="02010600030101010101" pitchFamily="2" charset="-122"/>
                            <a:cs typeface="Cambria Math" panose="02040503050406030204" pitchFamily="18" charset="0"/>
                          </a:rPr>
                          <m:t>t</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a:p>
                <a:pPr algn="just" fontAlgn="auto">
                  <a:lnSpc>
                    <a:spcPct val="15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沿</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方向搜索：</a:t>
                </a:r>
              </a:p>
              <a:p>
                <a:pPr algn="just" fontAlgn="auto">
                  <a:lnSpc>
                    <a:spcPct val="150000"/>
                  </a:lnSpc>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e>
                    </m:d>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，则令</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a:p>
                <a:pPr algn="just" fontAlgn="auto">
                  <a:lnSpc>
                    <a:spcPct val="150000"/>
                  </a:lnSpc>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e>
                    </m:d>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sym typeface="+mn-ea"/>
                  </a:rPr>
                  <a:t>，则令</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a:p>
                <a:pPr algn="just" fontAlgn="auto">
                  <a:lnSpc>
                    <a:spcPct val="150000"/>
                  </a:lnSpc>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否则，令</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a:p>
                <a:pPr algn="just" fontAlgn="auto">
                  <a:lnSpc>
                    <a:spcPct val="150000"/>
                  </a:lnSpc>
                </a:pPr>
                <a:r>
                  <a:rPr lang="zh-CN" altLang="en-US" sz="2000" dirty="0">
                    <a:latin typeface="Cambria Math" panose="02040503050406030204" pitchFamily="18" charset="0"/>
                    <a:ea typeface="宋体" panose="02010600030101010101" pitchFamily="2" charset="-122"/>
                    <a:cs typeface="Cambria Math" panose="02040503050406030204" pitchFamily="18" charset="0"/>
                  </a:rPr>
                  <a:t>再从</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(2)</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出发，仿上沿</a:t>
                </a:r>
                <a14:m>
                  <m:oMath xmlns:m="http://schemas.openxmlformats.org/officeDocument/2006/math">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𝑒</m:t>
                        </m:r>
                      </m:e>
                      <m:sub>
                        <m:r>
                          <a:rPr lang="en-US" altLang="zh-CN" sz="2000" i="1">
                            <a:latin typeface="Cambria Math" panose="02040503050406030204" pitchFamily="18" charset="0"/>
                            <a:cs typeface="Cambria Math" panose="02040503050406030204" pitchFamily="18" charset="0"/>
                          </a:rPr>
                          <m:t>2</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进行搜索得到</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b="0" i="1" smtClean="0">
                            <a:latin typeface="Cambria Math" panose="02040503050406030204" pitchFamily="18" charset="0"/>
                            <a:ea typeface="宋体" panose="02010600030101010101" pitchFamily="2" charset="-122"/>
                            <a:cs typeface="Cambria Math" panose="02040503050406030204" pitchFamily="18" charset="0"/>
                          </a:rPr>
                          <m:t>𝑡</m:t>
                        </m:r>
                      </m:e>
                      <m:sup>
                        <m:r>
                          <a:rPr lang="en-US" altLang="zh-CN" sz="2000" i="1">
                            <a:latin typeface="Cambria Math" panose="02040503050406030204" pitchFamily="18" charset="0"/>
                            <a:ea typeface="宋体" panose="02010600030101010101" pitchFamily="2" charset="-122"/>
                            <a:cs typeface="Cambria Math" panose="02040503050406030204" pitchFamily="18" charset="0"/>
                          </a:rPr>
                          <m:t>(3)</m:t>
                        </m:r>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p:txBody>
          </p:sp>
        </mc:Choice>
        <mc:Fallback xmlns="">
          <p:sp>
            <p:nvSpPr>
              <p:cNvPr id="23" name="文本框 22"/>
              <p:cNvSpPr txBox="1">
                <a:spLocks noRot="1" noChangeAspect="1" noMove="1" noResize="1" noEditPoints="1" noAdjustHandles="1" noChangeArrowheads="1" noChangeShapeType="1" noTextEdit="1"/>
              </p:cNvSpPr>
              <p:nvPr/>
            </p:nvSpPr>
            <p:spPr>
              <a:xfrm>
                <a:off x="374809" y="517209"/>
                <a:ext cx="4794885" cy="5414624"/>
              </a:xfrm>
              <a:prstGeom prst="rect">
                <a:avLst/>
              </a:prstGeom>
              <a:blipFill>
                <a:blip r:embed="rId17"/>
                <a:stretch>
                  <a:fillRect l="-1271" r="-6734"/>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5165883" y="1646396"/>
            <a:ext cx="3448526" cy="3200400"/>
            <a:chOff x="8979" y="2400"/>
            <a:chExt cx="7241" cy="6720"/>
          </a:xfrm>
        </p:grpSpPr>
        <p:sp>
          <p:nvSpPr>
            <p:cNvPr id="8194" name="Line 2"/>
            <p:cNvSpPr>
              <a:spLocks noChangeShapeType="1"/>
            </p:cNvSpPr>
            <p:nvPr/>
          </p:nvSpPr>
          <p:spPr bwMode="auto">
            <a:xfrm>
              <a:off x="10200" y="7440"/>
              <a:ext cx="60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8195" name="Line 3"/>
            <p:cNvSpPr>
              <a:spLocks noChangeShapeType="1"/>
            </p:cNvSpPr>
            <p:nvPr/>
          </p:nvSpPr>
          <p:spPr bwMode="auto">
            <a:xfrm flipV="1">
              <a:off x="10440" y="3000"/>
              <a:ext cx="0" cy="612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mc:AlternateContent xmlns:mc="http://schemas.openxmlformats.org/markup-compatibility/2006" xmlns:a14="http://schemas.microsoft.com/office/drawing/2010/main">
          <mc:Choice Requires="a14">
            <p:graphicFrame>
              <p:nvGraphicFramePr>
                <p:cNvPr id="8196" name="Object 4"/>
                <p:cNvGraphicFramePr>
                  <a:graphicFrameLocks noChangeAspect="1"/>
                </p:cNvGraphicFramePr>
                <p:nvPr/>
              </p:nvGraphicFramePr>
              <p:xfrm>
                <a:off x="9960" y="7560"/>
                <a:ext cx="380" cy="400"/>
              </p:xfrm>
              <a:graphic>
                <a:graphicData uri="http://schemas.openxmlformats.org/presentationml/2006/ole">
                  <mc:AlternateContent>
                    <mc:Choice xmlns:v="urn:schemas-microsoft-com:vml" Requires="v">
                      <p:oleObj name="Equation" r:id="rId2" imgW="241300" imgH="254000" progId="Equation.3">
                        <p:embed/>
                      </p:oleObj>
                    </mc:Choice>
                    <mc:Fallback>
                      <p:oleObj name="Equation" r:id="rId2" imgW="241300" imgH="254000" progId="Equation.3">
                        <p:embed/>
                        <p:pic>
                          <p:nvPicPr>
                            <p:cNvPr id="0" name="Object 4"/>
                            <p:cNvPicPr>
                              <a:picLocks noChangeAspect="1" noChangeArrowheads="1"/>
                            </p:cNvPicPr>
                            <p:nvPr/>
                          </p:nvPicPr>
                          <p:blipFill>
                            <a:blip r:embed="rId3">
                              <a:extLst>
                                <a:ext uri="{28A0092B-C50C-407E-A947-70E740481C1C}">
                                  <a14:useLocalDpi val="0"/>
                                </a:ext>
                              </a:extLst>
                            </a:blip>
                            <a:srcRect/>
                            <a:stretch>
                              <a:fillRect/>
                            </a:stretch>
                          </p:blipFill>
                          <p:spPr bwMode="auto">
                            <a:xfrm>
                              <a:off x="9960" y="7560"/>
                              <a:ext cx="380" cy="40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196" name="Object 4"/>
                <p:cNvGraphicFramePr>
                  <a:graphicFrameLocks noChangeAspect="1"/>
                </p:cNvGraphicFramePr>
                <p:nvPr/>
              </p:nvGraphicFramePr>
              <p:xfrm>
                <a:off x="9960" y="7560"/>
                <a:ext cx="380" cy="400"/>
              </p:xfrm>
              <a:graphic>
                <a:graphicData uri="http://schemas.openxmlformats.org/presentationml/2006/ole">
                  <mc:AlternateContent>
                    <mc:Choice xmlns:v="urn:schemas-microsoft-com:vml" Requires="v">
                      <p:oleObj name="Equation" r:id="rId4" imgW="241300" imgH="254000" progId="Equation.3">
                        <p:embed/>
                      </p:oleObj>
                    </mc:Choice>
                    <mc:Fallback>
                      <p:oleObj name="Equation" r:id="rId4" imgW="241300" imgH="254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0" y="7560"/>
                              <a:ext cx="380" cy="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197" name="Object 5"/>
                <p:cNvGraphicFramePr>
                  <a:graphicFrameLocks noChangeAspect="1"/>
                </p:cNvGraphicFramePr>
                <p:nvPr/>
              </p:nvGraphicFramePr>
              <p:xfrm>
                <a:off x="15840" y="7560"/>
                <a:ext cx="380" cy="540"/>
              </p:xfrm>
              <a:graphic>
                <a:graphicData uri="http://schemas.openxmlformats.org/presentationml/2006/ole">
                  <mc:AlternateContent>
                    <mc:Choice xmlns:v="urn:schemas-microsoft-com:vml" Requires="v">
                      <p:oleObj name="Equation" r:id="rId6" imgW="241300" imgH="342900" progId="Equation.3">
                        <p:embed/>
                      </p:oleObj>
                    </mc:Choice>
                    <mc:Fallback>
                      <p:oleObj name="Equation" r:id="rId6" imgW="241300" imgH="342900" progId="Equation.3">
                        <p:embed/>
                        <p:pic>
                          <p:nvPicPr>
                            <p:cNvPr id="0" name="Object 5"/>
                            <p:cNvPicPr>
                              <a:picLocks noChangeAspect="1" noChangeArrowheads="1"/>
                            </p:cNvPicPr>
                            <p:nvPr/>
                          </p:nvPicPr>
                          <p:blipFill>
                            <a:blip r:embed="rId7">
                              <a:extLst>
                                <a:ext uri="{28A0092B-C50C-407E-A947-70E740481C1C}">
                                  <a14:useLocalDpi val="0"/>
                                </a:ext>
                              </a:extLst>
                            </a:blip>
                            <a:srcRect/>
                            <a:stretch>
                              <a:fillRect/>
                            </a:stretch>
                          </p:blipFill>
                          <p:spPr bwMode="auto">
                            <a:xfrm>
                              <a:off x="15840" y="7560"/>
                              <a:ext cx="380" cy="54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197" name="Object 5"/>
                <p:cNvGraphicFramePr>
                  <a:graphicFrameLocks noChangeAspect="1"/>
                </p:cNvGraphicFramePr>
                <p:nvPr/>
              </p:nvGraphicFramePr>
              <p:xfrm>
                <a:off x="15840" y="7560"/>
                <a:ext cx="380" cy="540"/>
              </p:xfrm>
              <a:graphic>
                <a:graphicData uri="http://schemas.openxmlformats.org/presentationml/2006/ole">
                  <mc:AlternateContent>
                    <mc:Choice xmlns:v="urn:schemas-microsoft-com:vml" Requires="v">
                      <p:oleObj name="Equation" r:id="rId8" imgW="241300" imgH="342900" progId="Equation.3">
                        <p:embed/>
                      </p:oleObj>
                    </mc:Choice>
                    <mc:Fallback>
                      <p:oleObj name="Equation" r:id="rId8" imgW="241300" imgH="3429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40" y="7560"/>
                              <a:ext cx="3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198" name="Object 6"/>
                <p:cNvGraphicFramePr>
                  <a:graphicFrameLocks noChangeAspect="1"/>
                </p:cNvGraphicFramePr>
                <p:nvPr/>
              </p:nvGraphicFramePr>
              <p:xfrm>
                <a:off x="10080" y="2400"/>
                <a:ext cx="420" cy="540"/>
              </p:xfrm>
              <a:graphic>
                <a:graphicData uri="http://schemas.openxmlformats.org/presentationml/2006/ole">
                  <mc:AlternateContent>
                    <mc:Choice xmlns:v="urn:schemas-microsoft-com:vml" Requires="v">
                      <p:oleObj name="Equation" r:id="rId10" imgW="266700" imgH="342900" progId="Equation.3">
                        <p:embed/>
                      </p:oleObj>
                    </mc:Choice>
                    <mc:Fallback>
                      <p:oleObj name="Equation" r:id="rId10" imgW="266700" imgH="342900" progId="Equation.3">
                        <p:embed/>
                        <p:pic>
                          <p:nvPicPr>
                            <p:cNvPr id="0" name="Object 6"/>
                            <p:cNvPicPr>
                              <a:picLocks noChangeAspect="1" noChangeArrowheads="1"/>
                            </p:cNvPicPr>
                            <p:nvPr/>
                          </p:nvPicPr>
                          <p:blipFill>
                            <a:blip r:embed="rId11">
                              <a:extLst>
                                <a:ext uri="{28A0092B-C50C-407E-A947-70E740481C1C}">
                                  <a14:useLocalDpi val="0"/>
                                </a:ext>
                              </a:extLst>
                            </a:blip>
                            <a:srcRect/>
                            <a:stretch>
                              <a:fillRect/>
                            </a:stretch>
                          </p:blipFill>
                          <p:spPr bwMode="auto">
                            <a:xfrm>
                              <a:off x="10080" y="2400"/>
                              <a:ext cx="420" cy="54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198" name="Object 6"/>
                <p:cNvGraphicFramePr>
                  <a:graphicFrameLocks noChangeAspect="1"/>
                </p:cNvGraphicFramePr>
                <p:nvPr/>
              </p:nvGraphicFramePr>
              <p:xfrm>
                <a:off x="10080" y="2400"/>
                <a:ext cx="420" cy="540"/>
              </p:xfrm>
              <a:graphic>
                <a:graphicData uri="http://schemas.openxmlformats.org/presentationml/2006/ole">
                  <mc:AlternateContent>
                    <mc:Choice xmlns:v="urn:schemas-microsoft-com:vml" Requires="v">
                      <p:oleObj name="Equation" r:id="rId12" imgW="266700" imgH="342900" progId="Equation.3">
                        <p:embed/>
                      </p:oleObj>
                    </mc:Choice>
                    <mc:Fallback>
                      <p:oleObj name="Equation" r:id="rId12" imgW="266700" imgH="342900" progId="Equation.3">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80" y="2400"/>
                              <a:ext cx="42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8199" name="Oval 7"/>
            <p:cNvSpPr>
              <a:spLocks noChangeArrowheads="1"/>
            </p:cNvSpPr>
            <p:nvPr/>
          </p:nvSpPr>
          <p:spPr bwMode="auto">
            <a:xfrm>
              <a:off x="11040" y="3960"/>
              <a:ext cx="120" cy="1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8200" name="Object 8"/>
                <p:cNvSpPr txBox="1"/>
                <p:nvPr/>
              </p:nvSpPr>
              <p:spPr bwMode="auto">
                <a:xfrm>
                  <a:off x="8979" y="3480"/>
                  <a:ext cx="1820" cy="62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(1)</m:t>
                            </m:r>
                          </m:sup>
                        </m:sSup>
                      </m:oMath>
                    </m:oMathPara>
                  </a14:m>
                  <a:endParaRPr lang="zh-CN" altLang="en-US" dirty="0"/>
                </a:p>
              </p:txBody>
            </p:sp>
          </mc:Choice>
          <mc:Fallback xmlns="">
            <p:sp>
              <p:nvSpPr>
                <p:cNvPr id="8200" name="Object 8"/>
                <p:cNvSpPr txBox="1">
                  <a:spLocks noRot="1" noChangeAspect="1" noMove="1" noResize="1" noEditPoints="1" noAdjustHandles="1" noChangeArrowheads="1" noChangeShapeType="1" noTextEdit="1"/>
                </p:cNvSpPr>
                <p:nvPr/>
              </p:nvSpPr>
              <p:spPr bwMode="auto">
                <a:xfrm>
                  <a:off x="8979" y="3480"/>
                  <a:ext cx="1820" cy="620"/>
                </a:xfrm>
                <a:prstGeom prst="rect">
                  <a:avLst/>
                </a:prstGeom>
                <a:blipFill>
                  <a:blip r:embed="rId14"/>
                  <a:stretch>
                    <a:fillRect/>
                  </a:stretch>
                </a:blipFill>
                <a:ln>
                  <a:noFill/>
                </a:ln>
                <a:effectLst/>
              </p:spPr>
              <p:txBody>
                <a:bodyPr/>
                <a:lstStyle/>
                <a:p>
                  <a:r>
                    <a:rPr lang="zh-CN" altLang="en-US">
                      <a:noFill/>
                    </a:rPr>
                    <a:t> </a:t>
                  </a:r>
                </a:p>
              </p:txBody>
            </p:sp>
          </mc:Fallback>
        </mc:AlternateContent>
        <p:sp>
          <p:nvSpPr>
            <p:cNvPr id="8201" name="Line 9"/>
            <p:cNvSpPr>
              <a:spLocks noChangeShapeType="1"/>
            </p:cNvSpPr>
            <p:nvPr/>
          </p:nvSpPr>
          <p:spPr bwMode="auto">
            <a:xfrm>
              <a:off x="11160" y="4023"/>
              <a:ext cx="1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8202" name="Oval 10"/>
            <p:cNvSpPr>
              <a:spLocks noChangeArrowheads="1"/>
            </p:cNvSpPr>
            <p:nvPr/>
          </p:nvSpPr>
          <p:spPr bwMode="auto">
            <a:xfrm flipV="1">
              <a:off x="12480" y="3988"/>
              <a:ext cx="120" cy="1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8203" name="Object 11"/>
                <p:cNvSpPr txBox="1"/>
                <p:nvPr/>
              </p:nvSpPr>
              <p:spPr bwMode="auto">
                <a:xfrm>
                  <a:off x="12599" y="3480"/>
                  <a:ext cx="720" cy="62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8203" name="Object 11"/>
                <p:cNvSpPr txBox="1">
                  <a:spLocks noRot="1" noChangeAspect="1" noMove="1" noResize="1" noEditPoints="1" noAdjustHandles="1" noChangeArrowheads="1" noChangeShapeType="1" noTextEdit="1"/>
                </p:cNvSpPr>
                <p:nvPr/>
              </p:nvSpPr>
              <p:spPr bwMode="auto">
                <a:xfrm>
                  <a:off x="12599" y="3480"/>
                  <a:ext cx="720" cy="620"/>
                </a:xfrm>
                <a:prstGeom prst="rect">
                  <a:avLst/>
                </a:prstGeom>
                <a:blipFill>
                  <a:blip r:embed="rId15"/>
                  <a:stretch>
                    <a:fillRect r="-5357"/>
                  </a:stretch>
                </a:blipFill>
                <a:ln>
                  <a:noFill/>
                </a:ln>
                <a:effectLst/>
              </p:spPr>
              <p:txBody>
                <a:bodyPr/>
                <a:lstStyle/>
                <a:p>
                  <a:r>
                    <a:rPr lang="zh-CN" altLang="en-US">
                      <a:noFill/>
                    </a:rPr>
                    <a:t> </a:t>
                  </a:r>
                </a:p>
              </p:txBody>
            </p:sp>
          </mc:Fallback>
        </mc:AlternateContent>
        <p:sp>
          <p:nvSpPr>
            <p:cNvPr id="8204" name="Line 12"/>
            <p:cNvSpPr>
              <a:spLocks noChangeShapeType="1"/>
            </p:cNvSpPr>
            <p:nvPr/>
          </p:nvSpPr>
          <p:spPr bwMode="auto">
            <a:xfrm flipV="1">
              <a:off x="12515" y="3000"/>
              <a:ext cx="0" cy="96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8205" name="Oval 13"/>
            <p:cNvSpPr>
              <a:spLocks noChangeArrowheads="1"/>
            </p:cNvSpPr>
            <p:nvPr/>
          </p:nvSpPr>
          <p:spPr bwMode="auto">
            <a:xfrm flipV="1">
              <a:off x="12480" y="2880"/>
              <a:ext cx="120" cy="12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8206" name="Line 14"/>
            <p:cNvSpPr>
              <a:spLocks noChangeShapeType="1"/>
            </p:cNvSpPr>
            <p:nvPr/>
          </p:nvSpPr>
          <p:spPr bwMode="auto">
            <a:xfrm>
              <a:off x="12533" y="4080"/>
              <a:ext cx="0" cy="96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8207" name="Oval 15"/>
            <p:cNvSpPr>
              <a:spLocks noChangeArrowheads="1"/>
            </p:cNvSpPr>
            <p:nvPr/>
          </p:nvSpPr>
          <p:spPr bwMode="auto">
            <a:xfrm>
              <a:off x="12480" y="5040"/>
              <a:ext cx="120" cy="1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8208" name="Object 16"/>
                <p:cNvSpPr txBox="1"/>
                <p:nvPr/>
              </p:nvSpPr>
              <p:spPr bwMode="auto">
                <a:xfrm>
                  <a:off x="12719" y="4560"/>
                  <a:ext cx="720" cy="620"/>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(3)</m:t>
                            </m:r>
                          </m:sup>
                        </m:sSup>
                      </m:oMath>
                    </m:oMathPara>
                  </a14:m>
                  <a:endParaRPr lang="zh-CN" altLang="en-US" dirty="0"/>
                </a:p>
              </p:txBody>
            </p:sp>
          </mc:Choice>
          <mc:Fallback xmlns="">
            <p:sp>
              <p:nvSpPr>
                <p:cNvPr id="8208" name="Object 16"/>
                <p:cNvSpPr txBox="1">
                  <a:spLocks noRot="1" noChangeAspect="1" noMove="1" noResize="1" noEditPoints="1" noAdjustHandles="1" noChangeArrowheads="1" noChangeShapeType="1" noTextEdit="1"/>
                </p:cNvSpPr>
                <p:nvPr/>
              </p:nvSpPr>
              <p:spPr bwMode="auto">
                <a:xfrm>
                  <a:off x="12719" y="4560"/>
                  <a:ext cx="720" cy="620"/>
                </a:xfrm>
                <a:prstGeom prst="rect">
                  <a:avLst/>
                </a:prstGeom>
                <a:blipFill>
                  <a:blip r:embed="rId16"/>
                  <a:stretch>
                    <a:fillRect r="-3571"/>
                  </a:stretch>
                </a:blipFill>
                <a:ln>
                  <a:noFill/>
                </a:ln>
                <a:effectLst/>
              </p:spPr>
              <p:txBody>
                <a:bodyPr/>
                <a:lstStyle/>
                <a:p>
                  <a:r>
                    <a:rPr lang="zh-CN" altLang="en-US">
                      <a:noFill/>
                    </a:rPr>
                    <a:t> </a:t>
                  </a:r>
                </a:p>
              </p:txBody>
            </p:sp>
          </mc:Fallback>
        </mc:AlternateContent>
        <p:sp>
          <p:nvSpPr>
            <p:cNvPr id="8214" name="Line 22"/>
            <p:cNvSpPr>
              <a:spLocks noChangeShapeType="1"/>
            </p:cNvSpPr>
            <p:nvPr/>
          </p:nvSpPr>
          <p:spPr bwMode="auto">
            <a:xfrm>
              <a:off x="11160" y="4080"/>
              <a:ext cx="2640" cy="1920"/>
            </a:xfrm>
            <a:prstGeom prst="line">
              <a:avLst/>
            </a:prstGeom>
            <a:noFill/>
            <a:ln w="952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mc:AlternateContent xmlns:mc="http://schemas.openxmlformats.org/markup-compatibility/2006" xmlns:a14="http://schemas.microsoft.com/office/drawing/2010/main">
          <mc:Choice Requires="a14">
            <p:graphicFrame>
              <p:nvGraphicFramePr>
                <p:cNvPr id="8220" name="Object 28"/>
                <p:cNvGraphicFramePr>
                  <a:graphicFrameLocks noChangeAspect="1"/>
                </p:cNvGraphicFramePr>
                <p:nvPr/>
              </p:nvGraphicFramePr>
              <p:xfrm>
                <a:off x="13440" y="4560"/>
                <a:ext cx="1080" cy="540"/>
              </p:xfrm>
              <a:graphic>
                <a:graphicData uri="http://schemas.openxmlformats.org/presentationml/2006/ole">
                  <mc:AlternateContent>
                    <mc:Choice xmlns:v="urn:schemas-microsoft-com:vml" Requires="v">
                      <p:oleObj name="Equation" r:id="rId17" imgW="685800" imgH="342900" progId="Equation.3">
                        <p:embed/>
                      </p:oleObj>
                    </mc:Choice>
                    <mc:Fallback>
                      <p:oleObj name="Equation" r:id="rId17" imgW="685800" imgH="342900" progId="Equation.3">
                        <p:embed/>
                        <p:pic>
                          <p:nvPicPr>
                            <p:cNvPr id="0" name="Object 28"/>
                            <p:cNvPicPr>
                              <a:picLocks noChangeAspect="1" noChangeArrowheads="1"/>
                            </p:cNvPicPr>
                            <p:nvPr/>
                          </p:nvPicPr>
                          <p:blipFill>
                            <a:blip r:embed="rId18">
                              <a:extLst>
                                <a:ext uri="{28A0092B-C50C-407E-A947-70E740481C1C}">
                                  <a14:useLocalDpi val="0"/>
                                </a:ext>
                              </a:extLst>
                            </a:blip>
                            <a:srcRect/>
                            <a:stretch>
                              <a:fillRect/>
                            </a:stretch>
                          </p:blipFill>
                          <p:spPr bwMode="auto">
                            <a:xfrm>
                              <a:off x="13440" y="4560"/>
                              <a:ext cx="1080" cy="540"/>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8220" name="Object 28"/>
                <p:cNvGraphicFramePr>
                  <a:graphicFrameLocks noChangeAspect="1"/>
                </p:cNvGraphicFramePr>
                <p:nvPr/>
              </p:nvGraphicFramePr>
              <p:xfrm>
                <a:off x="13440" y="4560"/>
                <a:ext cx="1080" cy="540"/>
              </p:xfrm>
              <a:graphic>
                <a:graphicData uri="http://schemas.openxmlformats.org/presentationml/2006/ole">
                  <mc:AlternateContent>
                    <mc:Choice xmlns:v="urn:schemas-microsoft-com:vml" Requires="v">
                      <p:oleObj name="Equation" r:id="rId19" imgW="685800" imgH="342900" progId="Equation.3">
                        <p:embed/>
                      </p:oleObj>
                    </mc:Choice>
                    <mc:Fallback>
                      <p:oleObj name="Equation" r:id="rId19" imgW="685800" imgH="342900" progId="Equation.3">
                        <p:embed/>
                        <p:pic>
                          <p:nvPicPr>
                            <p:cNvPr id="0" name="Object 2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440" y="4560"/>
                              <a:ext cx="1080" cy="5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p:sp>
          <p:nvSpPr>
            <p:cNvPr id="8221" name="Oval 29"/>
            <p:cNvSpPr>
              <a:spLocks noChangeArrowheads="1"/>
            </p:cNvSpPr>
            <p:nvPr/>
          </p:nvSpPr>
          <p:spPr bwMode="auto">
            <a:xfrm>
              <a:off x="13800" y="6000"/>
              <a:ext cx="120" cy="12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8222" name="Object 30"/>
                <p:cNvSpPr txBox="1"/>
                <p:nvPr/>
              </p:nvSpPr>
              <p:spPr bwMode="auto">
                <a:xfrm>
                  <a:off x="13559" y="6240"/>
                  <a:ext cx="700" cy="620"/>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en-US" altLang="zh-CN" b="0" i="1" smtClean="0">
                                <a:solidFill>
                                  <a:srgbClr val="000000"/>
                                </a:solidFill>
                                <a:latin typeface="Cambria Math" panose="02040503050406030204" pitchFamily="18" charset="0"/>
                              </a:rPr>
                            </m:ctrlPr>
                          </m:sSubPr>
                          <m:e>
                            <m:r>
                              <a:rPr lang="en-US" altLang="zh-CN" i="1" smtClean="0">
                                <a:solidFill>
                                  <a:srgbClr val="000000"/>
                                </a:solidFill>
                                <a:latin typeface="Cambria Math" panose="02040503050406030204" pitchFamily="18" charset="0"/>
                              </a:rPr>
                              <m:t>𝑡</m:t>
                            </m:r>
                          </m:e>
                          <m:sub>
                            <m:r>
                              <a:rPr lang="en-US" altLang="zh-CN"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8222" name="Object 30"/>
                <p:cNvSpPr txBox="1">
                  <a:spLocks noRot="1" noChangeAspect="1" noMove="1" noResize="1" noEditPoints="1" noAdjustHandles="1" noChangeArrowheads="1" noChangeShapeType="1" noTextEdit="1"/>
                </p:cNvSpPr>
                <p:nvPr/>
              </p:nvSpPr>
              <p:spPr bwMode="auto">
                <a:xfrm>
                  <a:off x="13559" y="6240"/>
                  <a:ext cx="700" cy="620"/>
                </a:xfrm>
                <a:prstGeom prst="rect">
                  <a:avLst/>
                </a:prstGeom>
                <a:blipFill>
                  <a:blip r:embed="rId21"/>
                  <a:stretch>
                    <a:fillRect/>
                  </a:stretch>
                </a:blipFill>
                <a:ln>
                  <a:noFill/>
                </a:ln>
                <a:effec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5" name="文本框 24"/>
              <p:cNvSpPr txBox="1"/>
              <p:nvPr/>
            </p:nvSpPr>
            <p:spPr>
              <a:xfrm>
                <a:off x="427451" y="548680"/>
                <a:ext cx="4480073" cy="5526193"/>
              </a:xfrm>
              <a:prstGeom prst="rect">
                <a:avLst/>
              </a:prstGeom>
              <a:noFill/>
            </p:spPr>
            <p:txBody>
              <a:bodyPr wrap="square" rtlCol="0">
                <a:spAutoFit/>
              </a:bodyPr>
              <a:lstStyle/>
              <a:p>
                <a:pPr algn="just" fontAlgn="auto">
                  <a:lnSpc>
                    <a:spcPct val="150000"/>
                  </a:lnSpc>
                </a:pPr>
                <a:r>
                  <a:rPr lang="en-US" altLang="zh-CN" sz="2000" dirty="0"/>
                  <a:t>       </a:t>
                </a:r>
                <a:r>
                  <a:rPr lang="zh-CN" altLang="en-US" sz="2000" dirty="0"/>
                  <a:t>依次进行搜索，直到得到点</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oMath>
                </a14:m>
                <a:r>
                  <a:rPr lang="zh-CN" altLang="en-US" sz="2000" dirty="0">
                    <a:latin typeface="Cambria Math" panose="02040503050406030204" pitchFamily="18" charset="0"/>
                    <a:cs typeface="Cambria Math" panose="02040503050406030204" pitchFamily="18" charset="0"/>
                  </a:rPr>
                  <a:t>。（一轮轴向搜索结束。）</a:t>
                </a:r>
              </a:p>
              <a:p>
                <a:pPr algn="just" fontAlgn="auto">
                  <a:lnSpc>
                    <a:spcPct val="150000"/>
                  </a:lnSpc>
                </a:pPr>
                <a:r>
                  <a:rPr lang="en-US" altLang="zh-CN" sz="2000" dirty="0">
                    <a:latin typeface="Cambria Math" panose="02040503050406030204" pitchFamily="18" charset="0"/>
                    <a:cs typeface="Cambria Math" panose="02040503050406030204" pitchFamily="18" charset="0"/>
                  </a:rPr>
                  <a:t>       </a:t>
                </a:r>
                <a:r>
                  <a:rPr lang="zh-CN" altLang="en-US" sz="2000" dirty="0">
                    <a:latin typeface="Cambria Math" panose="02040503050406030204" pitchFamily="18" charset="0"/>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cs typeface="Cambria Math" panose="02040503050406030204" pitchFamily="18" charset="0"/>
                      </a:rPr>
                      <m:t>𝑓</m:t>
                    </m:r>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𝑓</m:t>
                    </m:r>
                    <m:d>
                      <m:dPr>
                        <m:ctrlPr>
                          <a:rPr lang="en-US" altLang="zh-CN" sz="2000" i="1">
                            <a:latin typeface="Cambria Math" panose="02040503050406030204" pitchFamily="18" charset="0"/>
                            <a:cs typeface="Cambria Math" panose="02040503050406030204" pitchFamily="18" charset="0"/>
                          </a:rPr>
                        </m:ctrlPr>
                      </m:dPr>
                      <m:e>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(1)</m:t>
                            </m:r>
                          </m:sup>
                        </m:sSup>
                      </m:e>
                    </m:d>
                  </m:oMath>
                </a14:m>
                <a:r>
                  <a:rPr lang="zh-CN" altLang="en-US" sz="2000" dirty="0">
                    <a:latin typeface="Cambria Math" panose="02040503050406030204" pitchFamily="18" charset="0"/>
                    <a:cs typeface="Cambria Math" panose="02040503050406030204" pitchFamily="18" charset="0"/>
                  </a:rPr>
                  <a:t>，则缩小步长</a:t>
                </a:r>
                <a14:m>
                  <m:oMath xmlns:m="http://schemas.openxmlformats.org/officeDocument/2006/math">
                    <m:r>
                      <a:rPr lang="en-US" altLang="zh-CN" sz="2000" i="1">
                        <a:latin typeface="Cambria Math" panose="02040503050406030204" pitchFamily="18" charset="0"/>
                        <a:cs typeface="Cambria Math" panose="02040503050406030204" pitchFamily="18" charset="0"/>
                      </a:rPr>
                      <m:t>𝛿</m:t>
                    </m:r>
                  </m:oMath>
                </a14:m>
                <a:r>
                  <a:rPr lang="zh-CN" altLang="en-US" sz="2000" dirty="0">
                    <a:latin typeface="Cambria Math" panose="02040503050406030204" pitchFamily="18" charset="0"/>
                    <a:cs typeface="Cambria Math" panose="02040503050406030204" pitchFamily="18" charset="0"/>
                  </a:rPr>
                  <a:t>，仍以</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(1)</m:t>
                        </m:r>
                      </m:sup>
                    </m:sSup>
                  </m:oMath>
                </a14:m>
                <a:r>
                  <a:rPr lang="zh-CN" altLang="en-US" sz="2000" dirty="0">
                    <a:latin typeface="Cambria Math" panose="02040503050406030204" pitchFamily="18" charset="0"/>
                    <a:cs typeface="Cambria Math" panose="02040503050406030204" pitchFamily="18" charset="0"/>
                  </a:rPr>
                  <a:t>为起点进行新的轴向搜索。否则，进行模式搜索。</a:t>
                </a:r>
              </a:p>
              <a:p>
                <a:pPr algn="just" fontAlgn="auto">
                  <a:lnSpc>
                    <a:spcPct val="150000"/>
                  </a:lnSpc>
                </a:pPr>
                <a:r>
                  <a:rPr lang="zh-CN" altLang="en-US" sz="2000" b="1" dirty="0">
                    <a:latin typeface="Cambria Math" panose="02040503050406030204" pitchFamily="18" charset="0"/>
                    <a:cs typeface="Cambria Math" panose="02040503050406030204" pitchFamily="18" charset="0"/>
                  </a:rPr>
                  <a:t>模式搜索</a:t>
                </a:r>
                <a:r>
                  <a:rPr lang="zh-CN" altLang="en-US" sz="2000" dirty="0">
                    <a:latin typeface="Cambria Math" panose="02040503050406030204" pitchFamily="18" charset="0"/>
                    <a:cs typeface="Cambria Math" panose="02040503050406030204" pitchFamily="18" charset="0"/>
                  </a:rPr>
                  <a:t>：</a:t>
                </a:r>
              </a:p>
              <a:p>
                <a:pPr algn="just" fontAlgn="auto">
                  <a:lnSpc>
                    <a:spcPct val="150000"/>
                  </a:lnSpc>
                </a:pPr>
                <a:r>
                  <a:rPr lang="en-US" altLang="zh-CN" sz="2000" dirty="0">
                    <a:latin typeface="Cambria Math" panose="02040503050406030204" pitchFamily="18" charset="0"/>
                    <a:cs typeface="Cambria Math" panose="02040503050406030204" pitchFamily="18" charset="0"/>
                  </a:rPr>
                  <a:t>        </a:t>
                </a:r>
                <a:r>
                  <a:rPr lang="zh-CN" altLang="en-US" sz="2000" dirty="0">
                    <a:latin typeface="Cambria Math" panose="02040503050406030204" pitchFamily="18" charset="0"/>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cs typeface="Cambria Math" panose="02040503050406030204" pitchFamily="18" charset="0"/>
                      </a:rPr>
                      <m:t>𝑓</m:t>
                    </m:r>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r>
                      <a:rPr lang="en-US" altLang="zh-CN" sz="2000" i="1">
                        <a:latin typeface="Cambria Math" panose="02040503050406030204" pitchFamily="18" charset="0"/>
                        <a:cs typeface="Cambria Math" panose="02040503050406030204" pitchFamily="18" charset="0"/>
                      </a:rPr>
                      <m:t>)&lt;</m:t>
                    </m:r>
                    <m:r>
                      <a:rPr lang="en-US" altLang="zh-CN" sz="2000" i="1">
                        <a:latin typeface="Cambria Math" panose="02040503050406030204" pitchFamily="18" charset="0"/>
                        <a:cs typeface="Cambria Math" panose="02040503050406030204" pitchFamily="18" charset="0"/>
                      </a:rPr>
                      <m:t>𝑓</m:t>
                    </m:r>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(1)</m:t>
                        </m:r>
                      </m:sup>
                    </m:sSup>
                    <m:r>
                      <a:rPr lang="en-US" altLang="zh-CN" sz="2000" i="1">
                        <a:latin typeface="Cambria Math" panose="02040503050406030204" pitchFamily="18" charset="0"/>
                        <a:cs typeface="Cambria Math" panose="02040503050406030204" pitchFamily="18" charset="0"/>
                      </a:rPr>
                      <m:t>)</m:t>
                    </m:r>
                  </m:oMath>
                </a14:m>
                <a:r>
                  <a:rPr lang="zh-CN" altLang="en-US" sz="2000" dirty="0">
                    <a:latin typeface="Cambria Math" panose="02040503050406030204" pitchFamily="18" charset="0"/>
                    <a:cs typeface="Cambria Math" panose="02040503050406030204" pitchFamily="18" charset="0"/>
                  </a:rPr>
                  <a:t>，则令</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oMath>
                </a14:m>
                <a:r>
                  <a:rPr lang="zh-CN" altLang="en-US" sz="2000" dirty="0">
                    <a:latin typeface="Cambria Math" panose="02040503050406030204" pitchFamily="18" charset="0"/>
                    <a:cs typeface="Cambria Math" panose="02040503050406030204" pitchFamily="18" charset="0"/>
                  </a:rPr>
                  <a:t>。</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(1)</m:t>
                        </m:r>
                      </m:sup>
                    </m:sSup>
                  </m:oMath>
                </a14:m>
                <a:r>
                  <a:rPr lang="zh-CN" altLang="en-US" sz="2000" dirty="0">
                    <a:latin typeface="Cambria Math" panose="02040503050406030204" pitchFamily="18" charset="0"/>
                    <a:cs typeface="Cambria Math" panose="02040503050406030204" pitchFamily="18" charset="0"/>
                  </a:rPr>
                  <a:t>方向可能有利于函数值下降，因此下一步沿</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(1)</m:t>
                        </m:r>
                      </m:sup>
                    </m:sSup>
                  </m:oMath>
                </a14:m>
                <a:r>
                  <a:rPr lang="zh-CN" altLang="en-US" sz="2000" dirty="0">
                    <a:latin typeface="Cambria Math" panose="02040503050406030204" pitchFamily="18" charset="0"/>
                    <a:cs typeface="Cambria Math" panose="02040503050406030204" pitchFamily="18" charset="0"/>
                  </a:rPr>
                  <a:t>方向进行模式搜索。即令</a:t>
                </a:r>
                <a14:m>
                  <m:oMath xmlns:m="http://schemas.openxmlformats.org/officeDocument/2006/math">
                    <m:sSub>
                      <m:sSubPr>
                        <m:ctrlPr>
                          <a:rPr lang="en-US" altLang="zh-CN" sz="2000" b="0" i="1" smtClean="0">
                            <a:latin typeface="Cambria Math" panose="02040503050406030204" pitchFamily="18" charset="0"/>
                            <a:cs typeface="Cambria Math" panose="02040503050406030204" pitchFamily="18" charset="0"/>
                          </a:rPr>
                        </m:ctrlPr>
                      </m:sSubPr>
                      <m:e>
                        <m:r>
                          <m:rPr>
                            <m:sty m:val="p"/>
                          </m:rPr>
                          <a:rPr lang="en-US" altLang="zh-CN" sz="2000" b="0" i="0" smtClean="0">
                            <a:latin typeface="Cambria Math" panose="02040503050406030204" pitchFamily="18" charset="0"/>
                            <a:cs typeface="Cambria Math" panose="02040503050406030204" pitchFamily="18" charset="0"/>
                          </a:rPr>
                          <m:t>t</m:t>
                        </m:r>
                      </m:e>
                      <m:sub>
                        <m:r>
                          <a:rPr lang="en-US" altLang="zh-CN" sz="2000" b="0" i="0" smtClean="0">
                            <a:latin typeface="Cambria Math" panose="02040503050406030204" pitchFamily="18" charset="0"/>
                            <a:cs typeface="Cambria Math" panose="02040503050406030204" pitchFamily="18" charset="0"/>
                          </a:rPr>
                          <m:t>1</m:t>
                        </m:r>
                      </m:sub>
                    </m:sSub>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𝛼</m:t>
                    </m:r>
                    <m:d>
                      <m:dPr>
                        <m:ctrlPr>
                          <a:rPr lang="en-US" altLang="zh-CN" sz="2000" i="1">
                            <a:latin typeface="Cambria Math" panose="02040503050406030204" pitchFamily="18" charset="0"/>
                            <a:cs typeface="Cambria Math" panose="02040503050406030204" pitchFamily="18" charset="0"/>
                          </a:rPr>
                        </m:ctrlPr>
                      </m:dPr>
                      <m:e>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(1)</m:t>
                            </m:r>
                          </m:sup>
                        </m:sSup>
                      </m:e>
                    </m:d>
                  </m:oMath>
                </a14:m>
                <a:r>
                  <a:rPr lang="zh-CN" altLang="en-US" sz="2000" dirty="0">
                    <a:latin typeface="Cambria Math" panose="02040503050406030204" pitchFamily="18" charset="0"/>
                    <a:cs typeface="Cambria Math" panose="02040503050406030204" pitchFamily="18" charset="0"/>
                  </a:rPr>
                  <a:t>。</a:t>
                </a:r>
              </a:p>
            </p:txBody>
          </p:sp>
        </mc:Choice>
        <mc:Fallback xmlns="">
          <p:sp>
            <p:nvSpPr>
              <p:cNvPr id="25" name="文本框 24"/>
              <p:cNvSpPr txBox="1">
                <a:spLocks noRot="1" noChangeAspect="1" noMove="1" noResize="1" noEditPoints="1" noAdjustHandles="1" noChangeArrowheads="1" noChangeShapeType="1" noTextEdit="1"/>
              </p:cNvSpPr>
              <p:nvPr/>
            </p:nvSpPr>
            <p:spPr>
              <a:xfrm>
                <a:off x="427451" y="548680"/>
                <a:ext cx="4480073" cy="5526193"/>
              </a:xfrm>
              <a:prstGeom prst="rect">
                <a:avLst/>
              </a:prstGeom>
              <a:blipFill>
                <a:blip r:embed="rId22"/>
                <a:stretch>
                  <a:fillRect l="-1361" r="-7211"/>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47" name="Object 31"/>
          <p:cNvGraphicFramePr>
            <a:graphicFrameLocks noChangeAspect="1"/>
          </p:cNvGraphicFramePr>
          <p:nvPr/>
        </p:nvGraphicFramePr>
        <p:xfrm>
          <a:off x="5544026" y="4022884"/>
          <a:ext cx="180975" cy="190500"/>
        </p:xfrm>
        <a:graphic>
          <a:graphicData uri="http://schemas.openxmlformats.org/presentationml/2006/ole">
            <mc:AlternateContent xmlns:mc="http://schemas.openxmlformats.org/markup-compatibility/2006">
              <mc:Choice xmlns:v="urn:schemas-microsoft-com:vml" Requires="v">
                <p:oleObj name="Equation" r:id="rId2" imgW="241300" imgH="254000" progId="Equation.3">
                  <p:embed/>
                </p:oleObj>
              </mc:Choice>
              <mc:Fallback>
                <p:oleObj name="Equation" r:id="rId2" imgW="241300" imgH="254000" progId="Equation.3">
                  <p:embed/>
                  <p:pic>
                    <p:nvPicPr>
                      <p:cNvPr id="0" name="Object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4026" y="4022884"/>
                        <a:ext cx="180975" cy="19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8" name="Object 32"/>
          <p:cNvGraphicFramePr>
            <a:graphicFrameLocks noChangeAspect="1"/>
          </p:cNvGraphicFramePr>
          <p:nvPr/>
        </p:nvGraphicFramePr>
        <p:xfrm>
          <a:off x="8622506" y="3860959"/>
          <a:ext cx="180975" cy="257175"/>
        </p:xfrm>
        <a:graphic>
          <a:graphicData uri="http://schemas.openxmlformats.org/presentationml/2006/ole">
            <mc:AlternateContent xmlns:mc="http://schemas.openxmlformats.org/markup-compatibility/2006">
              <mc:Choice xmlns:v="urn:schemas-microsoft-com:vml" Requires="v">
                <p:oleObj name="Equation" r:id="rId4" imgW="241300" imgH="342900" progId="Equation.3">
                  <p:embed/>
                </p:oleObj>
              </mc:Choice>
              <mc:Fallback>
                <p:oleObj name="Equation" r:id="rId4" imgW="241300" imgH="342900" progId="Equation.3">
                  <p:embed/>
                  <p:pic>
                    <p:nvPicPr>
                      <p:cNvPr id="0"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2506" y="3860959"/>
                        <a:ext cx="180975"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5" name="Line 29"/>
          <p:cNvSpPr>
            <a:spLocks noChangeShapeType="1"/>
          </p:cNvSpPr>
          <p:nvPr/>
        </p:nvSpPr>
        <p:spPr bwMode="auto">
          <a:xfrm>
            <a:off x="5686425" y="3939064"/>
            <a:ext cx="28575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46" name="Line 30"/>
          <p:cNvSpPr>
            <a:spLocks noChangeShapeType="1"/>
          </p:cNvSpPr>
          <p:nvPr/>
        </p:nvSpPr>
        <p:spPr bwMode="auto">
          <a:xfrm flipV="1">
            <a:off x="5800725" y="1824514"/>
            <a:ext cx="0" cy="29146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aphicFrame>
        <p:nvGraphicFramePr>
          <p:cNvPr id="9249" name="Object 33"/>
          <p:cNvGraphicFramePr>
            <a:graphicFrameLocks noChangeAspect="1"/>
          </p:cNvGraphicFramePr>
          <p:nvPr/>
        </p:nvGraphicFramePr>
        <p:xfrm>
          <a:off x="5629275" y="1538764"/>
          <a:ext cx="200025" cy="257175"/>
        </p:xfrm>
        <a:graphic>
          <a:graphicData uri="http://schemas.openxmlformats.org/presentationml/2006/ole">
            <mc:AlternateContent xmlns:mc="http://schemas.openxmlformats.org/markup-compatibility/2006">
              <mc:Choice xmlns:v="urn:schemas-microsoft-com:vml" Requires="v">
                <p:oleObj name="Equation" r:id="rId6" imgW="266700" imgH="342900" progId="Equation.3">
                  <p:embed/>
                </p:oleObj>
              </mc:Choice>
              <mc:Fallback>
                <p:oleObj name="Equation" r:id="rId6" imgW="266700" imgH="342900" progId="Equation.3">
                  <p:embed/>
                  <p:pic>
                    <p:nvPicPr>
                      <p:cNvPr id="0" name="Object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29275" y="1538764"/>
                        <a:ext cx="200025"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0" name="Oval 34"/>
          <p:cNvSpPr>
            <a:spLocks noChangeArrowheads="1"/>
          </p:cNvSpPr>
          <p:nvPr/>
        </p:nvSpPr>
        <p:spPr bwMode="auto">
          <a:xfrm>
            <a:off x="6086475" y="2281714"/>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9251" name="Object 35"/>
              <p:cNvSpPr txBox="1"/>
              <p:nvPr/>
            </p:nvSpPr>
            <p:spPr bwMode="auto">
              <a:xfrm>
                <a:off x="5105400" y="2052638"/>
                <a:ext cx="866775" cy="295275"/>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(1)</m:t>
                          </m:r>
                        </m:sup>
                      </m:sSup>
                    </m:oMath>
                  </m:oMathPara>
                </a14:m>
                <a:endParaRPr lang="zh-CN" altLang="en-US" dirty="0"/>
              </a:p>
            </p:txBody>
          </p:sp>
        </mc:Choice>
        <mc:Fallback xmlns="">
          <p:sp>
            <p:nvSpPr>
              <p:cNvPr id="9251" name="Object 35"/>
              <p:cNvSpPr txBox="1">
                <a:spLocks noRot="1" noChangeAspect="1" noMove="1" noResize="1" noEditPoints="1" noAdjustHandles="1" noChangeArrowheads="1" noChangeShapeType="1" noTextEdit="1"/>
              </p:cNvSpPr>
              <p:nvPr/>
            </p:nvSpPr>
            <p:spPr bwMode="auto">
              <a:xfrm>
                <a:off x="5105400" y="2052638"/>
                <a:ext cx="866775" cy="295275"/>
              </a:xfrm>
              <a:prstGeom prst="rect">
                <a:avLst/>
              </a:prstGeom>
              <a:blipFill>
                <a:blip r:embed="rId8"/>
                <a:stretch>
                  <a:fillRect/>
                </a:stretch>
              </a:blipFill>
              <a:ln>
                <a:noFill/>
              </a:ln>
              <a:effectLst/>
            </p:spPr>
            <p:txBody>
              <a:bodyPr/>
              <a:lstStyle/>
              <a:p>
                <a:r>
                  <a:rPr lang="zh-CN" altLang="en-US">
                    <a:noFill/>
                  </a:rPr>
                  <a:t> </a:t>
                </a:r>
              </a:p>
            </p:txBody>
          </p:sp>
        </mc:Fallback>
      </mc:AlternateContent>
      <p:sp>
        <p:nvSpPr>
          <p:cNvPr id="9252" name="Line 36"/>
          <p:cNvSpPr>
            <a:spLocks noChangeShapeType="1"/>
          </p:cNvSpPr>
          <p:nvPr/>
        </p:nvSpPr>
        <p:spPr bwMode="auto">
          <a:xfrm>
            <a:off x="6143625" y="2311718"/>
            <a:ext cx="5715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53" name="Oval 37"/>
          <p:cNvSpPr>
            <a:spLocks noChangeArrowheads="1"/>
          </p:cNvSpPr>
          <p:nvPr/>
        </p:nvSpPr>
        <p:spPr bwMode="auto">
          <a:xfrm flipV="1">
            <a:off x="6772275" y="2295049"/>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9254" name="Object 38"/>
              <p:cNvSpPr txBox="1"/>
              <p:nvPr/>
            </p:nvSpPr>
            <p:spPr bwMode="auto">
              <a:xfrm>
                <a:off x="6829425" y="2052638"/>
                <a:ext cx="342900" cy="295275"/>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9254" name="Object 38"/>
              <p:cNvSpPr txBox="1">
                <a:spLocks noRot="1" noChangeAspect="1" noMove="1" noResize="1" noEditPoints="1" noAdjustHandles="1" noChangeArrowheads="1" noChangeShapeType="1" noTextEdit="1"/>
              </p:cNvSpPr>
              <p:nvPr/>
            </p:nvSpPr>
            <p:spPr bwMode="auto">
              <a:xfrm>
                <a:off x="6829425" y="2052638"/>
                <a:ext cx="342900" cy="295275"/>
              </a:xfrm>
              <a:prstGeom prst="rect">
                <a:avLst/>
              </a:prstGeom>
              <a:blipFill>
                <a:blip r:embed="rId9"/>
                <a:stretch>
                  <a:fillRect r="-3509"/>
                </a:stretch>
              </a:blipFill>
              <a:ln>
                <a:noFill/>
              </a:ln>
              <a:effectLst/>
            </p:spPr>
            <p:txBody>
              <a:bodyPr/>
              <a:lstStyle/>
              <a:p>
                <a:r>
                  <a:rPr lang="zh-CN" altLang="en-US">
                    <a:noFill/>
                  </a:rPr>
                  <a:t> </a:t>
                </a:r>
              </a:p>
            </p:txBody>
          </p:sp>
        </mc:Fallback>
      </mc:AlternateContent>
      <p:sp>
        <p:nvSpPr>
          <p:cNvPr id="9255" name="Line 39"/>
          <p:cNvSpPr>
            <a:spLocks noChangeShapeType="1"/>
          </p:cNvSpPr>
          <p:nvPr/>
        </p:nvSpPr>
        <p:spPr bwMode="auto">
          <a:xfrm flipV="1">
            <a:off x="6788944" y="1824514"/>
            <a:ext cx="0" cy="45720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56" name="Oval 40"/>
          <p:cNvSpPr>
            <a:spLocks noChangeArrowheads="1"/>
          </p:cNvSpPr>
          <p:nvPr/>
        </p:nvSpPr>
        <p:spPr bwMode="auto">
          <a:xfrm flipV="1">
            <a:off x="6772275" y="1767364"/>
            <a:ext cx="57150" cy="5715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9257" name="Line 41"/>
          <p:cNvSpPr>
            <a:spLocks noChangeShapeType="1"/>
          </p:cNvSpPr>
          <p:nvPr/>
        </p:nvSpPr>
        <p:spPr bwMode="auto">
          <a:xfrm>
            <a:off x="6797516" y="2338864"/>
            <a:ext cx="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58" name="Oval 42"/>
          <p:cNvSpPr>
            <a:spLocks noChangeArrowheads="1"/>
          </p:cNvSpPr>
          <p:nvPr/>
        </p:nvSpPr>
        <p:spPr bwMode="auto">
          <a:xfrm>
            <a:off x="6772275" y="2796064"/>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9259" name="Object 43"/>
              <p:cNvSpPr txBox="1"/>
              <p:nvPr/>
            </p:nvSpPr>
            <p:spPr bwMode="auto">
              <a:xfrm>
                <a:off x="6886575" y="2566988"/>
                <a:ext cx="342900" cy="295275"/>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(3)</m:t>
                          </m:r>
                        </m:sup>
                      </m:sSup>
                    </m:oMath>
                  </m:oMathPara>
                </a14:m>
                <a:endParaRPr lang="zh-CN" altLang="en-US" dirty="0"/>
              </a:p>
            </p:txBody>
          </p:sp>
        </mc:Choice>
        <mc:Fallback xmlns="">
          <p:sp>
            <p:nvSpPr>
              <p:cNvPr id="9259" name="Object 43"/>
              <p:cNvSpPr txBox="1">
                <a:spLocks noRot="1" noChangeAspect="1" noMove="1" noResize="1" noEditPoints="1" noAdjustHandles="1" noChangeArrowheads="1" noChangeShapeType="1" noTextEdit="1"/>
              </p:cNvSpPr>
              <p:nvPr/>
            </p:nvSpPr>
            <p:spPr bwMode="auto">
              <a:xfrm>
                <a:off x="6886575" y="2566988"/>
                <a:ext cx="342900" cy="295275"/>
              </a:xfrm>
              <a:prstGeom prst="rect">
                <a:avLst/>
              </a:prstGeom>
              <a:blipFill>
                <a:blip r:embed="rId10"/>
                <a:stretch>
                  <a:fillRect r="-3571"/>
                </a:stretch>
              </a:blipFill>
              <a:ln>
                <a:noFill/>
              </a:ln>
              <a:effectLst/>
            </p:spPr>
            <p:txBody>
              <a:bodyPr/>
              <a:lstStyle/>
              <a:p>
                <a:r>
                  <a:rPr lang="zh-CN" altLang="en-US">
                    <a:noFill/>
                  </a:rPr>
                  <a:t> </a:t>
                </a:r>
              </a:p>
            </p:txBody>
          </p:sp>
        </mc:Fallback>
      </mc:AlternateContent>
      <p:sp>
        <p:nvSpPr>
          <p:cNvPr id="9260" name="Line 44"/>
          <p:cNvSpPr>
            <a:spLocks noChangeShapeType="1"/>
          </p:cNvSpPr>
          <p:nvPr/>
        </p:nvSpPr>
        <p:spPr bwMode="auto">
          <a:xfrm>
            <a:off x="6143625" y="2338864"/>
            <a:ext cx="1257300" cy="914400"/>
          </a:xfrm>
          <a:prstGeom prst="line">
            <a:avLst/>
          </a:prstGeom>
          <a:noFill/>
          <a:ln w="9525">
            <a:solidFill>
              <a:srgbClr val="00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aphicFrame>
        <p:nvGraphicFramePr>
          <p:cNvPr id="9261" name="Object 45"/>
          <p:cNvGraphicFramePr>
            <a:graphicFrameLocks noChangeAspect="1"/>
          </p:cNvGraphicFramePr>
          <p:nvPr/>
        </p:nvGraphicFramePr>
        <p:xfrm>
          <a:off x="7229475" y="2567464"/>
          <a:ext cx="514350" cy="257175"/>
        </p:xfrm>
        <a:graphic>
          <a:graphicData uri="http://schemas.openxmlformats.org/presentationml/2006/ole">
            <mc:AlternateContent xmlns:mc="http://schemas.openxmlformats.org/markup-compatibility/2006">
              <mc:Choice xmlns:v="urn:schemas-microsoft-com:vml" Requires="v">
                <p:oleObj name="Equation" r:id="rId11" imgW="685800" imgH="342900" progId="Equation.3">
                  <p:embed/>
                </p:oleObj>
              </mc:Choice>
              <mc:Fallback>
                <p:oleObj name="Equation" r:id="rId11" imgW="685800" imgH="342900" progId="Equation.3">
                  <p:embed/>
                  <p:pic>
                    <p:nvPicPr>
                      <p:cNvPr id="0" name="Object 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29475" y="2567464"/>
                        <a:ext cx="51435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62" name="Oval 46"/>
          <p:cNvSpPr>
            <a:spLocks noChangeArrowheads="1"/>
          </p:cNvSpPr>
          <p:nvPr/>
        </p:nvSpPr>
        <p:spPr bwMode="auto">
          <a:xfrm>
            <a:off x="7400925" y="3253264"/>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9263" name="Object 47"/>
              <p:cNvSpPr txBox="1"/>
              <p:nvPr/>
            </p:nvSpPr>
            <p:spPr bwMode="auto">
              <a:xfrm>
                <a:off x="7286625" y="3367088"/>
                <a:ext cx="333375" cy="295275"/>
              </a:xfrm>
              <a:prstGeom prst="rect">
                <a:avLst/>
              </a:prstGeom>
              <a:noFill/>
              <a:ln>
                <a:noFill/>
              </a:ln>
              <a:effectLst/>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en-US" altLang="zh-CN" b="0" i="1" smtClean="0">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𝑡</m:t>
                          </m:r>
                        </m:e>
                        <m:sub>
                          <m:r>
                            <a:rPr lang="en-US" altLang="zh-CN" b="0" i="1" smtClean="0">
                              <a:solidFill>
                                <a:srgbClr val="000000"/>
                              </a:solidFill>
                              <a:latin typeface="Cambria Math" panose="02040503050406030204" pitchFamily="18" charset="0"/>
                            </a:rPr>
                            <m:t>1</m:t>
                          </m:r>
                        </m:sub>
                      </m:sSub>
                    </m:oMath>
                  </m:oMathPara>
                </a14:m>
                <a:endParaRPr lang="zh-CN" altLang="en-US" dirty="0"/>
              </a:p>
            </p:txBody>
          </p:sp>
        </mc:Choice>
        <mc:Fallback xmlns="">
          <p:sp>
            <p:nvSpPr>
              <p:cNvPr id="9263" name="Object 47"/>
              <p:cNvSpPr txBox="1">
                <a:spLocks noRot="1" noChangeAspect="1" noMove="1" noResize="1" noEditPoints="1" noAdjustHandles="1" noChangeArrowheads="1" noChangeShapeType="1" noTextEdit="1"/>
              </p:cNvSpPr>
              <p:nvPr/>
            </p:nvSpPr>
            <p:spPr bwMode="auto">
              <a:xfrm>
                <a:off x="7286625" y="3367088"/>
                <a:ext cx="333375" cy="295275"/>
              </a:xfrm>
              <a:prstGeom prst="rect">
                <a:avLst/>
              </a:prstGeom>
              <a:blipFill>
                <a:blip r:embed="rId13"/>
                <a:stretch>
                  <a:fillRect/>
                </a:stretch>
              </a:blipFill>
              <a:ln>
                <a:noFill/>
              </a:ln>
              <a:effectLst/>
            </p:spPr>
            <p:txBody>
              <a:bodyPr/>
              <a:lstStyle/>
              <a:p>
                <a:r>
                  <a:rPr lang="zh-CN" altLang="en-US">
                    <a:noFill/>
                  </a:rPr>
                  <a:t> </a:t>
                </a:r>
              </a:p>
            </p:txBody>
          </p:sp>
        </mc:Fallback>
      </mc:AlternateContent>
      <p:sp>
        <p:nvSpPr>
          <p:cNvPr id="9265" name="Line 49"/>
          <p:cNvSpPr>
            <a:spLocks noChangeShapeType="1"/>
          </p:cNvSpPr>
          <p:nvPr/>
        </p:nvSpPr>
        <p:spPr bwMode="auto">
          <a:xfrm>
            <a:off x="7448550" y="3283268"/>
            <a:ext cx="4000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66" name="Oval 50"/>
          <p:cNvSpPr>
            <a:spLocks noChangeArrowheads="1"/>
          </p:cNvSpPr>
          <p:nvPr/>
        </p:nvSpPr>
        <p:spPr bwMode="auto">
          <a:xfrm flipV="1">
            <a:off x="7848600" y="3253264"/>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9267" name="Line 51"/>
          <p:cNvSpPr>
            <a:spLocks noChangeShapeType="1"/>
          </p:cNvSpPr>
          <p:nvPr/>
        </p:nvSpPr>
        <p:spPr bwMode="auto">
          <a:xfrm flipV="1">
            <a:off x="7873841" y="2853214"/>
            <a:ext cx="0" cy="40005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68" name="Line 52"/>
          <p:cNvSpPr>
            <a:spLocks noChangeShapeType="1"/>
          </p:cNvSpPr>
          <p:nvPr/>
        </p:nvSpPr>
        <p:spPr bwMode="auto">
          <a:xfrm>
            <a:off x="7873841" y="3310414"/>
            <a:ext cx="0" cy="40005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9269" name="Oval 53"/>
          <p:cNvSpPr>
            <a:spLocks noChangeArrowheads="1"/>
          </p:cNvSpPr>
          <p:nvPr/>
        </p:nvSpPr>
        <p:spPr bwMode="auto">
          <a:xfrm>
            <a:off x="7848600" y="2796064"/>
            <a:ext cx="57150" cy="5715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9270" name="Oval 54"/>
          <p:cNvSpPr>
            <a:spLocks noChangeArrowheads="1"/>
          </p:cNvSpPr>
          <p:nvPr/>
        </p:nvSpPr>
        <p:spPr bwMode="auto">
          <a:xfrm>
            <a:off x="7848600" y="3710464"/>
            <a:ext cx="57150" cy="5715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mc:AlternateContent xmlns:mc="http://schemas.openxmlformats.org/markup-compatibility/2006" xmlns:a14="http://schemas.microsoft.com/office/drawing/2010/main">
        <mc:Choice Requires="a14">
          <p:sp>
            <p:nvSpPr>
              <p:cNvPr id="9271" name="Object 55"/>
              <p:cNvSpPr txBox="1"/>
              <p:nvPr/>
            </p:nvSpPr>
            <p:spPr bwMode="auto">
              <a:xfrm>
                <a:off x="7962900" y="3081338"/>
                <a:ext cx="342900" cy="295275"/>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en-US" altLang="zh-CN" b="0" i="1" smtClean="0">
                              <a:solidFill>
                                <a:srgbClr val="000000"/>
                              </a:solidFill>
                              <a:latin typeface="Cambria Math" panose="02040503050406030204" pitchFamily="18" charset="0"/>
                            </a:rPr>
                            <m:t>𝑡</m:t>
                          </m:r>
                        </m:e>
                        <m:sup>
                          <m:r>
                            <a:rPr lang="zh-CN" altLang="en-US" i="1">
                              <a:solidFill>
                                <a:srgbClr val="000000"/>
                              </a:solidFill>
                              <a:latin typeface="Cambria Math" panose="02040503050406030204" pitchFamily="18" charset="0"/>
                            </a:rPr>
                            <m:t>(2)</m:t>
                          </m:r>
                        </m:sup>
                      </m:sSup>
                    </m:oMath>
                  </m:oMathPara>
                </a14:m>
                <a:endParaRPr lang="zh-CN" altLang="en-US" dirty="0"/>
              </a:p>
            </p:txBody>
          </p:sp>
        </mc:Choice>
        <mc:Fallback xmlns="">
          <p:sp>
            <p:nvSpPr>
              <p:cNvPr id="9271" name="Object 55"/>
              <p:cNvSpPr txBox="1">
                <a:spLocks noRot="1" noChangeAspect="1" noMove="1" noResize="1" noEditPoints="1" noAdjustHandles="1" noChangeArrowheads="1" noChangeShapeType="1" noTextEdit="1"/>
              </p:cNvSpPr>
              <p:nvPr/>
            </p:nvSpPr>
            <p:spPr bwMode="auto">
              <a:xfrm>
                <a:off x="7962900" y="3081338"/>
                <a:ext cx="342900" cy="295275"/>
              </a:xfrm>
              <a:prstGeom prst="rect">
                <a:avLst/>
              </a:prstGeom>
              <a:blipFill>
                <a:blip r:embed="rId14"/>
                <a:stretch>
                  <a:fillRect r="-3509"/>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p:cNvSpPr txBox="1"/>
              <p:nvPr/>
            </p:nvSpPr>
            <p:spPr>
              <a:xfrm>
                <a:off x="334566" y="1294519"/>
                <a:ext cx="4150995" cy="3999365"/>
              </a:xfrm>
              <a:prstGeom prst="rect">
                <a:avLst/>
              </a:prstGeom>
              <a:noFill/>
            </p:spPr>
            <p:txBody>
              <a:bodyPr wrap="square" rtlCol="0">
                <a:spAutoFit/>
              </a:bodyPr>
              <a:lstStyle/>
              <a:p>
                <a:pPr algn="just" fontAlgn="auto">
                  <a:lnSpc>
                    <a:spcPct val="150000"/>
                  </a:lnSpc>
                </a:pPr>
                <a:r>
                  <a:rPr lang="en-US" altLang="zh-CN" sz="2000" dirty="0"/>
                  <a:t>        </a:t>
                </a:r>
                <a:r>
                  <a:rPr lang="zh-CN" altLang="en-US" sz="2000" dirty="0"/>
                  <a:t>以</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b="0" i="1" smtClean="0">
                            <a:latin typeface="Cambria Math" panose="02040503050406030204" pitchFamily="18" charset="0"/>
                          </a:rPr>
                          <m:t>1</m:t>
                        </m:r>
                      </m:sub>
                    </m:sSub>
                  </m:oMath>
                </a14:m>
                <a:r>
                  <a:rPr lang="zh-CN" altLang="en-US" sz="2000" dirty="0">
                    <a:latin typeface="Cambria Math" panose="02040503050406030204" pitchFamily="18" charset="0"/>
                    <a:cs typeface="Cambria Math" panose="02040503050406030204" pitchFamily="18" charset="0"/>
                  </a:rPr>
                  <a:t>为起点进行下一轮轴向搜索，所得的点仍记为</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oMath>
                </a14:m>
                <a:r>
                  <a:rPr lang="zh-CN" altLang="en-US" sz="2000" dirty="0">
                    <a:latin typeface="Cambria Math" panose="02040503050406030204" pitchFamily="18" charset="0"/>
                    <a:cs typeface="Cambria Math" panose="02040503050406030204" pitchFamily="18" charset="0"/>
                  </a:rPr>
                  <a:t>。</a:t>
                </a:r>
              </a:p>
              <a:p>
                <a:pPr algn="just" fontAlgn="auto">
                  <a:lnSpc>
                    <a:spcPct val="150000"/>
                  </a:lnSpc>
                </a:pPr>
                <a:r>
                  <a:rPr lang="en-US" altLang="zh-CN" sz="2000" dirty="0">
                    <a:latin typeface="Cambria Math" panose="02040503050406030204" pitchFamily="18" charset="0"/>
                    <a:cs typeface="Cambria Math" panose="02040503050406030204" pitchFamily="18" charset="0"/>
                  </a:rPr>
                  <a:t>        </a:t>
                </a:r>
                <a:r>
                  <a:rPr lang="zh-CN" altLang="en-US" sz="2000" dirty="0">
                    <a:latin typeface="Cambria Math" panose="02040503050406030204" pitchFamily="18" charset="0"/>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cs typeface="Cambria Math" panose="02040503050406030204" pitchFamily="18" charset="0"/>
                      </a:rPr>
                      <m:t>𝑓</m:t>
                    </m:r>
                    <m:d>
                      <m:dPr>
                        <m:ctrlPr>
                          <a:rPr lang="en-US" altLang="zh-CN" sz="2000" i="1">
                            <a:latin typeface="Cambria Math" panose="02040503050406030204" pitchFamily="18" charset="0"/>
                            <a:cs typeface="Cambria Math" panose="02040503050406030204" pitchFamily="18" charset="0"/>
                          </a:rPr>
                        </m:ctrlPr>
                      </m:dPr>
                      <m:e>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e>
                    </m:d>
                    <m:r>
                      <a:rPr lang="en-US" altLang="zh-CN" sz="2000" i="1">
                        <a:latin typeface="Cambria Math" panose="02040503050406030204" pitchFamily="18" charset="0"/>
                        <a:cs typeface="Cambria Math" panose="02040503050406030204" pitchFamily="18" charset="0"/>
                      </a:rPr>
                      <m:t>&lt;</m:t>
                    </m:r>
                    <m:r>
                      <a:rPr lang="en-US" altLang="zh-CN" sz="2000" i="1">
                        <a:latin typeface="Cambria Math" panose="02040503050406030204" pitchFamily="18" charset="0"/>
                        <a:cs typeface="Cambria Math" panose="02040503050406030204" pitchFamily="18" charset="0"/>
                      </a:rPr>
                      <m:t>𝑓</m:t>
                    </m:r>
                    <m:d>
                      <m:dPr>
                        <m:ctrlPr>
                          <a:rPr lang="en-US" altLang="zh-CN" sz="2000" i="1">
                            <a:latin typeface="Cambria Math" panose="02040503050406030204" pitchFamily="18" charset="0"/>
                            <a:cs typeface="Cambria Math" panose="02040503050406030204" pitchFamily="18" charset="0"/>
                          </a:rPr>
                        </m:ctrlPr>
                      </m:dPr>
                      <m:e>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e>
                    </m:d>
                  </m:oMath>
                </a14:m>
                <a:r>
                  <a:rPr lang="zh-CN" altLang="en-US" sz="2000" dirty="0">
                    <a:latin typeface="Cambria Math" panose="02040503050406030204" pitchFamily="18" charset="0"/>
                    <a:cs typeface="Cambria Math" panose="02040503050406030204" pitchFamily="18" charset="0"/>
                  </a:rPr>
                  <a:t>，表明此次模式搜索成功，令</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(3)</m:t>
                        </m:r>
                      </m:sup>
                    </m:sSup>
                    <m:r>
                      <a:rPr lang="en-US" altLang="zh-CN" sz="2000" i="1">
                        <a:latin typeface="Cambria Math" panose="02040503050406030204" pitchFamily="18" charset="0"/>
                        <a:cs typeface="Cambria Math" panose="02040503050406030204" pitchFamily="18" charset="0"/>
                      </a:rPr>
                      <m:t>=</m:t>
                    </m:r>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oMath>
                </a14:m>
                <a:r>
                  <a:rPr lang="zh-CN" altLang="en-US" sz="2000" dirty="0">
                    <a:latin typeface="Cambria Math" panose="02040503050406030204" pitchFamily="18" charset="0"/>
                    <a:cs typeface="Cambria Math" panose="02040503050406030204" pitchFamily="18" charset="0"/>
                  </a:rPr>
                  <a:t>。再开始新的轴向搜索。</a:t>
                </a:r>
              </a:p>
              <a:p>
                <a:pPr algn="just" fontAlgn="auto">
                  <a:lnSpc>
                    <a:spcPct val="150000"/>
                  </a:lnSpc>
                </a:pPr>
                <a:r>
                  <a:rPr lang="en-US" altLang="zh-CN" sz="2000" dirty="0">
                    <a:latin typeface="Cambria Math" panose="02040503050406030204" pitchFamily="18" charset="0"/>
                    <a:cs typeface="Cambria Math" panose="02040503050406030204" pitchFamily="18" charset="0"/>
                  </a:rPr>
                  <a:t>        </a:t>
                </a:r>
                <a:r>
                  <a:rPr lang="zh-CN" altLang="en-US" sz="2000" dirty="0">
                    <a:latin typeface="Cambria Math" panose="02040503050406030204" pitchFamily="18" charset="0"/>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cs typeface="Cambria Math" panose="02040503050406030204" pitchFamily="18" charset="0"/>
                      </a:rPr>
                      <m:t>𝑓</m:t>
                    </m:r>
                    <m:d>
                      <m:dPr>
                        <m:ctrlPr>
                          <a:rPr lang="en-US" altLang="zh-CN" sz="2000" i="1">
                            <a:latin typeface="Cambria Math" panose="02040503050406030204" pitchFamily="18" charset="0"/>
                            <a:cs typeface="Cambria Math" panose="02040503050406030204" pitchFamily="18" charset="0"/>
                          </a:rPr>
                        </m:ctrlPr>
                      </m:dPr>
                      <m:e>
                        <m:sSup>
                          <m:sSupPr>
                            <m:ctrlPr>
                              <a:rPr lang="en-US" altLang="zh-CN" sz="2000" i="1">
                                <a:latin typeface="Cambria Math" panose="02040503050406030204" pitchFamily="18" charset="0"/>
                                <a:cs typeface="Cambria Math" panose="02040503050406030204" pitchFamily="18" charset="0"/>
                              </a:rPr>
                            </m:ctrlPr>
                          </m:sSupPr>
                          <m:e>
                            <m:r>
                              <a:rPr lang="en-US" altLang="zh-CN" sz="2000" b="0" i="1" smtClean="0">
                                <a:latin typeface="Cambria Math" panose="02040503050406030204" pitchFamily="18" charset="0"/>
                                <a:cs typeface="Cambria Math" panose="02040503050406030204" pitchFamily="18" charset="0"/>
                              </a:rPr>
                              <m:t>𝑡</m:t>
                            </m:r>
                          </m:e>
                          <m: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𝑛</m:t>
                            </m:r>
                            <m:r>
                              <a:rPr lang="en-US" altLang="zh-CN" sz="2000" i="1">
                                <a:latin typeface="Cambria Math" panose="02040503050406030204" pitchFamily="18" charset="0"/>
                                <a:cs typeface="Cambria Math" panose="02040503050406030204" pitchFamily="18" charset="0"/>
                              </a:rPr>
                              <m:t>+1)</m:t>
                            </m:r>
                          </m:sup>
                        </m:sSup>
                      </m:e>
                    </m:d>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𝑓</m:t>
                    </m:r>
                    <m:d>
                      <m:dPr>
                        <m:ctrlPr>
                          <a:rPr lang="en-US" altLang="zh-CN" sz="2000" i="1">
                            <a:latin typeface="Cambria Math" panose="02040503050406030204" pitchFamily="18" charset="0"/>
                            <a:cs typeface="Cambria Math" panose="02040503050406030204" pitchFamily="18" charset="0"/>
                          </a:rPr>
                        </m:ctrlPr>
                      </m:dPr>
                      <m:e>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e>
                    </m:d>
                  </m:oMath>
                </a14:m>
                <a:r>
                  <a:rPr lang="zh-CN" altLang="en-US" sz="2000" dirty="0">
                    <a:latin typeface="Cambria Math" panose="02040503050406030204" pitchFamily="18" charset="0"/>
                    <a:cs typeface="Cambria Math" panose="02040503050406030204" pitchFamily="18" charset="0"/>
                  </a:rPr>
                  <a:t>，表示此次模式搜索失败，返回迭代点</a:t>
                </a:r>
                <a14:m>
                  <m:oMath xmlns:m="http://schemas.openxmlformats.org/officeDocument/2006/math">
                    <m:sSup>
                      <m:sSupPr>
                        <m:ctrlPr>
                          <a:rPr lang="en-US" altLang="zh-CN" sz="2000" i="1">
                            <a:latin typeface="Cambria Math" panose="02040503050406030204" pitchFamily="18" charset="0"/>
                            <a:cs typeface="Cambria Math" panose="02040503050406030204" pitchFamily="18" charset="0"/>
                          </a:rPr>
                        </m:ctrlPr>
                      </m:sSupPr>
                      <m:e>
                        <m:r>
                          <a:rPr lang="en-US" altLang="zh-CN" sz="2000" i="1">
                            <a:latin typeface="Cambria Math" panose="02040503050406030204" pitchFamily="18" charset="0"/>
                            <a:cs typeface="Cambria Math" panose="02040503050406030204" pitchFamily="18" charset="0"/>
                          </a:rPr>
                          <m:t>𝑥</m:t>
                        </m:r>
                      </m:e>
                      <m:sup>
                        <m:r>
                          <a:rPr lang="en-US" altLang="zh-CN" sz="2000" i="1">
                            <a:latin typeface="Cambria Math" panose="02040503050406030204" pitchFamily="18" charset="0"/>
                            <a:cs typeface="Cambria Math" panose="02040503050406030204" pitchFamily="18" charset="0"/>
                          </a:rPr>
                          <m:t>(2)</m:t>
                        </m:r>
                      </m:sup>
                    </m:sSup>
                  </m:oMath>
                </a14:m>
                <a:r>
                  <a:rPr lang="zh-CN" altLang="en-US" sz="2000" dirty="0">
                    <a:latin typeface="Cambria Math" panose="02040503050406030204" pitchFamily="18" charset="0"/>
                    <a:cs typeface="Cambria Math" panose="02040503050406030204" pitchFamily="18" charset="0"/>
                  </a:rPr>
                  <a:t>，进行下一轮轴向搜索。</a:t>
                </a:r>
              </a:p>
            </p:txBody>
          </p:sp>
        </mc:Choice>
        <mc:Fallback xmlns="">
          <p:sp>
            <p:nvSpPr>
              <p:cNvPr id="21" name="文本框 20"/>
              <p:cNvSpPr txBox="1">
                <a:spLocks noRot="1" noChangeAspect="1" noMove="1" noResize="1" noEditPoints="1" noAdjustHandles="1" noChangeArrowheads="1" noChangeShapeType="1" noTextEdit="1"/>
              </p:cNvSpPr>
              <p:nvPr/>
            </p:nvSpPr>
            <p:spPr>
              <a:xfrm>
                <a:off x="334566" y="1294519"/>
                <a:ext cx="4150995" cy="3999365"/>
              </a:xfrm>
              <a:prstGeom prst="rect">
                <a:avLst/>
              </a:prstGeom>
              <a:blipFill>
                <a:blip r:embed="rId15"/>
                <a:stretch>
                  <a:fillRect l="-1615" r="-7636"/>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247"/>
                                        </p:tgtEl>
                                        <p:attrNameLst>
                                          <p:attrName>style.visibility</p:attrName>
                                        </p:attrNameLst>
                                      </p:cBhvr>
                                      <p:to>
                                        <p:strVal val="visible"/>
                                      </p:to>
                                    </p:set>
                                    <p:animEffect transition="in" filter="blinds(horizontal)">
                                      <p:cBhvr>
                                        <p:cTn id="7" dur="500"/>
                                        <p:tgtEl>
                                          <p:spTgt spid="9247"/>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9248"/>
                                        </p:tgtEl>
                                        <p:attrNameLst>
                                          <p:attrName>style.visibility</p:attrName>
                                        </p:attrNameLst>
                                      </p:cBhvr>
                                      <p:to>
                                        <p:strVal val="visible"/>
                                      </p:to>
                                    </p:set>
                                    <p:animEffect transition="in" filter="blinds(horizontal)">
                                      <p:cBhvr>
                                        <p:cTn id="11" dur="500"/>
                                        <p:tgtEl>
                                          <p:spTgt spid="9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Oval 2"/>
          <p:cNvSpPr>
            <a:spLocks noChangeArrowheads="1"/>
          </p:cNvSpPr>
          <p:nvPr/>
        </p:nvSpPr>
        <p:spPr bwMode="auto">
          <a:xfrm>
            <a:off x="4914900" y="3257550"/>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43" name="Oval 3"/>
          <p:cNvSpPr>
            <a:spLocks noChangeArrowheads="1"/>
          </p:cNvSpPr>
          <p:nvPr/>
        </p:nvSpPr>
        <p:spPr bwMode="auto">
          <a:xfrm>
            <a:off x="4514850" y="3200400"/>
            <a:ext cx="800100" cy="17145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45" name="Oval 5"/>
          <p:cNvSpPr>
            <a:spLocks noChangeArrowheads="1"/>
          </p:cNvSpPr>
          <p:nvPr/>
        </p:nvSpPr>
        <p:spPr bwMode="auto">
          <a:xfrm>
            <a:off x="4229100" y="3086100"/>
            <a:ext cx="1371600" cy="40005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46" name="Oval 6"/>
          <p:cNvSpPr>
            <a:spLocks noChangeArrowheads="1"/>
          </p:cNvSpPr>
          <p:nvPr/>
        </p:nvSpPr>
        <p:spPr bwMode="auto">
          <a:xfrm>
            <a:off x="3771900" y="2971800"/>
            <a:ext cx="2228850" cy="68580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47" name="Oval 7"/>
          <p:cNvSpPr>
            <a:spLocks noChangeArrowheads="1"/>
          </p:cNvSpPr>
          <p:nvPr/>
        </p:nvSpPr>
        <p:spPr bwMode="auto">
          <a:xfrm>
            <a:off x="3257550" y="2800350"/>
            <a:ext cx="3143250" cy="102870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aphicFrame>
        <p:nvGraphicFramePr>
          <p:cNvPr id="10248" name="Object 8"/>
          <p:cNvGraphicFramePr>
            <a:graphicFrameLocks noChangeAspect="1"/>
          </p:cNvGraphicFramePr>
          <p:nvPr/>
        </p:nvGraphicFramePr>
        <p:xfrm>
          <a:off x="5086350" y="3143250"/>
          <a:ext cx="152400" cy="228600"/>
        </p:xfrm>
        <a:graphic>
          <a:graphicData uri="http://schemas.openxmlformats.org/presentationml/2006/ole">
            <mc:AlternateContent xmlns:mc="http://schemas.openxmlformats.org/markup-compatibility/2006">
              <mc:Choice xmlns:v="urn:schemas-microsoft-com:vml" Requires="v">
                <p:oleObj name="Equation" r:id="rId2" imgW="203200" imgH="304800" progId="Equation.3">
                  <p:embed/>
                </p:oleObj>
              </mc:Choice>
              <mc:Fallback>
                <p:oleObj name="Equation" r:id="rId2" imgW="203200" imgH="3048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6350" y="3143250"/>
                        <a:ext cx="1524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0" name="Oval 10"/>
          <p:cNvSpPr>
            <a:spLocks noChangeArrowheads="1"/>
          </p:cNvSpPr>
          <p:nvPr/>
        </p:nvSpPr>
        <p:spPr bwMode="auto">
          <a:xfrm>
            <a:off x="2171700" y="2114550"/>
            <a:ext cx="5314950" cy="234315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51" name="Oval 11"/>
          <p:cNvSpPr>
            <a:spLocks noChangeArrowheads="1"/>
          </p:cNvSpPr>
          <p:nvPr/>
        </p:nvSpPr>
        <p:spPr bwMode="auto">
          <a:xfrm>
            <a:off x="1657350" y="1828800"/>
            <a:ext cx="6229350" cy="297180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52" name="Oval 12"/>
          <p:cNvSpPr>
            <a:spLocks noChangeArrowheads="1"/>
          </p:cNvSpPr>
          <p:nvPr/>
        </p:nvSpPr>
        <p:spPr bwMode="auto">
          <a:xfrm>
            <a:off x="1885950" y="3882629"/>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54" name="Line 14"/>
          <p:cNvSpPr>
            <a:spLocks noChangeShapeType="1"/>
          </p:cNvSpPr>
          <p:nvPr/>
        </p:nvSpPr>
        <p:spPr bwMode="auto">
          <a:xfrm>
            <a:off x="1943100" y="3914775"/>
            <a:ext cx="2857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55" name="Line 15"/>
          <p:cNvSpPr>
            <a:spLocks noChangeShapeType="1"/>
          </p:cNvSpPr>
          <p:nvPr/>
        </p:nvSpPr>
        <p:spPr bwMode="auto">
          <a:xfrm flipV="1">
            <a:off x="2228850" y="3543300"/>
            <a:ext cx="0" cy="4000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56" name="Oval 16"/>
          <p:cNvSpPr>
            <a:spLocks noChangeArrowheads="1"/>
          </p:cNvSpPr>
          <p:nvPr/>
        </p:nvSpPr>
        <p:spPr bwMode="auto">
          <a:xfrm flipH="1" flipV="1">
            <a:off x="2200275" y="3486150"/>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61" name="Oval 21"/>
          <p:cNvSpPr>
            <a:spLocks noChangeArrowheads="1"/>
          </p:cNvSpPr>
          <p:nvPr/>
        </p:nvSpPr>
        <p:spPr bwMode="auto">
          <a:xfrm>
            <a:off x="2514600" y="2343150"/>
            <a:ext cx="4743450" cy="188595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aphicFrame>
        <p:nvGraphicFramePr>
          <p:cNvPr id="10264" name="Object 24"/>
          <p:cNvGraphicFramePr>
            <a:graphicFrameLocks noChangeAspect="1"/>
          </p:cNvGraphicFramePr>
          <p:nvPr/>
        </p:nvGraphicFramePr>
        <p:xfrm>
          <a:off x="1714501" y="3921721"/>
          <a:ext cx="285749" cy="254000"/>
        </p:xfrm>
        <a:graphic>
          <a:graphicData uri="http://schemas.openxmlformats.org/presentationml/2006/ole">
            <mc:AlternateContent xmlns:mc="http://schemas.openxmlformats.org/markup-compatibility/2006">
              <mc:Choice xmlns:v="urn:schemas-microsoft-com:vml" Requires="v">
                <p:oleObj name="Equation" r:id="rId4" imgW="5486400" imgH="4876800" progId="Equation.DSMT4">
                  <p:embed/>
                </p:oleObj>
              </mc:Choice>
              <mc:Fallback>
                <p:oleObj name="Equation" r:id="rId4" imgW="5486400" imgH="4876800" progId="Equation.DSMT4">
                  <p:embed/>
                  <p:pic>
                    <p:nvPicPr>
                      <p:cNvPr id="0" name="Object 24"/>
                      <p:cNvPicPr>
                        <a:picLocks noChangeAspect="1" noChangeArrowheads="1"/>
                      </p:cNvPicPr>
                      <p:nvPr/>
                    </p:nvPicPr>
                    <p:blipFill>
                      <a:blip r:embed="rId5"/>
                      <a:srcRect/>
                      <a:stretch>
                        <a:fillRect/>
                      </a:stretch>
                    </p:blipFill>
                    <p:spPr bwMode="auto">
                      <a:xfrm>
                        <a:off x="1714501" y="3921721"/>
                        <a:ext cx="285749" cy="254000"/>
                      </a:xfrm>
                      <a:prstGeom prst="rect">
                        <a:avLst/>
                      </a:prstGeom>
                      <a:noFill/>
                      <a:ln>
                        <a:noFill/>
                      </a:ln>
                      <a:effectLst/>
                    </p:spPr>
                  </p:pic>
                </p:oleObj>
              </mc:Fallback>
            </mc:AlternateContent>
          </a:graphicData>
        </a:graphic>
      </p:graphicFrame>
      <p:sp>
        <p:nvSpPr>
          <p:cNvPr id="10265" name="Line 25"/>
          <p:cNvSpPr>
            <a:spLocks noChangeShapeType="1"/>
          </p:cNvSpPr>
          <p:nvPr/>
        </p:nvSpPr>
        <p:spPr bwMode="auto">
          <a:xfrm flipV="1">
            <a:off x="1943100" y="3086100"/>
            <a:ext cx="628650" cy="8001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graphicFrame>
        <p:nvGraphicFramePr>
          <p:cNvPr id="10266" name="Object 26"/>
          <p:cNvGraphicFramePr>
            <a:graphicFrameLocks noChangeAspect="1"/>
          </p:cNvGraphicFramePr>
          <p:nvPr/>
        </p:nvGraphicFramePr>
        <p:xfrm>
          <a:off x="1923545" y="3339705"/>
          <a:ext cx="272641" cy="229592"/>
        </p:xfrm>
        <a:graphic>
          <a:graphicData uri="http://schemas.openxmlformats.org/presentationml/2006/ole">
            <mc:AlternateContent xmlns:mc="http://schemas.openxmlformats.org/markup-compatibility/2006">
              <mc:Choice xmlns:v="urn:schemas-microsoft-com:vml" Requires="v">
                <p:oleObj name="Equation" r:id="rId6" imgW="5791200" imgH="4876800" progId="Equation.DSMT4">
                  <p:embed/>
                </p:oleObj>
              </mc:Choice>
              <mc:Fallback>
                <p:oleObj name="Equation" r:id="rId6" imgW="5791200" imgH="4876800" progId="Equation.DSMT4">
                  <p:embed/>
                  <p:pic>
                    <p:nvPicPr>
                      <p:cNvPr id="0" name="Object 26"/>
                      <p:cNvPicPr>
                        <a:picLocks noChangeAspect="1" noChangeArrowheads="1"/>
                      </p:cNvPicPr>
                      <p:nvPr/>
                    </p:nvPicPr>
                    <p:blipFill>
                      <a:blip r:embed="rId7"/>
                      <a:srcRect/>
                      <a:stretch>
                        <a:fillRect/>
                      </a:stretch>
                    </p:blipFill>
                    <p:spPr bwMode="auto">
                      <a:xfrm>
                        <a:off x="1923545" y="3339705"/>
                        <a:ext cx="272641" cy="229592"/>
                      </a:xfrm>
                      <a:prstGeom prst="rect">
                        <a:avLst/>
                      </a:prstGeom>
                      <a:noFill/>
                      <a:ln>
                        <a:noFill/>
                      </a:ln>
                      <a:effectLst/>
                    </p:spPr>
                  </p:pic>
                </p:oleObj>
              </mc:Fallback>
            </mc:AlternateContent>
          </a:graphicData>
        </a:graphic>
      </p:graphicFrame>
      <p:sp>
        <p:nvSpPr>
          <p:cNvPr id="10267" name="Oval 27"/>
          <p:cNvSpPr>
            <a:spLocks noChangeArrowheads="1"/>
          </p:cNvSpPr>
          <p:nvPr/>
        </p:nvSpPr>
        <p:spPr bwMode="auto">
          <a:xfrm flipV="1">
            <a:off x="2571750" y="3028950"/>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70" name="Oval 30"/>
          <p:cNvSpPr>
            <a:spLocks noChangeArrowheads="1"/>
          </p:cNvSpPr>
          <p:nvPr/>
        </p:nvSpPr>
        <p:spPr bwMode="auto">
          <a:xfrm>
            <a:off x="2800350" y="2628900"/>
            <a:ext cx="4171950" cy="1371600"/>
          </a:xfrm>
          <a:prstGeom prst="ellipse">
            <a:avLst/>
          </a:prstGeom>
          <a:noFill/>
          <a:ln w="9525">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72" name="Line 32"/>
          <p:cNvSpPr>
            <a:spLocks noChangeShapeType="1"/>
          </p:cNvSpPr>
          <p:nvPr/>
        </p:nvSpPr>
        <p:spPr bwMode="auto">
          <a:xfrm>
            <a:off x="2628900" y="3058716"/>
            <a:ext cx="17145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73" name="Line 33"/>
          <p:cNvSpPr>
            <a:spLocks noChangeShapeType="1"/>
          </p:cNvSpPr>
          <p:nvPr/>
        </p:nvSpPr>
        <p:spPr bwMode="auto">
          <a:xfrm>
            <a:off x="2800350" y="3028950"/>
            <a:ext cx="0" cy="2857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74" name="Oval 34"/>
          <p:cNvSpPr>
            <a:spLocks noChangeArrowheads="1"/>
          </p:cNvSpPr>
          <p:nvPr/>
        </p:nvSpPr>
        <p:spPr bwMode="auto">
          <a:xfrm>
            <a:off x="2772966" y="3314700"/>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75" name="Line 35"/>
          <p:cNvSpPr>
            <a:spLocks noChangeShapeType="1"/>
          </p:cNvSpPr>
          <p:nvPr/>
        </p:nvSpPr>
        <p:spPr bwMode="auto">
          <a:xfrm flipV="1">
            <a:off x="2228850" y="3226594"/>
            <a:ext cx="1028700" cy="28575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76" name="Oval 36"/>
          <p:cNvSpPr>
            <a:spLocks noChangeArrowheads="1"/>
          </p:cNvSpPr>
          <p:nvPr/>
        </p:nvSpPr>
        <p:spPr bwMode="auto">
          <a:xfrm>
            <a:off x="3257550" y="3200400"/>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graphicFrame>
        <p:nvGraphicFramePr>
          <p:cNvPr id="10277" name="Object 37"/>
          <p:cNvGraphicFramePr>
            <a:graphicFrameLocks noChangeAspect="1"/>
          </p:cNvGraphicFramePr>
          <p:nvPr/>
        </p:nvGraphicFramePr>
        <p:xfrm>
          <a:off x="2657902" y="3403544"/>
          <a:ext cx="210851" cy="283369"/>
        </p:xfrm>
        <a:graphic>
          <a:graphicData uri="http://schemas.openxmlformats.org/presentationml/2006/ole">
            <mc:AlternateContent xmlns:mc="http://schemas.openxmlformats.org/markup-compatibility/2006">
              <mc:Choice xmlns:v="urn:schemas-microsoft-com:vml" Requires="v">
                <p:oleObj name="Equation" r:id="rId8" imgW="5791200" imgH="4876800" progId="Equation.DSMT4">
                  <p:embed/>
                </p:oleObj>
              </mc:Choice>
              <mc:Fallback>
                <p:oleObj name="Equation" r:id="rId8" imgW="5791200" imgH="4876800" progId="Equation.DSMT4">
                  <p:embed/>
                  <p:pic>
                    <p:nvPicPr>
                      <p:cNvPr id="0" name="Object 37"/>
                      <p:cNvPicPr>
                        <a:picLocks noChangeAspect="1" noChangeArrowheads="1"/>
                      </p:cNvPicPr>
                      <p:nvPr/>
                    </p:nvPicPr>
                    <p:blipFill>
                      <a:blip r:embed="rId9"/>
                      <a:srcRect/>
                      <a:stretch>
                        <a:fillRect/>
                      </a:stretch>
                    </p:blipFill>
                    <p:spPr bwMode="auto">
                      <a:xfrm>
                        <a:off x="2657902" y="3403544"/>
                        <a:ext cx="210851" cy="283369"/>
                      </a:xfrm>
                      <a:prstGeom prst="rect">
                        <a:avLst/>
                      </a:prstGeom>
                      <a:noFill/>
                      <a:ln>
                        <a:noFill/>
                      </a:ln>
                      <a:effectLst/>
                    </p:spPr>
                  </p:pic>
                </p:oleObj>
              </mc:Fallback>
            </mc:AlternateContent>
          </a:graphicData>
        </a:graphic>
      </p:graphicFrame>
      <p:sp>
        <p:nvSpPr>
          <p:cNvPr id="10279" name="Line 39"/>
          <p:cNvSpPr>
            <a:spLocks noChangeShapeType="1"/>
          </p:cNvSpPr>
          <p:nvPr/>
        </p:nvSpPr>
        <p:spPr bwMode="auto">
          <a:xfrm>
            <a:off x="3314700" y="3226594"/>
            <a:ext cx="457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80" name="Line 40"/>
          <p:cNvSpPr>
            <a:spLocks noChangeShapeType="1"/>
          </p:cNvSpPr>
          <p:nvPr/>
        </p:nvSpPr>
        <p:spPr bwMode="auto">
          <a:xfrm flipV="1">
            <a:off x="3771900" y="2857500"/>
            <a:ext cx="0" cy="34290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81" name="Line 41"/>
          <p:cNvSpPr>
            <a:spLocks noChangeShapeType="1"/>
          </p:cNvSpPr>
          <p:nvPr/>
        </p:nvSpPr>
        <p:spPr bwMode="auto">
          <a:xfrm>
            <a:off x="3771900" y="3314700"/>
            <a:ext cx="0" cy="285750"/>
          </a:xfrm>
          <a:prstGeom prst="line">
            <a:avLst/>
          </a:prstGeom>
          <a:noFill/>
          <a:ln w="9525">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82" name="Oval 42"/>
          <p:cNvSpPr>
            <a:spLocks noChangeArrowheads="1"/>
          </p:cNvSpPr>
          <p:nvPr/>
        </p:nvSpPr>
        <p:spPr bwMode="auto">
          <a:xfrm flipH="1" flipV="1">
            <a:off x="3744516" y="3200400"/>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
        <p:nvSpPr>
          <p:cNvPr id="10286" name="Line 46"/>
          <p:cNvSpPr>
            <a:spLocks noChangeShapeType="1"/>
          </p:cNvSpPr>
          <p:nvPr/>
        </p:nvSpPr>
        <p:spPr bwMode="auto">
          <a:xfrm flipV="1">
            <a:off x="2856312" y="3200401"/>
            <a:ext cx="1429939" cy="14525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50"/>
          </a:p>
        </p:txBody>
      </p:sp>
      <p:sp>
        <p:nvSpPr>
          <p:cNvPr id="10287" name="Oval 47"/>
          <p:cNvSpPr>
            <a:spLocks noChangeArrowheads="1"/>
          </p:cNvSpPr>
          <p:nvPr/>
        </p:nvSpPr>
        <p:spPr bwMode="auto">
          <a:xfrm flipV="1">
            <a:off x="4257675" y="3143250"/>
            <a:ext cx="57150" cy="5715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blinds(horizontal)">
                                      <p:cBhvr>
                                        <p:cTn id="7" dur="500"/>
                                        <p:tgtEl>
                                          <p:spTgt spid="10242"/>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10248"/>
                                        </p:tgtEl>
                                        <p:attrNameLst>
                                          <p:attrName>style.visibility</p:attrName>
                                        </p:attrNameLst>
                                      </p:cBhvr>
                                      <p:to>
                                        <p:strVal val="visible"/>
                                      </p:to>
                                    </p:set>
                                    <p:animEffect transition="in" filter="barn(outVertical)">
                                      <p:cBhvr>
                                        <p:cTn id="11" dur="500"/>
                                        <p:tgtEl>
                                          <p:spTgt spid="10248"/>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grpId="0" nodeType="clickEffect">
                                  <p:stCondLst>
                                    <p:cond delay="0"/>
                                  </p:stCondLst>
                                  <p:childTnLst>
                                    <p:set>
                                      <p:cBhvr>
                                        <p:cTn id="15" dur="1" fill="hold">
                                          <p:stCondLst>
                                            <p:cond delay="0"/>
                                          </p:stCondLst>
                                        </p:cTn>
                                        <p:tgtEl>
                                          <p:spTgt spid="10243"/>
                                        </p:tgtEl>
                                        <p:attrNameLst>
                                          <p:attrName>style.visibility</p:attrName>
                                        </p:attrNameLst>
                                      </p:cBhvr>
                                      <p:to>
                                        <p:strVal val="visible"/>
                                      </p:to>
                                    </p:set>
                                    <p:animEffect transition="in" filter="barn(outVertical)">
                                      <p:cBhvr>
                                        <p:cTn id="16" dur="500"/>
                                        <p:tgtEl>
                                          <p:spTgt spid="10243"/>
                                        </p:tgtEl>
                                      </p:cBhvr>
                                    </p:animEffect>
                                  </p:childTnLst>
                                </p:cTn>
                              </p:par>
                            </p:childTnLst>
                          </p:cTn>
                        </p:par>
                        <p:par>
                          <p:cTn id="17" fill="hold">
                            <p:stCondLst>
                              <p:cond delay="500"/>
                            </p:stCondLst>
                            <p:childTnLst>
                              <p:par>
                                <p:cTn id="18" presetID="16" presetClass="entr" presetSubtype="37" fill="hold" grpId="0" nodeType="afterEffect">
                                  <p:stCondLst>
                                    <p:cond delay="0"/>
                                  </p:stCondLst>
                                  <p:childTnLst>
                                    <p:set>
                                      <p:cBhvr>
                                        <p:cTn id="19" dur="1" fill="hold">
                                          <p:stCondLst>
                                            <p:cond delay="0"/>
                                          </p:stCondLst>
                                        </p:cTn>
                                        <p:tgtEl>
                                          <p:spTgt spid="10245"/>
                                        </p:tgtEl>
                                        <p:attrNameLst>
                                          <p:attrName>style.visibility</p:attrName>
                                        </p:attrNameLst>
                                      </p:cBhvr>
                                      <p:to>
                                        <p:strVal val="visible"/>
                                      </p:to>
                                    </p:set>
                                    <p:animEffect transition="in" filter="barn(outVertical)">
                                      <p:cBhvr>
                                        <p:cTn id="20" dur="500"/>
                                        <p:tgtEl>
                                          <p:spTgt spid="10245"/>
                                        </p:tgtEl>
                                      </p:cBhvr>
                                    </p:animEffect>
                                  </p:childTnLst>
                                </p:cTn>
                              </p:par>
                            </p:childTnLst>
                          </p:cTn>
                        </p:par>
                        <p:par>
                          <p:cTn id="21" fill="hold">
                            <p:stCondLst>
                              <p:cond delay="1000"/>
                            </p:stCondLst>
                            <p:childTnLst>
                              <p:par>
                                <p:cTn id="22" presetID="16" presetClass="entr" presetSubtype="37" fill="hold" grpId="0" nodeType="afterEffect">
                                  <p:stCondLst>
                                    <p:cond delay="0"/>
                                  </p:stCondLst>
                                  <p:childTnLst>
                                    <p:set>
                                      <p:cBhvr>
                                        <p:cTn id="23" dur="1" fill="hold">
                                          <p:stCondLst>
                                            <p:cond delay="0"/>
                                          </p:stCondLst>
                                        </p:cTn>
                                        <p:tgtEl>
                                          <p:spTgt spid="10246"/>
                                        </p:tgtEl>
                                        <p:attrNameLst>
                                          <p:attrName>style.visibility</p:attrName>
                                        </p:attrNameLst>
                                      </p:cBhvr>
                                      <p:to>
                                        <p:strVal val="visible"/>
                                      </p:to>
                                    </p:set>
                                    <p:animEffect transition="in" filter="barn(outVertical)">
                                      <p:cBhvr>
                                        <p:cTn id="24" dur="500"/>
                                        <p:tgtEl>
                                          <p:spTgt spid="10246"/>
                                        </p:tgtEl>
                                      </p:cBhvr>
                                    </p:animEffect>
                                  </p:childTnLst>
                                </p:cTn>
                              </p:par>
                            </p:childTnLst>
                          </p:cTn>
                        </p:par>
                        <p:par>
                          <p:cTn id="25" fill="hold">
                            <p:stCondLst>
                              <p:cond delay="1500"/>
                            </p:stCondLst>
                            <p:childTnLst>
                              <p:par>
                                <p:cTn id="26" presetID="16" presetClass="entr" presetSubtype="37" fill="hold" grpId="0" nodeType="afterEffect">
                                  <p:stCondLst>
                                    <p:cond delay="0"/>
                                  </p:stCondLst>
                                  <p:childTnLst>
                                    <p:set>
                                      <p:cBhvr>
                                        <p:cTn id="27" dur="1" fill="hold">
                                          <p:stCondLst>
                                            <p:cond delay="0"/>
                                          </p:stCondLst>
                                        </p:cTn>
                                        <p:tgtEl>
                                          <p:spTgt spid="10247"/>
                                        </p:tgtEl>
                                        <p:attrNameLst>
                                          <p:attrName>style.visibility</p:attrName>
                                        </p:attrNameLst>
                                      </p:cBhvr>
                                      <p:to>
                                        <p:strVal val="visible"/>
                                      </p:to>
                                    </p:set>
                                    <p:animEffect transition="in" filter="barn(outVertical)">
                                      <p:cBhvr>
                                        <p:cTn id="28" dur="500"/>
                                        <p:tgtEl>
                                          <p:spTgt spid="10247"/>
                                        </p:tgtEl>
                                      </p:cBhvr>
                                    </p:animEffect>
                                  </p:childTnLst>
                                </p:cTn>
                              </p:par>
                            </p:childTnLst>
                          </p:cTn>
                        </p:par>
                        <p:par>
                          <p:cTn id="29" fill="hold">
                            <p:stCondLst>
                              <p:cond delay="2000"/>
                            </p:stCondLst>
                            <p:childTnLst>
                              <p:par>
                                <p:cTn id="30" presetID="16" presetClass="entr" presetSubtype="37" fill="hold" grpId="0" nodeType="afterEffect">
                                  <p:stCondLst>
                                    <p:cond delay="0"/>
                                  </p:stCondLst>
                                  <p:childTnLst>
                                    <p:set>
                                      <p:cBhvr>
                                        <p:cTn id="31" dur="1" fill="hold">
                                          <p:stCondLst>
                                            <p:cond delay="0"/>
                                          </p:stCondLst>
                                        </p:cTn>
                                        <p:tgtEl>
                                          <p:spTgt spid="10270"/>
                                        </p:tgtEl>
                                        <p:attrNameLst>
                                          <p:attrName>style.visibility</p:attrName>
                                        </p:attrNameLst>
                                      </p:cBhvr>
                                      <p:to>
                                        <p:strVal val="visible"/>
                                      </p:to>
                                    </p:set>
                                    <p:animEffect transition="in" filter="barn(outVertical)">
                                      <p:cBhvr>
                                        <p:cTn id="32" dur="500"/>
                                        <p:tgtEl>
                                          <p:spTgt spid="10270"/>
                                        </p:tgtEl>
                                      </p:cBhvr>
                                    </p:animEffect>
                                  </p:childTnLst>
                                </p:cTn>
                              </p:par>
                            </p:childTnLst>
                          </p:cTn>
                        </p:par>
                        <p:par>
                          <p:cTn id="33" fill="hold">
                            <p:stCondLst>
                              <p:cond delay="2500"/>
                            </p:stCondLst>
                            <p:childTnLst>
                              <p:par>
                                <p:cTn id="34" presetID="16" presetClass="entr" presetSubtype="37" fill="hold" grpId="0" nodeType="afterEffect">
                                  <p:stCondLst>
                                    <p:cond delay="0"/>
                                  </p:stCondLst>
                                  <p:childTnLst>
                                    <p:set>
                                      <p:cBhvr>
                                        <p:cTn id="35" dur="1" fill="hold">
                                          <p:stCondLst>
                                            <p:cond delay="0"/>
                                          </p:stCondLst>
                                        </p:cTn>
                                        <p:tgtEl>
                                          <p:spTgt spid="10261"/>
                                        </p:tgtEl>
                                        <p:attrNameLst>
                                          <p:attrName>style.visibility</p:attrName>
                                        </p:attrNameLst>
                                      </p:cBhvr>
                                      <p:to>
                                        <p:strVal val="visible"/>
                                      </p:to>
                                    </p:set>
                                    <p:animEffect transition="in" filter="barn(outVertical)">
                                      <p:cBhvr>
                                        <p:cTn id="36" dur="500"/>
                                        <p:tgtEl>
                                          <p:spTgt spid="10261"/>
                                        </p:tgtEl>
                                      </p:cBhvr>
                                    </p:animEffect>
                                  </p:childTnLst>
                                </p:cTn>
                              </p:par>
                            </p:childTnLst>
                          </p:cTn>
                        </p:par>
                        <p:par>
                          <p:cTn id="37" fill="hold">
                            <p:stCondLst>
                              <p:cond delay="3000"/>
                            </p:stCondLst>
                            <p:childTnLst>
                              <p:par>
                                <p:cTn id="38" presetID="16" presetClass="entr" presetSubtype="37" fill="hold" grpId="0" nodeType="afterEffect">
                                  <p:stCondLst>
                                    <p:cond delay="0"/>
                                  </p:stCondLst>
                                  <p:childTnLst>
                                    <p:set>
                                      <p:cBhvr>
                                        <p:cTn id="39" dur="1" fill="hold">
                                          <p:stCondLst>
                                            <p:cond delay="0"/>
                                          </p:stCondLst>
                                        </p:cTn>
                                        <p:tgtEl>
                                          <p:spTgt spid="10250"/>
                                        </p:tgtEl>
                                        <p:attrNameLst>
                                          <p:attrName>style.visibility</p:attrName>
                                        </p:attrNameLst>
                                      </p:cBhvr>
                                      <p:to>
                                        <p:strVal val="visible"/>
                                      </p:to>
                                    </p:set>
                                    <p:animEffect transition="in" filter="barn(outVertical)">
                                      <p:cBhvr>
                                        <p:cTn id="40" dur="500"/>
                                        <p:tgtEl>
                                          <p:spTgt spid="10250"/>
                                        </p:tgtEl>
                                      </p:cBhvr>
                                    </p:animEffect>
                                  </p:childTnLst>
                                </p:cTn>
                              </p:par>
                            </p:childTnLst>
                          </p:cTn>
                        </p:par>
                        <p:par>
                          <p:cTn id="41" fill="hold">
                            <p:stCondLst>
                              <p:cond delay="3500"/>
                            </p:stCondLst>
                            <p:childTnLst>
                              <p:par>
                                <p:cTn id="42" presetID="16" presetClass="entr" presetSubtype="37" fill="hold" grpId="0" nodeType="afterEffect">
                                  <p:stCondLst>
                                    <p:cond delay="0"/>
                                  </p:stCondLst>
                                  <p:childTnLst>
                                    <p:set>
                                      <p:cBhvr>
                                        <p:cTn id="43" dur="1" fill="hold">
                                          <p:stCondLst>
                                            <p:cond delay="0"/>
                                          </p:stCondLst>
                                        </p:cTn>
                                        <p:tgtEl>
                                          <p:spTgt spid="10251"/>
                                        </p:tgtEl>
                                        <p:attrNameLst>
                                          <p:attrName>style.visibility</p:attrName>
                                        </p:attrNameLst>
                                      </p:cBhvr>
                                      <p:to>
                                        <p:strVal val="visible"/>
                                      </p:to>
                                    </p:set>
                                    <p:animEffect transition="in" filter="barn(outVertical)">
                                      <p:cBhvr>
                                        <p:cTn id="44" dur="500"/>
                                        <p:tgtEl>
                                          <p:spTgt spid="10251"/>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0252"/>
                                        </p:tgtEl>
                                        <p:attrNameLst>
                                          <p:attrName>style.visibility</p:attrName>
                                        </p:attrNameLst>
                                      </p:cBhvr>
                                      <p:to>
                                        <p:strVal val="visible"/>
                                      </p:to>
                                    </p:set>
                                    <p:animEffect transition="in" filter="blinds(horizontal)">
                                      <p:cBhvr>
                                        <p:cTn id="49" dur="500"/>
                                        <p:tgtEl>
                                          <p:spTgt spid="10252"/>
                                        </p:tgtEl>
                                      </p:cBhvr>
                                    </p:animEffect>
                                  </p:childTnLst>
                                </p:cTn>
                              </p:par>
                            </p:childTnLst>
                          </p:cTn>
                        </p:par>
                        <p:par>
                          <p:cTn id="50" fill="hold">
                            <p:stCondLst>
                              <p:cond delay="500"/>
                            </p:stCondLst>
                            <p:childTnLst>
                              <p:par>
                                <p:cTn id="51" presetID="22" presetClass="entr" presetSubtype="8" fill="hold" nodeType="afterEffect">
                                  <p:stCondLst>
                                    <p:cond delay="0"/>
                                  </p:stCondLst>
                                  <p:childTnLst>
                                    <p:set>
                                      <p:cBhvr>
                                        <p:cTn id="52" dur="1" fill="hold">
                                          <p:stCondLst>
                                            <p:cond delay="0"/>
                                          </p:stCondLst>
                                        </p:cTn>
                                        <p:tgtEl>
                                          <p:spTgt spid="10264"/>
                                        </p:tgtEl>
                                        <p:attrNameLst>
                                          <p:attrName>style.visibility</p:attrName>
                                        </p:attrNameLst>
                                      </p:cBhvr>
                                      <p:to>
                                        <p:strVal val="visible"/>
                                      </p:to>
                                    </p:set>
                                    <p:animEffect transition="in" filter="wipe(left)">
                                      <p:cBhvr>
                                        <p:cTn id="53" dur="500"/>
                                        <p:tgtEl>
                                          <p:spTgt spid="10264"/>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10254"/>
                                        </p:tgtEl>
                                        <p:attrNameLst>
                                          <p:attrName>style.visibility</p:attrName>
                                        </p:attrNameLst>
                                      </p:cBhvr>
                                      <p:to>
                                        <p:strVal val="visible"/>
                                      </p:to>
                                    </p:set>
                                    <p:animEffect transition="in" filter="wipe(left)">
                                      <p:cBhvr>
                                        <p:cTn id="57" dur="500"/>
                                        <p:tgtEl>
                                          <p:spTgt spid="10254"/>
                                        </p:tgtEl>
                                      </p:cBhvr>
                                    </p:animEffect>
                                  </p:childTnLst>
                                </p:cTn>
                              </p:par>
                            </p:childTnLst>
                          </p:cTn>
                        </p:par>
                        <p:par>
                          <p:cTn id="58" fill="hold">
                            <p:stCondLst>
                              <p:cond delay="1500"/>
                            </p:stCondLst>
                            <p:childTnLst>
                              <p:par>
                                <p:cTn id="59" presetID="22" presetClass="entr" presetSubtype="4" fill="hold" grpId="0" nodeType="afterEffect">
                                  <p:stCondLst>
                                    <p:cond delay="0"/>
                                  </p:stCondLst>
                                  <p:childTnLst>
                                    <p:set>
                                      <p:cBhvr>
                                        <p:cTn id="60" dur="1" fill="hold">
                                          <p:stCondLst>
                                            <p:cond delay="0"/>
                                          </p:stCondLst>
                                        </p:cTn>
                                        <p:tgtEl>
                                          <p:spTgt spid="10255"/>
                                        </p:tgtEl>
                                        <p:attrNameLst>
                                          <p:attrName>style.visibility</p:attrName>
                                        </p:attrNameLst>
                                      </p:cBhvr>
                                      <p:to>
                                        <p:strVal val="visible"/>
                                      </p:to>
                                    </p:set>
                                    <p:animEffect transition="in" filter="wipe(down)">
                                      <p:cBhvr>
                                        <p:cTn id="61" dur="500"/>
                                        <p:tgtEl>
                                          <p:spTgt spid="10255"/>
                                        </p:tgtEl>
                                      </p:cBhvr>
                                    </p:animEffect>
                                  </p:childTnLst>
                                </p:cTn>
                              </p:par>
                            </p:childTnLst>
                          </p:cTn>
                        </p:par>
                        <p:par>
                          <p:cTn id="62" fill="hold">
                            <p:stCondLst>
                              <p:cond delay="2000"/>
                            </p:stCondLst>
                            <p:childTnLst>
                              <p:par>
                                <p:cTn id="63" presetID="3" presetClass="entr" presetSubtype="10" fill="hold" grpId="0" nodeType="afterEffect">
                                  <p:stCondLst>
                                    <p:cond delay="0"/>
                                  </p:stCondLst>
                                  <p:childTnLst>
                                    <p:set>
                                      <p:cBhvr>
                                        <p:cTn id="64" dur="1" fill="hold">
                                          <p:stCondLst>
                                            <p:cond delay="0"/>
                                          </p:stCondLst>
                                        </p:cTn>
                                        <p:tgtEl>
                                          <p:spTgt spid="10256"/>
                                        </p:tgtEl>
                                        <p:attrNameLst>
                                          <p:attrName>style.visibility</p:attrName>
                                        </p:attrNameLst>
                                      </p:cBhvr>
                                      <p:to>
                                        <p:strVal val="visible"/>
                                      </p:to>
                                    </p:set>
                                    <p:animEffect transition="in" filter="blinds(horizontal)">
                                      <p:cBhvr>
                                        <p:cTn id="65" dur="500"/>
                                        <p:tgtEl>
                                          <p:spTgt spid="10256"/>
                                        </p:tgtEl>
                                      </p:cBhvr>
                                    </p:animEffect>
                                  </p:childTnLst>
                                </p:cTn>
                              </p:par>
                            </p:childTnLst>
                          </p:cTn>
                        </p:par>
                        <p:par>
                          <p:cTn id="66" fill="hold">
                            <p:stCondLst>
                              <p:cond delay="2500"/>
                            </p:stCondLst>
                            <p:childTnLst>
                              <p:par>
                                <p:cTn id="67" presetID="22" presetClass="entr" presetSubtype="8" fill="hold" nodeType="afterEffect">
                                  <p:stCondLst>
                                    <p:cond delay="0"/>
                                  </p:stCondLst>
                                  <p:childTnLst>
                                    <p:set>
                                      <p:cBhvr>
                                        <p:cTn id="68" dur="1" fill="hold">
                                          <p:stCondLst>
                                            <p:cond delay="0"/>
                                          </p:stCondLst>
                                        </p:cTn>
                                        <p:tgtEl>
                                          <p:spTgt spid="10266"/>
                                        </p:tgtEl>
                                        <p:attrNameLst>
                                          <p:attrName>style.visibility</p:attrName>
                                        </p:attrNameLst>
                                      </p:cBhvr>
                                      <p:to>
                                        <p:strVal val="visible"/>
                                      </p:to>
                                    </p:set>
                                    <p:animEffect transition="in" filter="wipe(left)">
                                      <p:cBhvr>
                                        <p:cTn id="69" dur="500"/>
                                        <p:tgtEl>
                                          <p:spTgt spid="1026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10265"/>
                                        </p:tgtEl>
                                        <p:attrNameLst>
                                          <p:attrName>style.visibility</p:attrName>
                                        </p:attrNameLst>
                                      </p:cBhvr>
                                      <p:to>
                                        <p:strVal val="visible"/>
                                      </p:to>
                                    </p:set>
                                    <p:animEffect transition="in" filter="wipe(down)">
                                      <p:cBhvr>
                                        <p:cTn id="74" dur="500"/>
                                        <p:tgtEl>
                                          <p:spTgt spid="10265"/>
                                        </p:tgtEl>
                                      </p:cBhvr>
                                    </p:animEffect>
                                  </p:childTnLst>
                                </p:cTn>
                              </p:par>
                            </p:childTnLst>
                          </p:cTn>
                        </p:par>
                        <p:par>
                          <p:cTn id="75" fill="hold">
                            <p:stCondLst>
                              <p:cond delay="500"/>
                            </p:stCondLst>
                            <p:childTnLst>
                              <p:par>
                                <p:cTn id="76" presetID="3" presetClass="entr" presetSubtype="10" fill="hold" grpId="0" nodeType="afterEffect">
                                  <p:stCondLst>
                                    <p:cond delay="0"/>
                                  </p:stCondLst>
                                  <p:childTnLst>
                                    <p:set>
                                      <p:cBhvr>
                                        <p:cTn id="77" dur="1" fill="hold">
                                          <p:stCondLst>
                                            <p:cond delay="0"/>
                                          </p:stCondLst>
                                        </p:cTn>
                                        <p:tgtEl>
                                          <p:spTgt spid="10267"/>
                                        </p:tgtEl>
                                        <p:attrNameLst>
                                          <p:attrName>style.visibility</p:attrName>
                                        </p:attrNameLst>
                                      </p:cBhvr>
                                      <p:to>
                                        <p:strVal val="visible"/>
                                      </p:to>
                                    </p:set>
                                    <p:animEffect transition="in" filter="blinds(horizontal)">
                                      <p:cBhvr>
                                        <p:cTn id="78" dur="500"/>
                                        <p:tgtEl>
                                          <p:spTgt spid="1026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0272"/>
                                        </p:tgtEl>
                                        <p:attrNameLst>
                                          <p:attrName>style.visibility</p:attrName>
                                        </p:attrNameLst>
                                      </p:cBhvr>
                                      <p:to>
                                        <p:strVal val="visible"/>
                                      </p:to>
                                    </p:set>
                                    <p:animEffect transition="in" filter="wipe(left)">
                                      <p:cBhvr>
                                        <p:cTn id="83" dur="500"/>
                                        <p:tgtEl>
                                          <p:spTgt spid="10272"/>
                                        </p:tgtEl>
                                      </p:cBhvr>
                                    </p:animEffect>
                                  </p:childTnLst>
                                </p:cTn>
                              </p:par>
                            </p:childTnLst>
                          </p:cTn>
                        </p:par>
                        <p:par>
                          <p:cTn id="84" fill="hold">
                            <p:stCondLst>
                              <p:cond delay="500"/>
                            </p:stCondLst>
                            <p:childTnLst>
                              <p:par>
                                <p:cTn id="85" presetID="22" presetClass="entr" presetSubtype="1" fill="hold" grpId="0" nodeType="afterEffect">
                                  <p:stCondLst>
                                    <p:cond delay="0"/>
                                  </p:stCondLst>
                                  <p:childTnLst>
                                    <p:set>
                                      <p:cBhvr>
                                        <p:cTn id="86" dur="1" fill="hold">
                                          <p:stCondLst>
                                            <p:cond delay="0"/>
                                          </p:stCondLst>
                                        </p:cTn>
                                        <p:tgtEl>
                                          <p:spTgt spid="10273"/>
                                        </p:tgtEl>
                                        <p:attrNameLst>
                                          <p:attrName>style.visibility</p:attrName>
                                        </p:attrNameLst>
                                      </p:cBhvr>
                                      <p:to>
                                        <p:strVal val="visible"/>
                                      </p:to>
                                    </p:set>
                                    <p:animEffect transition="in" filter="wipe(up)">
                                      <p:cBhvr>
                                        <p:cTn id="87" dur="500"/>
                                        <p:tgtEl>
                                          <p:spTgt spid="10273"/>
                                        </p:tgtEl>
                                      </p:cBhvr>
                                    </p:animEffect>
                                  </p:childTnLst>
                                </p:cTn>
                              </p:par>
                            </p:childTnLst>
                          </p:cTn>
                        </p:par>
                        <p:par>
                          <p:cTn id="88" fill="hold">
                            <p:stCondLst>
                              <p:cond delay="1000"/>
                            </p:stCondLst>
                            <p:childTnLst>
                              <p:par>
                                <p:cTn id="89" presetID="3" presetClass="entr" presetSubtype="10" fill="hold" grpId="0" nodeType="afterEffect">
                                  <p:stCondLst>
                                    <p:cond delay="0"/>
                                  </p:stCondLst>
                                  <p:childTnLst>
                                    <p:set>
                                      <p:cBhvr>
                                        <p:cTn id="90" dur="1" fill="hold">
                                          <p:stCondLst>
                                            <p:cond delay="0"/>
                                          </p:stCondLst>
                                        </p:cTn>
                                        <p:tgtEl>
                                          <p:spTgt spid="10274"/>
                                        </p:tgtEl>
                                        <p:attrNameLst>
                                          <p:attrName>style.visibility</p:attrName>
                                        </p:attrNameLst>
                                      </p:cBhvr>
                                      <p:to>
                                        <p:strVal val="visible"/>
                                      </p:to>
                                    </p:set>
                                    <p:animEffect transition="in" filter="blinds(horizontal)">
                                      <p:cBhvr>
                                        <p:cTn id="91" dur="500"/>
                                        <p:tgtEl>
                                          <p:spTgt spid="10274"/>
                                        </p:tgtEl>
                                      </p:cBhvr>
                                    </p:animEffect>
                                  </p:childTnLst>
                                </p:cTn>
                              </p:par>
                            </p:childTnLst>
                          </p:cTn>
                        </p:par>
                        <p:par>
                          <p:cTn id="92" fill="hold">
                            <p:stCondLst>
                              <p:cond delay="1500"/>
                            </p:stCondLst>
                            <p:childTnLst>
                              <p:par>
                                <p:cTn id="93" presetID="22" presetClass="entr" presetSubtype="8" fill="hold" nodeType="afterEffect">
                                  <p:stCondLst>
                                    <p:cond delay="0"/>
                                  </p:stCondLst>
                                  <p:childTnLst>
                                    <p:set>
                                      <p:cBhvr>
                                        <p:cTn id="94" dur="1" fill="hold">
                                          <p:stCondLst>
                                            <p:cond delay="0"/>
                                          </p:stCondLst>
                                        </p:cTn>
                                        <p:tgtEl>
                                          <p:spTgt spid="10277"/>
                                        </p:tgtEl>
                                        <p:attrNameLst>
                                          <p:attrName>style.visibility</p:attrName>
                                        </p:attrNameLst>
                                      </p:cBhvr>
                                      <p:to>
                                        <p:strVal val="visible"/>
                                      </p:to>
                                    </p:set>
                                    <p:animEffect transition="in" filter="wipe(left)">
                                      <p:cBhvr>
                                        <p:cTn id="95" dur="500"/>
                                        <p:tgtEl>
                                          <p:spTgt spid="10277"/>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0275"/>
                                        </p:tgtEl>
                                        <p:attrNameLst>
                                          <p:attrName>style.visibility</p:attrName>
                                        </p:attrNameLst>
                                      </p:cBhvr>
                                      <p:to>
                                        <p:strVal val="visible"/>
                                      </p:to>
                                    </p:set>
                                    <p:animEffect transition="in" filter="wipe(left)">
                                      <p:cBhvr>
                                        <p:cTn id="100" dur="500"/>
                                        <p:tgtEl>
                                          <p:spTgt spid="10275"/>
                                        </p:tgtEl>
                                      </p:cBhvr>
                                    </p:animEffect>
                                  </p:childTnLst>
                                </p:cTn>
                              </p:par>
                            </p:childTnLst>
                          </p:cTn>
                        </p:par>
                        <p:par>
                          <p:cTn id="101" fill="hold">
                            <p:stCondLst>
                              <p:cond delay="500"/>
                            </p:stCondLst>
                            <p:childTnLst>
                              <p:par>
                                <p:cTn id="102" presetID="3" presetClass="entr" presetSubtype="10" fill="hold" grpId="0" nodeType="afterEffect">
                                  <p:stCondLst>
                                    <p:cond delay="0"/>
                                  </p:stCondLst>
                                  <p:childTnLst>
                                    <p:set>
                                      <p:cBhvr>
                                        <p:cTn id="103" dur="1" fill="hold">
                                          <p:stCondLst>
                                            <p:cond delay="0"/>
                                          </p:stCondLst>
                                        </p:cTn>
                                        <p:tgtEl>
                                          <p:spTgt spid="10276"/>
                                        </p:tgtEl>
                                        <p:attrNameLst>
                                          <p:attrName>style.visibility</p:attrName>
                                        </p:attrNameLst>
                                      </p:cBhvr>
                                      <p:to>
                                        <p:strVal val="visible"/>
                                      </p:to>
                                    </p:set>
                                    <p:animEffect transition="in" filter="blinds(horizontal)">
                                      <p:cBhvr>
                                        <p:cTn id="104" dur="500"/>
                                        <p:tgtEl>
                                          <p:spTgt spid="10276"/>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0279"/>
                                        </p:tgtEl>
                                        <p:attrNameLst>
                                          <p:attrName>style.visibility</p:attrName>
                                        </p:attrNameLst>
                                      </p:cBhvr>
                                      <p:to>
                                        <p:strVal val="visible"/>
                                      </p:to>
                                    </p:set>
                                    <p:animEffect transition="in" filter="wipe(left)">
                                      <p:cBhvr>
                                        <p:cTn id="109" dur="500"/>
                                        <p:tgtEl>
                                          <p:spTgt spid="10279"/>
                                        </p:tgtEl>
                                      </p:cBhvr>
                                    </p:animEffect>
                                  </p:childTnLst>
                                </p:cTn>
                              </p:par>
                            </p:childTnLst>
                          </p:cTn>
                        </p:par>
                        <p:par>
                          <p:cTn id="110" fill="hold">
                            <p:stCondLst>
                              <p:cond delay="500"/>
                            </p:stCondLst>
                            <p:childTnLst>
                              <p:par>
                                <p:cTn id="111" presetID="3" presetClass="entr" presetSubtype="10" fill="hold" grpId="0" nodeType="afterEffect">
                                  <p:stCondLst>
                                    <p:cond delay="0"/>
                                  </p:stCondLst>
                                  <p:childTnLst>
                                    <p:set>
                                      <p:cBhvr>
                                        <p:cTn id="112" dur="1" fill="hold">
                                          <p:stCondLst>
                                            <p:cond delay="0"/>
                                          </p:stCondLst>
                                        </p:cTn>
                                        <p:tgtEl>
                                          <p:spTgt spid="10282"/>
                                        </p:tgtEl>
                                        <p:attrNameLst>
                                          <p:attrName>style.visibility</p:attrName>
                                        </p:attrNameLst>
                                      </p:cBhvr>
                                      <p:to>
                                        <p:strVal val="visible"/>
                                      </p:to>
                                    </p:set>
                                    <p:animEffect transition="in" filter="blinds(horizontal)">
                                      <p:cBhvr>
                                        <p:cTn id="113" dur="500"/>
                                        <p:tgtEl>
                                          <p:spTgt spid="10282"/>
                                        </p:tgtEl>
                                      </p:cBhvr>
                                    </p:animEffect>
                                  </p:childTnLst>
                                </p:cTn>
                              </p:par>
                            </p:childTnLst>
                          </p:cTn>
                        </p:par>
                        <p:par>
                          <p:cTn id="114" fill="hold">
                            <p:stCondLst>
                              <p:cond delay="1000"/>
                            </p:stCondLst>
                            <p:childTnLst>
                              <p:par>
                                <p:cTn id="115" presetID="22" presetClass="entr" presetSubtype="4" fill="hold" grpId="0" nodeType="afterEffect">
                                  <p:stCondLst>
                                    <p:cond delay="0"/>
                                  </p:stCondLst>
                                  <p:childTnLst>
                                    <p:set>
                                      <p:cBhvr>
                                        <p:cTn id="116" dur="1" fill="hold">
                                          <p:stCondLst>
                                            <p:cond delay="0"/>
                                          </p:stCondLst>
                                        </p:cTn>
                                        <p:tgtEl>
                                          <p:spTgt spid="10280"/>
                                        </p:tgtEl>
                                        <p:attrNameLst>
                                          <p:attrName>style.visibility</p:attrName>
                                        </p:attrNameLst>
                                      </p:cBhvr>
                                      <p:to>
                                        <p:strVal val="visible"/>
                                      </p:to>
                                    </p:set>
                                    <p:animEffect transition="in" filter="wipe(down)">
                                      <p:cBhvr>
                                        <p:cTn id="117" dur="500"/>
                                        <p:tgtEl>
                                          <p:spTgt spid="10280"/>
                                        </p:tgtEl>
                                      </p:cBhvr>
                                    </p:animEffect>
                                  </p:childTnLst>
                                </p:cTn>
                              </p:par>
                            </p:childTnLst>
                          </p:cTn>
                        </p:par>
                        <p:par>
                          <p:cTn id="118" fill="hold">
                            <p:stCondLst>
                              <p:cond delay="1500"/>
                            </p:stCondLst>
                            <p:childTnLst>
                              <p:par>
                                <p:cTn id="119" presetID="22" presetClass="entr" presetSubtype="1" fill="hold" grpId="0" nodeType="afterEffect">
                                  <p:stCondLst>
                                    <p:cond delay="0"/>
                                  </p:stCondLst>
                                  <p:childTnLst>
                                    <p:set>
                                      <p:cBhvr>
                                        <p:cTn id="120" dur="1" fill="hold">
                                          <p:stCondLst>
                                            <p:cond delay="0"/>
                                          </p:stCondLst>
                                        </p:cTn>
                                        <p:tgtEl>
                                          <p:spTgt spid="10281"/>
                                        </p:tgtEl>
                                        <p:attrNameLst>
                                          <p:attrName>style.visibility</p:attrName>
                                        </p:attrNameLst>
                                      </p:cBhvr>
                                      <p:to>
                                        <p:strVal val="visible"/>
                                      </p:to>
                                    </p:set>
                                    <p:animEffect transition="in" filter="wipe(up)">
                                      <p:cBhvr>
                                        <p:cTn id="121" dur="500"/>
                                        <p:tgtEl>
                                          <p:spTgt spid="10281"/>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10286"/>
                                        </p:tgtEl>
                                        <p:attrNameLst>
                                          <p:attrName>style.visibility</p:attrName>
                                        </p:attrNameLst>
                                      </p:cBhvr>
                                      <p:to>
                                        <p:strVal val="visible"/>
                                      </p:to>
                                    </p:set>
                                    <p:animEffect transition="in" filter="wipe(left)">
                                      <p:cBhvr>
                                        <p:cTn id="126" dur="500"/>
                                        <p:tgtEl>
                                          <p:spTgt spid="10286"/>
                                        </p:tgtEl>
                                      </p:cBhvr>
                                    </p:animEffect>
                                  </p:childTnLst>
                                </p:cTn>
                              </p:par>
                            </p:childTnLst>
                          </p:cTn>
                        </p:par>
                        <p:par>
                          <p:cTn id="127" fill="hold">
                            <p:stCondLst>
                              <p:cond delay="500"/>
                            </p:stCondLst>
                            <p:childTnLst>
                              <p:par>
                                <p:cTn id="128" presetID="22" presetClass="entr" presetSubtype="8" fill="hold" grpId="0" nodeType="afterEffect">
                                  <p:stCondLst>
                                    <p:cond delay="0"/>
                                  </p:stCondLst>
                                  <p:childTnLst>
                                    <p:set>
                                      <p:cBhvr>
                                        <p:cTn id="129" dur="1" fill="hold">
                                          <p:stCondLst>
                                            <p:cond delay="0"/>
                                          </p:stCondLst>
                                        </p:cTn>
                                        <p:tgtEl>
                                          <p:spTgt spid="10287"/>
                                        </p:tgtEl>
                                        <p:attrNameLst>
                                          <p:attrName>style.visibility</p:attrName>
                                        </p:attrNameLst>
                                      </p:cBhvr>
                                      <p:to>
                                        <p:strVal val="visible"/>
                                      </p:to>
                                    </p:set>
                                    <p:animEffect transition="in" filter="wipe(left)">
                                      <p:cBhvr>
                                        <p:cTn id="130" dur="500"/>
                                        <p:tgtEl>
                                          <p:spTgt spid="10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animBg="1"/>
      <p:bldP spid="10243" grpId="0" animBg="1"/>
      <p:bldP spid="10245" grpId="0" animBg="1"/>
      <p:bldP spid="10246" grpId="0" animBg="1"/>
      <p:bldP spid="10247" grpId="0" animBg="1"/>
      <p:bldP spid="10250" grpId="0" animBg="1"/>
      <p:bldP spid="10251" grpId="0" animBg="1"/>
      <p:bldP spid="10252" grpId="0" animBg="1"/>
      <p:bldP spid="10254" grpId="0" animBg="1"/>
      <p:bldP spid="10255" grpId="0" animBg="1"/>
      <p:bldP spid="10256" grpId="0" animBg="1"/>
      <p:bldP spid="10261" grpId="0" animBg="1"/>
      <p:bldP spid="10265" grpId="0" animBg="1"/>
      <p:bldP spid="10267" grpId="0" animBg="1"/>
      <p:bldP spid="10270" grpId="0" animBg="1"/>
      <p:bldP spid="10272" grpId="0" animBg="1"/>
      <p:bldP spid="10273" grpId="0" animBg="1"/>
      <p:bldP spid="10274" grpId="0" animBg="1"/>
      <p:bldP spid="10275" grpId="0" animBg="1"/>
      <p:bldP spid="10276" grpId="0" animBg="1"/>
      <p:bldP spid="10279" grpId="0" animBg="1"/>
      <p:bldP spid="10280" grpId="0" animBg="1"/>
      <p:bldP spid="10281" grpId="0" animBg="1"/>
      <p:bldP spid="10282" grpId="0" animBg="1"/>
      <p:bldP spid="10286" grpId="0" animBg="1"/>
      <p:bldP spid="1028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64692" y="404664"/>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二</a:t>
            </a:r>
            <a:r>
              <a:rPr lang="zh-CN" altLang="zh-CN" sz="2400" kern="100" dirty="0">
                <a:latin typeface="Times New Roman" panose="02020603050405020304" pitchFamily="18" charset="0"/>
                <a:ea typeface="黑体" panose="02010609060101010101" pitchFamily="49" charset="-122"/>
              </a:rPr>
              <a:t>、</a:t>
            </a:r>
            <a:r>
              <a:rPr lang="zh-CN" altLang="en-US" sz="2400" kern="100" dirty="0">
                <a:latin typeface="Times New Roman" panose="02020603050405020304" pitchFamily="18" charset="0"/>
                <a:ea typeface="黑体" panose="02010609060101010101" pitchFamily="49" charset="-122"/>
              </a:rPr>
              <a:t>算法步骤</a:t>
            </a:r>
            <a:endParaRPr lang="zh-CN" altLang="zh-CN" sz="2400" kern="100" dirty="0">
              <a:latin typeface="Times New Roman" panose="02020603050405020304" pitchFamily="18"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4" name="内容占位符 3"/>
              <p:cNvSpPr>
                <a:spLocks noGrp="1"/>
              </p:cNvSpPr>
              <p:nvPr>
                <p:ph/>
              </p:nvPr>
            </p:nvSpPr>
            <p:spPr>
              <a:xfrm>
                <a:off x="323527" y="1124744"/>
                <a:ext cx="8518631" cy="4014311"/>
              </a:xfrm>
            </p:spPr>
            <p:txBody>
              <a:bodyPr>
                <a:noAutofit/>
              </a:bodyPr>
              <a:lstStyle/>
              <a:p>
                <a:pPr marL="0" indent="0" algn="just">
                  <a:lnSpc>
                    <a:spcPct val="130000"/>
                  </a:lnSpc>
                  <a:spcBef>
                    <a:spcPts val="0"/>
                  </a:spcBef>
                  <a:buNone/>
                </a:pPr>
                <a:r>
                  <a:rPr lang="en-US" altLang="zh-CN" sz="2000" dirty="0">
                    <a:latin typeface="宋体" panose="02010600030101010101" pitchFamily="2" charset="-122"/>
                    <a:ea typeface="宋体" panose="02010600030101010101" pitchFamily="2" charset="-122"/>
                    <a:cs typeface="宋体" panose="02010600030101010101" pitchFamily="2" charset="-122"/>
                  </a:rPr>
                  <a:t>1.</a:t>
                </a:r>
                <a:r>
                  <a:rPr lang="zh-CN" altLang="en-US" sz="2000" dirty="0">
                    <a:latin typeface="宋体" panose="02010600030101010101" pitchFamily="2" charset="-122"/>
                    <a:ea typeface="宋体" panose="02010600030101010101" pitchFamily="2" charset="-122"/>
                    <a:cs typeface="宋体" panose="02010600030101010101" pitchFamily="2" charset="-122"/>
                  </a:rPr>
                  <a:t>取初始点</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，初始步长</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r>
                      <a:rPr lang="en-US" altLang="zh-CN" sz="2000" i="1">
                        <a:latin typeface="Cambria Math" panose="02040503050406030204" pitchFamily="18" charset="0"/>
                        <a:ea typeface="宋体" panose="02010600030101010101" pitchFamily="2" charset="-122"/>
                        <a:cs typeface="Cambria Math" panose="02040503050406030204" pitchFamily="18" charset="0"/>
                      </a:rPr>
                      <m:t>&gt;0</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，加速因子</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𝛼</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，精度要求</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r>
                      <a:rPr lang="en-US" altLang="zh-CN" sz="2000" i="1">
                        <a:latin typeface="Cambria Math" panose="02040503050406030204" pitchFamily="18" charset="0"/>
                        <a:ea typeface="宋体" panose="02010600030101010101" pitchFamily="2" charset="-122"/>
                        <a:cs typeface="Cambria Math" panose="02040503050406030204" pitchFamily="18" charset="0"/>
                      </a:rPr>
                      <m:t>&gt;0</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a:p>
                <a:pPr marL="0" indent="0" algn="just">
                  <a:lnSpc>
                    <a:spcPct val="130000"/>
                  </a:lnSpc>
                  <a:spcBef>
                    <a:spcPts val="0"/>
                  </a:spcBef>
                  <a:buNone/>
                </a:pPr>
                <a:r>
                  <a:rPr lang="en-US" altLang="zh-CN" sz="2000" dirty="0">
                    <a:latin typeface="宋体" panose="02010600030101010101" pitchFamily="2" charset="-122"/>
                    <a:ea typeface="宋体" panose="02010600030101010101" pitchFamily="2" charset="-122"/>
                    <a:cs typeface="Calisto MT" panose="02040603050505030304" charset="0"/>
                  </a:rPr>
                  <a:t>2.</a:t>
                </a:r>
                <a:r>
                  <a:rPr lang="zh-CN" altLang="en-US" sz="2000" dirty="0">
                    <a:latin typeface="宋体" panose="02010600030101010101" pitchFamily="2" charset="-122"/>
                    <a:ea typeface="宋体" panose="02010600030101010101" pitchFamily="2" charset="-122"/>
                    <a:cs typeface="Calisto MT" panose="02040603050505030304" charset="0"/>
                  </a:rPr>
                  <a:t>对于</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=1,2,...,</m:t>
                    </m:r>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，进行如下操作或计算：</a:t>
                </a:r>
              </a:p>
              <a:p>
                <a:pPr marL="0" indent="0" algn="just">
                  <a:lnSpc>
                    <a:spcPct val="130000"/>
                  </a:lnSpc>
                  <a:spcBef>
                    <a:spcPts val="0"/>
                  </a:spcBef>
                  <a:buNone/>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e>
                    </m:d>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e>
                    </m:d>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，则令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endParaRPr lang="en-US" altLang="zh-CN" sz="2000" dirty="0">
                  <a:latin typeface="Cambria Math" panose="02040503050406030204" pitchFamily="18" charset="0"/>
                  <a:ea typeface="宋体" panose="02010600030101010101" pitchFamily="2" charset="-122"/>
                  <a:cs typeface="Cambria Math" panose="02040503050406030204" pitchFamily="18" charset="0"/>
                </a:endParaRPr>
              </a:p>
              <a:p>
                <a:pPr marL="0" indent="0" algn="just">
                  <a:lnSpc>
                    <a:spcPct val="130000"/>
                  </a:lnSpc>
                  <a:spcBef>
                    <a:spcPts val="0"/>
                  </a:spcBef>
                  <a:buNone/>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如果</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e>
                    </m:d>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e>
                    </m:d>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，则令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endParaRPr lang="en-US" altLang="zh-CN" sz="2000" dirty="0">
                  <a:latin typeface="Cambria Math" panose="02040503050406030204" pitchFamily="18" charset="0"/>
                  <a:ea typeface="宋体" panose="02010600030101010101" pitchFamily="2" charset="-122"/>
                  <a:cs typeface="Cambria Math" panose="02040503050406030204" pitchFamily="18" charset="0"/>
                </a:endParaRPr>
              </a:p>
              <a:p>
                <a:pPr marL="0" indent="0" algn="just">
                  <a:lnSpc>
                    <a:spcPct val="130000"/>
                  </a:lnSpc>
                  <a:spcBef>
                    <a:spcPts val="0"/>
                  </a:spcBef>
                  <a:buNone/>
                </a:pPr>
                <a:r>
                  <a:rPr lang="en-US" altLang="zh-CN" sz="2000" dirty="0">
                    <a:latin typeface="Cambria Math" panose="02040503050406030204" pitchFamily="18" charset="0"/>
                    <a:ea typeface="宋体" panose="02010600030101010101" pitchFamily="2" charset="-122"/>
                    <a:cs typeface="Cambria Math" panose="02040503050406030204" pitchFamily="18" charset="0"/>
                  </a:rPr>
                  <a:t>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否则令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𝑖</m:t>
                        </m:r>
                      </m:sub>
                    </m:sSub>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a:p>
                <a:pPr marL="0" indent="0" algn="just">
                  <a:lnSpc>
                    <a:spcPct val="130000"/>
                  </a:lnSpc>
                  <a:spcBef>
                    <a:spcPts val="0"/>
                  </a:spcBef>
                  <a:buNone/>
                </a:pPr>
                <a:r>
                  <a:rPr lang="en-US" altLang="zh-CN" sz="2000" dirty="0">
                    <a:latin typeface="宋体" panose="02010600030101010101" pitchFamily="2" charset="-122"/>
                    <a:ea typeface="宋体" panose="02010600030101010101" pitchFamily="2" charset="-122"/>
                    <a:cs typeface="Calisto MT" panose="02040603050505030304" charset="0"/>
                  </a:rPr>
                  <a:t>3.</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𝑓</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，则令</a:t>
                </a:r>
                <a:endParaRPr lang="en-US" altLang="zh-CN" sz="2000" dirty="0">
                  <a:latin typeface="Cambria Math" panose="02040503050406030204" pitchFamily="18" charset="0"/>
                  <a:ea typeface="宋体" panose="02010600030101010101" pitchFamily="2" charset="-122"/>
                  <a:cs typeface="Cambria Math" panose="02040503050406030204" pitchFamily="18" charset="0"/>
                </a:endParaRPr>
              </a:p>
              <a:p>
                <a:pPr marL="0" indent="0" algn="just">
                  <a:lnSpc>
                    <a:spcPct val="130000"/>
                  </a:lnSpc>
                  <a:spcBef>
                    <a:spcPts val="0"/>
                  </a:spcBef>
                  <a:buNone/>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𝑛</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marL="0" indent="0" algn="just">
                  <a:lnSpc>
                    <a:spcPct val="130000"/>
                  </a:lnSpc>
                  <a:spcBef>
                    <a:spcPts val="0"/>
                  </a:spcBef>
                  <a:buNone/>
                </a:pPr>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𝛼</m:t>
                      </m:r>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e>
                      </m:d>
                    </m:oMath>
                  </m:oMathPara>
                </a14:m>
                <a:endParaRPr lang="en-US" altLang="zh-CN" sz="2000" i="1" dirty="0">
                  <a:latin typeface="Cambria Math" panose="02040503050406030204" pitchFamily="18" charset="0"/>
                  <a:ea typeface="宋体" panose="02010600030101010101" pitchFamily="2" charset="-122"/>
                  <a:cs typeface="Cambria Math" panose="02040503050406030204" pitchFamily="18" charset="0"/>
                </a:endParaRPr>
              </a:p>
              <a:p>
                <a:pPr marL="0" indent="0" algn="just">
                  <a:lnSpc>
                    <a:spcPct val="130000"/>
                  </a:lnSpc>
                  <a:spcBef>
                    <a:spcPts val="0"/>
                  </a:spcBef>
                  <a:buNone/>
                </a:pPr>
                <a:r>
                  <a:rPr lang="zh-CN" altLang="en-US" sz="2000" dirty="0">
                    <a:latin typeface="Cambria Math" panose="02040503050406030204" pitchFamily="18" charset="0"/>
                    <a:ea typeface="宋体" panose="02010600030101010101" pitchFamily="2" charset="-122"/>
                    <a:cs typeface="Cambria Math" panose="02040503050406030204" pitchFamily="18" charset="0"/>
                  </a:rPr>
                  <a:t>    令</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r>
                      <a:rPr lang="en-US" altLang="zh-CN" sz="2000" i="1">
                        <a:latin typeface="Cambria Math" panose="02040503050406030204" pitchFamily="18" charset="0"/>
                        <a:ea typeface="宋体" panose="02010600030101010101" pitchFamily="2" charset="-122"/>
                        <a:cs typeface="Cambria Math" panose="02040503050406030204" pitchFamily="18" charset="0"/>
                      </a:rPr>
                      <m:t>+1</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，转步骤</a:t>
                </a:r>
                <a:r>
                  <a:rPr lang="en-US" altLang="zh-CN" sz="2000" dirty="0">
                    <a:latin typeface="Cambria Math" panose="02040503050406030204" pitchFamily="18" charset="0"/>
                    <a:ea typeface="宋体" panose="02010600030101010101" pitchFamily="2" charset="-122"/>
                    <a:cs typeface="Cambria Math" panose="02040503050406030204" pitchFamily="18" charset="0"/>
                  </a:rPr>
                  <a:t>2</a:t>
                </a:r>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p>
              <a:p>
                <a:pPr marL="0" indent="0" algn="just">
                  <a:lnSpc>
                    <a:spcPct val="130000"/>
                  </a:lnSpc>
                  <a:spcBef>
                    <a:spcPts val="0"/>
                  </a:spcBef>
                  <a:buNone/>
                </a:pPr>
                <a:r>
                  <a:rPr lang="zh-CN" altLang="en-US" sz="2000" dirty="0">
                    <a:latin typeface="Cambria Math" panose="02040503050406030204" pitchFamily="18" charset="0"/>
                    <a:ea typeface="宋体" panose="02010600030101010101" pitchFamily="2" charset="-122"/>
                    <a:cs typeface="Cambria Math" panose="02040503050406030204" pitchFamily="18" charset="0"/>
                  </a:rPr>
                  <a:t>4. 若</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，则令</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0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0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0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0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0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，转步骤</a:t>
                </a:r>
                <a:r>
                  <a:rPr lang="en-US" altLang="zh-CN" sz="2000" dirty="0">
                    <a:latin typeface="Cambria Math" panose="02040503050406030204" pitchFamily="18" charset="0"/>
                    <a:ea typeface="宋体" panose="02010600030101010101" pitchFamily="2" charset="-122"/>
                    <a:cs typeface="Cambria Math" panose="02040503050406030204" pitchFamily="18" charset="0"/>
                  </a:rPr>
                  <a:t>2</a:t>
                </a:r>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endParaRPr lang="en-US" altLang="zh-CN" sz="2000" dirty="0">
                  <a:latin typeface="Cambria Math" panose="02040503050406030204" pitchFamily="18" charset="0"/>
                  <a:ea typeface="宋体" panose="02010600030101010101" pitchFamily="2" charset="-122"/>
                  <a:cs typeface="Cambria Math" panose="02040503050406030204" pitchFamily="18" charset="0"/>
                </a:endParaRPr>
              </a:p>
              <a:p>
                <a:pPr marL="0" indent="0" algn="just">
                  <a:lnSpc>
                    <a:spcPct val="130000"/>
                  </a:lnSpc>
                  <a:spcBef>
                    <a:spcPts val="0"/>
                  </a:spcBef>
                  <a:buNone/>
                </a:pPr>
                <a:r>
                  <a:rPr lang="en-US" altLang="zh-CN" sz="2000" dirty="0">
                    <a:latin typeface="Cambria Math" panose="02040503050406030204" pitchFamily="18" charset="0"/>
                    <a:ea typeface="宋体" panose="02010600030101010101" pitchFamily="2" charset="-122"/>
                    <a:cs typeface="Cambria Math" panose="02040503050406030204" pitchFamily="18" charset="0"/>
                  </a:rPr>
                  <a:t>5. </a:t>
                </a:r>
                <a:r>
                  <a:rPr lang="zh-CN" altLang="en-US" sz="2000" dirty="0">
                    <a:latin typeface="Cambria Math" panose="02040503050406030204" pitchFamily="18" charset="0"/>
                    <a:ea typeface="宋体" panose="02010600030101010101" pitchFamily="2" charset="-122"/>
                    <a:cs typeface="Cambria Math" panose="02040503050406030204" pitchFamily="18" charset="0"/>
                  </a:rPr>
                  <a:t>若</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r>
                      <a:rPr lang="en-US" altLang="zh-CN" sz="2000" i="1">
                        <a:latin typeface="Cambria Math" panose="02040503050406030204" pitchFamily="18" charset="0"/>
                        <a:ea typeface="宋体" panose="02010600030101010101" pitchFamily="2" charset="-122"/>
                        <a:cs typeface="Cambria Math" panose="02040503050406030204" pitchFamily="18" charset="0"/>
                      </a:rPr>
                      <m:t>&lt;</m:t>
                    </m:r>
                    <m:r>
                      <a:rPr lang="en-US" altLang="zh-CN" sz="2000" i="1">
                        <a:latin typeface="Cambria Math" panose="02040503050406030204" pitchFamily="18" charset="0"/>
                        <a:ea typeface="宋体" panose="02010600030101010101" pitchFamily="2" charset="-122"/>
                        <a:cs typeface="Cambria Math" panose="02040503050406030204" pitchFamily="18" charset="0"/>
                      </a:rPr>
                      <m:t>𝜀</m:t>
                    </m:r>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，则停止计算；否则令</a:t>
                </a:r>
                <a14:m>
                  <m:oMath xmlns:m="http://schemas.openxmlformats.org/officeDocument/2006/math">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r>
                      <a:rPr lang="en-US" altLang="zh-CN" sz="2000" i="1">
                        <a:latin typeface="Cambria Math" panose="02040503050406030204" pitchFamily="18" charset="0"/>
                        <a:ea typeface="宋体" panose="02010600030101010101" pitchFamily="2" charset="-122"/>
                        <a:cs typeface="Cambria Math" panose="02040503050406030204" pitchFamily="18" charset="0"/>
                      </a:rPr>
                      <m:t>=</m:t>
                    </m:r>
                    <m:f>
                      <m:fPr>
                        <m:type m:val="lin"/>
                        <m:ctrlPr>
                          <a:rPr lang="en-US" altLang="zh-CN" sz="20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000" i="1">
                            <a:latin typeface="Cambria Math" panose="02040503050406030204" pitchFamily="18" charset="0"/>
                            <a:ea typeface="宋体" panose="02010600030101010101" pitchFamily="2" charset="-122"/>
                            <a:cs typeface="Cambria Math" panose="02040503050406030204" pitchFamily="18" charset="0"/>
                          </a:rPr>
                          <m:t>𝛿</m:t>
                        </m:r>
                      </m:num>
                      <m:den>
                        <m:r>
                          <a:rPr lang="en-US" altLang="zh-CN" sz="2000" i="1">
                            <a:latin typeface="Cambria Math" panose="02040503050406030204" pitchFamily="18" charset="0"/>
                            <a:ea typeface="宋体" panose="02010600030101010101" pitchFamily="2" charset="-122"/>
                            <a:cs typeface="Cambria Math" panose="02040503050406030204" pitchFamily="18" charset="0"/>
                          </a:rPr>
                          <m:t>2</m:t>
                        </m:r>
                      </m:den>
                    </m:f>
                  </m:oMath>
                </a14:m>
                <a:r>
                  <a:rPr lang="zh-CN" altLang="en-US" sz="2000" dirty="0">
                    <a:latin typeface="Cambria Math" panose="02040503050406030204" pitchFamily="18" charset="0"/>
                    <a:ea typeface="宋体" panose="02010600030101010101" pitchFamily="2" charset="-122"/>
                    <a:cs typeface="Cambria Math" panose="02040503050406030204" pitchFamily="18" charset="0"/>
                  </a:rPr>
                  <a:t>，</a:t>
                </a:r>
                <a:r>
                  <a:rPr lang="zh-CN" altLang="en-US" sz="2000" dirty="0">
                    <a:latin typeface="Cambria Math" panose="02040503050406030204" pitchFamily="18" charset="0"/>
                    <a:ea typeface="宋体" panose="02010600030101010101" pitchFamily="2" charset="-122"/>
                    <a:cs typeface="Cambria Math" panose="02040503050406030204" pitchFamily="18" charset="0"/>
                    <a:sym typeface="+mn-ea"/>
                  </a:rPr>
                  <a:t>转步骤</a:t>
                </a:r>
                <a:r>
                  <a:rPr lang="en-US" altLang="zh-CN" sz="2000" dirty="0">
                    <a:latin typeface="Cambria Math" panose="02040503050406030204" pitchFamily="18" charset="0"/>
                    <a:ea typeface="宋体" panose="02010600030101010101" pitchFamily="2" charset="-122"/>
                    <a:cs typeface="Cambria Math" panose="02040503050406030204" pitchFamily="18" charset="0"/>
                    <a:sym typeface="+mn-ea"/>
                  </a:rPr>
                  <a:t>2</a:t>
                </a:r>
                <a:r>
                  <a:rPr lang="zh-CN" altLang="en-US" sz="2000" dirty="0">
                    <a:latin typeface="Cambria Math" panose="02040503050406030204" pitchFamily="18" charset="0"/>
                    <a:ea typeface="宋体" panose="02010600030101010101" pitchFamily="2" charset="-122"/>
                    <a:cs typeface="Cambria Math" panose="02040503050406030204" pitchFamily="18" charset="0"/>
                    <a:sym typeface="+mn-ea"/>
                  </a:rPr>
                  <a:t>。</a:t>
                </a:r>
              </a:p>
              <a:p>
                <a:pPr marL="0" indent="0" algn="just">
                  <a:lnSpc>
                    <a:spcPct val="130000"/>
                  </a:lnSpc>
                  <a:spcBef>
                    <a:spcPts val="0"/>
                  </a:spcBef>
                  <a:buNone/>
                </a:pPr>
                <a:endParaRPr lang="zh-CN" altLang="en-US" sz="2000" dirty="0">
                  <a:latin typeface="Cambria Math" panose="02040503050406030204" pitchFamily="18" charset="0"/>
                  <a:ea typeface="宋体" panose="02010600030101010101" pitchFamily="2" charset="-122"/>
                  <a:cs typeface="Cambria Math" panose="02040503050406030204" pitchFamily="18" charset="0"/>
                </a:endParaRPr>
              </a:p>
            </p:txBody>
          </p:sp>
        </mc:Choice>
        <mc:Fallback>
          <p:sp>
            <p:nvSpPr>
              <p:cNvPr id="4" name="内容占位符 3"/>
              <p:cNvSpPr>
                <a:spLocks noGrp="1" noRot="1" noChangeAspect="1" noMove="1" noResize="1" noEditPoints="1" noAdjustHandles="1" noChangeArrowheads="1" noChangeShapeType="1" noTextEdit="1"/>
              </p:cNvSpPr>
              <p:nvPr>
                <p:ph/>
              </p:nvPr>
            </p:nvSpPr>
            <p:spPr>
              <a:xfrm>
                <a:off x="323527" y="1124744"/>
                <a:ext cx="8518631" cy="4014311"/>
              </a:xfrm>
              <a:blipFill>
                <a:blip r:embed="rId2"/>
                <a:stretch>
                  <a:fillRect l="-716" b="-42705"/>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395536" y="266564"/>
                <a:ext cx="8136904" cy="6034729"/>
              </a:xfrm>
              <a:prstGeom prst="rect">
                <a:avLst/>
              </a:prstGeom>
              <a:noFill/>
            </p:spPr>
            <p:txBody>
              <a:bodyPr wrap="square" rtlCol="0">
                <a:spAutoFit/>
              </a:bodyPr>
              <a:lstStyle>
                <a:defPPr>
                  <a:defRPr lang="zh-CN"/>
                </a:defPPr>
                <a:lvl1pPr>
                  <a:defRPr sz="2400">
                    <a:latin typeface="宋体" panose="02010600030101010101" pitchFamily="2" charset="-122"/>
                    <a:ea typeface="宋体" panose="02010600030101010101" pitchFamily="2" charset="-122"/>
                    <a:cs typeface="宋体" panose="02010600030101010101" pitchFamily="2" charset="-122"/>
                  </a:defRPr>
                </a:lvl1pPr>
              </a:lstStyle>
              <a:p>
                <a:pPr algn="just"/>
                <a:r>
                  <a:rPr lang="zh-CN" altLang="zh-CN" b="1" dirty="0">
                    <a:solidFill>
                      <a:schemeClr val="accent1"/>
                    </a:solidFill>
                    <a:latin typeface="Cambria Math" panose="02040503050406030204" pitchFamily="18" charset="0"/>
                  </a:rPr>
                  <a:t>例</a:t>
                </a:r>
                <a:r>
                  <a:rPr lang="en-US" altLang="zh-CN" dirty="0">
                    <a:latin typeface="Cambria Math" panose="02040503050406030204" pitchFamily="18" charset="0"/>
                    <a:ea typeface="Cambria Math" panose="02040503050406030204" pitchFamily="18" charset="0"/>
                  </a:rPr>
                  <a:t>  </a:t>
                </a:r>
                <a:r>
                  <a:rPr lang="zh-CN" altLang="zh-CN" dirty="0">
                    <a:latin typeface="Cambria Math" panose="02040503050406030204" pitchFamily="18" charset="0"/>
                  </a:rPr>
                  <a:t>用模式搜索法求解无约束问题</a:t>
                </a:r>
                <a:endParaRPr lang="zh-CN" altLang="zh-CN" i="1"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func>
                        <m:func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funcPr>
                        <m:fName>
                          <m:r>
                            <m:rPr>
                              <m:sty m:val="p"/>
                            </m:rPr>
                            <a:rPr lang="en-US" altLang="zh-CN">
                              <a:latin typeface="Cambria Math" panose="02040503050406030204" pitchFamily="18" charset="0"/>
                              <a:ea typeface="Cambria Math" panose="02040503050406030204" pitchFamily="18" charset="0"/>
                              <a:cs typeface="Cambria Math" panose="02040503050406030204" pitchFamily="18" charset="0"/>
                            </a:rPr>
                            <m:t>min</m:t>
                          </m:r>
                        </m:fName>
                        <m:e>
                          <m:r>
                            <a:rPr lang="en-US" altLang="zh-CN"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dPr>
                            <m:e>
                              <m:r>
                                <a:rPr lang="en-US" altLang="zh-CN" i="1">
                                  <a:latin typeface="Cambria Math" panose="02040503050406030204" pitchFamily="18" charset="0"/>
                                  <a:ea typeface="Cambria Math" panose="02040503050406030204" pitchFamily="18" charset="0"/>
                                  <a:cs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−1)</m:t>
                              </m:r>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+5</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2</m:t>
                                  </m:r>
                                </m:sup>
                              </m:sSub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2</m:t>
                              </m:r>
                            </m:sup>
                          </m:sSup>
                        </m:e>
                      </m:func>
                    </m:oMath>
                  </m:oMathPara>
                </a14:m>
                <a:endParaRPr lang="zh-CN" altLang="zh-CN" i="1" dirty="0">
                  <a:latin typeface="Cambria Math" panose="02040503050406030204" pitchFamily="18" charset="0"/>
                  <a:cs typeface="Cambria Math" panose="02040503050406030204" pitchFamily="18" charset="0"/>
                </a:endParaRPr>
              </a:p>
              <a:p>
                <a:pPr algn="just"/>
                <a:r>
                  <a:rPr lang="en-US" altLang="zh-CN" dirty="0">
                    <a:latin typeface="Cambria Math" panose="02040503050406030204" pitchFamily="18" charset="0"/>
                  </a:rPr>
                  <a:t>       </a:t>
                </a:r>
                <a:r>
                  <a:rPr lang="zh-CN" altLang="zh-CN" dirty="0">
                    <a:latin typeface="Cambria Math" panose="02040503050406030204" pitchFamily="18" charset="0"/>
                  </a:rPr>
                  <a:t>取初始点</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d>
                          <m:dPr>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1</m:t>
                            </m:r>
                          </m:e>
                        </m:d>
                      </m:sup>
                    </m:sSup>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(2,0)</m:t>
                        </m:r>
                      </m:e>
                      <m:sup>
                        <m:r>
                          <m:rPr>
                            <m:sty m:val="p"/>
                          </m:rPr>
                          <a:rPr lang="en-US" altLang="zh-CN">
                            <a:latin typeface="Cambria Math" panose="02040503050406030204" pitchFamily="18" charset="0"/>
                            <a:ea typeface="Cambria Math" panose="02040503050406030204" pitchFamily="18" charset="0"/>
                          </a:rPr>
                          <m:t>T</m:t>
                        </m:r>
                      </m:sup>
                    </m:sSup>
                  </m:oMath>
                </a14:m>
                <a:r>
                  <a:rPr lang="zh-CN" altLang="zh-CN" dirty="0">
                    <a:latin typeface="Cambria Math" panose="02040503050406030204" pitchFamily="18" charset="0"/>
                  </a:rPr>
                  <a:t>，步长</a:t>
                </a:r>
                <a14:m>
                  <m:oMath xmlns:m="http://schemas.openxmlformats.org/officeDocument/2006/math">
                    <m:r>
                      <a:rPr lang="en-US" altLang="zh-CN" i="1">
                        <a:latin typeface="Cambria Math" panose="02040503050406030204" pitchFamily="18" charset="0"/>
                        <a:cs typeface="Cambria Math" panose="02040503050406030204" pitchFamily="18" charset="0"/>
                      </a:rPr>
                      <m:t>𝛿</m:t>
                    </m:r>
                    <m:r>
                      <a:rPr lang="en-US" altLang="zh-CN">
                        <a:latin typeface="Cambria Math" panose="02040503050406030204" pitchFamily="18" charset="0"/>
                        <a:ea typeface="Cambria Math" panose="02040503050406030204" pitchFamily="18" charset="0"/>
                      </a:rPr>
                      <m:t>=1/2</m:t>
                    </m:r>
                  </m:oMath>
                </a14:m>
                <a:r>
                  <a:rPr lang="zh-CN" altLang="en-US" dirty="0">
                    <a:latin typeface="Cambria Math" panose="02040503050406030204" pitchFamily="18" charset="0"/>
                  </a:rPr>
                  <a:t>，</a:t>
                </a:r>
                <a:r>
                  <a:rPr lang="zh-CN" altLang="en-US" dirty="0">
                    <a:latin typeface="Cambria Math" panose="02040503050406030204" pitchFamily="18" charset="0"/>
                    <a:cs typeface="Cambria Math" panose="02040503050406030204" pitchFamily="18" charset="0"/>
                  </a:rPr>
                  <a:t>加速因子取为</a:t>
                </a:r>
                <a:r>
                  <a:rPr lang="en-US" altLang="zh-CN" dirty="0">
                    <a:latin typeface="Cambria Math" panose="02040503050406030204" pitchFamily="18" charset="0"/>
                    <a:cs typeface="Cambria Math" panose="02040503050406030204" pitchFamily="18" charset="0"/>
                  </a:rPr>
                  <a:t>1</a:t>
                </a:r>
                <a:r>
                  <a:rPr lang="zh-CN" altLang="zh-CN" dirty="0">
                    <a:latin typeface="Cambria Math" panose="02040503050406030204" pitchFamily="18" charset="0"/>
                  </a:rPr>
                  <a:t>。</a:t>
                </a:r>
              </a:p>
              <a:p>
                <a:pPr algn="just"/>
                <a:endParaRPr lang="en-US" altLang="zh-CN" b="1" dirty="0">
                  <a:solidFill>
                    <a:schemeClr val="accent1"/>
                  </a:solidFill>
                  <a:latin typeface="Cambria Math" panose="02040503050406030204" pitchFamily="18" charset="0"/>
                </a:endParaRPr>
              </a:p>
              <a:p>
                <a:pPr algn="just"/>
                <a:r>
                  <a:rPr lang="zh-CN" altLang="zh-CN" b="1" dirty="0">
                    <a:solidFill>
                      <a:schemeClr val="accent1"/>
                    </a:solidFill>
                    <a:latin typeface="Cambria Math" panose="02040503050406030204" pitchFamily="18" charset="0"/>
                  </a:rPr>
                  <a:t>解</a:t>
                </a:r>
                <a:r>
                  <a:rPr lang="en-US" altLang="zh-CN" b="1" dirty="0">
                    <a:solidFill>
                      <a:schemeClr val="accent1"/>
                    </a:solidFill>
                    <a:latin typeface="Cambria Math" panose="02040503050406030204" pitchFamily="18" charset="0"/>
                  </a:rPr>
                  <a:t> </a:t>
                </a:r>
                <a:r>
                  <a:rPr lang="zh-CN" altLang="zh-CN" dirty="0">
                    <a:latin typeface="Cambria Math" panose="02040503050406030204" pitchFamily="18" charset="0"/>
                  </a:rPr>
                  <a:t>令</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𝑥</m:t>
                        </m:r>
                      </m:e>
                      <m:sup>
                        <m:d>
                          <m:dPr>
                            <m:ctrlPr>
                              <a:rPr lang="zh-CN" altLang="zh-CN" i="1">
                                <a:latin typeface="Cambria Math" panose="02040503050406030204" pitchFamily="18" charset="0"/>
                              </a:rPr>
                            </m:ctrlPr>
                          </m:dPr>
                          <m:e>
                            <m:r>
                              <a:rPr lang="en-US" altLang="zh-CN">
                                <a:latin typeface="Cambria Math" panose="02040503050406030204" pitchFamily="18" charset="0"/>
                                <a:ea typeface="Cambria Math" panose="02040503050406030204" pitchFamily="18" charset="0"/>
                              </a:rPr>
                              <m:t>1</m:t>
                            </m:r>
                          </m:e>
                        </m:d>
                      </m:sup>
                    </m:sSup>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(2,0)</m:t>
                        </m:r>
                      </m:e>
                      <m:sup>
                        <m:r>
                          <m:rPr>
                            <m:sty m:val="p"/>
                          </m:rPr>
                          <a:rPr lang="en-US" altLang="zh-CN">
                            <a:latin typeface="Cambria Math" panose="02040503050406030204" pitchFamily="18" charset="0"/>
                            <a:ea typeface="Cambria Math" panose="02040503050406030204" pitchFamily="18" charset="0"/>
                          </a:rPr>
                          <m:t>T</m:t>
                        </m:r>
                      </m:sup>
                    </m:sSup>
                  </m:oMath>
                </a14:m>
                <a:r>
                  <a:rPr lang="zh-CN" altLang="zh-CN" dirty="0">
                    <a:latin typeface="Cambria Math" panose="02040503050406030204" pitchFamily="18" charset="0"/>
                  </a:rPr>
                  <a:t>，</a:t>
                </a:r>
                <a14:m>
                  <m:oMath xmlns:m="http://schemas.openxmlformats.org/officeDocument/2006/math">
                    <m:r>
                      <a:rPr lang="en-US" altLang="zh-CN"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e>
                    </m:d>
                    <m:r>
                      <a:rPr lang="en-US" altLang="zh-CN">
                        <a:latin typeface="Cambria Math" panose="02040503050406030204" pitchFamily="18" charset="0"/>
                        <a:ea typeface="Cambria Math" panose="02040503050406030204" pitchFamily="18" charset="0"/>
                        <a:cs typeface="Cambria Math" panose="02040503050406030204" pitchFamily="18" charset="0"/>
                      </a:rPr>
                      <m:t>=</m:t>
                    </m:r>
                    <m:r>
                      <a:rPr lang="en-US" altLang="zh-CN">
                        <a:latin typeface="Cambria Math" panose="02040503050406030204" pitchFamily="18" charset="0"/>
                        <a:ea typeface="Cambria Math" panose="02040503050406030204" pitchFamily="18" charset="0"/>
                      </a:rPr>
                      <m:t>81</m:t>
                    </m:r>
                  </m:oMath>
                </a14:m>
                <a:r>
                  <a:rPr lang="zh-CN" altLang="zh-CN" dirty="0">
                    <a:latin typeface="Cambria Math" panose="02040503050406030204" pitchFamily="18" charset="0"/>
                  </a:rPr>
                  <a:t>，首先在</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𝑒</m:t>
                        </m:r>
                      </m:e>
                      <m:sub>
                        <m:r>
                          <a:rPr lang="en-US" altLang="zh-CN">
                            <a:latin typeface="Cambria Math" panose="02040503050406030204" pitchFamily="18" charset="0"/>
                            <a:ea typeface="Cambria Math" panose="02040503050406030204" pitchFamily="18" charset="0"/>
                          </a:rPr>
                          <m:t>1</m:t>
                        </m:r>
                      </m:sub>
                    </m:sSub>
                  </m:oMath>
                </a14:m>
                <a:r>
                  <a:rPr lang="zh-CN" altLang="zh-CN" dirty="0">
                    <a:latin typeface="Cambria Math" panose="02040503050406030204" pitchFamily="18" charset="0"/>
                  </a:rPr>
                  <a:t>方向上做轴向搜索：</a:t>
                </a:r>
              </a:p>
              <a:p>
                <a:pPr algn="just"/>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𝛿</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𝑒</m:t>
                          </m:r>
                        </m:e>
                        <m:sub>
                          <m:r>
                            <a:rPr lang="en-US" altLang="zh-CN" i="1">
                              <a:latin typeface="Cambria Math" panose="02040503050406030204" pitchFamily="18" charset="0"/>
                              <a:cs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(2,0)</m:t>
                          </m:r>
                        </m:e>
                        <m:sup>
                          <m:r>
                            <m:rPr>
                              <m:sty m:val="p"/>
                            </m:rPr>
                            <a:rPr lang="en-US" altLang="zh-CN">
                              <a:latin typeface="Cambria Math" panose="02040503050406030204" pitchFamily="18" charset="0"/>
                              <a:ea typeface="Cambria Math" panose="02040503050406030204" pitchFamily="18" charset="0"/>
                            </a:rPr>
                            <m:t>T</m:t>
                          </m:r>
                        </m:sup>
                      </m:sSup>
                      <m:r>
                        <a:rPr lang="en-US" altLang="zh-CN">
                          <a:latin typeface="Cambria Math" panose="02040503050406030204" pitchFamily="18" charset="0"/>
                          <a:ea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1</m:t>
                          </m:r>
                        </m:num>
                        <m:den>
                          <m:r>
                            <a:rPr lang="en-US" altLang="zh-CN">
                              <a:latin typeface="Cambria Math" panose="02040503050406030204" pitchFamily="18" charset="0"/>
                              <a:ea typeface="Cambria Math" panose="02040503050406030204" pitchFamily="18" charset="0"/>
                            </a:rPr>
                            <m:t>2</m:t>
                          </m:r>
                        </m:den>
                      </m:f>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(1,0)</m:t>
                          </m:r>
                        </m:e>
                        <m:sup>
                          <m:r>
                            <m:rPr>
                              <m:sty m:val="p"/>
                            </m:rPr>
                            <a:rPr lang="en-US" altLang="zh-CN">
                              <a:latin typeface="Cambria Math" panose="02040503050406030204" pitchFamily="18" charset="0"/>
                              <a:ea typeface="Cambria Math" panose="02040503050406030204" pitchFamily="18" charset="0"/>
                            </a:rPr>
                            <m:t>T</m:t>
                          </m:r>
                        </m:sup>
                      </m:sSup>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5</m:t>
                              </m:r>
                            </m:num>
                            <m:den>
                              <m:r>
                                <a:rPr lang="en-US" altLang="zh-CN">
                                  <a:latin typeface="Cambria Math" panose="02040503050406030204" pitchFamily="18" charset="0"/>
                                  <a:ea typeface="Cambria Math" panose="02040503050406030204" pitchFamily="18" charset="0"/>
                                </a:rPr>
                                <m:t>2</m:t>
                              </m:r>
                            </m:den>
                          </m:f>
                          <m:r>
                            <a:rPr lang="en-US" altLang="zh-CN">
                              <a:latin typeface="Cambria Math" panose="02040503050406030204" pitchFamily="18" charset="0"/>
                              <a:ea typeface="Cambria Math" panose="02040503050406030204" pitchFamily="18" charset="0"/>
                            </a:rPr>
                            <m:t>,0)</m:t>
                          </m:r>
                        </m:e>
                        <m:sup>
                          <m:r>
                            <m:rPr>
                              <m:sty m:val="p"/>
                            </m:rPr>
                            <a:rPr lang="en-US" altLang="zh-CN">
                              <a:latin typeface="Cambria Math" panose="02040503050406030204" pitchFamily="18" charset="0"/>
                              <a:ea typeface="Cambria Math" panose="02040503050406030204" pitchFamily="18" charset="0"/>
                            </a:rPr>
                            <m:t>T</m:t>
                          </m:r>
                        </m:sup>
                      </m:sSup>
                    </m:oMath>
                  </m:oMathPara>
                </a14:m>
                <a:endParaRPr lang="zh-CN" altLang="zh-CN"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𝛿</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𝑒</m:t>
                              </m:r>
                            </m:e>
                            <m:sub>
                              <m:r>
                                <a:rPr lang="en-US" altLang="zh-CN" i="1">
                                  <a:latin typeface="Cambria Math" panose="02040503050406030204" pitchFamily="18" charset="0"/>
                                  <a:cs typeface="Cambria Math" panose="02040503050406030204" pitchFamily="18" charset="0"/>
                                </a:rPr>
                                <m:t>1</m:t>
                              </m:r>
                            </m:sub>
                          </m:sSub>
                        </m:e>
                      </m:d>
                      <m:r>
                        <a:rPr lang="en-US" altLang="zh-CN">
                          <a:latin typeface="Cambria Math" panose="02040503050406030204" pitchFamily="18" charset="0"/>
                          <a:ea typeface="Cambria Math" panose="02040503050406030204" pitchFamily="18" charset="0"/>
                        </a:rPr>
                        <m:t>=197</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9</m:t>
                          </m:r>
                        </m:num>
                        <m:den>
                          <m:r>
                            <a:rPr lang="en-US" altLang="zh-CN">
                              <a:latin typeface="Cambria Math" panose="02040503050406030204" pitchFamily="18" charset="0"/>
                              <a:ea typeface="Cambria Math" panose="02040503050406030204" pitchFamily="18" charset="0"/>
                            </a:rPr>
                            <m:t>16</m:t>
                          </m:r>
                        </m:den>
                      </m:f>
                      <m:r>
                        <a:rPr lang="en-US" altLang="zh-CN">
                          <a:latin typeface="Cambria Math" panose="02040503050406030204" pitchFamily="18" charset="0"/>
                          <a:ea typeface="Cambria Math" panose="02040503050406030204" pitchFamily="18" charset="0"/>
                        </a:rPr>
                        <m:t>&gt;</m:t>
                      </m:r>
                      <m:r>
                        <a:rPr lang="en-US" altLang="zh-CN"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e>
                      </m:d>
                    </m:oMath>
                  </m:oMathPara>
                </a14:m>
                <a:endParaRPr lang="en-US" altLang="zh-CN" i="1"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𝛿</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𝑒</m:t>
                          </m:r>
                        </m:e>
                        <m:sub>
                          <m:r>
                            <a:rPr lang="en-US" altLang="zh-CN" i="1">
                              <a:latin typeface="Cambria Math" panose="02040503050406030204" pitchFamily="18" charset="0"/>
                              <a:cs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(2,0)</m:t>
                          </m:r>
                        </m:e>
                        <m:sup>
                          <m:r>
                            <m:rPr>
                              <m:sty m:val="p"/>
                            </m:rPr>
                            <a:rPr lang="en-US" altLang="zh-CN">
                              <a:latin typeface="Cambria Math" panose="02040503050406030204" pitchFamily="18" charset="0"/>
                              <a:ea typeface="Cambria Math" panose="02040503050406030204" pitchFamily="18" charset="0"/>
                            </a:rPr>
                            <m:t>T</m:t>
                          </m:r>
                        </m:sup>
                      </m:sSup>
                      <m:r>
                        <a:rPr lang="zh-CN" altLang="en-US">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1</m:t>
                          </m:r>
                        </m:num>
                        <m:den>
                          <m:r>
                            <a:rPr lang="en-US" altLang="zh-CN">
                              <a:latin typeface="Cambria Math" panose="02040503050406030204" pitchFamily="18" charset="0"/>
                              <a:ea typeface="Cambria Math" panose="02040503050406030204" pitchFamily="18" charset="0"/>
                            </a:rPr>
                            <m:t>2</m:t>
                          </m:r>
                        </m:den>
                      </m:f>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(1,0)</m:t>
                          </m:r>
                        </m:e>
                        <m:sup>
                          <m:r>
                            <m:rPr>
                              <m:sty m:val="p"/>
                            </m:rPr>
                            <a:rPr lang="en-US" altLang="zh-CN">
                              <a:latin typeface="Cambria Math" panose="02040503050406030204" pitchFamily="18" charset="0"/>
                              <a:ea typeface="Cambria Math" panose="02040503050406030204" pitchFamily="18" charset="0"/>
                            </a:rPr>
                            <m:t>T</m:t>
                          </m:r>
                        </m:sup>
                      </m:sSup>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3</m:t>
                              </m:r>
                            </m:num>
                            <m:den>
                              <m:r>
                                <a:rPr lang="en-US" altLang="zh-CN">
                                  <a:latin typeface="Cambria Math" panose="02040503050406030204" pitchFamily="18" charset="0"/>
                                  <a:ea typeface="Cambria Math" panose="02040503050406030204" pitchFamily="18" charset="0"/>
                                </a:rPr>
                                <m:t>2</m:t>
                              </m:r>
                            </m:den>
                          </m:f>
                          <m:r>
                            <a:rPr lang="en-US" altLang="zh-CN">
                              <a:latin typeface="Cambria Math" panose="02040503050406030204" pitchFamily="18" charset="0"/>
                              <a:ea typeface="Cambria Math" panose="02040503050406030204" pitchFamily="18" charset="0"/>
                            </a:rPr>
                            <m:t>,0)</m:t>
                          </m:r>
                        </m:e>
                        <m:sup>
                          <m:r>
                            <m:rPr>
                              <m:sty m:val="p"/>
                            </m:rPr>
                            <a:rPr lang="en-US" altLang="zh-CN">
                              <a:latin typeface="Cambria Math" panose="02040503050406030204" pitchFamily="18" charset="0"/>
                              <a:ea typeface="Cambria Math" panose="02040503050406030204" pitchFamily="18" charset="0"/>
                            </a:rPr>
                            <m:t>T</m:t>
                          </m:r>
                        </m:sup>
                      </m:sSup>
                    </m:oMath>
                  </m:oMathPara>
                </a14:m>
                <a:endParaRPr lang="zh-CN" altLang="zh-CN"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𝛿</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𝑒</m:t>
                              </m:r>
                            </m:e>
                            <m:sub>
                              <m:r>
                                <a:rPr lang="en-US" altLang="zh-CN" i="1">
                                  <a:latin typeface="Cambria Math" panose="02040503050406030204" pitchFamily="18" charset="0"/>
                                  <a:cs typeface="Cambria Math" panose="02040503050406030204" pitchFamily="18" charset="0"/>
                                </a:rPr>
                                <m:t>1</m:t>
                              </m:r>
                            </m:sub>
                          </m:sSub>
                        </m:e>
                      </m:d>
                      <m:r>
                        <a:rPr lang="en-US" altLang="zh-CN">
                          <a:latin typeface="Cambria Math" panose="02040503050406030204" pitchFamily="18" charset="0"/>
                          <a:cs typeface="Cambria Math" panose="02040503050406030204" pitchFamily="18" charset="0"/>
                        </a:rPr>
                        <m:t>=</m:t>
                      </m:r>
                      <m:r>
                        <a:rPr lang="en-US" altLang="zh-CN">
                          <a:latin typeface="Cambria Math" panose="02040503050406030204" pitchFamily="18" charset="0"/>
                          <a:ea typeface="Cambria Math" panose="02040503050406030204" pitchFamily="18" charset="0"/>
                        </a:rPr>
                        <m:t>25</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9</m:t>
                          </m:r>
                        </m:num>
                        <m:den>
                          <m:r>
                            <a:rPr lang="en-US" altLang="zh-CN">
                              <a:latin typeface="Cambria Math" panose="02040503050406030204" pitchFamily="18" charset="0"/>
                              <a:ea typeface="Cambria Math" panose="02040503050406030204" pitchFamily="18" charset="0"/>
                            </a:rPr>
                            <m:t>16</m:t>
                          </m:r>
                        </m:den>
                      </m:f>
                      <m:r>
                        <a:rPr lang="en-US" altLang="zh-CN">
                          <a:latin typeface="Cambria Math" panose="02040503050406030204" pitchFamily="18" charset="0"/>
                          <a:ea typeface="Cambria Math" panose="02040503050406030204" pitchFamily="18" charset="0"/>
                        </a:rPr>
                        <m:t>&lt;</m:t>
                      </m:r>
                      <m:r>
                        <a:rPr lang="en-US" altLang="zh-CN"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e>
                      </m:d>
                    </m:oMath>
                  </m:oMathPara>
                </a14:m>
                <a:endParaRPr lang="en-US" altLang="zh-CN" dirty="0">
                  <a:latin typeface="Cambria Math" panose="02040503050406030204" pitchFamily="18" charset="0"/>
                </a:endParaRPr>
              </a:p>
              <a:p>
                <a:pPr algn="just"/>
                <a:r>
                  <a:rPr lang="en-US" altLang="zh-CN" dirty="0">
                    <a:latin typeface="Cambria Math" panose="02040503050406030204" pitchFamily="18" charset="0"/>
                  </a:rPr>
                  <a:t>      </a:t>
                </a:r>
                <a:r>
                  <a:rPr lang="zh-CN" altLang="zh-CN" dirty="0">
                    <a:latin typeface="Cambria Math" panose="02040503050406030204" pitchFamily="18" charset="0"/>
                  </a:rPr>
                  <a:t>所以</a:t>
                </a:r>
              </a:p>
              <a:p>
                <a:pPr algn="ct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a:latin typeface="Cambria Math" panose="02040503050406030204" pitchFamily="18" charset="0"/>
                            <a:ea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𝛿</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𝑒</m:t>
                        </m:r>
                      </m:e>
                      <m:sub>
                        <m:r>
                          <a:rPr lang="en-US" altLang="zh-CN" i="1">
                            <a:latin typeface="Cambria Math" panose="02040503050406030204" pitchFamily="18" charset="0"/>
                            <a:cs typeface="Cambria Math" panose="02040503050406030204" pitchFamily="18" charset="0"/>
                          </a:rPr>
                          <m:t>1</m:t>
                        </m:r>
                      </m:sub>
                    </m:sSub>
                    <m:r>
                      <a:rPr lang="en-US" altLang="zh-CN">
                        <a:latin typeface="Cambria Math" panose="02040503050406030204" pitchFamily="18" charset="0"/>
                        <a:ea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3</m:t>
                            </m:r>
                          </m:num>
                          <m:den>
                            <m:r>
                              <a:rPr lang="en-US" altLang="zh-CN">
                                <a:latin typeface="Cambria Math" panose="02040503050406030204" pitchFamily="18" charset="0"/>
                                <a:ea typeface="Cambria Math" panose="02040503050406030204" pitchFamily="18" charset="0"/>
                              </a:rPr>
                              <m:t>2</m:t>
                            </m:r>
                          </m:den>
                        </m:f>
                        <m:r>
                          <a:rPr lang="en-US" altLang="zh-CN">
                            <a:latin typeface="Cambria Math" panose="02040503050406030204" pitchFamily="18" charset="0"/>
                            <a:ea typeface="Cambria Math" panose="02040503050406030204" pitchFamily="18" charset="0"/>
                          </a:rPr>
                          <m:t>,0)</m:t>
                        </m:r>
                      </m:e>
                      <m:sup>
                        <m:r>
                          <m:rPr>
                            <m:sty m:val="p"/>
                          </m:rPr>
                          <a:rPr lang="en-US" altLang="zh-CN">
                            <a:latin typeface="Cambria Math" panose="02040503050406030204" pitchFamily="18" charset="0"/>
                            <a:ea typeface="Cambria Math" panose="02040503050406030204" pitchFamily="18" charset="0"/>
                          </a:rPr>
                          <m:t>T</m:t>
                        </m:r>
                      </m:sup>
                    </m:sSup>
                  </m:oMath>
                </a14:m>
                <a:r>
                  <a:rPr lang="en-US" altLang="zh-CN" dirty="0">
                    <a:latin typeface="Cambria Math" panose="02040503050406030204" pitchFamily="18" charset="0"/>
                    <a:ea typeface="Cambria Math" panose="02040503050406030204" pitchFamily="18" charset="0"/>
                  </a:rPr>
                  <a:t>,</a:t>
                </a:r>
                <a14:m>
                  <m:oMath xmlns:m="http://schemas.openxmlformats.org/officeDocument/2006/math">
                    <m:r>
                      <a:rPr lang="en-US" altLang="zh-CN"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2</m:t>
                            </m:r>
                          </m:sub>
                        </m:sSub>
                      </m:e>
                    </m:d>
                    <m:r>
                      <a:rPr lang="en-US" altLang="zh-CN">
                        <a:latin typeface="Cambria Math" panose="02040503050406030204" pitchFamily="18" charset="0"/>
                        <a:ea typeface="Cambria Math" panose="02040503050406030204" pitchFamily="18" charset="0"/>
                      </a:rPr>
                      <m:t>=25</m:t>
                    </m:r>
                    <m:f>
                      <m:fPr>
                        <m:ctrlPr>
                          <a:rPr lang="zh-CN" altLang="zh-CN" i="1">
                            <a:latin typeface="Cambria Math" panose="02040503050406030204" pitchFamily="18" charset="0"/>
                          </a:rPr>
                        </m:ctrlPr>
                      </m:fPr>
                      <m:num>
                        <m:r>
                          <a:rPr lang="en-US" altLang="zh-CN">
                            <a:latin typeface="Cambria Math" panose="02040503050406030204" pitchFamily="18" charset="0"/>
                            <a:ea typeface="Cambria Math" panose="02040503050406030204" pitchFamily="18" charset="0"/>
                          </a:rPr>
                          <m:t>9</m:t>
                        </m:r>
                      </m:num>
                      <m:den>
                        <m:r>
                          <a:rPr lang="en-US" altLang="zh-CN">
                            <a:latin typeface="Cambria Math" panose="02040503050406030204" pitchFamily="18" charset="0"/>
                            <a:ea typeface="Cambria Math" panose="02040503050406030204" pitchFamily="18" charset="0"/>
                          </a:rPr>
                          <m:t>16</m:t>
                        </m:r>
                      </m:den>
                    </m:f>
                  </m:oMath>
                </a14:m>
                <a:endParaRPr lang="zh-CN" altLang="zh-CN" dirty="0">
                  <a:latin typeface="Cambria Math" panose="020405030504060302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395536" y="266564"/>
                <a:ext cx="8136904" cy="6034729"/>
              </a:xfrm>
              <a:prstGeom prst="rect">
                <a:avLst/>
              </a:prstGeom>
              <a:blipFill rotWithShape="1">
                <a:blip r:embed="rId2"/>
                <a:stretch>
                  <a:fillRect l="-7" t="-8" r="7" b="3"/>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478788" y="260648"/>
                <a:ext cx="8208912" cy="6132833"/>
              </a:xfrm>
              <a:prstGeom prst="rect">
                <a:avLst/>
              </a:prstGeom>
              <a:noFill/>
            </p:spPr>
            <p:txBody>
              <a:bodyPr wrap="square">
                <a:spAutoFit/>
              </a:bodyPr>
              <a:lstStyle/>
              <a:p>
                <a:pPr indent="200025" algn="just"/>
                <a:r>
                  <a:rPr lang="zh-CN" altLang="zh-CN" sz="2400" kern="100" dirty="0">
                    <a:latin typeface="Times New Roman" panose="02020603050405020304" pitchFamily="18" charset="0"/>
                    <a:ea typeface="宋体" panose="02010600030101010101" pitchFamily="2" charset="-122"/>
                  </a:rPr>
                  <a:t>再在</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𝑒</m:t>
                        </m:r>
                      </m:e>
                      <m:sub>
                        <m:r>
                          <a:rPr lang="en-US" altLang="zh-CN" sz="2400" i="1" kern="100">
                            <a:latin typeface="Cambria Math" panose="02040503050406030204" pitchFamily="18" charset="0"/>
                            <a:ea typeface="宋体" panose="02010600030101010101" pitchFamily="2" charset="-122"/>
                          </a:rPr>
                          <m:t>2</m:t>
                        </m:r>
                      </m:sub>
                    </m:sSub>
                  </m:oMath>
                </a14:m>
                <a:r>
                  <a:rPr lang="zh-CN" altLang="zh-CN" sz="2400" kern="100" dirty="0">
                    <a:latin typeface="Times New Roman" panose="02020603050405020304" pitchFamily="18" charset="0"/>
                    <a:ea typeface="宋体" panose="02010600030101010101" pitchFamily="2" charset="-122"/>
                  </a:rPr>
                  <a:t>方向上做轴向搜索：</a:t>
                </a:r>
              </a:p>
              <a:p>
                <a:pPr indent="200025" algn="just"/>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2</m:t>
                          </m:r>
                        </m:sub>
                      </m:sSub>
                      <m:r>
                        <a:rPr lang="en-US" altLang="zh-CN" sz="240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𝛿</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𝑒</m:t>
                          </m:r>
                        </m:e>
                        <m:sub>
                          <m:r>
                            <a:rPr lang="en-US" altLang="zh-CN" sz="2400" i="1">
                              <a:latin typeface="Cambria Math" panose="02040503050406030204" pitchFamily="18" charset="0"/>
                              <a:cs typeface="Cambria Math" panose="02040503050406030204" pitchFamily="18" charset="0"/>
                            </a:rPr>
                            <m:t>2</m:t>
                          </m:r>
                        </m:sub>
                      </m:sSub>
                      <m:r>
                        <a:rPr lang="en-US" altLang="zh-CN" sz="2400"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3</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,0)</m:t>
                          </m:r>
                        </m:e>
                        <m:sup>
                          <m:r>
                            <m:rPr>
                              <m:sty m:val="p"/>
                            </m:rPr>
                            <a:rPr lang="en-US" altLang="zh-CN" sz="2400" kern="100">
                              <a:latin typeface="Cambria Math" panose="02040503050406030204" pitchFamily="18" charset="0"/>
                              <a:ea typeface="宋体" panose="02010600030101010101" pitchFamily="2" charset="-122"/>
                            </a:rPr>
                            <m:t>T</m:t>
                          </m:r>
                        </m:sup>
                      </m:sSup>
                      <m:r>
                        <a:rPr lang="en-US" altLang="zh-CN" sz="2400"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1</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(0,1)</m:t>
                          </m:r>
                        </m:e>
                        <m:sup>
                          <m:r>
                            <m:rPr>
                              <m:sty m:val="p"/>
                            </m:rPr>
                            <a:rPr lang="en-US" altLang="zh-CN" sz="2400" kern="100">
                              <a:latin typeface="Cambria Math" panose="02040503050406030204" pitchFamily="18" charset="0"/>
                              <a:ea typeface="宋体" panose="02010600030101010101" pitchFamily="2" charset="-122"/>
                            </a:rPr>
                            <m:t>T</m:t>
                          </m:r>
                        </m:sup>
                      </m:sSup>
                      <m:r>
                        <a:rPr lang="en-US" altLang="zh-CN" sz="2400"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3</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1</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e>
                        <m:sup>
                          <m:r>
                            <m:rPr>
                              <m:sty m:val="p"/>
                            </m:rPr>
                            <a:rPr lang="en-US" altLang="zh-CN" sz="2400" kern="100">
                              <a:latin typeface="Cambria Math" panose="02040503050406030204" pitchFamily="18" charset="0"/>
                              <a:ea typeface="宋体" panose="02010600030101010101" pitchFamily="2" charset="-122"/>
                            </a:rPr>
                            <m:t>T</m:t>
                          </m:r>
                        </m:sup>
                      </m:sSup>
                    </m:oMath>
                  </m:oMathPara>
                </a14:m>
                <a:endParaRPr lang="zh-CN" altLang="zh-CN" sz="2400" kern="100" dirty="0">
                  <a:latin typeface="Times New Roman" panose="02020603050405020304" pitchFamily="18" charset="0"/>
                  <a:ea typeface="宋体" panose="02010600030101010101" pitchFamily="2" charset="-122"/>
                </a:endParaRPr>
              </a:p>
              <a:p>
                <a:pPr indent="200025" algn="just"/>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sz="2400"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2</m:t>
                              </m:r>
                            </m:sub>
                          </m:sSub>
                          <m:r>
                            <a:rPr lang="en-US" altLang="zh-CN" sz="240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𝛿</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𝑒</m:t>
                              </m:r>
                            </m:e>
                            <m:sub>
                              <m:r>
                                <a:rPr lang="en-US" altLang="zh-CN" sz="2400" i="1">
                                  <a:latin typeface="Cambria Math" panose="02040503050406030204" pitchFamily="18" charset="0"/>
                                  <a:cs typeface="Cambria Math" panose="02040503050406030204" pitchFamily="18" charset="0"/>
                                </a:rPr>
                                <m:t>2</m:t>
                              </m:r>
                            </m:sub>
                          </m:sSub>
                        </m:e>
                      </m:d>
                      <m:r>
                        <a:rPr lang="en-US" altLang="zh-CN" sz="2400">
                          <a:latin typeface="Cambria Math" panose="02040503050406030204" pitchFamily="18" charset="0"/>
                          <a:cs typeface="Cambria Math" panose="02040503050406030204" pitchFamily="18" charset="0"/>
                        </a:rPr>
                        <m:t>=</m:t>
                      </m:r>
                      <m:r>
                        <a:rPr lang="en-US" altLang="zh-CN" sz="2400" kern="100">
                          <a:latin typeface="Cambria Math" panose="02040503050406030204" pitchFamily="18" charset="0"/>
                          <a:ea typeface="宋体" panose="02010600030101010101" pitchFamily="2" charset="-122"/>
                        </a:rPr>
                        <m:t>15</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9</m:t>
                          </m:r>
                        </m:num>
                        <m:den>
                          <m:r>
                            <a:rPr lang="en-US" altLang="zh-CN" sz="2400" kern="100">
                              <a:latin typeface="Cambria Math" panose="02040503050406030204" pitchFamily="18" charset="0"/>
                              <a:ea typeface="宋体" panose="02010600030101010101" pitchFamily="2" charset="-122"/>
                            </a:rPr>
                            <m:t>16</m:t>
                          </m:r>
                        </m:den>
                      </m:f>
                      <m:r>
                        <a:rPr lang="en-US" altLang="zh-CN" sz="2400" kern="100">
                          <a:latin typeface="Cambria Math" panose="02040503050406030204" pitchFamily="18" charset="0"/>
                          <a:ea typeface="宋体" panose="02010600030101010101" pitchFamily="2" charset="-122"/>
                        </a:rPr>
                        <m:t>&lt;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sz="2400"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2</m:t>
                              </m:r>
                            </m:sub>
                          </m:sSub>
                        </m:e>
                      </m:d>
                    </m:oMath>
                  </m:oMathPara>
                </a14:m>
                <a:endParaRPr lang="en-US" altLang="zh-CN" sz="2400" kern="100" dirty="0">
                  <a:latin typeface="Times New Roman" panose="02020603050405020304" pitchFamily="18" charset="0"/>
                  <a:ea typeface="宋体" panose="02010600030101010101" pitchFamily="2" charset="-122"/>
                </a:endParaRPr>
              </a:p>
              <a:p>
                <a:pPr indent="200025" algn="just"/>
                <a:r>
                  <a:rPr lang="zh-CN" altLang="zh-CN" sz="2400" kern="100" dirty="0">
                    <a:latin typeface="Times New Roman" panose="02020603050405020304" pitchFamily="18" charset="0"/>
                    <a:ea typeface="宋体" panose="02010600030101010101" pitchFamily="2" charset="-122"/>
                  </a:rPr>
                  <a:t>所以</a:t>
                </a:r>
              </a:p>
              <a:p>
                <a:pPr indent="200025" algn="just"/>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3</m:t>
                          </m:r>
                        </m:sub>
                      </m:sSub>
                      <m:r>
                        <a:rPr lang="en-US" altLang="zh-CN" sz="2400" kern="100">
                          <a:latin typeface="Cambria Math" panose="02040503050406030204" pitchFamily="18" charset="0"/>
                          <a:ea typeface="宋体" panose="02010600030101010101" pitchFamily="2" charset="-122"/>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2</m:t>
                          </m:r>
                        </m:sub>
                      </m:sSub>
                      <m:r>
                        <a:rPr lang="en-US" altLang="zh-CN" sz="240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𝛿</m:t>
                      </m:r>
                      <m:sSub>
                        <m:sSubPr>
                          <m:ctrlPr>
                            <a:rPr lang="en-US" altLang="zh-CN" sz="2400" i="1">
                              <a:latin typeface="Cambria Math" panose="02040503050406030204" pitchFamily="18" charset="0"/>
                              <a:cs typeface="Cambria Math" panose="02040503050406030204" pitchFamily="18" charset="0"/>
                            </a:rPr>
                          </m:ctrlPr>
                        </m:sSubPr>
                        <m:e>
                          <m:r>
                            <a:rPr lang="en-US" altLang="zh-CN" sz="2400" i="1">
                              <a:latin typeface="Cambria Math" panose="02040503050406030204" pitchFamily="18" charset="0"/>
                              <a:cs typeface="Cambria Math" panose="02040503050406030204" pitchFamily="18" charset="0"/>
                            </a:rPr>
                            <m:t>𝑒</m:t>
                          </m:r>
                        </m:e>
                        <m:sub>
                          <m:r>
                            <a:rPr lang="en-US" altLang="zh-CN" sz="2400" i="1">
                              <a:latin typeface="Cambria Math" panose="02040503050406030204" pitchFamily="18" charset="0"/>
                              <a:cs typeface="Cambria Math" panose="02040503050406030204" pitchFamily="18" charset="0"/>
                            </a:rPr>
                            <m:t>2</m:t>
                          </m:r>
                        </m:sub>
                      </m:sSub>
                      <m:r>
                        <a:rPr lang="en-US" altLang="zh-CN" sz="2400"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3</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1</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e>
                        <m:sup>
                          <m:r>
                            <m:rPr>
                              <m:sty m:val="p"/>
                            </m:rPr>
                            <a:rPr lang="en-US" altLang="zh-CN" sz="2400" kern="100">
                              <a:latin typeface="Cambria Math" panose="02040503050406030204" pitchFamily="18" charset="0"/>
                              <a:ea typeface="宋体" panose="02010600030101010101" pitchFamily="2" charset="-122"/>
                            </a:rPr>
                            <m:t>T</m:t>
                          </m:r>
                        </m:sup>
                      </m:sSup>
                      <m:r>
                        <a:rPr lang="en-US" altLang="zh-CN" sz="2400" i="1" kern="100">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sz="2400"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3</m:t>
                              </m:r>
                            </m:sub>
                          </m:sSub>
                        </m:e>
                      </m:d>
                      <m:r>
                        <a:rPr lang="en-US" altLang="zh-CN" sz="2400">
                          <a:latin typeface="Cambria Math" panose="02040503050406030204" pitchFamily="18" charset="0"/>
                          <a:ea typeface="Cambria Math" panose="02040503050406030204" pitchFamily="18" charset="0"/>
                        </a:rPr>
                        <m:t>=</m:t>
                      </m:r>
                      <m:r>
                        <a:rPr lang="en-US" altLang="zh-CN" sz="2400" kern="100">
                          <a:latin typeface="Cambria Math" panose="02040503050406030204" pitchFamily="18" charset="0"/>
                          <a:ea typeface="宋体" panose="02010600030101010101" pitchFamily="2" charset="-122"/>
                        </a:rPr>
                        <m:t>15</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9</m:t>
                          </m:r>
                        </m:num>
                        <m:den>
                          <m:r>
                            <a:rPr lang="en-US" altLang="zh-CN" sz="2400" kern="100">
                              <a:latin typeface="Cambria Math" panose="02040503050406030204" pitchFamily="18" charset="0"/>
                              <a:ea typeface="宋体" panose="02010600030101010101" pitchFamily="2" charset="-122"/>
                            </a:rPr>
                            <m:t>16</m:t>
                          </m:r>
                        </m:den>
                      </m:f>
                    </m:oMath>
                  </m:oMathPara>
                </a14:m>
                <a:endParaRPr lang="zh-CN" altLang="zh-CN" sz="2400" kern="100" dirty="0">
                  <a:latin typeface="Times New Roman" panose="02020603050405020304" pitchFamily="18" charset="0"/>
                  <a:ea typeface="宋体" panose="02010600030101010101" pitchFamily="2" charset="-122"/>
                </a:endParaRPr>
              </a:p>
              <a:p>
                <a:pPr indent="200025" algn="just">
                  <a:lnSpc>
                    <a:spcPct val="120000"/>
                  </a:lnSpc>
                </a:pPr>
                <a:r>
                  <a:rPr lang="zh-CN" altLang="zh-CN" sz="2400" kern="100" dirty="0">
                    <a:latin typeface="Times New Roman" panose="02020603050405020304" pitchFamily="18" charset="0"/>
                    <a:ea typeface="宋体" panose="02010600030101010101" pitchFamily="2" charset="-122"/>
                  </a:rPr>
                  <a:t>轴向搜索完成。</a:t>
                </a:r>
              </a:p>
              <a:p>
                <a:pPr indent="200025" algn="just"/>
                <a:r>
                  <a:rPr lang="en-US" altLang="zh-CN" sz="2400" kern="100" dirty="0">
                    <a:latin typeface="宋体" panose="02010600030101010101" pitchFamily="2" charset="-122"/>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因为</a:t>
                </a:r>
                <a14:m>
                  <m:oMath xmlns:m="http://schemas.openxmlformats.org/officeDocument/2006/math">
                    <m:r>
                      <a:rPr lang="en-US" altLang="zh-CN" sz="2400" i="1">
                        <a:latin typeface="Cambria Math" panose="02040503050406030204" pitchFamily="18" charset="0"/>
                        <a:ea typeface="Cambria Math" panose="02040503050406030204" pitchFamily="18" charset="0"/>
                        <a:cs typeface="Cambria Math" panose="02040503050406030204" pitchFamily="18" charset="0"/>
                      </a:rPr>
                      <m:t>𝑓</m:t>
                    </m:r>
                    <m:d>
                      <m:dPr>
                        <m:ctrlPr>
                          <a:rPr lang="en-US" altLang="zh-CN" sz="2400"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ea typeface="Cambria Math" panose="02040503050406030204" pitchFamily="18" charset="0"/>
                              </a:rPr>
                              <m:t>𝑡</m:t>
                            </m:r>
                          </m:e>
                          <m:sub>
                            <m:r>
                              <a:rPr lang="en-US" altLang="zh-CN" sz="2400" i="1">
                                <a:latin typeface="Cambria Math" panose="02040503050406030204" pitchFamily="18" charset="0"/>
                                <a:ea typeface="Cambria Math" panose="02040503050406030204" pitchFamily="18" charset="0"/>
                              </a:rPr>
                              <m:t>3</m:t>
                            </m:r>
                          </m:sub>
                        </m:sSub>
                      </m:e>
                    </m:d>
                    <m:r>
                      <a:rPr lang="en-US" altLang="zh-CN" sz="2400">
                        <a:latin typeface="Cambria Math" panose="02040503050406030204" pitchFamily="18" charset="0"/>
                        <a:ea typeface="Cambria Math" panose="02040503050406030204" pitchFamily="18" charset="0"/>
                      </a:rPr>
                      <m:t>&lt;</m:t>
                    </m:r>
                    <m:r>
                      <a:rPr lang="en-US" altLang="zh-CN" sz="2400" i="1">
                        <a:latin typeface="Cambria Math" panose="02040503050406030204" pitchFamily="18" charset="0"/>
                        <a:ea typeface="Cambria Math" panose="02040503050406030204" pitchFamily="18" charset="0"/>
                      </a:rPr>
                      <m:t>𝑓</m:t>
                    </m:r>
                    <m:d>
                      <m:dPr>
                        <m:ctrlPr>
                          <a:rPr lang="en-US" altLang="zh-CN" sz="2400" i="1">
                            <a:latin typeface="Cambria Math" panose="02040503050406030204" pitchFamily="18" charset="0"/>
                            <a:ea typeface="Cambria Math" panose="02040503050406030204" pitchFamily="18" charset="0"/>
                          </a:rPr>
                        </m:ctrlPr>
                      </m:dPr>
                      <m:e>
                        <m:sSup>
                          <m:sSupPr>
                            <m:ctrlPr>
                              <a:rPr lang="zh-CN" altLang="zh-CN" sz="2400" i="1">
                                <a:latin typeface="Cambria Math" panose="02040503050406030204" pitchFamily="18" charset="0"/>
                              </a:rPr>
                            </m:ctrlPr>
                          </m:sSupPr>
                          <m:e>
                            <m:r>
                              <a:rPr lang="en-US" altLang="zh-CN" sz="2400">
                                <a:latin typeface="Cambria Math" panose="02040503050406030204" pitchFamily="18" charset="0"/>
                                <a:ea typeface="Cambria Math" panose="02040503050406030204" pitchFamily="18" charset="0"/>
                              </a:rPr>
                              <m:t>𝑥</m:t>
                            </m:r>
                          </m:e>
                          <m:sup>
                            <m:d>
                              <m:dPr>
                                <m:ctrlPr>
                                  <a:rPr lang="zh-CN" altLang="zh-CN" sz="2400" i="1">
                                    <a:latin typeface="Cambria Math" panose="02040503050406030204" pitchFamily="18" charset="0"/>
                                  </a:rPr>
                                </m:ctrlPr>
                              </m:dPr>
                              <m:e>
                                <m:r>
                                  <a:rPr lang="en-US" altLang="zh-CN" sz="2400">
                                    <a:latin typeface="Cambria Math" panose="02040503050406030204" pitchFamily="18" charset="0"/>
                                    <a:ea typeface="Cambria Math" panose="02040503050406030204" pitchFamily="18" charset="0"/>
                                  </a:rPr>
                                  <m:t>1</m:t>
                                </m:r>
                              </m:e>
                            </m:d>
                          </m:sup>
                        </m:sSup>
                      </m:e>
                    </m:d>
                    <m:r>
                      <a:rPr lang="en-US" altLang="zh-CN" sz="2400">
                        <a:latin typeface="Cambria Math" panose="02040503050406030204" pitchFamily="18" charset="0"/>
                        <a:ea typeface="Cambria Math" panose="02040503050406030204" pitchFamily="18" charset="0"/>
                      </a:rPr>
                      <m:t>=</m:t>
                    </m:r>
                    <m:r>
                      <a:rPr lang="en-US" altLang="zh-CN" sz="2400" kern="100">
                        <a:latin typeface="Cambria Math" panose="02040503050406030204" pitchFamily="18" charset="0"/>
                        <a:ea typeface="宋体" panose="02010600030101010101" pitchFamily="2" charset="-122"/>
                      </a:rPr>
                      <m:t>81</m:t>
                    </m:r>
                  </m:oMath>
                </a14:m>
                <a:r>
                  <a:rPr lang="zh-CN" altLang="zh-CN" sz="2400" kern="100" dirty="0">
                    <a:latin typeface="Times New Roman" panose="02020603050405020304" pitchFamily="18" charset="0"/>
                    <a:ea typeface="宋体" panose="02010600030101010101" pitchFamily="2" charset="-122"/>
                  </a:rPr>
                  <a:t>，作模式搜索，令</a:t>
                </a:r>
              </a:p>
              <a:p>
                <a:pPr indent="200025" algn="just"/>
                <a14:m>
                  <m:oMathPara xmlns:m="http://schemas.openxmlformats.org/officeDocument/2006/math">
                    <m:oMathParaPr>
                      <m:jc m:val="centerGroup"/>
                    </m:oMathParaPr>
                    <m:oMath xmlns:m="http://schemas.openxmlformats.org/officeDocument/2006/math">
                      <m:d>
                        <m:dPr>
                          <m:begChr m:val="{"/>
                          <m:endChr m:val=""/>
                          <m:ctrlPr>
                            <a:rPr lang="zh-CN" altLang="zh-CN" sz="2400" i="1" kern="100">
                              <a:latin typeface="Cambria Math" panose="02040503050406030204" pitchFamily="18" charset="0"/>
                              <a:ea typeface="Cambria Math" panose="02040503050406030204" pitchFamily="18" charset="0"/>
                            </a:rPr>
                          </m:ctrlPr>
                        </m:dPr>
                        <m:e>
                          <m:eqArr>
                            <m:eqArrPr>
                              <m:ctrlPr>
                                <a:rPr lang="zh-CN" altLang="zh-CN" sz="2400" i="1" kern="100">
                                  <a:latin typeface="Cambria Math" panose="02040503050406030204" pitchFamily="18" charset="0"/>
                                  <a:ea typeface="Cambria Math" panose="02040503050406030204" pitchFamily="18" charset="0"/>
                                </a:rPr>
                              </m:ctrlPr>
                            </m:eqArrPr>
                            <m:e>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rPr>
                                        <m:t>2</m:t>
                                      </m:r>
                                    </m:e>
                                  </m:d>
                                </m:sup>
                              </m:sSup>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𝑡</m:t>
                                  </m:r>
                                </m:e>
                                <m:sub>
                                  <m:r>
                                    <a:rPr lang="en-US" altLang="zh-CN" sz="2400" i="1" kern="100">
                                      <a:latin typeface="Cambria Math" panose="02040503050406030204" pitchFamily="18" charset="0"/>
                                      <a:ea typeface="宋体" panose="02010600030101010101" pitchFamily="2" charset="-122"/>
                                    </a:rPr>
                                    <m:t>3</m:t>
                                  </m:r>
                                </m:sub>
                              </m:sSub>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3</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1</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e>
                                <m:sup>
                                  <m:r>
                                    <m:rPr>
                                      <m:sty m:val="p"/>
                                    </m:rPr>
                                    <a:rPr lang="en-US" altLang="zh-CN" sz="2400" kern="100">
                                      <a:latin typeface="Cambria Math" panose="02040503050406030204" pitchFamily="18" charset="0"/>
                                      <a:ea typeface="宋体" panose="02010600030101010101" pitchFamily="2" charset="-122"/>
                                    </a:rPr>
                                    <m:t>T</m:t>
                                  </m:r>
                                </m:sup>
                              </m:sSup>
                            </m:e>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𝑡</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rPr>
                                        <m:t>2</m:t>
                                      </m:r>
                                    </m:e>
                                  </m:d>
                                </m:sup>
                              </m:sSup>
                              <m:r>
                                <a:rPr lang="en-US" altLang="zh-CN" sz="2400" i="1" kern="100">
                                  <a:latin typeface="Cambria Math" panose="02040503050406030204" pitchFamily="18" charset="0"/>
                                  <a:ea typeface="宋体" panose="02010600030101010101" pitchFamily="2" charset="-122"/>
                                </a:rPr>
                                <m:t>+</m:t>
                              </m:r>
                              <m:d>
                                <m:dPr>
                                  <m:ctrlPr>
                                    <a:rPr lang="zh-CN" altLang="zh-CN" sz="2400" i="1" kern="100">
                                      <a:latin typeface="Cambria Math" panose="02040503050406030204" pitchFamily="18" charset="0"/>
                                      <a:ea typeface="Cambria Math" panose="02040503050406030204" pitchFamily="18" charset="0"/>
                                    </a:rPr>
                                  </m:ctrlPr>
                                </m:dPr>
                                <m:e>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rPr>
                                            <m:t>2</m:t>
                                          </m:r>
                                        </m:e>
                                      </m:d>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rPr>
                                            <m:t>1</m:t>
                                          </m:r>
                                        </m:e>
                                      </m:d>
                                    </m:sup>
                                  </m:sSup>
                                </m:e>
                              </m:d>
                              <m:r>
                                <a:rPr lang="en-US" altLang="zh-CN" sz="2400" i="1" kern="100">
                                  <a:latin typeface="Cambria Math" panose="02040503050406030204" pitchFamily="18" charset="0"/>
                                  <a:ea typeface="宋体" panose="02010600030101010101" pitchFamily="2" charset="-122"/>
                                </a:rPr>
                                <m:t>=2</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rPr>
                                        <m:t>2</m:t>
                                      </m:r>
                                    </m:e>
                                  </m:d>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rPr>
                                        <m:t>1</m:t>
                                      </m:r>
                                    </m:e>
                                  </m:d>
                                </m:sup>
                              </m:sSup>
                            </m:e>
                            <m:e>
                              <m:r>
                                <a:rPr lang="en-US" altLang="zh-CN" sz="2400" i="1" kern="100">
                                  <a:latin typeface="Cambria Math" panose="02040503050406030204" pitchFamily="18" charset="0"/>
                                  <a:ea typeface="宋体" panose="02010600030101010101" pitchFamily="2" charset="-122"/>
                                </a:rPr>
                                <m:t>=2</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3</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kern="100">
                                          <a:latin typeface="Cambria Math" panose="02040503050406030204" pitchFamily="18" charset="0"/>
                                          <a:ea typeface="宋体" panose="02010600030101010101" pitchFamily="2" charset="-122"/>
                                        </a:rPr>
                                        <m:t>1</m:t>
                                      </m:r>
                                    </m:num>
                                    <m:den>
                                      <m:r>
                                        <a:rPr lang="en-US" altLang="zh-CN" sz="2400" kern="100">
                                          <a:latin typeface="Cambria Math" panose="02040503050406030204" pitchFamily="18" charset="0"/>
                                          <a:ea typeface="宋体" panose="02010600030101010101" pitchFamily="2" charset="-122"/>
                                        </a:rPr>
                                        <m:t>2</m:t>
                                      </m:r>
                                    </m:den>
                                  </m:f>
                                  <m:r>
                                    <a:rPr lang="en-US" altLang="zh-CN" sz="2400" kern="100">
                                      <a:latin typeface="Cambria Math" panose="02040503050406030204" pitchFamily="18" charset="0"/>
                                      <a:ea typeface="宋体" panose="02010600030101010101" pitchFamily="2" charset="-122"/>
                                    </a:rPr>
                                    <m:t>)</m:t>
                                  </m:r>
                                </m:e>
                                <m:sup>
                                  <m:r>
                                    <m:rPr>
                                      <m:sty m:val="p"/>
                                    </m:rPr>
                                    <a:rPr lang="en-US" altLang="zh-CN" sz="2400" kern="100">
                                      <a:latin typeface="Cambria Math" panose="02040503050406030204" pitchFamily="18" charset="0"/>
                                      <a:ea typeface="宋体" panose="02010600030101010101" pitchFamily="2" charset="-122"/>
                                    </a:rPr>
                                    <m:t>T</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kern="100">
                                      <a:latin typeface="Cambria Math" panose="02040503050406030204" pitchFamily="18" charset="0"/>
                                      <a:ea typeface="宋体" panose="02010600030101010101" pitchFamily="2" charset="-122"/>
                                    </a:rPr>
                                    <m:t>(2,0)</m:t>
                                  </m:r>
                                </m:e>
                                <m:sup>
                                  <m:r>
                                    <m:rPr>
                                      <m:sty m:val="p"/>
                                    </m:rPr>
                                    <a:rPr lang="en-US" altLang="zh-CN" sz="2400" kern="100">
                                      <a:latin typeface="Cambria Math" panose="02040503050406030204" pitchFamily="18" charset="0"/>
                                      <a:ea typeface="宋体" panose="02010600030101010101" pitchFamily="2" charset="-122"/>
                                    </a:rPr>
                                    <m:t>T</m:t>
                                  </m:r>
                                </m:sup>
                              </m:sSup>
                              <m:r>
                                <a:rPr lang="en-US" altLang="zh-CN" sz="2400"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kern="100">
                                      <a:latin typeface="Cambria Math" panose="02040503050406030204" pitchFamily="18" charset="0"/>
                                      <a:ea typeface="宋体" panose="02010600030101010101" pitchFamily="2" charset="-122"/>
                                    </a:rPr>
                                    <m:t>(1,1)</m:t>
                                  </m:r>
                                </m:e>
                                <m:sup>
                                  <m:r>
                                    <m:rPr>
                                      <m:sty m:val="p"/>
                                    </m:rPr>
                                    <a:rPr lang="en-US" altLang="zh-CN" sz="2400" kern="100">
                                      <a:latin typeface="Cambria Math" panose="02040503050406030204" pitchFamily="18" charset="0"/>
                                      <a:ea typeface="宋体" panose="02010600030101010101" pitchFamily="2" charset="-122"/>
                                    </a:rPr>
                                    <m:t>T</m:t>
                                  </m:r>
                                </m:sup>
                              </m:sSup>
                            </m:e>
                          </m:eqArr>
                        </m:e>
                      </m:d>
                    </m:oMath>
                  </m:oMathPara>
                </a14:m>
                <a:endParaRPr lang="zh-CN" altLang="zh-CN" sz="2400" kern="100" dirty="0">
                  <a:latin typeface="Times New Roman" panose="02020603050405020304" pitchFamily="18" charset="0"/>
                  <a:ea typeface="宋体" panose="02010600030101010101" pitchFamily="2" charset="-122"/>
                </a:endParaRPr>
              </a:p>
              <a:p>
                <a:pPr indent="200025" algn="just"/>
                <a:r>
                  <a:rPr lang="zh-CN" altLang="zh-CN" sz="2400" kern="100" dirty="0">
                    <a:latin typeface="Times New Roman" panose="02020603050405020304" pitchFamily="18" charset="0"/>
                    <a:ea typeface="宋体" panose="02010600030101010101" pitchFamily="2" charset="-122"/>
                  </a:rPr>
                  <a:t>第一轮计算完成。</a:t>
                </a:r>
              </a:p>
            </p:txBody>
          </p:sp>
        </mc:Choice>
        <mc:Fallback xmlns="">
          <p:sp>
            <p:nvSpPr>
              <p:cNvPr id="4" name="文本框 3"/>
              <p:cNvSpPr txBox="1">
                <a:spLocks noRot="1" noChangeAspect="1" noMove="1" noResize="1" noEditPoints="1" noAdjustHandles="1" noChangeArrowheads="1" noChangeShapeType="1" noTextEdit="1"/>
              </p:cNvSpPr>
              <p:nvPr/>
            </p:nvSpPr>
            <p:spPr>
              <a:xfrm>
                <a:off x="478788" y="260648"/>
                <a:ext cx="8208912" cy="6132833"/>
              </a:xfrm>
              <a:prstGeom prst="rect">
                <a:avLst/>
              </a:prstGeom>
              <a:blipFill rotWithShape="1">
                <a:blip r:embed="rId2"/>
                <a:stretch>
                  <a:fillRect l="-8" t="-5" r="3" b="5"/>
                </a:stretch>
              </a:blipFill>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457676" y="326003"/>
                <a:ext cx="8228648" cy="6205994"/>
              </a:xfrm>
              <a:prstGeom prst="rect">
                <a:avLst/>
              </a:prstGeom>
              <a:noFill/>
            </p:spPr>
            <p:txBody>
              <a:bodyPr wrap="square" rtlCol="0">
                <a:spAutoFit/>
              </a:bodyPr>
              <a:lstStyle/>
              <a:p>
                <a:r>
                  <a:rPr lang="zh-CN" altLang="en-US" sz="2200" dirty="0">
                    <a:latin typeface="宋体" panose="02010600030101010101" pitchFamily="2" charset="-122"/>
                    <a:ea typeface="宋体" panose="02010600030101010101" pitchFamily="2" charset="-122"/>
                    <a:cs typeface="宋体" panose="02010600030101010101" pitchFamily="2" charset="-122"/>
                  </a:rPr>
                  <a:t>作第二轮计算，从</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200" dirty="0">
                    <a:latin typeface="宋体" panose="02010600030101010101" pitchFamily="2" charset="-122"/>
                    <a:ea typeface="宋体" panose="02010600030101010101" pitchFamily="2" charset="-122"/>
                    <a:cs typeface="宋体" panose="02010600030101010101" pitchFamily="2" charset="-122"/>
                  </a:rPr>
                  <a:t>出发作轴向搜索，对于</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200" dirty="0">
                    <a:latin typeface="宋体" panose="02010600030101010101" pitchFamily="2" charset="-122"/>
                    <a:ea typeface="宋体" panose="02010600030101010101" pitchFamily="2" charset="-122"/>
                    <a:cs typeface="宋体" panose="02010600030101010101" pitchFamily="2" charset="-122"/>
                  </a:rPr>
                  <a:t>方向有：</a:t>
                </a:r>
              </a:p>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=0,   </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=8</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16</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&gt;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=3</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16</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&gt;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r>
                  <a:rPr lang="zh-CN" altLang="en-US" sz="2200" dirty="0">
                    <a:latin typeface="宋体" panose="02010600030101010101" pitchFamily="2" charset="-122"/>
                    <a:ea typeface="宋体" panose="02010600030101010101" pitchFamily="2" charset="-122"/>
                    <a:cs typeface="宋体" panose="02010600030101010101" pitchFamily="2" charset="-122"/>
                  </a:rPr>
                  <a:t>所以</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1,1</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，对于</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方向有：</a:t>
                </a:r>
              </a:p>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=0,   </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=1</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4</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&gt;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=1</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4</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&gt;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r>
                  <a:rPr lang="zh-CN" altLang="en-US" sz="2200" dirty="0">
                    <a:latin typeface="Cambria Math" panose="02040503050406030204" pitchFamily="18" charset="0"/>
                    <a:ea typeface="宋体" panose="02010600030101010101" pitchFamily="2" charset="-122"/>
                    <a:cs typeface="Cambria Math" panose="02040503050406030204" pitchFamily="18" charset="0"/>
                  </a:rPr>
                  <a:t>所以</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3</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1,1</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3</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a:t>
                </a:r>
              </a:p>
              <a:p>
                <a:r>
                  <a:rPr lang="en-US" altLang="zh-CN" sz="2200" dirty="0">
                    <a:latin typeface="Cambria Math" panose="02040503050406030204" pitchFamily="18" charset="0"/>
                    <a:ea typeface="宋体" panose="02010600030101010101" pitchFamily="2" charset="-122"/>
                    <a:cs typeface="Cambria Math" panose="02040503050406030204" pitchFamily="18" charset="0"/>
                  </a:rPr>
                  <a:t>         </a:t>
                </a:r>
                <a:r>
                  <a:rPr lang="zh-CN" altLang="en-US" sz="2200" dirty="0">
                    <a:latin typeface="Cambria Math" panose="02040503050406030204" pitchFamily="18" charset="0"/>
                    <a:ea typeface="宋体" panose="02010600030101010101" pitchFamily="2" charset="-122"/>
                    <a:cs typeface="Cambria Math" panose="02040503050406030204" pitchFamily="18" charset="0"/>
                  </a:rPr>
                  <a:t>因为</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3</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&lt;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e>
                            </m:d>
                          </m:sup>
                        </m:sSup>
                      </m:e>
                    </m:d>
                    <m:r>
                      <a:rPr lang="en-US" altLang="zh-CN" sz="2200" i="1">
                        <a:latin typeface="Cambria Math" panose="02040503050406030204" pitchFamily="18" charset="0"/>
                        <a:ea typeface="宋体" panose="02010600030101010101" pitchFamily="2" charset="-122"/>
                        <a:cs typeface="Cambria Math" panose="02040503050406030204" pitchFamily="18" charset="0"/>
                      </a:rPr>
                      <m:t>=15</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9</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16</m:t>
                        </m:r>
                      </m:den>
                    </m:f>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，再做模式搜索：</a:t>
                </a:r>
              </a:p>
              <a:p>
                <a:pPr/>
                <a14:m>
                  <m:oMathPara xmlns:m="http://schemas.openxmlformats.org/officeDocument/2006/math">
                    <m:oMathParaPr>
                      <m:jc m:val="centerGroup"/>
                    </m:oMathParaPr>
                    <m:oMath xmlns:m="http://schemas.openxmlformats.org/officeDocument/2006/math">
                      <m:d>
                        <m:dPr>
                          <m:begChr m:val="{"/>
                          <m:endChr m:val=""/>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eqArr>
                            <m:eqArr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eqArrPr>
                            <m:e>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3</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dirty="0">
                                      <a:latin typeface="Cambria Math" panose="02040503050406030204" pitchFamily="18" charset="0"/>
                                      <a:cs typeface="Cambria Math" panose="02040503050406030204" pitchFamily="18" charset="0"/>
                                    </a:rPr>
                                  </m:ctrlPr>
                                </m:sSupPr>
                                <m:e>
                                  <m:d>
                                    <m:dPr>
                                      <m:ctrlPr>
                                        <a:rPr lang="en-US" altLang="zh-CN" sz="2200" i="1" dirty="0">
                                          <a:latin typeface="Cambria Math" panose="02040503050406030204" pitchFamily="18" charset="0"/>
                                          <a:cs typeface="Cambria Math" panose="02040503050406030204" pitchFamily="18" charset="0"/>
                                        </a:rPr>
                                      </m:ctrlPr>
                                    </m:dPr>
                                    <m:e>
                                      <m:r>
                                        <a:rPr lang="en-US" altLang="zh-CN" sz="2200" i="1" dirty="0">
                                          <a:latin typeface="Cambria Math" panose="02040503050406030204" pitchFamily="18" charset="0"/>
                                          <a:cs typeface="Cambria Math" panose="02040503050406030204" pitchFamily="18" charset="0"/>
                                        </a:rPr>
                                        <m:t>1,1</m:t>
                                      </m:r>
                                    </m:e>
                                  </m:d>
                                </m:e>
                                <m:sup>
                                  <m:r>
                                    <a:rPr lang="en-US" altLang="zh-CN" sz="2200" i="1" dirty="0">
                                      <a:latin typeface="Cambria Math" panose="02040503050406030204" pitchFamily="18" charset="0"/>
                                      <a:cs typeface="Cambria Math" panose="02040503050406030204" pitchFamily="18" charset="0"/>
                                    </a:rPr>
                                    <m:t>𝑇</m:t>
                                  </m:r>
                                </m:sup>
                              </m:sSup>
                            </m:e>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e>
                                      </m:d>
                                    </m:sup>
                                  </m:sSup>
                                </m:e>
                              </m:d>
                              <m:r>
                                <a:rPr lang="en-US" altLang="zh-CN" sz="2200" i="1">
                                  <a:latin typeface="Cambria Math" panose="02040503050406030204" pitchFamily="18" charset="0"/>
                                  <a:ea typeface="宋体" panose="02010600030101010101" pitchFamily="2" charset="-122"/>
                                  <a:cs typeface="Cambria Math" panose="02040503050406030204" pitchFamily="18" charset="0"/>
                                </a:rPr>
                                <m:t>=2</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e>
                                  </m:d>
                                </m:sup>
                              </m:sSup>
                            </m:e>
                            <m:e>
                              <m:r>
                                <a:rPr lang="en-US" altLang="zh-CN" sz="2200" i="1">
                                  <a:latin typeface="Cambria Math" panose="02040503050406030204" pitchFamily="18" charset="0"/>
                                  <a:ea typeface="宋体" panose="02010600030101010101" pitchFamily="2" charset="-122"/>
                                  <a:cs typeface="Cambria Math" panose="02040503050406030204" pitchFamily="18" charset="0"/>
                                </a:rPr>
                                <m:t>=2</m:t>
                              </m:r>
                              <m:sSup>
                                <m:sSupPr>
                                  <m:ctrlPr>
                                    <a:rPr lang="en-US" altLang="zh-CN" sz="2200" i="1" dirty="0">
                                      <a:latin typeface="Cambria Math" panose="02040503050406030204" pitchFamily="18" charset="0"/>
                                      <a:cs typeface="Cambria Math" panose="02040503050406030204" pitchFamily="18" charset="0"/>
                                    </a:rPr>
                                  </m:ctrlPr>
                                </m:sSupPr>
                                <m:e>
                                  <m:d>
                                    <m:dPr>
                                      <m:ctrlPr>
                                        <a:rPr lang="en-US" altLang="zh-CN" sz="2200" i="1" dirty="0">
                                          <a:latin typeface="Cambria Math" panose="02040503050406030204" pitchFamily="18" charset="0"/>
                                          <a:cs typeface="Cambria Math" panose="02040503050406030204" pitchFamily="18" charset="0"/>
                                        </a:rPr>
                                      </m:ctrlPr>
                                    </m:dPr>
                                    <m:e>
                                      <m:r>
                                        <a:rPr lang="en-US" altLang="zh-CN" sz="2200" i="1" dirty="0">
                                          <a:latin typeface="Cambria Math" panose="02040503050406030204" pitchFamily="18" charset="0"/>
                                          <a:cs typeface="Cambria Math" panose="02040503050406030204" pitchFamily="18" charset="0"/>
                                        </a:rPr>
                                        <m:t>1,1</m:t>
                                      </m:r>
                                    </m:e>
                                  </m:d>
                                </m:e>
                                <m:sup>
                                  <m:r>
                                    <a:rPr lang="en-US" altLang="zh-CN" sz="2200" i="1" dirty="0">
                                      <a:latin typeface="Cambria Math" panose="02040503050406030204" pitchFamily="18" charset="0"/>
                                      <a:cs typeface="Cambria Math" panose="02040503050406030204" pitchFamily="18" charset="0"/>
                                    </a:rPr>
                                    <m:t>𝑇</m:t>
                                  </m:r>
                                </m:sup>
                              </m:sSup>
                              <m:r>
                                <a:rPr lang="en-US" altLang="zh-CN" sz="2200" i="1" dirty="0">
                                  <a:latin typeface="Cambria Math" panose="02040503050406030204" pitchFamily="18" charset="0"/>
                                  <a:cs typeface="Cambria Math" panose="02040503050406030204" pitchFamily="18" charset="0"/>
                                </a:rPr>
                                <m:t>−</m:t>
                              </m:r>
                              <m:sSup>
                                <m:sSupPr>
                                  <m:ctrlPr>
                                    <a:rPr lang="en-US" altLang="zh-CN" sz="2200" i="1" dirty="0">
                                      <a:latin typeface="Cambria Math" panose="02040503050406030204" pitchFamily="18" charset="0"/>
                                      <a:cs typeface="Cambria Math" panose="02040503050406030204" pitchFamily="18" charset="0"/>
                                    </a:rPr>
                                  </m:ctrlPr>
                                </m:sSupPr>
                                <m:e>
                                  <m:d>
                                    <m:dPr>
                                      <m:ctrlPr>
                                        <a:rPr lang="en-US" altLang="zh-CN" sz="2200" i="1" dirty="0">
                                          <a:latin typeface="Cambria Math" panose="02040503050406030204" pitchFamily="18" charset="0"/>
                                          <a:cs typeface="Cambria Math" panose="02040503050406030204" pitchFamily="18" charset="0"/>
                                        </a:rPr>
                                      </m:ctrlPr>
                                    </m:dPr>
                                    <m:e>
                                      <m:f>
                                        <m:fPr>
                                          <m:ctrlPr>
                                            <a:rPr lang="en-US" altLang="zh-CN" sz="2200" i="1" dirty="0">
                                              <a:latin typeface="Cambria Math" panose="02040503050406030204" pitchFamily="18" charset="0"/>
                                              <a:cs typeface="Cambria Math" panose="02040503050406030204" pitchFamily="18" charset="0"/>
                                            </a:rPr>
                                          </m:ctrlPr>
                                        </m:fPr>
                                        <m:num>
                                          <m:r>
                                            <a:rPr lang="en-US" altLang="zh-CN" sz="2200" i="1" dirty="0">
                                              <a:latin typeface="Cambria Math" panose="02040503050406030204" pitchFamily="18" charset="0"/>
                                              <a:cs typeface="Cambria Math" panose="02040503050406030204" pitchFamily="18" charset="0"/>
                                            </a:rPr>
                                            <m:t>3</m:t>
                                          </m:r>
                                        </m:num>
                                        <m:den>
                                          <m:r>
                                            <a:rPr lang="en-US" altLang="zh-CN" sz="2200" i="1" dirty="0">
                                              <a:latin typeface="Cambria Math" panose="02040503050406030204" pitchFamily="18" charset="0"/>
                                              <a:cs typeface="Cambria Math" panose="02040503050406030204" pitchFamily="18" charset="0"/>
                                            </a:rPr>
                                            <m:t>2</m:t>
                                          </m:r>
                                        </m:den>
                                      </m:f>
                                      <m:r>
                                        <a:rPr lang="en-US" altLang="zh-CN" sz="2200" i="1" dirty="0">
                                          <a:latin typeface="Cambria Math" panose="02040503050406030204" pitchFamily="18" charset="0"/>
                                          <a:cs typeface="Cambria Math" panose="02040503050406030204" pitchFamily="18" charset="0"/>
                                        </a:rPr>
                                        <m:t>,</m:t>
                                      </m:r>
                                      <m:f>
                                        <m:fPr>
                                          <m:ctrlPr>
                                            <a:rPr lang="en-US" altLang="zh-CN" sz="2200" i="1" dirty="0">
                                              <a:latin typeface="Cambria Math" panose="02040503050406030204" pitchFamily="18" charset="0"/>
                                              <a:cs typeface="Cambria Math" panose="02040503050406030204" pitchFamily="18" charset="0"/>
                                            </a:rPr>
                                          </m:ctrlPr>
                                        </m:fPr>
                                        <m:num>
                                          <m:r>
                                            <a:rPr lang="en-US" altLang="zh-CN" sz="2200" i="1" dirty="0">
                                              <a:latin typeface="Cambria Math" panose="02040503050406030204" pitchFamily="18" charset="0"/>
                                              <a:cs typeface="Cambria Math" panose="02040503050406030204" pitchFamily="18" charset="0"/>
                                            </a:rPr>
                                            <m:t>1</m:t>
                                          </m:r>
                                        </m:num>
                                        <m:den>
                                          <m:r>
                                            <a:rPr lang="en-US" altLang="zh-CN" sz="2200" i="1" dirty="0">
                                              <a:latin typeface="Cambria Math" panose="02040503050406030204" pitchFamily="18" charset="0"/>
                                              <a:cs typeface="Cambria Math" panose="02040503050406030204" pitchFamily="18" charset="0"/>
                                            </a:rPr>
                                            <m:t>2</m:t>
                                          </m:r>
                                        </m:den>
                                      </m:f>
                                    </m:e>
                                  </m:d>
                                </m:e>
                                <m:sup>
                                  <m:r>
                                    <a:rPr lang="en-US" altLang="zh-CN" sz="2200" i="1" dirty="0">
                                      <a:latin typeface="Cambria Math" panose="02040503050406030204" pitchFamily="18" charset="0"/>
                                      <a:cs typeface="Cambria Math" panose="02040503050406030204" pitchFamily="18" charset="0"/>
                                    </a:rPr>
                                    <m:t>𝑇</m:t>
                                  </m:r>
                                </m:sup>
                              </m:sSup>
                              <m:r>
                                <a:rPr lang="en-US" altLang="zh-CN" sz="2200" i="1" dirty="0">
                                  <a:latin typeface="Cambria Math" panose="02040503050406030204" pitchFamily="18" charset="0"/>
                                  <a:cs typeface="Cambria Math" panose="02040503050406030204" pitchFamily="18" charset="0"/>
                                </a:rPr>
                                <m:t>=</m:t>
                              </m:r>
                              <m:sSup>
                                <m:sSupPr>
                                  <m:ctrlPr>
                                    <a:rPr lang="en-US" altLang="zh-CN" sz="2200" i="1" dirty="0">
                                      <a:latin typeface="Cambria Math" panose="02040503050406030204" pitchFamily="18" charset="0"/>
                                      <a:cs typeface="Cambria Math" panose="02040503050406030204" pitchFamily="18" charset="0"/>
                                    </a:rPr>
                                  </m:ctrlPr>
                                </m:sSupPr>
                                <m:e>
                                  <m:d>
                                    <m:dPr>
                                      <m:ctrlPr>
                                        <a:rPr lang="en-US" altLang="zh-CN" sz="2200" i="1" dirty="0">
                                          <a:latin typeface="Cambria Math" panose="02040503050406030204" pitchFamily="18" charset="0"/>
                                          <a:cs typeface="Cambria Math" panose="02040503050406030204" pitchFamily="18" charset="0"/>
                                        </a:rPr>
                                      </m:ctrlPr>
                                    </m:dPr>
                                    <m:e>
                                      <m:f>
                                        <m:fPr>
                                          <m:ctrlPr>
                                            <a:rPr lang="en-US" altLang="zh-CN" sz="2200" i="1" dirty="0">
                                              <a:latin typeface="Cambria Math" panose="02040503050406030204" pitchFamily="18" charset="0"/>
                                              <a:cs typeface="Cambria Math" panose="02040503050406030204" pitchFamily="18" charset="0"/>
                                            </a:rPr>
                                          </m:ctrlPr>
                                        </m:fPr>
                                        <m:num>
                                          <m:r>
                                            <a:rPr lang="en-US" altLang="zh-CN" sz="2200" i="1" dirty="0">
                                              <a:latin typeface="Cambria Math" panose="02040503050406030204" pitchFamily="18" charset="0"/>
                                              <a:cs typeface="Cambria Math" panose="02040503050406030204" pitchFamily="18" charset="0"/>
                                            </a:rPr>
                                            <m:t>1</m:t>
                                          </m:r>
                                        </m:num>
                                        <m:den>
                                          <m:r>
                                            <a:rPr lang="en-US" altLang="zh-CN" sz="2200" i="1" dirty="0">
                                              <a:latin typeface="Cambria Math" panose="02040503050406030204" pitchFamily="18" charset="0"/>
                                              <a:cs typeface="Cambria Math" panose="02040503050406030204" pitchFamily="18" charset="0"/>
                                            </a:rPr>
                                            <m:t>2</m:t>
                                          </m:r>
                                        </m:den>
                                      </m:f>
                                      <m:r>
                                        <a:rPr lang="en-US" altLang="zh-CN" sz="2200" i="1" dirty="0">
                                          <a:latin typeface="Cambria Math" panose="02040503050406030204" pitchFamily="18" charset="0"/>
                                          <a:cs typeface="Cambria Math" panose="02040503050406030204" pitchFamily="18" charset="0"/>
                                        </a:rPr>
                                        <m:t>,</m:t>
                                      </m:r>
                                      <m:f>
                                        <m:fPr>
                                          <m:ctrlPr>
                                            <a:rPr lang="en-US" altLang="zh-CN" sz="2200" i="1" dirty="0">
                                              <a:latin typeface="Cambria Math" panose="02040503050406030204" pitchFamily="18" charset="0"/>
                                              <a:cs typeface="Cambria Math" panose="02040503050406030204" pitchFamily="18" charset="0"/>
                                            </a:rPr>
                                          </m:ctrlPr>
                                        </m:fPr>
                                        <m:num>
                                          <m:r>
                                            <a:rPr lang="en-US" altLang="zh-CN" sz="2200" i="1" dirty="0">
                                              <a:latin typeface="Cambria Math" panose="02040503050406030204" pitchFamily="18" charset="0"/>
                                              <a:cs typeface="Cambria Math" panose="02040503050406030204" pitchFamily="18" charset="0"/>
                                            </a:rPr>
                                            <m:t>3</m:t>
                                          </m:r>
                                        </m:num>
                                        <m:den>
                                          <m:r>
                                            <a:rPr lang="en-US" altLang="zh-CN" sz="2200" i="1" dirty="0">
                                              <a:latin typeface="Cambria Math" panose="02040503050406030204" pitchFamily="18" charset="0"/>
                                              <a:cs typeface="Cambria Math" panose="02040503050406030204" pitchFamily="18" charset="0"/>
                                            </a:rPr>
                                            <m:t>2</m:t>
                                          </m:r>
                                        </m:den>
                                      </m:f>
                                    </m:e>
                                  </m:d>
                                </m:e>
                                <m:sup>
                                  <m:r>
                                    <a:rPr lang="en-US" altLang="zh-CN" sz="2200" i="1" dirty="0">
                                      <a:latin typeface="Cambria Math" panose="02040503050406030204" pitchFamily="18" charset="0"/>
                                      <a:cs typeface="Cambria Math" panose="02040503050406030204" pitchFamily="18" charset="0"/>
                                    </a:rPr>
                                    <m:t>𝑇</m:t>
                                  </m:r>
                                </m:sup>
                              </m:sSup>
                            </m:e>
                          </m:eqArr>
                        </m:e>
                      </m:d>
                    </m:oMath>
                  </m:oMathPara>
                </a14:m>
                <a:endParaRPr lang="en-US" altLang="zh-CN" sz="2200" i="1" dirty="0">
                  <a:latin typeface="Cambria Math" panose="02040503050406030204" pitchFamily="18" charset="0"/>
                  <a:cs typeface="Cambria Math" panose="02040503050406030204" pitchFamily="18" charset="0"/>
                </a:endParaRPr>
              </a:p>
              <a:p>
                <a:r>
                  <a:rPr lang="zh-CN" altLang="en-US" sz="2200" dirty="0">
                    <a:latin typeface="Cambria Math" panose="02040503050406030204" pitchFamily="18" charset="0"/>
                    <a:ea typeface="宋体" panose="02010600030101010101" pitchFamily="2" charset="-122"/>
                    <a:cs typeface="Cambria Math" panose="02040503050406030204" pitchFamily="18" charset="0"/>
                  </a:rPr>
                  <a:t>第二轮计算完成。</a:t>
                </a:r>
              </a:p>
            </p:txBody>
          </p:sp>
        </mc:Choice>
        <mc:Fallback xmlns="">
          <p:sp>
            <p:nvSpPr>
              <p:cNvPr id="2" name="文本框 1"/>
              <p:cNvSpPr txBox="1">
                <a:spLocks noRot="1" noChangeAspect="1" noMove="1" noResize="1" noEditPoints="1" noAdjustHandles="1" noChangeArrowheads="1" noChangeShapeType="1" noTextEdit="1"/>
              </p:cNvSpPr>
              <p:nvPr/>
            </p:nvSpPr>
            <p:spPr>
              <a:xfrm>
                <a:off x="457676" y="326003"/>
                <a:ext cx="8228648" cy="6205994"/>
              </a:xfrm>
              <a:prstGeom prst="rect">
                <a:avLst/>
              </a:prstGeom>
              <a:blipFill rotWithShape="1">
                <a:blip r:embed="rId2"/>
                <a:stretch>
                  <a:fillRect l="-6" t="-4" r="2" b="6"/>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251520" y="231554"/>
                <a:ext cx="8395811" cy="6394892"/>
              </a:xfrm>
              <a:prstGeom prst="rect">
                <a:avLst/>
              </a:prstGeom>
              <a:noFill/>
            </p:spPr>
            <p:txBody>
              <a:bodyPr wrap="square" rtlCol="0">
                <a:spAutoFit/>
              </a:bodyPr>
              <a:lstStyle/>
              <a:p>
                <a:pPr algn="just" fontAlgn="auto">
                  <a:lnSpc>
                    <a:spcPct val="150000"/>
                  </a:lnSpc>
                </a:pPr>
                <a:r>
                  <a:rPr lang="en-US" altLang="zh-CN" sz="2200" dirty="0">
                    <a:latin typeface="宋体" panose="02010600030101010101" pitchFamily="2" charset="-122"/>
                    <a:ea typeface="宋体" panose="02010600030101010101" pitchFamily="2" charset="-122"/>
                    <a:cs typeface="宋体" panose="02010600030101010101" pitchFamily="2" charset="-122"/>
                  </a:rPr>
                  <a:t>    </a:t>
                </a:r>
                <a:r>
                  <a:rPr lang="zh-CN" altLang="en-US" sz="2200" dirty="0">
                    <a:latin typeface="宋体" panose="02010600030101010101" pitchFamily="2" charset="-122"/>
                    <a:ea typeface="宋体" panose="02010600030101010101" pitchFamily="2" charset="-122"/>
                    <a:cs typeface="宋体" panose="02010600030101010101" pitchFamily="2" charset="-122"/>
                  </a:rPr>
                  <a:t>作第三轮计算，从</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出发作轴向搜索，对于</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sym typeface="+mn-ea"/>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sym typeface="+mn-ea"/>
                          </a:rPr>
                          <m:t>𝑒</m:t>
                        </m:r>
                      </m:e>
                      <m:sub>
                        <m:r>
                          <a:rPr lang="en-US" altLang="zh-CN" sz="2200" i="1">
                            <a:latin typeface="Cambria Math" panose="02040503050406030204" pitchFamily="18" charset="0"/>
                            <a:ea typeface="MS Mincho" panose="02020609040205080304" charset="-128"/>
                            <a:cs typeface="Cambria Math" panose="02040503050406030204" pitchFamily="18" charset="0"/>
                            <a:sym typeface="+mn-ea"/>
                          </a:rPr>
                          <m:t>1</m:t>
                        </m:r>
                      </m:sub>
                    </m:sSub>
                  </m:oMath>
                </a14:m>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方向有：</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=8</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16</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=1</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4</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&lt;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e>
                      </m:d>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所以</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cs typeface="Cambria Math" panose="02040503050406030204" pitchFamily="18" charset="0"/>
                          </a:rPr>
                        </m:ctrlPr>
                      </m:sSubPr>
                      <m:e>
                        <m:r>
                          <a:rPr lang="en-US" altLang="zh-CN" sz="2200" i="1">
                            <a:latin typeface="Cambria Math" panose="02040503050406030204" pitchFamily="18" charset="0"/>
                            <a:cs typeface="Cambria Math" panose="02040503050406030204" pitchFamily="18" charset="0"/>
                          </a:rPr>
                          <m:t>𝑒</m:t>
                        </m:r>
                      </m:e>
                      <m:sub>
                        <m:r>
                          <a:rPr lang="en-US" altLang="zh-CN" sz="2200" i="1">
                            <a:latin typeface="Cambria Math" panose="02040503050406030204" pitchFamily="18" charset="0"/>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1,</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3</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2</m:t>
                                </m:r>
                              </m:den>
                            </m:f>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4</m:t>
                        </m:r>
                      </m:den>
                    </m:f>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。对于</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方向有：</a:t>
                </a:r>
              </a:p>
              <a:p>
                <a:pPr algn="just" fontAlgn="auto">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=1</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4</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   </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=5,   </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cs typeface="Cambria Math" panose="02040503050406030204" pitchFamily="18" charset="0"/>
                        </a:rPr>
                        <m:t>𝛿</m:t>
                      </m:r>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𝑒</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)=0&lt;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2</m:t>
                              </m:r>
                            </m:sub>
                          </m:sSub>
                        </m:e>
                      </m:d>
                    </m:oMath>
                  </m:oMathPara>
                </a14:m>
                <a:endParaRPr lang="en-US" altLang="zh-CN" sz="2200" i="1" dirty="0">
                  <a:latin typeface="Cambria Math" panose="02040503050406030204" pitchFamily="18" charset="0"/>
                  <a:ea typeface="宋体" panose="02010600030101010101" pitchFamily="2" charset="-122"/>
                  <a:cs typeface="Cambria Math" panose="02040503050406030204" pitchFamily="18" charset="0"/>
                </a:endParaRPr>
              </a:p>
              <a:p>
                <a:pPr algn="just" fontAlgn="auto">
                  <a:lnSpc>
                    <a:spcPct val="150000"/>
                  </a:lnSpc>
                </a:pPr>
                <a:r>
                  <a:rPr lang="zh-CN" altLang="en-US" sz="2200" dirty="0">
                    <a:latin typeface="Cambria Math" panose="02040503050406030204" pitchFamily="18" charset="0"/>
                    <a:ea typeface="宋体" panose="02010600030101010101" pitchFamily="2" charset="-122"/>
                    <a:cs typeface="Cambria Math" panose="02040503050406030204" pitchFamily="18" charset="0"/>
                  </a:rPr>
                  <a:t>此时，</a:t>
                </a:r>
                <a14:m>
                  <m:oMath xmlns:m="http://schemas.openxmlformats.org/officeDocument/2006/math">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3</m:t>
                            </m:r>
                          </m:sub>
                        </m:sSub>
                      </m:e>
                    </m:d>
                    <m:r>
                      <a:rPr lang="en-US" altLang="zh-CN" sz="2200" i="1">
                        <a:latin typeface="Cambria Math" panose="02040503050406030204" pitchFamily="18" charset="0"/>
                        <a:ea typeface="宋体" panose="02010600030101010101" pitchFamily="2" charset="-122"/>
                        <a:cs typeface="Cambria Math" panose="02040503050406030204" pitchFamily="18" charset="0"/>
                      </a:rPr>
                      <m:t>=</m:t>
                    </m:r>
                    <m:r>
                      <a:rPr lang="en-US" altLang="zh-CN" sz="22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e>
                    </m:d>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，进而执行算法步骤</a:t>
                </a:r>
                <a:r>
                  <a:rPr lang="en-US" altLang="zh-CN" sz="2200" dirty="0">
                    <a:latin typeface="Cambria Math" panose="02040503050406030204" pitchFamily="18" charset="0"/>
                    <a:ea typeface="宋体" panose="02010600030101010101" pitchFamily="2" charset="-122"/>
                    <a:cs typeface="Cambria Math" panose="02040503050406030204" pitchFamily="18" charset="0"/>
                  </a:rPr>
                  <a:t>4</a:t>
                </a:r>
                <a:r>
                  <a:rPr lang="zh-CN" altLang="en-US" sz="2200" dirty="0">
                    <a:latin typeface="Cambria Math" panose="02040503050406030204" pitchFamily="18" charset="0"/>
                    <a:ea typeface="宋体" panose="02010600030101010101" pitchFamily="2" charset="-122"/>
                    <a:cs typeface="Cambria Math" panose="02040503050406030204" pitchFamily="18" charset="0"/>
                  </a:rPr>
                  <a:t>，因为</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，将</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退回</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处，即取</a:t>
                </a:r>
                <a14:m>
                  <m:oMath xmlns:m="http://schemas.openxmlformats.org/officeDocument/2006/math">
                    <m:sSub>
                      <m:sSub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200" i="1">
                            <a:latin typeface="Cambria Math" panose="02040503050406030204" pitchFamily="18" charset="0"/>
                            <a:ea typeface="宋体" panose="02010600030101010101" pitchFamily="2" charset="-122"/>
                            <a:cs typeface="Cambria Math" panose="02040503050406030204" pitchFamily="18" charset="0"/>
                          </a:rPr>
                          <m:t>𝑡</m:t>
                        </m:r>
                      </m:e>
                      <m:sub>
                        <m:r>
                          <a:rPr lang="en-US" altLang="zh-CN" sz="2200" i="1">
                            <a:latin typeface="Cambria Math" panose="02040503050406030204" pitchFamily="18" charset="0"/>
                            <a:ea typeface="宋体" panose="02010600030101010101" pitchFamily="2" charset="-122"/>
                            <a:cs typeface="Cambria Math" panose="02040503050406030204" pitchFamily="18" charset="0"/>
                          </a:rPr>
                          <m:t>1</m:t>
                        </m:r>
                      </m:sub>
                    </m:sSub>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1,1</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𝑇</m:t>
                        </m:r>
                      </m:sup>
                    </m:sSup>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，再转步骤</a:t>
                </a:r>
                <a:r>
                  <a:rPr lang="en-US" altLang="zh-CN" sz="2200" dirty="0">
                    <a:latin typeface="Cambria Math" panose="02040503050406030204" pitchFamily="18" charset="0"/>
                    <a:ea typeface="宋体" panose="02010600030101010101" pitchFamily="2" charset="-122"/>
                    <a:cs typeface="Cambria Math" panose="02040503050406030204" pitchFamily="18" charset="0"/>
                  </a:rPr>
                  <a:t>2</a:t>
                </a:r>
                <a:r>
                  <a:rPr lang="zh-CN" altLang="en-US" sz="2200" dirty="0">
                    <a:latin typeface="Cambria Math" panose="02040503050406030204" pitchFamily="18" charset="0"/>
                    <a:ea typeface="宋体" panose="02010600030101010101" pitchFamily="2" charset="-122"/>
                    <a:cs typeface="Cambria Math" panose="02040503050406030204" pitchFamily="18" charset="0"/>
                  </a:rPr>
                  <a:t>做轴向搜索，我们发现全部轴向搜索失败，减小步长</a:t>
                </a:r>
                <a14:m>
                  <m:oMath xmlns:m="http://schemas.openxmlformats.org/officeDocument/2006/math">
                    <m:r>
                      <a:rPr lang="en-US" altLang="zh-CN" sz="2200" i="1">
                        <a:latin typeface="Cambria Math" panose="02040503050406030204" pitchFamily="18" charset="0"/>
                        <a:cs typeface="Cambria Math" panose="02040503050406030204" pitchFamily="18" charset="0"/>
                      </a:rPr>
                      <m:t>𝛿</m:t>
                    </m:r>
                    <m:r>
                      <a:rPr lang="en-US" altLang="zh-CN" sz="22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2</m:t>
                            </m:r>
                          </m:den>
                        </m:f>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2</m:t>
                        </m:r>
                      </m:den>
                    </m:f>
                    <m:r>
                      <a:rPr lang="en-US" altLang="zh-CN" sz="2200" i="1">
                        <a:latin typeface="Cambria Math" panose="02040503050406030204" pitchFamily="18" charset="0"/>
                        <a:ea typeface="宋体" panose="02010600030101010101" pitchFamily="2" charset="-122"/>
                        <a:cs typeface="Cambria Math" panose="02040503050406030204" pitchFamily="18" charset="0"/>
                      </a:rPr>
                      <m:t>=</m:t>
                    </m:r>
                    <m:f>
                      <m:f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fPr>
                      <m:num>
                        <m:r>
                          <a:rPr lang="en-US" altLang="zh-CN" sz="2200" i="1">
                            <a:latin typeface="Cambria Math" panose="02040503050406030204" pitchFamily="18" charset="0"/>
                            <a:ea typeface="宋体" panose="02010600030101010101" pitchFamily="2" charset="-122"/>
                            <a:cs typeface="Cambria Math" panose="02040503050406030204" pitchFamily="18" charset="0"/>
                          </a:rPr>
                          <m:t>1</m:t>
                        </m:r>
                      </m:num>
                      <m:den>
                        <m:r>
                          <a:rPr lang="en-US" altLang="zh-CN" sz="2200" i="1">
                            <a:latin typeface="Cambria Math" panose="02040503050406030204" pitchFamily="18" charset="0"/>
                            <a:ea typeface="宋体" panose="02010600030101010101" pitchFamily="2" charset="-122"/>
                            <a:cs typeface="Cambria Math" panose="02040503050406030204" pitchFamily="18" charset="0"/>
                          </a:rPr>
                          <m:t>4</m:t>
                        </m:r>
                      </m:den>
                    </m:f>
                  </m:oMath>
                </a14:m>
                <a:r>
                  <a:rPr lang="zh-CN" altLang="en-US" sz="2200" dirty="0">
                    <a:latin typeface="Cambria Math" panose="02040503050406030204" pitchFamily="18" charset="0"/>
                    <a:ea typeface="宋体" panose="02010600030101010101" pitchFamily="2" charset="-122"/>
                    <a:cs typeface="Cambria Math" panose="02040503050406030204" pitchFamily="18" charset="0"/>
                  </a:rPr>
                  <a:t>。</a:t>
                </a:r>
              </a:p>
              <a:p>
                <a:pPr algn="just" fontAlgn="auto">
                  <a:lnSpc>
                    <a:spcPct val="150000"/>
                  </a:lnSpc>
                </a:pPr>
                <a:r>
                  <a:rPr lang="en-US" altLang="zh-CN" sz="2200" dirty="0">
                    <a:latin typeface="Cambria Math" panose="02040503050406030204" pitchFamily="18" charset="0"/>
                    <a:ea typeface="宋体" panose="02010600030101010101" pitchFamily="2" charset="-122"/>
                    <a:cs typeface="Cambria Math" panose="02040503050406030204" pitchFamily="18" charset="0"/>
                  </a:rPr>
                  <a:t>        </a:t>
                </a:r>
                <a:r>
                  <a:rPr lang="zh-CN" altLang="en-US" sz="2200" dirty="0">
                    <a:latin typeface="Cambria Math" panose="02040503050406030204" pitchFamily="18" charset="0"/>
                    <a:ea typeface="宋体" panose="02010600030101010101" pitchFamily="2" charset="-122"/>
                    <a:cs typeface="Cambria Math" panose="02040503050406030204" pitchFamily="18" charset="0"/>
                  </a:rPr>
                  <a:t>再次作轴向搜索，仍然失败，再次减小步长，最后得到最优解</a:t>
                </a:r>
                <a14:m>
                  <m:oMath xmlns:m="http://schemas.openxmlformats.org/officeDocument/2006/math">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2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3</m:t>
                            </m:r>
                          </m:e>
                        </m:d>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sSupPr>
                      <m:e>
                        <m:d>
                          <m:dPr>
                            <m:ctrlPr>
                              <a:rPr lang="en-US" altLang="zh-CN" sz="22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200" i="1">
                                <a:latin typeface="Cambria Math" panose="02040503050406030204" pitchFamily="18" charset="0"/>
                                <a:ea typeface="宋体" panose="02010600030101010101" pitchFamily="2" charset="-122"/>
                                <a:cs typeface="Cambria Math" panose="02040503050406030204" pitchFamily="18" charset="0"/>
                              </a:rPr>
                              <m:t>1,1</m:t>
                            </m:r>
                          </m:e>
                        </m:d>
                      </m:e>
                      <m:sup>
                        <m:r>
                          <a:rPr lang="en-US" altLang="zh-CN" sz="2200" i="1">
                            <a:latin typeface="Cambria Math" panose="02040503050406030204" pitchFamily="18" charset="0"/>
                            <a:ea typeface="宋体" panose="02010600030101010101" pitchFamily="2" charset="-122"/>
                            <a:cs typeface="Cambria Math" panose="02040503050406030204" pitchFamily="18" charset="0"/>
                          </a:rPr>
                          <m:t>𝑇</m:t>
                        </m:r>
                      </m:sup>
                    </m:sSup>
                    <m:r>
                      <a:rPr lang="en-US" altLang="zh-CN" sz="2200" i="1">
                        <a:latin typeface="Cambria Math" panose="02040503050406030204" pitchFamily="18" charset="0"/>
                        <a:ea typeface="宋体" panose="02010600030101010101" pitchFamily="2" charset="-122"/>
                        <a:cs typeface="Cambria Math" panose="02040503050406030204" pitchFamily="18" charset="0"/>
                      </a:rPr>
                      <m:t>。</m:t>
                    </m:r>
                  </m:oMath>
                </a14:m>
                <a:endParaRPr lang="en-US" altLang="zh-CN" sz="2200" dirty="0">
                  <a:latin typeface="Cambria Math" panose="02040503050406030204" pitchFamily="18" charset="0"/>
                  <a:ea typeface="宋体" panose="02010600030101010101" pitchFamily="2" charset="-122"/>
                  <a:cs typeface="Cambria Math" panose="020405030504060302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251520" y="231554"/>
                <a:ext cx="8395811" cy="6394892"/>
              </a:xfrm>
              <a:prstGeom prst="rect">
                <a:avLst/>
              </a:prstGeom>
              <a:blipFill rotWithShape="1">
                <a:blip r:embed="rId2"/>
                <a:stretch>
                  <a:fillRect l="-1" t="-6" r="6" b="3"/>
                </a:stretch>
              </a:blipFill>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67544" y="1268760"/>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三、小结</a:t>
            </a:r>
            <a:endParaRPr lang="zh-CN" altLang="zh-CN" sz="2400" kern="100" dirty="0">
              <a:latin typeface="Times New Roman" panose="02020603050405020304" pitchFamily="18" charset="0"/>
              <a:ea typeface="宋体" panose="02010600030101010101" pitchFamily="2" charset="-122"/>
            </a:endParaRPr>
          </a:p>
        </p:txBody>
      </p:sp>
      <p:sp>
        <p:nvSpPr>
          <p:cNvPr id="7" name="文本框 6"/>
          <p:cNvSpPr txBox="1"/>
          <p:nvPr/>
        </p:nvSpPr>
        <p:spPr>
          <a:xfrm>
            <a:off x="451486" y="1808798"/>
            <a:ext cx="8171021" cy="1955600"/>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en-US" sz="2100" dirty="0"/>
              <a:t>模式搜索法建立的迭代点移动不需要使用一维搜索技巧。</a:t>
            </a:r>
            <a:endParaRPr lang="en-US" altLang="zh-CN" sz="2100" dirty="0"/>
          </a:p>
          <a:p>
            <a:pPr marL="342900" indent="-342900" algn="just">
              <a:lnSpc>
                <a:spcPct val="150000"/>
              </a:lnSpc>
              <a:buFont typeface="Wingdings" panose="05000000000000000000" pitchFamily="2" charset="2"/>
              <a:buChar char="Ø"/>
            </a:pPr>
            <a:r>
              <a:rPr lang="zh-CN" altLang="en-US" sz="2100" kern="100" dirty="0">
                <a:latin typeface="宋体" panose="02010600030101010101" pitchFamily="2" charset="-122"/>
                <a:ea typeface="宋体" panose="02010600030101010101" pitchFamily="2" charset="-122"/>
              </a:rPr>
              <a:t>将轴向搜索和模式搜索中的固定步长改为用一维搜索确定的步长，算法仍然收敛。</a:t>
            </a:r>
            <a:endParaRPr lang="en-US" altLang="zh-CN" sz="2100" kern="100" dirty="0">
              <a:latin typeface="宋体" panose="02010600030101010101" pitchFamily="2" charset="-122"/>
              <a:ea typeface="宋体" panose="02010600030101010101" pitchFamily="2" charset="-122"/>
            </a:endParaRPr>
          </a:p>
          <a:p>
            <a:pPr marL="342900" indent="-342900" algn="just">
              <a:lnSpc>
                <a:spcPct val="150000"/>
              </a:lnSpc>
              <a:buFont typeface="Wingdings" panose="05000000000000000000" pitchFamily="2" charset="2"/>
              <a:buChar char="Ø"/>
            </a:pPr>
            <a:endParaRPr lang="zh-CN" altLang="zh-CN" sz="2100" kern="100" dirty="0">
              <a:latin typeface="宋体" panose="02010600030101010101" pitchFamily="2" charset="-122"/>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57598" y="2797913"/>
            <a:ext cx="3365025" cy="600164"/>
          </a:xfrm>
          <a:prstGeom prst="rect">
            <a:avLst/>
          </a:prstGeom>
        </p:spPr>
        <p:txBody>
          <a:bodyPr wrap="none">
            <a:spAutoFit/>
          </a:bodyPr>
          <a:lstStyle/>
          <a:p>
            <a:pPr algn="ctr"/>
            <a:r>
              <a:rPr lang="en-US" altLang="zh-CN" sz="3300" b="1" dirty="0"/>
              <a:t>   8.4 </a:t>
            </a:r>
            <a:r>
              <a:rPr lang="zh-CN" altLang="en-US" sz="3300" b="1" dirty="0"/>
              <a:t>最速下降法</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899592" y="764704"/>
            <a:ext cx="7344816" cy="3883755"/>
          </a:xfrm>
          <a:prstGeom prst="rect">
            <a:avLst/>
          </a:prstGeom>
          <a:noFill/>
        </p:spPr>
        <p:txBody>
          <a:bodyPr wrap="square">
            <a:spAutoFit/>
          </a:bodyPr>
          <a:lstStyle/>
          <a:p>
            <a:pPr algn="just">
              <a:lnSpc>
                <a:spcPct val="150000"/>
              </a:lnSpc>
            </a:pPr>
            <a:r>
              <a:rPr lang="en-US" altLang="zh-CN" sz="2400" kern="100" dirty="0">
                <a:latin typeface="+mn-ea"/>
                <a:ea typeface="+mn-ea"/>
              </a:rPr>
              <a:t>     </a:t>
            </a:r>
            <a:r>
              <a:rPr lang="zh-CN" altLang="zh-CN" sz="2400" kern="100" dirty="0">
                <a:latin typeface="+mn-ea"/>
                <a:ea typeface="+mn-ea"/>
              </a:rPr>
              <a:t>负梯度方向是函数值减小最快的方向</a:t>
            </a:r>
            <a:r>
              <a:rPr lang="zh-CN" altLang="en-US" sz="2400" kern="100" dirty="0">
                <a:latin typeface="+mn-ea"/>
                <a:ea typeface="+mn-ea"/>
              </a:rPr>
              <a:t>。</a:t>
            </a:r>
            <a:r>
              <a:rPr lang="zh-CN" altLang="zh-CN" sz="2400" kern="100" dirty="0">
                <a:latin typeface="+mn-ea"/>
                <a:ea typeface="+mn-ea"/>
              </a:rPr>
              <a:t>最速下降法的基本思想正是在每一次迭代中，选择最速下降方向（负梯度方向）作为搜索方向，正因为如此，最速度下降法又称一阶梯度法或梯度法</a:t>
            </a:r>
            <a:r>
              <a:rPr lang="zh-CN" altLang="en-US" sz="2400" kern="100" dirty="0">
                <a:latin typeface="+mn-ea"/>
                <a:ea typeface="+mn-ea"/>
              </a:rPr>
              <a:t>。</a:t>
            </a:r>
            <a:r>
              <a:rPr lang="zh-CN" altLang="zh-CN" sz="2400" kern="100" dirty="0">
                <a:latin typeface="+mn-ea"/>
                <a:ea typeface="+mn-ea"/>
              </a:rPr>
              <a:t>最速下降法是许多非线性规划算法的一个基础，例如，著名的人工神经网络反向传播算法（即</a:t>
            </a:r>
            <a:r>
              <a:rPr lang="en-US" altLang="zh-CN" sz="2400" kern="100" dirty="0">
                <a:latin typeface="+mn-ea"/>
                <a:ea typeface="+mn-ea"/>
              </a:rPr>
              <a:t>BP</a:t>
            </a:r>
            <a:r>
              <a:rPr lang="zh-CN" altLang="zh-CN" sz="2400" kern="100" dirty="0">
                <a:latin typeface="+mn-ea"/>
                <a:ea typeface="+mn-ea"/>
              </a:rPr>
              <a:t>算法）就是基于最速下降法原理的</a:t>
            </a:r>
            <a:r>
              <a:rPr lang="zh-CN" altLang="en-US" sz="2400" kern="100" dirty="0">
                <a:latin typeface="+mn-ea"/>
                <a:ea typeface="+mn-ea"/>
              </a:rPr>
              <a:t>。</a:t>
            </a:r>
            <a:endParaRPr lang="zh-CN" altLang="zh-CN" sz="2400" kern="100" dirty="0">
              <a:latin typeface="+mn-ea"/>
              <a:ea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50982" y="593868"/>
            <a:ext cx="5154105" cy="430887"/>
          </a:xfrm>
          <a:prstGeom prst="rect">
            <a:avLst/>
          </a:prstGeom>
          <a:noFill/>
        </p:spPr>
        <p:txBody>
          <a:bodyPr wrap="square">
            <a:spAutoFit/>
          </a:bodyPr>
          <a:lstStyle/>
          <a:p>
            <a:pPr algn="just">
              <a:spcBef>
                <a:spcPts val="450"/>
              </a:spcBef>
              <a:spcAft>
                <a:spcPts val="450"/>
              </a:spcAft>
            </a:pPr>
            <a:r>
              <a:rPr lang="zh-CN" altLang="en-US" sz="2200" kern="100" dirty="0">
                <a:latin typeface="Times New Roman" panose="02020603050405020304" pitchFamily="18" charset="0"/>
                <a:ea typeface="黑体" panose="02010609060101010101" pitchFamily="49" charset="-122"/>
              </a:rPr>
              <a:t>一、基本原理</a:t>
            </a:r>
            <a:endParaRPr lang="zh-CN" altLang="zh-CN" sz="2200" kern="1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2254667" y="1693519"/>
                <a:ext cx="1455802" cy="4406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altLang="zh-CN" sz="2200" i="1">
                              <a:latin typeface="Cambria Math" panose="02040503050406030204" pitchFamily="18" charset="0"/>
                            </a:rPr>
                          </m:ctrlPr>
                        </m:funcPr>
                        <m:fName>
                          <m:limLow>
                            <m:limLowPr>
                              <m:ctrlPr>
                                <a:rPr lang="en-US" altLang="zh-CN" sz="2200" i="1">
                                  <a:latin typeface="Cambria Math" panose="02040503050406030204" pitchFamily="18" charset="0"/>
                                </a:rPr>
                              </m:ctrlPr>
                            </m:limLowPr>
                            <m:e>
                              <m:r>
                                <m:rPr>
                                  <m:sty m:val="p"/>
                                </m:rPr>
                                <a:rPr lang="en-US" altLang="zh-CN" sz="2200">
                                  <a:latin typeface="Cambria Math" panose="02040503050406030204" pitchFamily="18" charset="0"/>
                                </a:rPr>
                                <m:t>min</m:t>
                              </m:r>
                            </m:e>
                            <m:lim>
                              <m:r>
                                <a:rPr lang="en-US" altLang="zh-CN" sz="2200" i="1">
                                  <a:latin typeface="Cambria Math" panose="02040503050406030204" pitchFamily="18" charset="0"/>
                                </a:rPr>
                                <m:t>𝑥</m:t>
                              </m:r>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𝑅</m:t>
                                  </m:r>
                                </m:e>
                                <m:sup>
                                  <m:r>
                                    <a:rPr lang="en-US" altLang="zh-CN" sz="2200" i="1">
                                      <a:latin typeface="Cambria Math" panose="02040503050406030204" pitchFamily="18" charset="0"/>
                                      <a:ea typeface="Cambria Math" panose="02040503050406030204" pitchFamily="18" charset="0"/>
                                    </a:rPr>
                                    <m:t>𝑛</m:t>
                                  </m:r>
                                </m:sup>
                              </m:sSup>
                            </m:lim>
                          </m:limLow>
                        </m:fName>
                        <m:e>
                          <m:r>
                            <a:rPr lang="en-US" altLang="zh-CN" sz="2200" i="1">
                              <a:latin typeface="Cambria Math" panose="02040503050406030204" pitchFamily="18" charset="0"/>
                            </a:rPr>
                            <m:t>𝑓</m:t>
                          </m:r>
                          <m:r>
                            <a:rPr lang="en-US" altLang="zh-CN" sz="2200" i="1">
                              <a:latin typeface="Cambria Math" panose="02040503050406030204" pitchFamily="18" charset="0"/>
                            </a:rPr>
                            <m:t>(</m:t>
                          </m:r>
                          <m:r>
                            <a:rPr lang="en-US" altLang="zh-CN" sz="2200" i="1">
                              <a:latin typeface="Cambria Math" panose="02040503050406030204" pitchFamily="18" charset="0"/>
                            </a:rPr>
                            <m:t>𝑥</m:t>
                          </m:r>
                          <m:r>
                            <a:rPr lang="en-US" altLang="zh-CN" sz="2200" i="1">
                              <a:latin typeface="Cambria Math" panose="02040503050406030204" pitchFamily="18" charset="0"/>
                            </a:rPr>
                            <m:t>)</m:t>
                          </m:r>
                        </m:e>
                      </m:func>
                    </m:oMath>
                  </m:oMathPara>
                </a14:m>
                <a:endParaRPr lang="zh-CN" altLang="en-US" sz="2200" dirty="0"/>
              </a:p>
            </p:txBody>
          </p:sp>
        </mc:Choice>
        <mc:Fallback xmlns="">
          <p:sp>
            <p:nvSpPr>
              <p:cNvPr id="4" name="文本框 3"/>
              <p:cNvSpPr txBox="1">
                <a:spLocks noRot="1" noChangeAspect="1" noMove="1" noResize="1" noEditPoints="1" noAdjustHandles="1" noChangeArrowheads="1" noChangeShapeType="1" noTextEdit="1"/>
              </p:cNvSpPr>
              <p:nvPr/>
            </p:nvSpPr>
            <p:spPr>
              <a:xfrm>
                <a:off x="2254667" y="1693519"/>
                <a:ext cx="1455802" cy="440698"/>
              </a:xfrm>
              <a:prstGeom prst="rect">
                <a:avLst/>
              </a:prstGeom>
              <a:blipFill rotWithShape="1">
                <a:blip r:embed="rId2"/>
                <a:stretch>
                  <a:fillRect l="-29" t="-138" r="11" b="140"/>
                </a:stretch>
              </a:blipFill>
            </p:spPr>
            <p:txBody>
              <a:bodyPr/>
              <a:lstStyle/>
              <a:p>
                <a:r>
                  <a:rPr lang="zh-CN" altLang="en-US">
                    <a:noFill/>
                  </a:rPr>
                  <a:t> </a:t>
                </a:r>
              </a:p>
            </p:txBody>
          </p:sp>
        </mc:Fallback>
      </mc:AlternateContent>
      <p:sp>
        <p:nvSpPr>
          <p:cNvPr id="5" name="文本框 4"/>
          <p:cNvSpPr txBox="1"/>
          <p:nvPr/>
        </p:nvSpPr>
        <p:spPr>
          <a:xfrm>
            <a:off x="411192" y="1689948"/>
            <a:ext cx="1843475" cy="430887"/>
          </a:xfrm>
          <a:prstGeom prst="rect">
            <a:avLst/>
          </a:prstGeom>
          <a:noFill/>
        </p:spPr>
        <p:txBody>
          <a:bodyPr wrap="square" rtlCol="0">
            <a:spAutoFit/>
          </a:bodyPr>
          <a:lstStyle/>
          <a:p>
            <a:r>
              <a:rPr lang="zh-CN" altLang="en-US" sz="2200" dirty="0"/>
              <a:t>求解</a:t>
            </a:r>
          </a:p>
        </p:txBody>
      </p:sp>
      <p:sp>
        <p:nvSpPr>
          <p:cNvPr id="6" name="文本框 5"/>
          <p:cNvSpPr txBox="1"/>
          <p:nvPr/>
        </p:nvSpPr>
        <p:spPr>
          <a:xfrm>
            <a:off x="107504" y="2573859"/>
            <a:ext cx="2079111" cy="430887"/>
          </a:xfrm>
          <a:prstGeom prst="rect">
            <a:avLst/>
          </a:prstGeom>
          <a:noFill/>
        </p:spPr>
        <p:txBody>
          <a:bodyPr wrap="square" rtlCol="0">
            <a:spAutoFit/>
          </a:bodyPr>
          <a:lstStyle/>
          <a:p>
            <a:r>
              <a:rPr lang="zh-CN" altLang="en-US" sz="2200" dirty="0"/>
              <a:t>寻求迭代点列</a:t>
            </a:r>
          </a:p>
        </p:txBody>
      </p:sp>
      <p:sp>
        <p:nvSpPr>
          <p:cNvPr id="7" name="文本框 6"/>
          <p:cNvSpPr txBox="1"/>
          <p:nvPr/>
        </p:nvSpPr>
        <p:spPr>
          <a:xfrm>
            <a:off x="411192" y="3324257"/>
            <a:ext cx="1843475" cy="430887"/>
          </a:xfrm>
          <a:prstGeom prst="rect">
            <a:avLst/>
          </a:prstGeom>
          <a:noFill/>
        </p:spPr>
        <p:txBody>
          <a:bodyPr wrap="square" rtlCol="0">
            <a:spAutoFit/>
          </a:bodyPr>
          <a:lstStyle/>
          <a:p>
            <a:r>
              <a:rPr lang="zh-CN" altLang="en-US" sz="2200" dirty="0"/>
              <a:t>满足</a:t>
            </a:r>
          </a:p>
        </p:txBody>
      </p:sp>
      <mc:AlternateContent xmlns:mc="http://schemas.openxmlformats.org/markup-compatibility/2006" xmlns:a14="http://schemas.microsoft.com/office/drawing/2010/main">
        <mc:Choice Requires="a14">
          <p:sp>
            <p:nvSpPr>
              <p:cNvPr id="8" name="文本框 7"/>
              <p:cNvSpPr txBox="1"/>
              <p:nvPr/>
            </p:nvSpPr>
            <p:spPr>
              <a:xfrm>
                <a:off x="2016492" y="2564904"/>
                <a:ext cx="4740944" cy="361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en-US" altLang="zh-CN" sz="2200" i="1">
                                  <a:latin typeface="Cambria Math" panose="02040503050406030204" pitchFamily="18" charset="0"/>
                                </a:rPr>
                                <m:t>2</m:t>
                              </m:r>
                            </m:e>
                          </m:d>
                        </m:sup>
                      </m:sSup>
                      <m:r>
                        <a:rPr lang="en-US" altLang="zh-CN" sz="2200" i="1">
                          <a:latin typeface="Cambria Math" panose="02040503050406030204" pitchFamily="18" charset="0"/>
                          <a:ea typeface="Cambria Math" panose="02040503050406030204" pitchFamily="18" charset="0"/>
                        </a:rPr>
                        <m:t>→⋯→</m:t>
                      </m:r>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zh-CN" altLang="en-US" sz="2200" i="1">
                                  <a:latin typeface="Cambria Math" panose="02040503050406030204" pitchFamily="18" charset="0"/>
                                </a:rPr>
                                <m:t>𝑘</m:t>
                              </m:r>
                            </m:e>
                          </m:d>
                        </m:sup>
                      </m:sSup>
                      <m:r>
                        <a:rPr lang="en-US" altLang="zh-CN" sz="2200" i="1">
                          <a:latin typeface="Cambria Math" panose="02040503050406030204" pitchFamily="18" charset="0"/>
                          <a:ea typeface="Cambria Math" panose="02040503050406030204" pitchFamily="18" charset="0"/>
                        </a:rPr>
                        <m:t>→</m:t>
                      </m:r>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zh-CN" altLang="en-US" sz="2200" i="1">
                                  <a:latin typeface="Cambria Math" panose="02040503050406030204" pitchFamily="18" charset="0"/>
                                </a:rPr>
                                <m:t>𝑘</m:t>
                              </m:r>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oMath>
                  </m:oMathPara>
                </a14:m>
                <a:endParaRPr lang="zh-CN" altLang="en-US" sz="2200" dirty="0"/>
              </a:p>
            </p:txBody>
          </p:sp>
        </mc:Choice>
        <mc:Fallback xmlns="">
          <p:sp>
            <p:nvSpPr>
              <p:cNvPr id="8" name="文本框 7"/>
              <p:cNvSpPr txBox="1">
                <a:spLocks noRot="1" noChangeAspect="1" noMove="1" noResize="1" noEditPoints="1" noAdjustHandles="1" noChangeArrowheads="1" noChangeShapeType="1" noTextEdit="1"/>
              </p:cNvSpPr>
              <p:nvPr/>
            </p:nvSpPr>
            <p:spPr>
              <a:xfrm>
                <a:off x="2016492" y="2564904"/>
                <a:ext cx="4740944" cy="361509"/>
              </a:xfrm>
              <a:prstGeom prst="rect">
                <a:avLst/>
              </a:prstGeom>
              <a:blipFill rotWithShape="1">
                <a:blip r:embed="rId3"/>
                <a:stretch>
                  <a:fillRect l="-8" t="-38" r="8" b="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909314" y="3264159"/>
                <a:ext cx="7127182" cy="4809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𝑓</m:t>
                      </m:r>
                      <m:d>
                        <m:dPr>
                          <m:ctrlPr>
                            <a:rPr lang="en-US" altLang="zh-CN" sz="2200" i="1">
                              <a:latin typeface="Cambria Math" panose="02040503050406030204" pitchFamily="18" charset="0"/>
                            </a:rPr>
                          </m:ctrlPr>
                        </m:dPr>
                        <m:e>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en-US" altLang="zh-CN" sz="2200" i="1">
                                      <a:latin typeface="Cambria Math" panose="02040503050406030204" pitchFamily="18" charset="0"/>
                                    </a:rPr>
                                    <m:t>1</m:t>
                                  </m:r>
                                </m:e>
                              </m:d>
                            </m:sup>
                          </m:sSup>
                        </m:e>
                      </m:d>
                      <m:r>
                        <a:rPr lang="en-US" altLang="zh-CN" sz="2200" i="1">
                          <a:latin typeface="Cambria Math" panose="02040503050406030204" pitchFamily="18" charset="0"/>
                        </a:rPr>
                        <m:t>&gt;</m:t>
                      </m:r>
                      <m:r>
                        <a:rPr lang="en-US" altLang="zh-CN" sz="2200" i="1">
                          <a:latin typeface="Cambria Math" panose="02040503050406030204" pitchFamily="18" charset="0"/>
                        </a:rPr>
                        <m:t>𝑓</m:t>
                      </m:r>
                      <m:d>
                        <m:dPr>
                          <m:ctrlPr>
                            <a:rPr lang="en-US" altLang="zh-CN" sz="2200" i="1">
                              <a:latin typeface="Cambria Math" panose="02040503050406030204" pitchFamily="18" charset="0"/>
                            </a:rPr>
                          </m:ctrlPr>
                        </m:dPr>
                        <m:e>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en-US" altLang="zh-CN" sz="2200" i="1">
                                      <a:latin typeface="Cambria Math" panose="02040503050406030204" pitchFamily="18" charset="0"/>
                                    </a:rPr>
                                    <m:t>2</m:t>
                                  </m:r>
                                </m:e>
                              </m:d>
                            </m:sup>
                          </m:sSup>
                        </m:e>
                      </m:d>
                      <m:r>
                        <a:rPr lang="en-US" altLang="zh-CN" sz="2200" i="1">
                          <a:latin typeface="Cambria Math" panose="02040503050406030204" pitchFamily="18" charset="0"/>
                          <a:ea typeface="Cambria Math" panose="02040503050406030204" pitchFamily="18" charset="0"/>
                        </a:rPr>
                        <m:t>&gt;⋯&gt;</m:t>
                      </m:r>
                      <m:r>
                        <a:rPr lang="en-US" altLang="zh-CN" sz="2200" i="1">
                          <a:latin typeface="Cambria Math" panose="02040503050406030204" pitchFamily="18" charset="0"/>
                          <a:ea typeface="Cambria Math" panose="02040503050406030204" pitchFamily="18" charset="0"/>
                        </a:rPr>
                        <m:t>𝑓</m:t>
                      </m:r>
                      <m:d>
                        <m:dPr>
                          <m:ctrlPr>
                            <a:rPr lang="en-US" altLang="zh-CN" sz="2200" i="1">
                              <a:latin typeface="Cambria Math" panose="02040503050406030204" pitchFamily="18" charset="0"/>
                              <a:ea typeface="Cambria Math" panose="02040503050406030204" pitchFamily="18" charset="0"/>
                            </a:rPr>
                          </m:ctrlPr>
                        </m:dPr>
                        <m:e>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en-US" altLang="zh-CN" sz="2200" i="1">
                                      <a:latin typeface="Cambria Math" panose="02040503050406030204" pitchFamily="18" charset="0"/>
                                    </a:rPr>
                                    <m:t>𝑘</m:t>
                                  </m:r>
                                </m:e>
                              </m:d>
                            </m:sup>
                          </m:sSup>
                        </m:e>
                      </m:d>
                      <m:r>
                        <a:rPr lang="en-US" altLang="zh-CN" sz="2200" i="1">
                          <a:latin typeface="Cambria Math" panose="02040503050406030204" pitchFamily="18" charset="0"/>
                          <a:ea typeface="Cambria Math" panose="02040503050406030204" pitchFamily="18" charset="0"/>
                        </a:rPr>
                        <m:t>&gt;</m:t>
                      </m:r>
                      <m:r>
                        <a:rPr lang="en-US" altLang="zh-CN" sz="2200" i="1">
                          <a:latin typeface="Cambria Math" panose="02040503050406030204" pitchFamily="18" charset="0"/>
                          <a:ea typeface="Cambria Math" panose="02040503050406030204" pitchFamily="18" charset="0"/>
                        </a:rPr>
                        <m:t>𝑓</m:t>
                      </m:r>
                      <m:d>
                        <m:dPr>
                          <m:ctrlPr>
                            <a:rPr lang="en-US" altLang="zh-CN" sz="2200" i="1">
                              <a:latin typeface="Cambria Math" panose="02040503050406030204" pitchFamily="18" charset="0"/>
                              <a:ea typeface="Cambria Math" panose="02040503050406030204" pitchFamily="18" charset="0"/>
                            </a:rPr>
                          </m:ctrlPr>
                        </m:dPr>
                        <m:e>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en-US" altLang="zh-CN" sz="2200" i="1">
                                      <a:latin typeface="Cambria Math" panose="02040503050406030204" pitchFamily="18" charset="0"/>
                                    </a:rPr>
                                    <m:t>𝑘</m:t>
                                  </m:r>
                                  <m:r>
                                    <a:rPr lang="en-US" altLang="zh-CN" sz="2200" i="1">
                                      <a:latin typeface="Cambria Math" panose="02040503050406030204" pitchFamily="18" charset="0"/>
                                    </a:rPr>
                                    <m:t>+1</m:t>
                                  </m:r>
                                </m:e>
                              </m:d>
                            </m:sup>
                          </m:sSup>
                        </m:e>
                      </m:d>
                      <m:r>
                        <a:rPr lang="en-US" altLang="zh-CN" sz="2200" i="1">
                          <a:latin typeface="Cambria Math" panose="02040503050406030204" pitchFamily="18" charset="0"/>
                          <a:ea typeface="Cambria Math" panose="02040503050406030204" pitchFamily="18" charset="0"/>
                        </a:rPr>
                        <m:t>&gt;⋯</m:t>
                      </m:r>
                    </m:oMath>
                  </m:oMathPara>
                </a14:m>
                <a:endParaRPr lang="zh-CN" altLang="en-US" sz="22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1909314" y="3264159"/>
                <a:ext cx="7127182" cy="480966"/>
              </a:xfrm>
              <a:prstGeom prst="rect">
                <a:avLst/>
              </a:prstGeom>
              <a:blipFill rotWithShape="1">
                <a:blip r:embed="rId4"/>
                <a:stretch>
                  <a:fillRect l="-7" t="-54" r="6" b="110"/>
                </a:stretch>
              </a:blipFill>
            </p:spPr>
            <p:txBody>
              <a:bodyPr/>
              <a:lstStyle/>
              <a:p>
                <a:r>
                  <a:rPr lang="zh-CN" altLang="en-US">
                    <a:noFill/>
                  </a:rPr>
                  <a:t> </a:t>
                </a:r>
              </a:p>
            </p:txBody>
          </p:sp>
        </mc:Fallback>
      </mc:AlternateContent>
      <p:sp>
        <p:nvSpPr>
          <p:cNvPr id="11" name="文本框 10"/>
          <p:cNvSpPr txBox="1"/>
          <p:nvPr/>
        </p:nvSpPr>
        <p:spPr>
          <a:xfrm>
            <a:off x="411192" y="4403537"/>
            <a:ext cx="1843475" cy="430887"/>
          </a:xfrm>
          <a:prstGeom prst="rect">
            <a:avLst/>
          </a:prstGeom>
          <a:noFill/>
        </p:spPr>
        <p:txBody>
          <a:bodyPr wrap="square" rtlCol="0">
            <a:spAutoFit/>
          </a:bodyPr>
          <a:lstStyle/>
          <a:p>
            <a:r>
              <a:rPr lang="zh-CN" altLang="en-US" sz="2200" dirty="0"/>
              <a:t>令</a:t>
            </a:r>
          </a:p>
        </p:txBody>
      </p:sp>
      <mc:AlternateContent xmlns:mc="http://schemas.openxmlformats.org/markup-compatibility/2006" xmlns:a14="http://schemas.microsoft.com/office/drawing/2010/main">
        <mc:Choice Requires="a14">
          <p:sp>
            <p:nvSpPr>
              <p:cNvPr id="13" name="文本框 12"/>
              <p:cNvSpPr txBox="1"/>
              <p:nvPr/>
            </p:nvSpPr>
            <p:spPr>
              <a:xfrm>
                <a:off x="1619672" y="4344686"/>
                <a:ext cx="6210690" cy="453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zh-CN" altLang="en-US" sz="2200" i="1">
                                  <a:latin typeface="Cambria Math" panose="02040503050406030204" pitchFamily="18" charset="0"/>
                                </a:rPr>
                                <m:t>𝑘</m:t>
                              </m:r>
                              <m:r>
                                <a:rPr lang="en-US" altLang="zh-CN" sz="2200" i="1">
                                  <a:latin typeface="Cambria Math" panose="02040503050406030204" pitchFamily="18" charset="0"/>
                                </a:rPr>
                                <m:t>+1</m:t>
                              </m:r>
                            </m:e>
                          </m:d>
                        </m:sup>
                      </m:sSup>
                      <m:r>
                        <a:rPr lang="en-US" altLang="zh-CN" sz="2200" i="1">
                          <a:latin typeface="Cambria Math" panose="02040503050406030204" pitchFamily="18" charset="0"/>
                          <a:ea typeface="Cambria Math" panose="02040503050406030204" pitchFamily="18" charset="0"/>
                        </a:rPr>
                        <m:t>=</m:t>
                      </m:r>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zh-CN" altLang="en-US" sz="2200" i="1">
                                  <a:latin typeface="Cambria Math" panose="02040503050406030204" pitchFamily="18" charset="0"/>
                                </a:rPr>
                                <m:t>𝑘</m:t>
                              </m:r>
                            </m:e>
                          </m:d>
                        </m:sup>
                      </m:sSup>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𝑥</m:t>
                          </m:r>
                        </m:e>
                        <m:sub>
                          <m:r>
                            <a:rPr lang="en-US" altLang="zh-CN" sz="2200" i="1">
                              <a:latin typeface="Cambria Math" panose="02040503050406030204" pitchFamily="18" charset="0"/>
                              <a:ea typeface="Cambria Math" panose="02040503050406030204" pitchFamily="18" charset="0"/>
                            </a:rPr>
                            <m:t>𝑘</m:t>
                          </m:r>
                        </m:sub>
                      </m:sSub>
                      <m:r>
                        <a:rPr lang="en-US" altLang="zh-CN" sz="2200" i="1">
                          <a:latin typeface="Cambria Math" panose="02040503050406030204" pitchFamily="18" charset="0"/>
                          <a:ea typeface="Cambria Math" panose="02040503050406030204" pitchFamily="18" charset="0"/>
                        </a:rPr>
                        <m:t>=</m:t>
                      </m:r>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latin typeface="Cambria Math" panose="02040503050406030204" pitchFamily="18" charset="0"/>
                                </a:rPr>
                              </m:ctrlPr>
                            </m:dPr>
                            <m:e>
                              <m:r>
                                <a:rPr lang="zh-CN" altLang="en-US" sz="2200" i="1">
                                  <a:latin typeface="Cambria Math" panose="02040503050406030204" pitchFamily="18" charset="0"/>
                                </a:rPr>
                                <m:t>𝑘</m:t>
                              </m:r>
                            </m:e>
                          </m:d>
                        </m:sup>
                      </m:sSup>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ea typeface="Cambria Math" panose="02040503050406030204" pitchFamily="18" charset="0"/>
                            </a:rPr>
                          </m:ctrlPr>
                        </m:sSupPr>
                        <m:e>
                          <m:r>
                            <a:rPr lang="zh-CN" altLang="en-US" sz="2200" i="1">
                              <a:latin typeface="Cambria Math" panose="02040503050406030204" pitchFamily="18" charset="0"/>
                              <a:ea typeface="Cambria Math" panose="02040503050406030204" pitchFamily="18" charset="0"/>
                            </a:rPr>
                            <m:t>𝛼</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𝑘</m:t>
                          </m:r>
                          <m:r>
                            <a:rPr lang="en-US" altLang="zh-CN" sz="2200" i="1">
                              <a:latin typeface="Cambria Math" panose="02040503050406030204" pitchFamily="18" charset="0"/>
                              <a:ea typeface="Cambria Math" panose="02040503050406030204" pitchFamily="18" charset="0"/>
                            </a:rPr>
                            <m:t>)</m:t>
                          </m:r>
                        </m:sup>
                      </m:sSup>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𝑑</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𝑘</m:t>
                          </m:r>
                          <m:r>
                            <a:rPr lang="en-US" altLang="zh-CN" sz="2200" i="1">
                              <a:latin typeface="Cambria Math" panose="02040503050406030204" pitchFamily="18" charset="0"/>
                              <a:ea typeface="Cambria Math" panose="02040503050406030204" pitchFamily="18" charset="0"/>
                            </a:rPr>
                            <m:t>)</m:t>
                          </m:r>
                        </m:sup>
                      </m:sSup>
                    </m:oMath>
                  </m:oMathPara>
                </a14:m>
                <a:endParaRPr lang="zh-CN" altLang="en-US" sz="22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1619672" y="4344686"/>
                <a:ext cx="6210690" cy="453842"/>
              </a:xfrm>
              <a:prstGeom prst="rect">
                <a:avLst/>
              </a:prstGeom>
              <a:blipFill rotWithShape="1">
                <a:blip r:embed="rId5"/>
                <a:stretch>
                  <a:fillRect l="-7" t="-4" r="3" b="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2016492" y="5301208"/>
                <a:ext cx="6838398" cy="444994"/>
              </a:xfrm>
              <a:prstGeom prst="rect">
                <a:avLst/>
              </a:prstGeom>
              <a:noFill/>
            </p:spPr>
            <p:txBody>
              <a:bodyPr wrap="square">
                <a:spAutoFit/>
              </a:bodyPr>
              <a:lstStyle/>
              <a:p>
                <a:r>
                  <a:rPr lang="zh-CN" altLang="en-US" sz="2200" dirty="0">
                    <a:latin typeface="+mn-ea"/>
                    <a:ea typeface="+mn-ea"/>
                  </a:rPr>
                  <a:t>其中</a:t>
                </a:r>
                <a14:m>
                  <m:oMath xmlns:m="http://schemas.openxmlformats.org/officeDocument/2006/math">
                    <m:r>
                      <a:rPr lang="en-US" altLang="zh-CN" sz="2200">
                        <a:latin typeface="Cambria Math" panose="02040503050406030204" pitchFamily="18" charset="0"/>
                        <a:ea typeface="Cambria Math" panose="02040503050406030204" pitchFamily="18" charset="0"/>
                      </a:rPr>
                      <m:t> </m:t>
                    </m:r>
                    <m:sSup>
                      <m:sSupPr>
                        <m:ctrlPr>
                          <a:rPr lang="en-US" altLang="zh-CN" sz="2200" i="1">
                            <a:latin typeface="Cambria Math" panose="02040503050406030204" pitchFamily="18" charset="0"/>
                            <a:ea typeface="Cambria Math" panose="02040503050406030204" pitchFamily="18" charset="0"/>
                          </a:rPr>
                        </m:ctrlPr>
                      </m:sSupPr>
                      <m:e>
                        <m:r>
                          <a:rPr lang="zh-CN" altLang="en-US" sz="2200" i="1">
                            <a:latin typeface="Cambria Math" panose="02040503050406030204" pitchFamily="18" charset="0"/>
                            <a:ea typeface="Cambria Math" panose="02040503050406030204" pitchFamily="18" charset="0"/>
                          </a:rPr>
                          <m:t>𝛼</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𝑘</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&gt;0</m:t>
                    </m:r>
                  </m:oMath>
                </a14:m>
                <a:r>
                  <a:rPr lang="zh-CN" altLang="en-US" sz="2200" dirty="0"/>
                  <a:t>称为步长，</a:t>
                </a:r>
                <a:r>
                  <a:rPr lang="en-US" altLang="zh-CN" sz="2200" dirty="0">
                    <a:ea typeface="Cambria Math" panose="02040503050406030204" pitchFamily="18" charset="0"/>
                  </a:rPr>
                  <a:t> </a:t>
                </a:r>
                <a14:m>
                  <m:oMath xmlns:m="http://schemas.openxmlformats.org/officeDocument/2006/math">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𝑑</m:t>
                        </m:r>
                      </m:e>
                      <m:sup>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𝑘</m:t>
                        </m:r>
                        <m:r>
                          <a:rPr lang="en-US" altLang="zh-CN" sz="2200" i="1">
                            <a:latin typeface="Cambria Math" panose="02040503050406030204" pitchFamily="18" charset="0"/>
                            <a:ea typeface="Cambria Math" panose="02040503050406030204" pitchFamily="18" charset="0"/>
                          </a:rPr>
                          <m:t>)</m:t>
                        </m:r>
                      </m:sup>
                    </m:sSup>
                    <m:r>
                      <a:rPr lang="en-US" altLang="zh-CN" sz="2200" i="1">
                        <a:latin typeface="Cambria Math" panose="02040503050406030204" pitchFamily="18" charset="0"/>
                        <a:ea typeface="Cambria Math" panose="02040503050406030204" pitchFamily="18" charset="0"/>
                      </a:rPr>
                      <m:t>∈</m:t>
                    </m:r>
                    <m:sSup>
                      <m:sSupPr>
                        <m:ctrlPr>
                          <a:rPr lang="en-US" altLang="zh-CN" sz="2200" i="1">
                            <a:latin typeface="Cambria Math" panose="02040503050406030204" pitchFamily="18" charset="0"/>
                            <a:ea typeface="Cambria Math" panose="02040503050406030204" pitchFamily="18" charset="0"/>
                          </a:rPr>
                        </m:ctrlPr>
                      </m:sSupPr>
                      <m:e>
                        <m:r>
                          <a:rPr lang="en-US" altLang="zh-CN" sz="2200" i="1">
                            <a:latin typeface="Cambria Math" panose="02040503050406030204" pitchFamily="18" charset="0"/>
                            <a:ea typeface="Cambria Math" panose="02040503050406030204" pitchFamily="18" charset="0"/>
                          </a:rPr>
                          <m:t>𝑅</m:t>
                        </m:r>
                      </m:e>
                      <m:sup>
                        <m:r>
                          <a:rPr lang="en-US" altLang="zh-CN" sz="2200" i="1">
                            <a:latin typeface="Cambria Math" panose="02040503050406030204" pitchFamily="18" charset="0"/>
                            <a:ea typeface="Cambria Math" panose="02040503050406030204" pitchFamily="18" charset="0"/>
                          </a:rPr>
                          <m:t>𝑛</m:t>
                        </m:r>
                      </m:sup>
                    </m:sSup>
                  </m:oMath>
                </a14:m>
                <a:r>
                  <a:rPr lang="zh-CN" altLang="en-US" sz="2200" dirty="0"/>
                  <a:t>称为搜索方向。</a:t>
                </a:r>
              </a:p>
            </p:txBody>
          </p:sp>
        </mc:Choice>
        <mc:Fallback xmlns="">
          <p:sp>
            <p:nvSpPr>
              <p:cNvPr id="15" name="文本框 14"/>
              <p:cNvSpPr txBox="1">
                <a:spLocks noRot="1" noChangeAspect="1" noMove="1" noResize="1" noEditPoints="1" noAdjustHandles="1" noChangeArrowheads="1" noChangeShapeType="1" noTextEdit="1"/>
              </p:cNvSpPr>
              <p:nvPr/>
            </p:nvSpPr>
            <p:spPr>
              <a:xfrm>
                <a:off x="2016492" y="5301208"/>
                <a:ext cx="6838398" cy="444994"/>
              </a:xfrm>
              <a:prstGeom prst="rect">
                <a:avLst/>
              </a:prstGeom>
              <a:blipFill rotWithShape="1">
                <a:blip r:embed="rId6"/>
                <a:stretch>
                  <a:fillRect l="-5" t="-51" r="7" b="20"/>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611559" y="904356"/>
                <a:ext cx="8230599" cy="3602268"/>
              </a:xfrm>
              <a:prstGeom prst="rect">
                <a:avLst/>
              </a:prstGeom>
              <a:noFill/>
            </p:spPr>
            <p:txBody>
              <a:bodyPr wrap="square">
                <a:spAutoFit/>
              </a:bodyPr>
              <a:lstStyle/>
              <a:p>
                <a:pPr algn="just">
                  <a:lnSpc>
                    <a:spcPct val="150000"/>
                  </a:lnSpc>
                </a:pPr>
                <a:r>
                  <a:rPr lang="en-US" altLang="zh-CN" sz="2200" kern="100" dirty="0">
                    <a:latin typeface="+mn-ea"/>
                    <a:ea typeface="+mn-ea"/>
                    <a:cs typeface="Times New Roman" panose="02020603050405020304" pitchFamily="18" charset="0"/>
                  </a:rPr>
                  <a:t>    </a:t>
                </a:r>
                <a:r>
                  <a:rPr lang="zh-CN" altLang="zh-CN" sz="2200" kern="100" dirty="0">
                    <a:latin typeface="+mn-ea"/>
                    <a:ea typeface="+mn-ea"/>
                    <a:cs typeface="Times New Roman" panose="02020603050405020304" pitchFamily="18" charset="0"/>
                  </a:rPr>
                  <a:t>给定一点</a:t>
                </a:r>
                <a14:m>
                  <m:oMath xmlns:m="http://schemas.openxmlformats.org/officeDocument/2006/math">
                    <m:r>
                      <a:rPr lang="en-US" altLang="zh-CN" sz="2200" i="1" kern="100">
                        <a:latin typeface="Cambria Math" panose="02040503050406030204" pitchFamily="18" charset="0"/>
                        <a:ea typeface="+mn-ea"/>
                        <a:cs typeface="Times New Roman" panose="02020603050405020304" pitchFamily="18" charset="0"/>
                      </a:rPr>
                      <m:t>𝑥</m:t>
                    </m:r>
                    <m:r>
                      <a:rPr lang="en-US" altLang="zh-CN" sz="2200" i="1"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mn-ea"/>
                            <a:cs typeface="Times New Roman" panose="02020603050405020304" pitchFamily="18" charset="0"/>
                          </a:rPr>
                          <m:t>𝑅</m:t>
                        </m:r>
                      </m:e>
                      <m:sup>
                        <m:r>
                          <a:rPr lang="en-US" altLang="zh-CN" sz="2200" i="1" kern="100">
                            <a:latin typeface="Cambria Math" panose="02040503050406030204" pitchFamily="18" charset="0"/>
                            <a:ea typeface="+mn-ea"/>
                            <a:cs typeface="Times New Roman" panose="02020603050405020304" pitchFamily="18" charset="0"/>
                          </a:rPr>
                          <m:t>𝑛</m:t>
                        </m:r>
                      </m:sup>
                    </m:sSup>
                  </m:oMath>
                </a14:m>
                <a:r>
                  <a:rPr lang="en-US" altLang="zh-CN"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设</a:t>
                </a:r>
                <a14:m>
                  <m:oMath xmlns:m="http://schemas.openxmlformats.org/officeDocument/2006/math">
                    <m:r>
                      <a:rPr lang="zh-CN" altLang="zh-CN" sz="2200" i="1" kern="100">
                        <a:latin typeface="Cambria Math" panose="02040503050406030204" pitchFamily="18" charset="0"/>
                        <a:ea typeface="+mn-ea"/>
                        <a:cs typeface="Times New Roman" panose="02020603050405020304" pitchFamily="18" charset="0"/>
                      </a:rPr>
                      <m:t> </m:t>
                    </m:r>
                    <m:r>
                      <a:rPr lang="en-US" altLang="zh-CN" sz="2200" i="1" kern="100">
                        <a:latin typeface="Cambria Math" panose="02040503050406030204" pitchFamily="18" charset="0"/>
                        <a:ea typeface="+mn-ea"/>
                        <a:cs typeface="Times New Roman" panose="02020603050405020304" pitchFamily="18" charset="0"/>
                      </a:rPr>
                      <m:t>𝑑</m:t>
                    </m:r>
                    <m:r>
                      <a:rPr lang="en-US" altLang="zh-CN" sz="2200" i="1"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mn-ea"/>
                            <a:cs typeface="Times New Roman" panose="02020603050405020304" pitchFamily="18" charset="0"/>
                          </a:rPr>
                          <m:t>𝑅</m:t>
                        </m:r>
                      </m:e>
                      <m:sup>
                        <m:r>
                          <a:rPr lang="en-US" altLang="zh-CN" sz="2200" i="1" kern="100">
                            <a:latin typeface="Cambria Math" panose="02040503050406030204" pitchFamily="18" charset="0"/>
                            <a:ea typeface="+mn-ea"/>
                            <a:cs typeface="Times New Roman" panose="02020603050405020304" pitchFamily="18" charset="0"/>
                          </a:rPr>
                          <m:t>𝑛</m:t>
                        </m:r>
                      </m:sup>
                    </m:sSup>
                  </m:oMath>
                </a14:m>
                <a:r>
                  <a:rPr lang="zh-CN" altLang="zh-CN" sz="2200" kern="100" dirty="0">
                    <a:latin typeface="+mn-ea"/>
                    <a:ea typeface="+mn-ea"/>
                    <a:cs typeface="Times New Roman" panose="02020603050405020304" pitchFamily="18" charset="0"/>
                  </a:rPr>
                  <a:t>为任一</a:t>
                </a:r>
                <a:r>
                  <a:rPr lang="zh-CN" altLang="zh-CN" sz="2200" b="1" kern="100" dirty="0">
                    <a:latin typeface="+mn-ea"/>
                    <a:ea typeface="+mn-ea"/>
                    <a:cs typeface="Times New Roman" panose="02020603050405020304" pitchFamily="18" charset="0"/>
                  </a:rPr>
                  <a:t>单位向量</a:t>
                </a:r>
                <a:r>
                  <a:rPr lang="en-US" altLang="zh-CN" sz="2200" kern="100" dirty="0">
                    <a:latin typeface="+mn-ea"/>
                    <a:ea typeface="+mn-ea"/>
                    <a:cs typeface="Times New Roman" panose="02020603050405020304" pitchFamily="18" charset="0"/>
                  </a:rPr>
                  <a:t>,</a:t>
                </a:r>
                <a14:m>
                  <m:oMath xmlns:m="http://schemas.openxmlformats.org/officeDocument/2006/math">
                    <m:r>
                      <a:rPr lang="en-US" altLang="zh-CN" sz="2200" i="1" kern="100">
                        <a:latin typeface="Cambria Math" panose="02040503050406030204" pitchFamily="18" charset="0"/>
                        <a:ea typeface="+mn-ea"/>
                        <a:cs typeface="Times New Roman" panose="02020603050405020304" pitchFamily="18" charset="0"/>
                      </a:rPr>
                      <m:t>𝛽</m:t>
                    </m:r>
                  </m:oMath>
                </a14:m>
                <a:r>
                  <a:rPr lang="zh-CN" altLang="zh-CN" sz="2200" kern="100" dirty="0">
                    <a:latin typeface="+mn-ea"/>
                    <a:ea typeface="+mn-ea"/>
                    <a:cs typeface="Times New Roman" panose="02020603050405020304" pitchFamily="18" charset="0"/>
                  </a:rPr>
                  <a:t>为</a:t>
                </a:r>
                <a14:m>
                  <m:oMath xmlns:m="http://schemas.openxmlformats.org/officeDocument/2006/math">
                    <m:r>
                      <m:rPr>
                        <m:sty m:val="p"/>
                      </m:rPr>
                      <a:rPr lang="en-US" altLang="zh-CN" sz="2200" kern="100">
                        <a:latin typeface="Cambria Math" panose="02040503050406030204" pitchFamily="18" charset="0"/>
                        <a:ea typeface="+mn-ea"/>
                        <a:cs typeface="Times New Roman" panose="02020603050405020304" pitchFamily="18" charset="0"/>
                      </a:rPr>
                      <m:t>∇</m:t>
                    </m:r>
                    <m:r>
                      <a:rPr lang="en-US" altLang="zh-CN" sz="2200" i="1" kern="100">
                        <a:latin typeface="Cambria Math" panose="02040503050406030204" pitchFamily="18" charset="0"/>
                        <a:ea typeface="+mn-ea"/>
                        <a:cs typeface="Times New Roman" panose="02020603050405020304" pitchFamily="18" charset="0"/>
                      </a:rPr>
                      <m:t>𝑓</m:t>
                    </m:r>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𝑥</m:t>
                        </m:r>
                      </m:e>
                    </m:d>
                  </m:oMath>
                </a14:m>
                <a:r>
                  <a:rPr lang="zh-CN" altLang="zh-CN" sz="2200" kern="100" dirty="0">
                    <a:latin typeface="+mn-ea"/>
                    <a:ea typeface="+mn-ea"/>
                    <a:cs typeface="Times New Roman" panose="02020603050405020304" pitchFamily="18" charset="0"/>
                  </a:rPr>
                  <a:t>与</a:t>
                </a:r>
                <a14:m>
                  <m:oMath xmlns:m="http://schemas.openxmlformats.org/officeDocument/2006/math">
                    <m:r>
                      <a:rPr lang="en-US" altLang="zh-CN" sz="2200" i="1" kern="100">
                        <a:latin typeface="Cambria Math" panose="02040503050406030204" pitchFamily="18" charset="0"/>
                        <a:ea typeface="+mn-ea"/>
                        <a:cs typeface="Times New Roman" panose="02020603050405020304" pitchFamily="18" charset="0"/>
                      </a:rPr>
                      <m:t>𝑑</m:t>
                    </m:r>
                  </m:oMath>
                </a14:m>
                <a:r>
                  <a:rPr lang="zh-CN" altLang="zh-CN" sz="2200" kern="100" dirty="0">
                    <a:latin typeface="+mn-ea"/>
                    <a:ea typeface="+mn-ea"/>
                    <a:cs typeface="Times New Roman" panose="02020603050405020304" pitchFamily="18" charset="0"/>
                  </a:rPr>
                  <a:t>的夹角</a:t>
                </a:r>
                <a:r>
                  <a:rPr lang="en-US" altLang="zh-CN"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则由</a:t>
                </a:r>
              </a:p>
              <a:p>
                <a:pPr algn="ctr">
                  <a:lnSpc>
                    <a:spcPct val="150000"/>
                  </a:lnSpc>
                </a:pPr>
                <a:r>
                  <a:rPr lang="en-US" altLang="zh-CN" sz="2200" kern="100" dirty="0">
                    <a:latin typeface="+mn-ea"/>
                    <a:ea typeface="+mn-ea"/>
                    <a:cs typeface="Times New Roman" panose="02020603050405020304" pitchFamily="18" charset="0"/>
                  </a:rPr>
                  <a:t>&lt;</a:t>
                </a:r>
                <a14:m>
                  <m:oMath xmlns:m="http://schemas.openxmlformats.org/officeDocument/2006/math">
                    <m:r>
                      <m:rPr>
                        <m:sty m:val="p"/>
                      </m:rPr>
                      <a:rPr lang="en-US" altLang="zh-CN" sz="2200" kern="100">
                        <a:latin typeface="Cambria Math" panose="02040503050406030204" pitchFamily="18" charset="0"/>
                        <a:ea typeface="+mn-ea"/>
                        <a:cs typeface="Times New Roman" panose="02020603050405020304" pitchFamily="18" charset="0"/>
                      </a:rPr>
                      <m:t>∇</m:t>
                    </m:r>
                    <m:r>
                      <a:rPr lang="en-US" altLang="zh-CN" sz="2200" i="1" kern="100">
                        <a:latin typeface="Cambria Math" panose="02040503050406030204" pitchFamily="18" charset="0"/>
                        <a:ea typeface="+mn-ea"/>
                        <a:cs typeface="Times New Roman" panose="02020603050405020304" pitchFamily="18" charset="0"/>
                      </a:rPr>
                      <m:t>𝑓</m:t>
                    </m:r>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𝑥</m:t>
                        </m:r>
                      </m:e>
                    </m:d>
                    <m:r>
                      <a:rPr lang="en-US" altLang="zh-CN" sz="2200" i="1" kern="100">
                        <a:latin typeface="Cambria Math" panose="02040503050406030204" pitchFamily="18" charset="0"/>
                        <a:ea typeface="+mn-ea"/>
                        <a:cs typeface="Times New Roman" panose="02020603050405020304" pitchFamily="18" charset="0"/>
                      </a:rPr>
                      <m:t>, </m:t>
                    </m:r>
                    <m:r>
                      <a:rPr lang="en-US" altLang="zh-CN" sz="2200" i="1" kern="100">
                        <a:latin typeface="Cambria Math" panose="02040503050406030204" pitchFamily="18" charset="0"/>
                        <a:ea typeface="+mn-ea"/>
                        <a:cs typeface="Times New Roman" panose="02020603050405020304" pitchFamily="18" charset="0"/>
                      </a:rPr>
                      <m:t>𝑑</m:t>
                    </m:r>
                    <m:r>
                      <a:rPr lang="en-US" altLang="zh-CN" sz="2200" i="1" kern="100">
                        <a:latin typeface="Cambria Math" panose="02040503050406030204" pitchFamily="18" charset="0"/>
                        <a:ea typeface="+mn-ea"/>
                        <a:cs typeface="Times New Roman" panose="02020603050405020304" pitchFamily="18" charset="0"/>
                      </a:rPr>
                      <m:t>&gt;=</m:t>
                    </m:r>
                    <m:sSub>
                      <m:sSubPr>
                        <m:ctrlPr>
                          <a:rPr lang="zh-CN" altLang="zh-CN" sz="2200" i="1" kern="100">
                            <a:latin typeface="Cambria Math" panose="02040503050406030204" pitchFamily="18" charset="0"/>
                            <a:ea typeface="+mn-ea"/>
                            <a:cs typeface="Times New Roman" panose="02020603050405020304" pitchFamily="18" charset="0"/>
                          </a:rPr>
                        </m:ctrlPr>
                      </m:sSubPr>
                      <m:e>
                        <m:d>
                          <m:dPr>
                            <m:begChr m:val="‖"/>
                            <m:endChr m:val="‖"/>
                            <m:ctrlPr>
                              <a:rPr lang="zh-CN" altLang="zh-CN" sz="2200" i="1" kern="100">
                                <a:latin typeface="Cambria Math" panose="02040503050406030204" pitchFamily="18" charset="0"/>
                                <a:ea typeface="+mn-ea"/>
                                <a:cs typeface="Times New Roman" panose="02020603050405020304" pitchFamily="18" charset="0"/>
                              </a:rPr>
                            </m:ctrlPr>
                          </m:dPr>
                          <m:e>
                            <m:r>
                              <m:rPr>
                                <m:sty m:val="p"/>
                              </m:rPr>
                              <a:rPr lang="en-US" altLang="zh-CN" sz="2200" kern="100">
                                <a:latin typeface="Cambria Math" panose="02040503050406030204" pitchFamily="18" charset="0"/>
                                <a:ea typeface="+mn-ea"/>
                                <a:cs typeface="Times New Roman" panose="02020603050405020304" pitchFamily="18" charset="0"/>
                              </a:rPr>
                              <m:t>∇</m:t>
                            </m:r>
                            <m:r>
                              <a:rPr lang="en-US" altLang="zh-CN" sz="2200" i="1" kern="100">
                                <a:latin typeface="Cambria Math" panose="02040503050406030204" pitchFamily="18" charset="0"/>
                                <a:ea typeface="+mn-ea"/>
                                <a:cs typeface="Times New Roman" panose="02020603050405020304" pitchFamily="18" charset="0"/>
                              </a:rPr>
                              <m:t>𝑓</m:t>
                            </m:r>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𝑥</m:t>
                                </m:r>
                              </m:e>
                            </m:d>
                          </m:e>
                        </m:d>
                      </m:e>
                      <m:sub>
                        <m:r>
                          <a:rPr lang="en-US" altLang="zh-CN" sz="2200" i="1" kern="100">
                            <a:latin typeface="Cambria Math" panose="02040503050406030204" pitchFamily="18" charset="0"/>
                            <a:ea typeface="+mn-ea"/>
                            <a:cs typeface="Times New Roman" panose="02020603050405020304" pitchFamily="18" charset="0"/>
                          </a:rPr>
                          <m:t>2</m:t>
                        </m:r>
                      </m:sub>
                    </m:sSub>
                    <m:r>
                      <a:rPr lang="en-US" altLang="zh-CN" sz="2200" i="1" kern="100">
                        <a:latin typeface="Cambria Math" panose="02040503050406030204" pitchFamily="18" charset="0"/>
                        <a:ea typeface="+mn-ea"/>
                        <a:cs typeface="Times New Roman" panose="02020603050405020304" pitchFamily="18" charset="0"/>
                      </a:rPr>
                      <m:t>𝑐𝑜𝑠</m:t>
                    </m:r>
                    <m:r>
                      <a:rPr lang="en-US" altLang="zh-CN" sz="2200" i="1" kern="100">
                        <a:latin typeface="Cambria Math" panose="02040503050406030204" pitchFamily="18" charset="0"/>
                        <a:ea typeface="+mn-ea"/>
                        <a:cs typeface="Times New Roman" panose="02020603050405020304" pitchFamily="18" charset="0"/>
                      </a:rPr>
                      <m:t>𝛽</m:t>
                    </m:r>
                  </m:oMath>
                </a14:m>
                <a:endParaRPr lang="zh-CN" altLang="zh-CN" sz="2200" kern="100" dirty="0">
                  <a:latin typeface="+mn-ea"/>
                  <a:ea typeface="+mn-ea"/>
                  <a:cs typeface="Times New Roman" panose="02020603050405020304" pitchFamily="18" charset="0"/>
                </a:endParaRPr>
              </a:p>
              <a:p>
                <a:pPr algn="just">
                  <a:lnSpc>
                    <a:spcPct val="150000"/>
                  </a:lnSpc>
                </a:pPr>
                <a:r>
                  <a:rPr lang="zh-CN" altLang="zh-CN" sz="2200" kern="100" dirty="0">
                    <a:latin typeface="+mn-ea"/>
                    <a:ea typeface="+mn-ea"/>
                    <a:cs typeface="Times New Roman" panose="02020603050405020304" pitchFamily="18" charset="0"/>
                  </a:rPr>
                  <a:t>知</a:t>
                </a:r>
                <a:r>
                  <a:rPr lang="en-US" altLang="zh-CN"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当</a:t>
                </a:r>
                <a14:m>
                  <m:oMath xmlns:m="http://schemas.openxmlformats.org/officeDocument/2006/math">
                    <m:r>
                      <a:rPr lang="en-US" altLang="zh-CN" sz="2200" i="1" kern="100">
                        <a:latin typeface="Cambria Math" panose="02040503050406030204" pitchFamily="18" charset="0"/>
                        <a:ea typeface="+mn-ea"/>
                        <a:cs typeface="Times New Roman" panose="02020603050405020304" pitchFamily="18" charset="0"/>
                      </a:rPr>
                      <m:t>𝛽</m:t>
                    </m:r>
                    <m:r>
                      <a:rPr lang="en-US" altLang="zh-CN" sz="2200" i="1" kern="100">
                        <a:latin typeface="Cambria Math" panose="02040503050406030204" pitchFamily="18" charset="0"/>
                        <a:ea typeface="+mn-ea"/>
                        <a:cs typeface="Times New Roman" panose="02020603050405020304" pitchFamily="18" charset="0"/>
                      </a:rPr>
                      <m:t>=</m:t>
                    </m:r>
                    <m:r>
                      <a:rPr lang="en-US" altLang="zh-CN" sz="2200" i="1" kern="100">
                        <a:latin typeface="Cambria Math" panose="02040503050406030204" pitchFamily="18" charset="0"/>
                        <a:ea typeface="+mn-ea"/>
                        <a:cs typeface="Times New Roman" panose="02020603050405020304" pitchFamily="18" charset="0"/>
                      </a:rPr>
                      <m:t>𝜋</m:t>
                    </m:r>
                  </m:oMath>
                </a14:m>
                <a:r>
                  <a:rPr lang="en-US" altLang="zh-CN"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即</a:t>
                </a:r>
                <a14:m>
                  <m:oMath xmlns:m="http://schemas.openxmlformats.org/officeDocument/2006/math">
                    <m:r>
                      <m:rPr>
                        <m:sty m:val="p"/>
                      </m:rPr>
                      <a:rPr lang="en-US" altLang="zh-CN" sz="2200" kern="100">
                        <a:latin typeface="Cambria Math" panose="02040503050406030204" pitchFamily="18" charset="0"/>
                        <a:ea typeface="+mn-ea"/>
                        <a:cs typeface="Times New Roman" panose="02020603050405020304" pitchFamily="18" charset="0"/>
                      </a:rPr>
                      <m:t>∇</m:t>
                    </m:r>
                    <m:r>
                      <a:rPr lang="en-US" altLang="zh-CN" sz="2200" i="1" kern="100">
                        <a:latin typeface="Cambria Math" panose="02040503050406030204" pitchFamily="18" charset="0"/>
                        <a:ea typeface="+mn-ea"/>
                        <a:cs typeface="Times New Roman" panose="02020603050405020304" pitchFamily="18" charset="0"/>
                      </a:rPr>
                      <m:t>𝑓</m:t>
                    </m:r>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𝑥</m:t>
                        </m:r>
                      </m:e>
                    </m:d>
                  </m:oMath>
                </a14:m>
                <a:r>
                  <a:rPr lang="zh-CN" altLang="zh-CN" sz="2200" kern="100" dirty="0">
                    <a:latin typeface="+mn-ea"/>
                    <a:ea typeface="+mn-ea"/>
                    <a:cs typeface="Times New Roman" panose="02020603050405020304" pitchFamily="18" charset="0"/>
                  </a:rPr>
                  <a:t>与</a:t>
                </a:r>
                <a14:m>
                  <m:oMath xmlns:m="http://schemas.openxmlformats.org/officeDocument/2006/math">
                    <m:r>
                      <a:rPr lang="en-US" altLang="zh-CN" sz="2200" i="1" kern="100">
                        <a:latin typeface="Cambria Math" panose="02040503050406030204" pitchFamily="18" charset="0"/>
                        <a:ea typeface="+mn-ea"/>
                        <a:cs typeface="Times New Roman" panose="02020603050405020304" pitchFamily="18" charset="0"/>
                      </a:rPr>
                      <m:t>𝑑</m:t>
                    </m:r>
                  </m:oMath>
                </a14:m>
                <a:r>
                  <a:rPr lang="zh-CN" altLang="zh-CN" sz="2200" kern="100" dirty="0">
                    <a:latin typeface="+mn-ea"/>
                    <a:ea typeface="+mn-ea"/>
                    <a:cs typeface="Times New Roman" panose="02020603050405020304" pitchFamily="18" charset="0"/>
                  </a:rPr>
                  <a:t>反方向时</a:t>
                </a:r>
                <a:r>
                  <a:rPr lang="en-US" altLang="zh-CN" sz="2200" kern="100" dirty="0">
                    <a:latin typeface="+mn-ea"/>
                    <a:ea typeface="+mn-ea"/>
                    <a:cs typeface="Times New Roman" panose="02020603050405020304" pitchFamily="18" charset="0"/>
                  </a:rPr>
                  <a:t>,&lt;</a:t>
                </a:r>
                <a14:m>
                  <m:oMath xmlns:m="http://schemas.openxmlformats.org/officeDocument/2006/math">
                    <m:r>
                      <m:rPr>
                        <m:sty m:val="p"/>
                      </m:rPr>
                      <a:rPr lang="en-US" altLang="zh-CN" sz="2200" kern="100">
                        <a:latin typeface="Cambria Math" panose="02040503050406030204" pitchFamily="18" charset="0"/>
                        <a:ea typeface="+mn-ea"/>
                        <a:cs typeface="Times New Roman" panose="02020603050405020304" pitchFamily="18" charset="0"/>
                      </a:rPr>
                      <m:t>∇</m:t>
                    </m:r>
                    <m:r>
                      <a:rPr lang="en-US" altLang="zh-CN" sz="2200" i="1" kern="100">
                        <a:latin typeface="Cambria Math" panose="02040503050406030204" pitchFamily="18" charset="0"/>
                        <a:ea typeface="+mn-ea"/>
                        <a:cs typeface="Times New Roman" panose="02020603050405020304" pitchFamily="18" charset="0"/>
                      </a:rPr>
                      <m:t>𝑓</m:t>
                    </m:r>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𝑥</m:t>
                        </m:r>
                      </m:e>
                    </m:d>
                    <m:r>
                      <a:rPr lang="en-US" altLang="zh-CN" sz="2200" i="1" kern="100">
                        <a:latin typeface="Cambria Math" panose="02040503050406030204" pitchFamily="18" charset="0"/>
                        <a:ea typeface="+mn-ea"/>
                        <a:cs typeface="Times New Roman" panose="02020603050405020304" pitchFamily="18" charset="0"/>
                      </a:rPr>
                      <m:t>, </m:t>
                    </m:r>
                    <m:r>
                      <a:rPr lang="en-US" altLang="zh-CN" sz="2200" i="1" kern="100">
                        <a:latin typeface="Cambria Math" panose="02040503050406030204" pitchFamily="18" charset="0"/>
                        <a:ea typeface="+mn-ea"/>
                        <a:cs typeface="Times New Roman" panose="02020603050405020304" pitchFamily="18" charset="0"/>
                      </a:rPr>
                      <m:t>𝑑</m:t>
                    </m:r>
                    <m:r>
                      <a:rPr lang="en-US" altLang="zh-CN" sz="2200" i="1" kern="100">
                        <a:latin typeface="Cambria Math" panose="02040503050406030204" pitchFamily="18" charset="0"/>
                        <a:ea typeface="+mn-ea"/>
                        <a:cs typeface="Times New Roman" panose="02020603050405020304" pitchFamily="18" charset="0"/>
                      </a:rPr>
                      <m:t>&gt;</m:t>
                    </m:r>
                  </m:oMath>
                </a14:m>
                <a:r>
                  <a:rPr lang="zh-CN" altLang="zh-CN" sz="2200" kern="100" dirty="0">
                    <a:latin typeface="+mn-ea"/>
                    <a:ea typeface="+mn-ea"/>
                    <a:cs typeface="Times New Roman" panose="02020603050405020304" pitchFamily="18" charset="0"/>
                  </a:rPr>
                  <a:t>取到最小值</a:t>
                </a:r>
                <a:r>
                  <a:rPr lang="zh-CN" altLang="en-US"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从而知</a:t>
                </a:r>
                <a14:m>
                  <m:oMath xmlns:m="http://schemas.openxmlformats.org/officeDocument/2006/math">
                    <m:r>
                      <a:rPr lang="en-US" altLang="zh-CN" sz="2200" i="1" kern="100">
                        <a:latin typeface="Cambria Math" panose="02040503050406030204" pitchFamily="18" charset="0"/>
                        <a:ea typeface="+mn-ea"/>
                        <a:cs typeface="Times New Roman" panose="02020603050405020304" pitchFamily="18" charset="0"/>
                      </a:rPr>
                      <m:t>𝑓</m:t>
                    </m:r>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𝑥</m:t>
                        </m:r>
                      </m:e>
                    </m:d>
                  </m:oMath>
                </a14:m>
                <a:r>
                  <a:rPr lang="zh-CN" altLang="zh-CN" sz="2200" kern="100" dirty="0">
                    <a:latin typeface="+mn-ea"/>
                    <a:ea typeface="+mn-ea"/>
                    <a:cs typeface="Times New Roman" panose="02020603050405020304" pitchFamily="18" charset="0"/>
                  </a:rPr>
                  <a:t>在点</a:t>
                </a:r>
                <a14:m>
                  <m:oMath xmlns:m="http://schemas.openxmlformats.org/officeDocument/2006/math">
                    <m:r>
                      <a:rPr lang="en-US" altLang="zh-CN" sz="2200" i="1" kern="100">
                        <a:latin typeface="Cambria Math" panose="02040503050406030204" pitchFamily="18" charset="0"/>
                        <a:ea typeface="+mn-ea"/>
                        <a:cs typeface="Times New Roman" panose="02020603050405020304" pitchFamily="18" charset="0"/>
                      </a:rPr>
                      <m:t>𝑥</m:t>
                    </m:r>
                  </m:oMath>
                </a14:m>
                <a:r>
                  <a:rPr lang="zh-CN" altLang="zh-CN" sz="2200" kern="100" dirty="0">
                    <a:latin typeface="+mn-ea"/>
                    <a:ea typeface="+mn-ea"/>
                    <a:cs typeface="Times New Roman" panose="02020603050405020304" pitchFamily="18" charset="0"/>
                  </a:rPr>
                  <a:t>处沿负梯度方向函数值减少最快</a:t>
                </a:r>
                <a:r>
                  <a:rPr lang="en-US" altLang="zh-CN"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所以令</a:t>
                </a:r>
              </a:p>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mn-ea"/>
                              <a:cs typeface="Times New Roman" panose="02020603050405020304" pitchFamily="18" charset="0"/>
                            </a:rPr>
                            <m:t>𝑥</m:t>
                          </m:r>
                        </m:e>
                        <m:sup>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𝑘</m:t>
                              </m:r>
                              <m:r>
                                <a:rPr lang="en-US" altLang="zh-CN" sz="2200" i="1" kern="100">
                                  <a:latin typeface="Cambria Math" panose="02040503050406030204" pitchFamily="18" charset="0"/>
                                  <a:ea typeface="+mn-ea"/>
                                  <a:cs typeface="Times New Roman" panose="02020603050405020304" pitchFamily="18" charset="0"/>
                                </a:rPr>
                                <m:t>+1</m:t>
                              </m:r>
                            </m:e>
                          </m:d>
                        </m:sup>
                      </m:sSup>
                      <m:r>
                        <a:rPr lang="en-US" altLang="zh-CN" sz="2200" i="1"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mn-ea"/>
                              <a:cs typeface="Times New Roman" panose="02020603050405020304" pitchFamily="18" charset="0"/>
                            </a:rPr>
                            <m:t>𝑥</m:t>
                          </m:r>
                        </m:e>
                        <m:sup>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𝑘</m:t>
                              </m:r>
                            </m:e>
                          </m:d>
                        </m:sup>
                      </m:sSup>
                      <m:r>
                        <a:rPr lang="en-US" altLang="zh-CN" sz="2200" i="1"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mn-ea"/>
                              <a:cs typeface="Times New Roman" panose="02020603050405020304" pitchFamily="18" charset="0"/>
                            </a:rPr>
                            <m:t>𝛼</m:t>
                          </m:r>
                        </m:e>
                        <m:sup>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𝑘</m:t>
                              </m:r>
                            </m:e>
                          </m:d>
                        </m:sup>
                      </m:sSup>
                      <m:r>
                        <m:rPr>
                          <m:sty m:val="p"/>
                        </m:rPr>
                        <a:rPr lang="en-US" altLang="zh-CN" sz="2200" kern="100">
                          <a:latin typeface="Cambria Math" panose="02040503050406030204" pitchFamily="18" charset="0"/>
                          <a:ea typeface="+mn-ea"/>
                          <a:cs typeface="Times New Roman" panose="02020603050405020304" pitchFamily="18" charset="0"/>
                        </a:rPr>
                        <m:t>∇</m:t>
                      </m:r>
                      <m:r>
                        <a:rPr lang="en-US" altLang="zh-CN" sz="2200" i="1" kern="100">
                          <a:latin typeface="Cambria Math" panose="02040503050406030204" pitchFamily="18" charset="0"/>
                          <a:ea typeface="+mn-ea"/>
                          <a:cs typeface="Times New Roman" panose="02020603050405020304" pitchFamily="18" charset="0"/>
                        </a:rPr>
                        <m:t>𝑓</m:t>
                      </m:r>
                      <m:r>
                        <a:rPr lang="en-US" altLang="zh-CN" sz="2200" i="1"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mn-ea"/>
                              <a:cs typeface="Times New Roman" panose="02020603050405020304" pitchFamily="18" charset="0"/>
                            </a:rPr>
                            <m:t>𝑥</m:t>
                          </m:r>
                        </m:e>
                        <m:sup>
                          <m:d>
                            <m:dPr>
                              <m:ctrlPr>
                                <a:rPr lang="zh-CN" altLang="zh-CN" sz="2200" i="1" kern="100">
                                  <a:latin typeface="Cambria Math" panose="02040503050406030204" pitchFamily="18" charset="0"/>
                                  <a:ea typeface="+mn-ea"/>
                                  <a:cs typeface="Times New Roman" panose="02020603050405020304" pitchFamily="18" charset="0"/>
                                </a:rPr>
                              </m:ctrlPr>
                            </m:dPr>
                            <m:e>
                              <m:r>
                                <a:rPr lang="en-US" altLang="zh-CN" sz="2200" i="1" kern="100">
                                  <a:latin typeface="Cambria Math" panose="02040503050406030204" pitchFamily="18" charset="0"/>
                                  <a:ea typeface="+mn-ea"/>
                                  <a:cs typeface="Times New Roman" panose="02020603050405020304" pitchFamily="18" charset="0"/>
                                </a:rPr>
                                <m:t>𝑘</m:t>
                              </m:r>
                            </m:e>
                          </m:d>
                        </m:sup>
                      </m:sSup>
                      <m:r>
                        <a:rPr lang="en-US" altLang="zh-CN" sz="2200" i="1" kern="100">
                          <a:latin typeface="Cambria Math" panose="02040503050406030204" pitchFamily="18" charset="0"/>
                          <a:ea typeface="+mn-ea"/>
                          <a:cs typeface="Times New Roman" panose="02020603050405020304" pitchFamily="18" charset="0"/>
                        </a:rPr>
                        <m:t>)</m:t>
                      </m:r>
                    </m:oMath>
                  </m:oMathPara>
                </a14:m>
                <a:endParaRPr lang="zh-CN" altLang="zh-CN" sz="2200" kern="100" dirty="0">
                  <a:latin typeface="+mn-ea"/>
                  <a:ea typeface="+mn-ea"/>
                  <a:cs typeface="Times New Roman" panose="02020603050405020304" pitchFamily="18" charset="0"/>
                </a:endParaRPr>
              </a:p>
              <a:p>
                <a:pPr algn="just">
                  <a:lnSpc>
                    <a:spcPct val="150000"/>
                  </a:lnSpc>
                </a:pPr>
                <a:r>
                  <a:rPr lang="zh-CN" altLang="en-US" sz="2200" kern="100" dirty="0">
                    <a:latin typeface="+mn-ea"/>
                    <a:ea typeface="+mn-ea"/>
                    <a:cs typeface="Times New Roman" panose="02020603050405020304" pitchFamily="18" charset="0"/>
                  </a:rPr>
                  <a:t>就得到最速下降法的迭代格式。</a:t>
                </a:r>
                <a:endParaRPr lang="zh-CN" altLang="zh-CN" sz="2200" kern="100" dirty="0">
                  <a:latin typeface="+mn-ea"/>
                  <a:ea typeface="+mn-ea"/>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11559" y="904356"/>
                <a:ext cx="8230599" cy="3602268"/>
              </a:xfrm>
              <a:prstGeom prst="rect">
                <a:avLst/>
              </a:prstGeom>
              <a:blipFill rotWithShape="1">
                <a:blip r:embed="rId2"/>
                <a:stretch>
                  <a:fillRect l="-1" t="-3" r="5" b="1"/>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3881" y="1868091"/>
            <a:ext cx="5850731" cy="3121819"/>
          </a:xfrm>
          <a:prstGeom prst="rect">
            <a:avLst/>
          </a:prstGeom>
        </p:spPr>
      </p:pic>
      <p:sp>
        <p:nvSpPr>
          <p:cNvPr id="5" name="文本框 4"/>
          <p:cNvSpPr txBox="1"/>
          <p:nvPr/>
        </p:nvSpPr>
        <p:spPr>
          <a:xfrm>
            <a:off x="1321044" y="1185946"/>
            <a:ext cx="3890597" cy="415498"/>
          </a:xfrm>
          <a:prstGeom prst="rect">
            <a:avLst/>
          </a:prstGeom>
          <a:noFill/>
        </p:spPr>
        <p:txBody>
          <a:bodyPr wrap="square" rtlCol="0">
            <a:spAutoFit/>
          </a:bodyPr>
          <a:lstStyle/>
          <a:p>
            <a:r>
              <a:rPr lang="zh-CN" altLang="en-US" sz="2100" b="1" dirty="0">
                <a:solidFill>
                  <a:schemeClr val="tx2"/>
                </a:solidFill>
              </a:rPr>
              <a:t>思考：下一步的负梯度方向？</a:t>
            </a:r>
          </a:p>
        </p:txBody>
      </p:sp>
      <p:cxnSp>
        <p:nvCxnSpPr>
          <p:cNvPr id="4" name="直接箭头连接符 3"/>
          <p:cNvCxnSpPr/>
          <p:nvPr/>
        </p:nvCxnSpPr>
        <p:spPr>
          <a:xfrm flipH="1">
            <a:off x="4800652" y="3053752"/>
            <a:ext cx="567000" cy="2700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6" name="直接箭头连接符 5"/>
          <p:cNvCxnSpPr/>
          <p:nvPr/>
        </p:nvCxnSpPr>
        <p:spPr>
          <a:xfrm flipH="1">
            <a:off x="4870992" y="3053753"/>
            <a:ext cx="496661" cy="287948"/>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8" name="直接箭头连接符 7"/>
          <p:cNvCxnSpPr/>
          <p:nvPr/>
        </p:nvCxnSpPr>
        <p:spPr>
          <a:xfrm flipH="1">
            <a:off x="5055629" y="3067252"/>
            <a:ext cx="312023" cy="388749"/>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64692" y="464374"/>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二、基本步骤</a:t>
            </a:r>
            <a:endParaRPr lang="zh-CN" altLang="zh-CN" sz="2400" kern="1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本框 4"/>
              <p:cNvSpPr txBox="1"/>
              <p:nvPr/>
            </p:nvSpPr>
            <p:spPr>
              <a:xfrm>
                <a:off x="470955" y="1133820"/>
                <a:ext cx="8442430" cy="4590359"/>
              </a:xfrm>
              <a:prstGeom prst="rect">
                <a:avLst/>
              </a:prstGeom>
              <a:noFill/>
            </p:spPr>
            <p:txBody>
              <a:bodyPr wrap="square" rtlCol="0">
                <a:spAutoFit/>
              </a:bodyPr>
              <a:lstStyle/>
              <a:p>
                <a:pPr algn="just">
                  <a:lnSpc>
                    <a:spcPct val="150000"/>
                  </a:lnSpc>
                </a:pPr>
                <a:r>
                  <a:rPr lang="en-US" altLang="zh-CN" sz="2200" kern="100" dirty="0">
                    <a:latin typeface="+mn-ea"/>
                    <a:ea typeface="+mn-ea"/>
                    <a:cs typeface="Times New Roman" panose="02020603050405020304" pitchFamily="18" charset="0"/>
                  </a:rPr>
                  <a:t>(1) </a:t>
                </a:r>
                <a:r>
                  <a:rPr lang="zh-CN" altLang="zh-CN" sz="2200" kern="100" dirty="0">
                    <a:latin typeface="+mn-ea"/>
                    <a:ea typeface="+mn-ea"/>
                    <a:cs typeface="Times New Roman" panose="02020603050405020304" pitchFamily="18" charset="0"/>
                  </a:rPr>
                  <a:t>给定初始点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𝑛</m:t>
                        </m:r>
                      </m:sup>
                    </m:sSup>
                  </m:oMath>
                </a14:m>
                <a:r>
                  <a:rPr lang="zh-CN" altLang="zh-CN" sz="2200" kern="100" dirty="0">
                    <a:latin typeface="+mn-ea"/>
                    <a:ea typeface="+mn-ea"/>
                    <a:cs typeface="Times New Roman" panose="02020603050405020304" pitchFamily="18" charset="0"/>
                  </a:rPr>
                  <a:t>，允许误差</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𝜀</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&gt;0</m:t>
                    </m:r>
                  </m:oMath>
                </a14:m>
                <a:r>
                  <a:rPr lang="zh-CN" altLang="zh-CN" sz="2200" kern="100" dirty="0">
                    <a:latin typeface="+mn-ea"/>
                    <a:ea typeface="+mn-ea"/>
                    <a:cs typeface="Times New Roman" panose="02020603050405020304" pitchFamily="18" charset="0"/>
                  </a:rPr>
                  <a:t>，并令</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oMath>
                </a14:m>
                <a:endParaRPr lang="zh-CN" altLang="zh-CN" sz="2200" kern="100" dirty="0">
                  <a:latin typeface="+mn-ea"/>
                  <a:ea typeface="+mn-ea"/>
                  <a:cs typeface="Times New Roman" panose="02020603050405020304" pitchFamily="18" charset="0"/>
                </a:endParaRPr>
              </a:p>
              <a:p>
                <a:pPr algn="just">
                  <a:lnSpc>
                    <a:spcPct val="150000"/>
                  </a:lnSpc>
                </a:pPr>
                <a:r>
                  <a:rPr lang="en-US" altLang="zh-CN" sz="2200" kern="100" dirty="0">
                    <a:latin typeface="+mn-ea"/>
                    <a:ea typeface="+mn-ea"/>
                    <a:cs typeface="Times New Roman" panose="02020603050405020304" pitchFamily="18" charset="0"/>
                  </a:rPr>
                  <a:t>(2) </a:t>
                </a:r>
                <a:r>
                  <a:rPr lang="zh-CN" altLang="zh-CN" sz="2200" kern="100" dirty="0">
                    <a:latin typeface="+mn-ea"/>
                    <a:ea typeface="+mn-ea"/>
                    <a:cs typeface="Times New Roman" panose="02020603050405020304" pitchFamily="18" charset="0"/>
                  </a:rPr>
                  <a:t>求</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处梯度向量的模并判断精度</a:t>
                </a:r>
                <a:r>
                  <a:rPr lang="zh-CN" altLang="en-US"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若</a:t>
                </a:r>
                <a14:m>
                  <m:oMath xmlns:m="http://schemas.openxmlformats.org/officeDocument/2006/math">
                    <m:sSub>
                      <m:sSub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e>
                        </m:d>
                      </m:e>
                      <m:sub>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𝜀</m:t>
                    </m:r>
                  </m:oMath>
                </a14:m>
                <a:r>
                  <a:rPr lang="zh-CN" altLang="zh-CN" sz="2200" kern="100" dirty="0">
                    <a:latin typeface="+mn-ea"/>
                    <a:ea typeface="+mn-ea"/>
                    <a:cs typeface="Times New Roman" panose="02020603050405020304" pitchFamily="18" charset="0"/>
                  </a:rPr>
                  <a:t>，</a:t>
                </a:r>
                <a:endParaRPr lang="en-US" altLang="zh-CN" sz="2200" kern="100" dirty="0">
                  <a:latin typeface="+mn-ea"/>
                  <a:ea typeface="+mn-ea"/>
                  <a:cs typeface="Times New Roman" panose="02020603050405020304" pitchFamily="18" charset="0"/>
                </a:endParaRPr>
              </a:p>
              <a:p>
                <a:pPr algn="just">
                  <a:lnSpc>
                    <a:spcPct val="150000"/>
                  </a:lnSpc>
                </a:pPr>
                <a:r>
                  <a:rPr lang="en-US" altLang="zh-CN" sz="2200" kern="100" dirty="0">
                    <a:latin typeface="+mn-ea"/>
                    <a:ea typeface="+mn-ea"/>
                    <a:cs typeface="Times New Roman" panose="02020603050405020304" pitchFamily="18" charset="0"/>
                  </a:rPr>
                  <a:t>    </a:t>
                </a:r>
                <a:r>
                  <a:rPr lang="zh-CN" altLang="zh-CN" sz="2200" kern="100" dirty="0">
                    <a:latin typeface="+mn-ea"/>
                    <a:ea typeface="+mn-ea"/>
                    <a:cs typeface="Times New Roman" panose="02020603050405020304" pitchFamily="18" charset="0"/>
                  </a:rPr>
                  <a:t>则停止计算，输出</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，作为近似极小点，否则转下一步</a:t>
                </a:r>
                <a:r>
                  <a:rPr lang="zh-CN" altLang="en-US" sz="2200" kern="100" dirty="0">
                    <a:latin typeface="+mn-ea"/>
                    <a:ea typeface="+mn-ea"/>
                    <a:cs typeface="Times New Roman" panose="02020603050405020304" pitchFamily="18" charset="0"/>
                  </a:rPr>
                  <a:t>；</a:t>
                </a:r>
                <a:endParaRPr lang="zh-CN" altLang="zh-CN" sz="2200" kern="100" dirty="0">
                  <a:latin typeface="+mn-ea"/>
                  <a:ea typeface="+mn-ea"/>
                  <a:cs typeface="Times New Roman" panose="02020603050405020304" pitchFamily="18" charset="0"/>
                </a:endParaRPr>
              </a:p>
              <a:p>
                <a:pPr algn="just">
                  <a:lnSpc>
                    <a:spcPct val="150000"/>
                  </a:lnSpc>
                </a:pPr>
                <a:r>
                  <a:rPr lang="en-US" altLang="zh-CN" sz="2200" kern="100" dirty="0">
                    <a:latin typeface="+mn-ea"/>
                    <a:ea typeface="+mn-ea"/>
                    <a:cs typeface="Times New Roman" panose="02020603050405020304" pitchFamily="18" charset="0"/>
                  </a:rPr>
                  <a:t>(3) </a:t>
                </a:r>
                <a:r>
                  <a:rPr lang="zh-CN" altLang="zh-CN" sz="2200" kern="100" dirty="0">
                    <a:latin typeface="+mn-ea"/>
                    <a:ea typeface="+mn-ea"/>
                    <a:cs typeface="Times New Roman" panose="02020603050405020304" pitchFamily="18" charset="0"/>
                  </a:rPr>
                  <a:t>选择</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处的负梯度方向作为搜索方向，即取</a:t>
                </a:r>
                <a:endParaRPr lang="en-US" altLang="zh-CN" sz="2200" kern="100" dirty="0">
                  <a:latin typeface="+mn-ea"/>
                  <a:ea typeface="+mn-ea"/>
                  <a:cs typeface="Times New Roman" panose="02020603050405020304" pitchFamily="18" charset="0"/>
                </a:endParaRPr>
              </a:p>
              <a:p>
                <a:pPr algn="just">
                  <a:lnSpc>
                    <a:spcPct val="150000"/>
                  </a:lnSpc>
                </a:pPr>
                <a14:m>
                  <m:oMathPara xmlns:m="http://schemas.openxmlformats.org/officeDocument/2006/math">
                    <m:oMathParaPr>
                      <m:jc m:val="center"/>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e>
                      </m:d>
                    </m:oMath>
                  </m:oMathPara>
                </a14:m>
                <a:endParaRPr lang="en-US" altLang="zh-CN" sz="2200" i="1" kern="100" dirty="0">
                  <a:latin typeface="Cambria Math" panose="02040503050406030204" pitchFamily="18" charset="0"/>
                  <a:ea typeface="Cambria Math" panose="02040503050406030204" pitchFamily="18" charset="0"/>
                  <a:cs typeface="Times New Roman" panose="02020603050405020304" pitchFamily="18" charset="0"/>
                </a:endParaRPr>
              </a:p>
              <a:p>
                <a:pPr algn="just">
                  <a:lnSpc>
                    <a:spcPct val="150000"/>
                  </a:lnSpc>
                </a:pPr>
                <a:r>
                  <a:rPr lang="en-US" altLang="zh-CN" sz="2200" kern="100" dirty="0">
                    <a:latin typeface="+mn-ea"/>
                    <a:ea typeface="+mn-ea"/>
                    <a:cs typeface="Times New Roman" panose="02020603050405020304" pitchFamily="18" charset="0"/>
                  </a:rPr>
                  <a:t>(4) </a:t>
                </a:r>
                <a:r>
                  <a:rPr lang="zh-CN" altLang="zh-CN" sz="2200" kern="100" dirty="0">
                    <a:latin typeface="+mn-ea"/>
                    <a:ea typeface="+mn-ea"/>
                    <a:cs typeface="Times New Roman" panose="02020603050405020304" pitchFamily="18" charset="0"/>
                  </a:rPr>
                  <a:t>从</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点出发，沿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进行一维搜索，即求</a:t>
                </a:r>
                <a:r>
                  <a:rPr lang="zh-CN" altLang="zh-CN" sz="2200" b="1" kern="100" dirty="0">
                    <a:latin typeface="+mn-ea"/>
                    <a:ea typeface="+mn-ea"/>
                    <a:cs typeface="Times New Roman" panose="02020603050405020304" pitchFamily="18" charset="0"/>
                  </a:rPr>
                  <a:t>最优步长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，使得</a:t>
                </a:r>
                <a:endParaRPr lang="en-US" altLang="zh-CN" sz="2200" i="1" kern="100" dirty="0">
                  <a:latin typeface="Cambria Math" panose="02040503050406030204" pitchFamily="18" charset="0"/>
                  <a:ea typeface="等线" panose="02010600030101010101" charset="-122"/>
                  <a:cs typeface="Times New Roman" panose="02020603050405020304" pitchFamily="18" charset="0"/>
                </a:endParaRPr>
              </a:p>
              <a:p>
                <a:pPr algn="ctr">
                  <a:lnSpc>
                    <a:spcPct val="150000"/>
                  </a:lnSpc>
                </a:pPr>
                <a14:m>
                  <m:oMathPara xmlns:m="http://schemas.openxmlformats.org/officeDocument/2006/math">
                    <m:oMathParaPr>
                      <m:jc m:val="center"/>
                    </m:oMathParaPr>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𝑚𝑖𝑛</m:t>
                          </m:r>
                        </m:e>
                        <m:li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&gt;0</m:t>
                          </m:r>
                        </m:lim>
                      </m:limLow>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zh-CN" sz="2200" i="1" kern="100" dirty="0">
                  <a:latin typeface="Cambria Math" panose="02040503050406030204" pitchFamily="18" charset="0"/>
                  <a:ea typeface="Cambria Math" panose="02040503050406030204" pitchFamily="18" charset="0"/>
                  <a:cs typeface="Times New Roman" panose="02020603050405020304" pitchFamily="18" charset="0"/>
                </a:endParaRPr>
              </a:p>
              <a:p>
                <a:pPr algn="just">
                  <a:lnSpc>
                    <a:spcPct val="150000"/>
                  </a:lnSpc>
                </a:pPr>
                <a:r>
                  <a:rPr lang="en-US" altLang="zh-CN" sz="2200" kern="100" dirty="0">
                    <a:latin typeface="+mn-ea"/>
                    <a:ea typeface="+mn-ea"/>
                    <a:cs typeface="Times New Roman" panose="02020603050405020304" pitchFamily="18" charset="0"/>
                  </a:rPr>
                  <a:t>(5) </a:t>
                </a:r>
                <a:r>
                  <a:rPr lang="zh-CN" altLang="zh-CN" sz="2200" kern="100" dirty="0">
                    <a:latin typeface="+mn-ea"/>
                    <a:ea typeface="+mn-ea"/>
                    <a:cs typeface="Times New Roman" panose="02020603050405020304" pitchFamily="18" charset="0"/>
                  </a:rPr>
                  <a:t>令</a:t>
                </a:r>
                <a14:m>
                  <m:oMath xmlns:m="http://schemas.openxmlformats.org/officeDocument/2006/math">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kern="100">
                            <a:latin typeface="Cambria Math" panose="02040503050406030204" pitchFamily="18" charset="0"/>
                            <a:ea typeface="Cambria Math" panose="02040503050406030204" pitchFamily="18" charset="0"/>
                            <a:cs typeface="Times New Roman" panose="02020603050405020304" pitchFamily="18" charset="0"/>
                          </a:rPr>
                          <m:t>+1)</m:t>
                        </m:r>
                      </m:sup>
                    </m:sSup>
                    <m:r>
                      <a:rPr lang="en-US" altLang="zh-CN" sz="2200"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kern="100">
                            <a:latin typeface="Cambria Math" panose="02040503050406030204" pitchFamily="18" charset="0"/>
                            <a:ea typeface="+mn-ea"/>
                            <a:cs typeface="Times New Roman" panose="02020603050405020304" pitchFamily="18" charset="0"/>
                          </a:rPr>
                          <m:t>𝑥</m:t>
                        </m:r>
                      </m:e>
                      <m:sup>
                        <m:r>
                          <a:rPr lang="en-US" altLang="zh-CN" sz="2200" kern="100">
                            <a:latin typeface="Cambria Math" panose="02040503050406030204" pitchFamily="18" charset="0"/>
                            <a:ea typeface="+mn-ea"/>
                            <a:cs typeface="Times New Roman" panose="02020603050405020304" pitchFamily="18" charset="0"/>
                          </a:rPr>
                          <m:t>(</m:t>
                        </m:r>
                        <m:r>
                          <a:rPr lang="en-US" altLang="zh-CN" sz="2200" kern="100">
                            <a:latin typeface="Cambria Math" panose="02040503050406030204" pitchFamily="18" charset="0"/>
                            <a:ea typeface="+mn-ea"/>
                            <a:cs typeface="Times New Roman" panose="02020603050405020304" pitchFamily="18" charset="0"/>
                          </a:rPr>
                          <m:t>𝑘</m:t>
                        </m:r>
                        <m:r>
                          <a:rPr lang="en-US" altLang="zh-CN" sz="2200" kern="100">
                            <a:latin typeface="Cambria Math" panose="02040503050406030204" pitchFamily="18" charset="0"/>
                            <a:ea typeface="+mn-ea"/>
                            <a:cs typeface="Times New Roman" panose="02020603050405020304" pitchFamily="18" charset="0"/>
                          </a:rPr>
                          <m:t>)</m:t>
                        </m:r>
                      </m:sup>
                    </m:sSup>
                    <m:r>
                      <a:rPr lang="en-US" altLang="zh-CN" sz="2200"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kern="100">
                            <a:latin typeface="Cambria Math" panose="02040503050406030204" pitchFamily="18" charset="0"/>
                            <a:ea typeface="+mn-ea"/>
                            <a:cs typeface="Times New Roman" panose="02020603050405020304" pitchFamily="18" charset="0"/>
                          </a:rPr>
                          <m:t>𝛼</m:t>
                        </m:r>
                      </m:e>
                      <m:sup>
                        <m:r>
                          <a:rPr lang="en-US" altLang="zh-CN" sz="2200" kern="100">
                            <a:latin typeface="Cambria Math" panose="02040503050406030204" pitchFamily="18" charset="0"/>
                            <a:ea typeface="+mn-ea"/>
                            <a:cs typeface="Times New Roman" panose="02020603050405020304" pitchFamily="18" charset="0"/>
                          </a:rPr>
                          <m:t>(</m:t>
                        </m:r>
                        <m:r>
                          <a:rPr lang="en-US" altLang="zh-CN" sz="2200" kern="100">
                            <a:latin typeface="Cambria Math" panose="02040503050406030204" pitchFamily="18" charset="0"/>
                            <a:ea typeface="+mn-ea"/>
                            <a:cs typeface="Times New Roman" panose="02020603050405020304" pitchFamily="18" charset="0"/>
                          </a:rPr>
                          <m:t>𝑘</m:t>
                        </m:r>
                        <m:r>
                          <a:rPr lang="en-US" altLang="zh-CN" sz="2200" kern="100">
                            <a:latin typeface="Cambria Math" panose="02040503050406030204" pitchFamily="18" charset="0"/>
                            <a:ea typeface="+mn-ea"/>
                            <a:cs typeface="Times New Roman" panose="02020603050405020304" pitchFamily="18" charset="0"/>
                          </a:rPr>
                          <m:t>)</m:t>
                        </m:r>
                      </m:sup>
                    </m:sSup>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kern="100">
                            <a:latin typeface="Cambria Math" panose="02040503050406030204" pitchFamily="18" charset="0"/>
                            <a:ea typeface="+mn-ea"/>
                            <a:cs typeface="Times New Roman" panose="02020603050405020304" pitchFamily="18" charset="0"/>
                          </a:rPr>
                          <m:t>𝑑</m:t>
                        </m:r>
                      </m:e>
                      <m:sup>
                        <m:r>
                          <a:rPr lang="en-US" altLang="zh-CN" sz="2200" kern="100">
                            <a:latin typeface="Cambria Math" panose="02040503050406030204" pitchFamily="18" charset="0"/>
                            <a:ea typeface="+mn-ea"/>
                            <a:cs typeface="Times New Roman" panose="02020603050405020304" pitchFamily="18" charset="0"/>
                          </a:rPr>
                          <m:t>(</m:t>
                        </m:r>
                        <m:r>
                          <a:rPr lang="en-US" altLang="zh-CN" sz="2200" kern="100">
                            <a:latin typeface="Cambria Math" panose="02040503050406030204" pitchFamily="18" charset="0"/>
                            <a:ea typeface="+mn-ea"/>
                            <a:cs typeface="Times New Roman" panose="02020603050405020304" pitchFamily="18" charset="0"/>
                          </a:rPr>
                          <m:t>𝑘</m:t>
                        </m:r>
                        <m:r>
                          <a:rPr lang="en-US" altLang="zh-CN" sz="2200" kern="100">
                            <a:latin typeface="Cambria Math" panose="02040503050406030204" pitchFamily="18" charset="0"/>
                            <a:ea typeface="+mn-ea"/>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，置</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oMath>
                </a14:m>
                <a:r>
                  <a:rPr lang="zh-CN" altLang="zh-CN" sz="2200" kern="100" dirty="0">
                    <a:latin typeface="+mn-ea"/>
                    <a:ea typeface="+mn-ea"/>
                    <a:cs typeface="Times New Roman" panose="02020603050405020304" pitchFamily="18" charset="0"/>
                  </a:rPr>
                  <a:t>，转步骤</a:t>
                </a:r>
                <a:r>
                  <a:rPr lang="en-US" altLang="zh-CN" sz="2200" kern="100" dirty="0">
                    <a:latin typeface="+mn-ea"/>
                    <a:ea typeface="+mn-ea"/>
                    <a:cs typeface="Times New Roman" panose="02020603050405020304" pitchFamily="18" charset="0"/>
                  </a:rPr>
                  <a:t>2</a:t>
                </a:r>
                <a:r>
                  <a:rPr lang="zh-CN" altLang="en-US" sz="2200" kern="100" dirty="0">
                    <a:latin typeface="+mn-ea"/>
                    <a:ea typeface="+mn-ea"/>
                    <a:cs typeface="Times New Roman" panose="02020603050405020304" pitchFamily="18" charset="0"/>
                  </a:rPr>
                  <a:t>。</a:t>
                </a:r>
                <a:endParaRPr lang="zh-CN" altLang="en-US" sz="2200" dirty="0"/>
              </a:p>
            </p:txBody>
          </p:sp>
        </mc:Choice>
        <mc:Fallback xmlns="">
          <p:sp>
            <p:nvSpPr>
              <p:cNvPr id="5" name="文本框 4"/>
              <p:cNvSpPr txBox="1">
                <a:spLocks noRot="1" noChangeAspect="1" noMove="1" noResize="1" noEditPoints="1" noAdjustHandles="1" noChangeArrowheads="1" noChangeShapeType="1" noTextEdit="1"/>
              </p:cNvSpPr>
              <p:nvPr/>
            </p:nvSpPr>
            <p:spPr>
              <a:xfrm>
                <a:off x="470955" y="1133820"/>
                <a:ext cx="8442430" cy="4590359"/>
              </a:xfrm>
              <a:prstGeom prst="rect">
                <a:avLst/>
              </a:prstGeom>
              <a:blipFill rotWithShape="1">
                <a:blip r:embed="rId2"/>
                <a:stretch>
                  <a:fillRect l="-5" t="-8" r="6" b="-2276"/>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4294967295"/>
          </p:nvPr>
        </p:nvSpPr>
        <p:spPr>
          <a:xfrm>
            <a:off x="359532" y="1157288"/>
            <a:ext cx="6417469" cy="4229100"/>
          </a:xfrm>
        </p:spPr>
        <p:txBody>
          <a:bodyPr/>
          <a:lstStyle/>
          <a:p>
            <a:pPr>
              <a:buFont typeface="Wingdings" panose="05000000000000000000" pitchFamily="2" charset="2"/>
              <a:buNone/>
              <a:defRPr/>
            </a:pPr>
            <a:r>
              <a:rPr lang="zh-CN" altLang="en-US" sz="2100" b="1" dirty="0"/>
              <a:t>最速下降法流程图</a:t>
            </a:r>
            <a:endParaRPr lang="zh-CN" altLang="en-US" sz="2100" b="1" i="1" dirty="0"/>
          </a:p>
        </p:txBody>
      </p:sp>
      <p:sp>
        <p:nvSpPr>
          <p:cNvPr id="8194" name="AutoShape 5"/>
          <p:cNvSpPr>
            <a:spLocks noChangeArrowheads="1"/>
          </p:cNvSpPr>
          <p:nvPr/>
        </p:nvSpPr>
        <p:spPr bwMode="auto">
          <a:xfrm>
            <a:off x="3698081" y="1571626"/>
            <a:ext cx="762000" cy="317897"/>
          </a:xfrm>
          <a:prstGeom prst="flowChartPreparation">
            <a:avLst/>
          </a:prstGeom>
          <a:solidFill>
            <a:srgbClr val="CCFFCC"/>
          </a:solidFill>
          <a:ln w="28575" cap="sq">
            <a:solidFill>
              <a:srgbClr val="00FF00"/>
            </a:solidFill>
            <a:miter lim="800000"/>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a:solidFill>
                  <a:srgbClr val="000000"/>
                </a:solidFill>
                <a:latin typeface="Times New Roman" panose="02020603050405020304" pitchFamily="18" charset="0"/>
              </a:rPr>
              <a:t>入口</a:t>
            </a:r>
            <a:endParaRPr lang="zh-CN" altLang="en-US" sz="1500">
              <a:solidFill>
                <a:srgbClr val="000000"/>
              </a:solidFill>
              <a:latin typeface="Times New Roman" panose="02020603050405020304" pitchFamily="18" charset="0"/>
            </a:endParaRPr>
          </a:p>
        </p:txBody>
      </p:sp>
      <p:sp>
        <p:nvSpPr>
          <p:cNvPr id="8195" name="AutoShape 6"/>
          <p:cNvSpPr>
            <a:spLocks noChangeArrowheads="1"/>
          </p:cNvSpPr>
          <p:nvPr/>
        </p:nvSpPr>
        <p:spPr bwMode="auto">
          <a:xfrm>
            <a:off x="3108722" y="2031206"/>
            <a:ext cx="1889522" cy="286941"/>
          </a:xfrm>
          <a:prstGeom prst="flowChartInputOutput">
            <a:avLst/>
          </a:prstGeom>
          <a:solidFill>
            <a:srgbClr val="CCFFCC"/>
          </a:solidFill>
          <a:ln w="28575" cap="sq">
            <a:solidFill>
              <a:srgbClr val="00FF00"/>
            </a:solidFill>
            <a:miter lim="800000"/>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给定：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r>
              <a:rPr lang="zh-CN" altLang="en-US" sz="1500" b="1" i="1" dirty="0">
                <a:solidFill>
                  <a:srgbClr val="000000"/>
                </a:solidFill>
                <a:latin typeface="Times New Roman" panose="02020603050405020304" pitchFamily="18" charset="0"/>
              </a:rPr>
              <a:t>，</a:t>
            </a:r>
            <a:r>
              <a:rPr lang="zh-CN" altLang="en-US" sz="1500" b="1" i="1" dirty="0">
                <a:solidFill>
                  <a:srgbClr val="000000"/>
                </a:solidFill>
                <a:latin typeface="Times New Roman" panose="02020603050405020304" pitchFamily="18" charset="0"/>
                <a:sym typeface="Symbol" panose="05050102010706020507" pitchFamily="18" charset="2"/>
              </a:rPr>
              <a:t></a:t>
            </a:r>
            <a:r>
              <a:rPr lang="zh-CN" altLang="en-US" sz="1500" b="1" dirty="0">
                <a:solidFill>
                  <a:srgbClr val="000000"/>
                </a:solidFill>
                <a:latin typeface="Times New Roman" panose="02020603050405020304" pitchFamily="18" charset="0"/>
              </a:rPr>
              <a:t> </a:t>
            </a:r>
          </a:p>
        </p:txBody>
      </p:sp>
      <p:sp>
        <p:nvSpPr>
          <p:cNvPr id="8196" name="AutoShape 7"/>
          <p:cNvSpPr>
            <a:spLocks noChangeArrowheads="1"/>
          </p:cNvSpPr>
          <p:nvPr/>
        </p:nvSpPr>
        <p:spPr bwMode="auto">
          <a:xfrm>
            <a:off x="3429000" y="2509837"/>
            <a:ext cx="1348979" cy="301229"/>
          </a:xfrm>
          <a:prstGeom prst="flowChartProcess">
            <a:avLst/>
          </a:prstGeom>
          <a:solidFill>
            <a:srgbClr val="CCFFCC"/>
          </a:solidFill>
          <a:ln w="28575" cap="sq">
            <a:solidFill>
              <a:srgbClr val="00FF00"/>
            </a:solidFill>
            <a:miter lim="800000"/>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k=1</a:t>
            </a:r>
            <a:endParaRPr lang="en-US" altLang="zh-CN" sz="1500" b="1" i="1" dirty="0">
              <a:solidFill>
                <a:srgbClr val="000000"/>
              </a:solidFill>
              <a:latin typeface="Times New Roman" panose="02020603050405020304" pitchFamily="18" charset="0"/>
            </a:endParaRPr>
          </a:p>
        </p:txBody>
      </p:sp>
      <p:sp>
        <p:nvSpPr>
          <p:cNvPr id="5127" name="AutoShape 8"/>
          <p:cNvSpPr>
            <a:spLocks noChangeArrowheads="1"/>
          </p:cNvSpPr>
          <p:nvPr/>
        </p:nvSpPr>
        <p:spPr bwMode="auto">
          <a:xfrm>
            <a:off x="3433764" y="4049317"/>
            <a:ext cx="1460897" cy="444103"/>
          </a:xfrm>
          <a:prstGeom prst="flowChartDecision">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zh-CN" sz="1500" b="1" i="1" dirty="0">
                <a:solidFill>
                  <a:srgbClr val="000000"/>
                </a:solidFill>
                <a:latin typeface="Times New Roman" panose="02020603050405020304" pitchFamily="18" charset="0"/>
              </a:rPr>
              <a:t>||</a:t>
            </a:r>
            <a:r>
              <a:rPr lang="en-US" altLang="zh-CN" sz="1500" dirty="0">
                <a:solidFill>
                  <a:schemeClr val="tx2">
                    <a:lumMod val="10000"/>
                  </a:schemeClr>
                </a:solidFill>
                <a:effectLst>
                  <a:outerShdw blurRad="38100" dist="38100" dir="2700000" algn="tl">
                    <a:srgbClr val="000000"/>
                  </a:outerShdw>
                </a:effectLst>
              </a:rPr>
              <a:t> </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 </a:t>
            </a:r>
            <a:r>
              <a:rPr lang="en-US" altLang="zh-CN" sz="1500" b="1" i="1" dirty="0">
                <a:solidFill>
                  <a:srgbClr val="000000"/>
                </a:solidFill>
                <a:latin typeface="Times New Roman" panose="02020603050405020304" pitchFamily="18" charset="0"/>
              </a:rPr>
              <a:t>||</a:t>
            </a:r>
            <a:r>
              <a:rPr lang="en-US" altLang="zh-CN" sz="1500" b="1" i="1" dirty="0">
                <a:solidFill>
                  <a:srgbClr val="000000"/>
                </a:solidFill>
                <a:latin typeface="Times New Roman" panose="02020603050405020304" pitchFamily="18" charset="0"/>
                <a:sym typeface="Symbol" panose="05050102010706020507" pitchFamily="18" charset="2"/>
              </a:rPr>
              <a:t>  </a:t>
            </a:r>
            <a:r>
              <a:rPr lang="zh-CN" altLang="en-US" sz="1500" b="1" i="1" dirty="0">
                <a:solidFill>
                  <a:srgbClr val="000000"/>
                </a:solidFill>
                <a:latin typeface="Times New Roman" panose="02020603050405020304" pitchFamily="18" charset="0"/>
                <a:sym typeface="Symbol" panose="05050102010706020507" pitchFamily="18" charset="2"/>
              </a:rPr>
              <a:t>？</a:t>
            </a:r>
          </a:p>
        </p:txBody>
      </p:sp>
      <p:sp>
        <p:nvSpPr>
          <p:cNvPr id="8198" name="AutoShape 9"/>
          <p:cNvSpPr>
            <a:spLocks noChangeArrowheads="1"/>
          </p:cNvSpPr>
          <p:nvPr/>
        </p:nvSpPr>
        <p:spPr bwMode="auto">
          <a:xfrm>
            <a:off x="3388520" y="4704160"/>
            <a:ext cx="1546622" cy="542925"/>
          </a:xfrm>
          <a:prstGeom prst="flowChartInputOutput">
            <a:avLst/>
          </a:prstGeom>
          <a:solidFill>
            <a:srgbClr val="CCFFCC"/>
          </a:solidFill>
          <a:ln w="28575" cap="sq">
            <a:solidFill>
              <a:srgbClr val="00FF00"/>
            </a:solidFill>
            <a:miter lim="800000"/>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a:solidFill>
                  <a:srgbClr val="000000"/>
                </a:solidFill>
                <a:latin typeface="Times New Roman" panose="02020603050405020304" pitchFamily="18" charset="0"/>
              </a:rPr>
              <a:t>x*=x</a:t>
            </a:r>
            <a:r>
              <a:rPr lang="en-US" altLang="en-US" sz="1500" b="1" i="1" baseline="30000">
                <a:solidFill>
                  <a:srgbClr val="000000"/>
                </a:solidFill>
                <a:latin typeface="Times New Roman" panose="02020603050405020304" pitchFamily="18" charset="0"/>
              </a:rPr>
              <a:t>(k)</a:t>
            </a:r>
            <a:endParaRPr lang="en-US" altLang="en-US" sz="1500" b="1" i="1">
              <a:solidFill>
                <a:srgbClr val="000000"/>
              </a:solidFill>
              <a:latin typeface="Times New Roman" panose="02020603050405020304" pitchFamily="18" charset="0"/>
            </a:endParaRPr>
          </a:p>
          <a:p>
            <a:pPr algn="ctr">
              <a:buFont typeface="Wingdings" panose="05000000000000000000" pitchFamily="2" charset="2"/>
              <a:buNone/>
            </a:pPr>
            <a:r>
              <a:rPr lang="en-US" altLang="en-US" sz="1500" b="1" i="1">
                <a:solidFill>
                  <a:srgbClr val="000000"/>
                </a:solidFill>
                <a:latin typeface="Times New Roman" panose="02020603050405020304" pitchFamily="18" charset="0"/>
              </a:rPr>
              <a:t>f*=f(x</a:t>
            </a:r>
            <a:r>
              <a:rPr lang="en-US" altLang="en-US" sz="1500" b="1" i="1" baseline="30000">
                <a:solidFill>
                  <a:srgbClr val="000000"/>
                </a:solidFill>
                <a:latin typeface="Times New Roman" panose="02020603050405020304" pitchFamily="18" charset="0"/>
              </a:rPr>
              <a:t>(k)</a:t>
            </a:r>
            <a:r>
              <a:rPr lang="en-US" altLang="en-US" sz="1500" b="1" i="1">
                <a:solidFill>
                  <a:srgbClr val="000000"/>
                </a:solidFill>
                <a:latin typeface="Times New Roman" panose="02020603050405020304" pitchFamily="18" charset="0"/>
              </a:rPr>
              <a:t>)</a:t>
            </a:r>
            <a:endParaRPr lang="en-US" altLang="zh-CN" sz="1500">
              <a:solidFill>
                <a:srgbClr val="000000"/>
              </a:solidFill>
              <a:latin typeface="Times New Roman" panose="02020603050405020304" pitchFamily="18" charset="0"/>
            </a:endParaRPr>
          </a:p>
        </p:txBody>
      </p:sp>
      <p:sp>
        <p:nvSpPr>
          <p:cNvPr id="8199" name="AutoShape 10"/>
          <p:cNvSpPr>
            <a:spLocks noChangeArrowheads="1"/>
          </p:cNvSpPr>
          <p:nvPr/>
        </p:nvSpPr>
        <p:spPr bwMode="auto">
          <a:xfrm>
            <a:off x="3614738" y="5525692"/>
            <a:ext cx="952500" cy="258365"/>
          </a:xfrm>
          <a:prstGeom prst="flowChartTerminator">
            <a:avLst/>
          </a:prstGeom>
          <a:solidFill>
            <a:srgbClr val="CCFFCC"/>
          </a:solidFill>
          <a:ln w="28575" cap="sq">
            <a:solidFill>
              <a:srgbClr val="00FF00"/>
            </a:solidFill>
            <a:miter lim="800000"/>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a:solidFill>
                  <a:srgbClr val="000000"/>
                </a:solidFill>
                <a:latin typeface="Times New Roman" panose="02020603050405020304" pitchFamily="18" charset="0"/>
              </a:rPr>
              <a:t>出口</a:t>
            </a:r>
            <a:endParaRPr lang="zh-CN" altLang="en-US" sz="1500">
              <a:solidFill>
                <a:srgbClr val="000000"/>
              </a:solidFill>
              <a:latin typeface="Times New Roman" panose="02020603050405020304" pitchFamily="18" charset="0"/>
            </a:endParaRPr>
          </a:p>
        </p:txBody>
      </p:sp>
      <p:sp>
        <p:nvSpPr>
          <p:cNvPr id="8200" name="AutoShape 11"/>
          <p:cNvSpPr>
            <a:spLocks noChangeArrowheads="1"/>
          </p:cNvSpPr>
          <p:nvPr/>
        </p:nvSpPr>
        <p:spPr bwMode="auto">
          <a:xfrm>
            <a:off x="3479006" y="3003948"/>
            <a:ext cx="1348979" cy="301228"/>
          </a:xfrm>
          <a:prstGeom prst="flowChartProcess">
            <a:avLst/>
          </a:prstGeom>
          <a:solidFill>
            <a:srgbClr val="CCFFCC"/>
          </a:solidFill>
          <a:ln w="28575" cap="sq">
            <a:solidFill>
              <a:srgbClr val="00FF00"/>
            </a:solidFill>
            <a:miter lim="800000"/>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endParaRPr lang="en-US" altLang="zh-CN" sz="1500" b="1" i="1" baseline="30000" dirty="0">
              <a:solidFill>
                <a:srgbClr val="000000"/>
              </a:solidFill>
              <a:latin typeface="Times New Roman" panose="02020603050405020304" pitchFamily="18" charset="0"/>
            </a:endParaRPr>
          </a:p>
        </p:txBody>
      </p:sp>
      <p:sp>
        <p:nvSpPr>
          <p:cNvPr id="5131" name="AutoShape 12"/>
          <p:cNvSpPr>
            <a:spLocks noChangeArrowheads="1"/>
          </p:cNvSpPr>
          <p:nvPr/>
        </p:nvSpPr>
        <p:spPr bwMode="auto">
          <a:xfrm>
            <a:off x="3467100" y="3461148"/>
            <a:ext cx="1348979" cy="301228"/>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zh-CN" sz="1500" b="1" i="1" dirty="0">
                <a:solidFill>
                  <a:srgbClr val="000000"/>
                </a:solidFill>
                <a:latin typeface="Times New Roman" panose="02020603050405020304" pitchFamily="18" charset="0"/>
              </a:rPr>
              <a:t>计算：</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p>
        </p:txBody>
      </p:sp>
      <p:sp>
        <p:nvSpPr>
          <p:cNvPr id="8202" name="AutoShape 13"/>
          <p:cNvSpPr>
            <a:spLocks noChangeArrowheads="1"/>
          </p:cNvSpPr>
          <p:nvPr/>
        </p:nvSpPr>
        <p:spPr bwMode="auto">
          <a:xfrm>
            <a:off x="5354242" y="3473055"/>
            <a:ext cx="1348978" cy="301228"/>
          </a:xfrm>
          <a:prstGeom prst="flowChartProcess">
            <a:avLst/>
          </a:prstGeom>
          <a:solidFill>
            <a:srgbClr val="CCFFCC"/>
          </a:solidFill>
          <a:ln w="28575" cap="sq">
            <a:solidFill>
              <a:srgbClr val="00FF00"/>
            </a:solidFill>
            <a:miter lim="800000"/>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zh-CN" sz="1500" b="1" i="1">
                <a:solidFill>
                  <a:srgbClr val="000000"/>
                </a:solidFill>
                <a:latin typeface="Times New Roman" panose="02020603050405020304" pitchFamily="18" charset="0"/>
              </a:rPr>
              <a:t>k=k+1</a:t>
            </a:r>
            <a:endParaRPr lang="en-US" altLang="zh-CN" sz="1500" b="1" i="1" baseline="30000">
              <a:solidFill>
                <a:srgbClr val="000000"/>
              </a:solidFill>
              <a:latin typeface="Times New Roman" panose="02020603050405020304" pitchFamily="18" charset="0"/>
            </a:endParaRPr>
          </a:p>
        </p:txBody>
      </p:sp>
      <p:sp>
        <p:nvSpPr>
          <p:cNvPr id="5133" name="AutoShape 14"/>
          <p:cNvSpPr>
            <a:spLocks noChangeArrowheads="1"/>
          </p:cNvSpPr>
          <p:nvPr/>
        </p:nvSpPr>
        <p:spPr bwMode="auto">
          <a:xfrm>
            <a:off x="5262562" y="3954066"/>
            <a:ext cx="2052638" cy="1132284"/>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en-US" sz="1500" b="1" dirty="0">
                <a:solidFill>
                  <a:srgbClr val="000000"/>
                </a:solidFill>
                <a:latin typeface="Times New Roman" panose="02020603050405020304" pitchFamily="18" charset="0"/>
              </a:rPr>
              <a:t>沿</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r>
              <a:rPr lang="zh-CN" altLang="en-US" sz="1500" b="1" dirty="0">
                <a:solidFill>
                  <a:srgbClr val="000000"/>
                </a:solidFill>
                <a:latin typeface="Times New Roman" panose="02020603050405020304" pitchFamily="18" charset="0"/>
              </a:rPr>
              <a:t>方向一维搜索，</a:t>
            </a:r>
          </a:p>
          <a:p>
            <a:pPr algn="ctr">
              <a:buFontTx/>
              <a:buNone/>
              <a:defRPr/>
            </a:pPr>
            <a:r>
              <a:rPr lang="zh-CN" altLang="en-US" sz="1500" b="1" dirty="0">
                <a:solidFill>
                  <a:srgbClr val="000000"/>
                </a:solidFill>
                <a:latin typeface="Times New Roman" panose="02020603050405020304" pitchFamily="18" charset="0"/>
              </a:rPr>
              <a:t>求最优步长</a:t>
            </a:r>
            <a:r>
              <a:rPr lang="zh-CN" altLang="en-US" sz="1500" b="1" i="1" dirty="0">
                <a:solidFill>
                  <a:srgbClr val="000000"/>
                </a:solidFill>
                <a:latin typeface="Times New Roman" panose="02020603050405020304" pitchFamily="18" charset="0"/>
                <a:sym typeface="Symbol" panose="05050102010706020507" pitchFamily="18" charset="2"/>
              </a:rPr>
              <a:t></a:t>
            </a:r>
            <a:r>
              <a:rPr lang="en-US" altLang="zh-CN" sz="1500" b="1" i="1" baseline="30000"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r>
              <a:rPr lang="zh-CN" altLang="en-US" sz="1500" b="1" dirty="0">
                <a:solidFill>
                  <a:srgbClr val="000000"/>
                </a:solidFill>
                <a:latin typeface="Times New Roman" panose="02020603050405020304" pitchFamily="18" charset="0"/>
              </a:rPr>
              <a:t>。</a:t>
            </a:r>
          </a:p>
          <a:p>
            <a:pPr algn="ctr">
              <a:buFontTx/>
              <a:buNone/>
              <a:defRPr/>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(k+1)</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r>
              <a:rPr lang="en-US" altLang="en-US" sz="1500" b="1" i="1" dirty="0">
                <a:solidFill>
                  <a:srgbClr val="000000"/>
                </a:solidFill>
                <a:latin typeface="Times New Roman" panose="02020603050405020304" pitchFamily="18" charset="0"/>
              </a:rPr>
              <a:t> </a:t>
            </a:r>
            <a:r>
              <a:rPr lang="en-US" altLang="zh-CN" sz="1500" b="1" i="1" dirty="0">
                <a:solidFill>
                  <a:srgbClr val="000000"/>
                </a:solidFill>
                <a:latin typeface="Times New Roman" panose="02020603050405020304" pitchFamily="18" charset="0"/>
                <a:sym typeface="Symbol" panose="05050102010706020507" pitchFamily="18" charset="2"/>
              </a:rPr>
              <a:t></a:t>
            </a:r>
            <a:r>
              <a:rPr lang="en-US" altLang="zh-CN" sz="1500" b="1" i="1" baseline="30000"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r>
              <a:rPr lang="en-US" altLang="zh-CN" sz="1500" dirty="0">
                <a:effectLst>
                  <a:outerShdw blurRad="38100" dist="38100" dir="2700000" algn="tl">
                    <a:srgbClr val="000000"/>
                  </a:outerShdw>
                </a:effectLst>
              </a:rPr>
              <a:t> </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endParaRPr lang="en-US" altLang="zh-CN" sz="1500" b="1" i="1" dirty="0">
              <a:solidFill>
                <a:srgbClr val="000000"/>
              </a:solidFill>
              <a:latin typeface="Times New Roman" panose="02020603050405020304" pitchFamily="18" charset="0"/>
            </a:endParaRPr>
          </a:p>
        </p:txBody>
      </p:sp>
      <p:sp>
        <p:nvSpPr>
          <p:cNvPr id="8204" name="Line 15"/>
          <p:cNvSpPr>
            <a:spLocks noChangeShapeType="1"/>
          </p:cNvSpPr>
          <p:nvPr/>
        </p:nvSpPr>
        <p:spPr bwMode="auto">
          <a:xfrm>
            <a:off x="4082654" y="1885951"/>
            <a:ext cx="0" cy="136922"/>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Line 16"/>
          <p:cNvSpPr>
            <a:spLocks noChangeShapeType="1"/>
          </p:cNvSpPr>
          <p:nvPr/>
        </p:nvSpPr>
        <p:spPr bwMode="auto">
          <a:xfrm>
            <a:off x="4070747" y="2308622"/>
            <a:ext cx="0" cy="217884"/>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6" name="Line 17"/>
          <p:cNvSpPr>
            <a:spLocks noChangeShapeType="1"/>
          </p:cNvSpPr>
          <p:nvPr/>
        </p:nvSpPr>
        <p:spPr bwMode="auto">
          <a:xfrm>
            <a:off x="4094560" y="2812256"/>
            <a:ext cx="0" cy="17145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Line 18"/>
          <p:cNvSpPr>
            <a:spLocks noChangeShapeType="1"/>
          </p:cNvSpPr>
          <p:nvPr/>
        </p:nvSpPr>
        <p:spPr bwMode="auto">
          <a:xfrm>
            <a:off x="4094560" y="3302794"/>
            <a:ext cx="0" cy="17145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8" name="Line 19"/>
          <p:cNvSpPr>
            <a:spLocks noChangeShapeType="1"/>
          </p:cNvSpPr>
          <p:nvPr/>
        </p:nvSpPr>
        <p:spPr bwMode="auto">
          <a:xfrm>
            <a:off x="4185047" y="3759995"/>
            <a:ext cx="0" cy="275035"/>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9" name="Line 20"/>
          <p:cNvSpPr>
            <a:spLocks noChangeShapeType="1"/>
          </p:cNvSpPr>
          <p:nvPr/>
        </p:nvSpPr>
        <p:spPr bwMode="auto">
          <a:xfrm>
            <a:off x="4162425" y="4492228"/>
            <a:ext cx="0" cy="251222"/>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0" name="Line 21"/>
          <p:cNvSpPr>
            <a:spLocks noChangeShapeType="1"/>
          </p:cNvSpPr>
          <p:nvPr/>
        </p:nvSpPr>
        <p:spPr bwMode="auto">
          <a:xfrm>
            <a:off x="4894660" y="4263629"/>
            <a:ext cx="365522" cy="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1" name="Line 22"/>
          <p:cNvSpPr>
            <a:spLocks noChangeShapeType="1"/>
          </p:cNvSpPr>
          <p:nvPr/>
        </p:nvSpPr>
        <p:spPr bwMode="auto">
          <a:xfrm flipV="1">
            <a:off x="6060281" y="3771901"/>
            <a:ext cx="10716" cy="183356"/>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2" name="Line 23"/>
          <p:cNvSpPr>
            <a:spLocks noChangeShapeType="1"/>
          </p:cNvSpPr>
          <p:nvPr/>
        </p:nvSpPr>
        <p:spPr bwMode="auto">
          <a:xfrm flipH="1">
            <a:off x="4837510" y="3623072"/>
            <a:ext cx="514350" cy="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3" name="Line 24"/>
          <p:cNvSpPr>
            <a:spLocks noChangeShapeType="1"/>
          </p:cNvSpPr>
          <p:nvPr/>
        </p:nvSpPr>
        <p:spPr bwMode="auto">
          <a:xfrm>
            <a:off x="4151710" y="5235179"/>
            <a:ext cx="0" cy="285750"/>
          </a:xfrm>
          <a:prstGeom prst="line">
            <a:avLst/>
          </a:prstGeom>
          <a:noFill/>
          <a:ln w="28575" cap="sq">
            <a:solidFill>
              <a:srgbClr val="00FF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4" name="Text Box 25"/>
          <p:cNvSpPr txBox="1">
            <a:spLocks noChangeArrowheads="1"/>
          </p:cNvSpPr>
          <p:nvPr/>
        </p:nvSpPr>
        <p:spPr bwMode="auto">
          <a:xfrm>
            <a:off x="4805206" y="3999047"/>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N</a:t>
            </a:r>
            <a:endParaRPr lang="en-US" altLang="zh-CN" sz="1500" dirty="0">
              <a:latin typeface="Times New Roman" panose="02020603050405020304" pitchFamily="18" charset="0"/>
            </a:endParaRPr>
          </a:p>
        </p:txBody>
      </p:sp>
      <p:sp>
        <p:nvSpPr>
          <p:cNvPr id="8215" name="Text Box 26"/>
          <p:cNvSpPr txBox="1">
            <a:spLocks noChangeArrowheads="1"/>
          </p:cNvSpPr>
          <p:nvPr/>
        </p:nvSpPr>
        <p:spPr bwMode="auto">
          <a:xfrm>
            <a:off x="3862231" y="4444340"/>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Y</a:t>
            </a:r>
            <a:endParaRPr lang="en-US" altLang="zh-CN" sz="15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文本框 24"/>
              <p:cNvSpPr txBox="1"/>
              <p:nvPr/>
            </p:nvSpPr>
            <p:spPr>
              <a:xfrm>
                <a:off x="4894661" y="2809253"/>
                <a:ext cx="738553" cy="2404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500" i="1">
                          <a:latin typeface="Cambria Math" panose="02040503050406030204" pitchFamily="18" charset="0"/>
                        </a:rPr>
                        <m:t>−</m:t>
                      </m:r>
                      <m:r>
                        <m:rPr>
                          <m:sty m:val="p"/>
                        </m:rPr>
                        <a:rPr lang="zh-CN" altLang="en-US" sz="1500" i="1">
                          <a:latin typeface="Cambria Math" panose="02040503050406030204" pitchFamily="18" charset="0"/>
                        </a:rPr>
                        <m:t>∇</m:t>
                      </m:r>
                      <m:r>
                        <a:rPr lang="en-US" altLang="zh-CN" sz="1500" i="1">
                          <a:latin typeface="Cambria Math" panose="02040503050406030204" pitchFamily="18" charset="0"/>
                        </a:rPr>
                        <m:t>𝑓</m:t>
                      </m:r>
                      <m:r>
                        <a:rPr lang="en-US" altLang="zh-CN" sz="1500" i="1">
                          <a:latin typeface="Cambria Math" panose="02040503050406030204" pitchFamily="18" charset="0"/>
                        </a:rPr>
                        <m:t>(</m:t>
                      </m:r>
                      <m:sSup>
                        <m:sSupPr>
                          <m:ctrlPr>
                            <a:rPr lang="en-US" altLang="zh-CN" sz="1500" i="1">
                              <a:latin typeface="Cambria Math" panose="02040503050406030204" pitchFamily="18" charset="0"/>
                            </a:rPr>
                          </m:ctrlPr>
                        </m:sSupPr>
                        <m:e>
                          <m:r>
                            <a:rPr lang="en-US" altLang="zh-CN" sz="1500" i="1">
                              <a:latin typeface="Cambria Math" panose="02040503050406030204" pitchFamily="18" charset="0"/>
                            </a:rPr>
                            <m:t>𝑥</m:t>
                          </m:r>
                        </m:e>
                        <m:sup>
                          <m:r>
                            <a:rPr lang="en-US" altLang="zh-CN" sz="1500" i="1">
                              <a:latin typeface="Cambria Math" panose="02040503050406030204" pitchFamily="18" charset="0"/>
                            </a:rPr>
                            <m:t>(</m:t>
                          </m:r>
                          <m:r>
                            <a:rPr lang="en-US" altLang="zh-CN" sz="1500" i="1">
                              <a:latin typeface="Cambria Math" panose="02040503050406030204" pitchFamily="18" charset="0"/>
                            </a:rPr>
                            <m:t>𝑘</m:t>
                          </m:r>
                          <m:r>
                            <a:rPr lang="en-US" altLang="zh-CN" sz="1500" i="1">
                              <a:latin typeface="Cambria Math" panose="02040503050406030204" pitchFamily="18" charset="0"/>
                            </a:rPr>
                            <m:t>)</m:t>
                          </m:r>
                        </m:sup>
                      </m:sSup>
                      <m:r>
                        <a:rPr lang="en-US" altLang="zh-CN" sz="1500" i="1">
                          <a:latin typeface="Cambria Math" panose="02040503050406030204" pitchFamily="18" charset="0"/>
                        </a:rPr>
                        <m:t>)</m:t>
                      </m:r>
                    </m:oMath>
                  </m:oMathPara>
                </a14:m>
                <a:endParaRPr lang="zh-CN" altLang="en-US" sz="1500" dirty="0"/>
              </a:p>
            </p:txBody>
          </p:sp>
        </mc:Choice>
        <mc:Fallback xmlns="">
          <p:sp>
            <p:nvSpPr>
              <p:cNvPr id="25" name="文本框 24"/>
              <p:cNvSpPr txBox="1">
                <a:spLocks noRot="1" noChangeAspect="1" noMove="1" noResize="1" noEditPoints="1" noAdjustHandles="1" noChangeArrowheads="1" noChangeShapeType="1" noTextEdit="1"/>
              </p:cNvSpPr>
              <p:nvPr/>
            </p:nvSpPr>
            <p:spPr>
              <a:xfrm>
                <a:off x="4894661" y="2809253"/>
                <a:ext cx="738553" cy="240450"/>
              </a:xfrm>
              <a:prstGeom prst="rect">
                <a:avLst/>
              </a:prstGeom>
              <a:blipFill rotWithShape="1">
                <a:blip r:embed="rId2"/>
                <a:stretch>
                  <a:fillRect l="-11" t="-5" r="-10902" b="180"/>
                </a:stretch>
              </a:blipFill>
            </p:spPr>
            <p:txBody>
              <a:bodyPr/>
              <a:lstStyle/>
              <a:p>
                <a:r>
                  <a:rPr lang="zh-CN" altLang="en-US">
                    <a:noFill/>
                  </a:rPr>
                  <a:t> </a:t>
                </a:r>
              </a:p>
            </p:txBody>
          </p:sp>
        </mc:Fallback>
      </mc:AlternateContent>
      <p:cxnSp>
        <p:nvCxnSpPr>
          <p:cNvPr id="26" name="直接箭头连接符 25"/>
          <p:cNvCxnSpPr/>
          <p:nvPr/>
        </p:nvCxnSpPr>
        <p:spPr>
          <a:xfrm flipH="1">
            <a:off x="4739656" y="3040085"/>
            <a:ext cx="405585" cy="42106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ransition>
    <p:split orient="vert" dir="in"/>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 name="文本框 24"/>
              <p:cNvSpPr txBox="1"/>
              <p:nvPr/>
            </p:nvSpPr>
            <p:spPr>
              <a:xfrm>
                <a:off x="323528" y="279387"/>
                <a:ext cx="8148148" cy="6423025"/>
              </a:xfrm>
              <a:prstGeom prst="rect">
                <a:avLst/>
              </a:prstGeom>
              <a:noFill/>
            </p:spPr>
            <p:txBody>
              <a:bodyPr wrap="square" rtlCol="0">
                <a:spAutoFit/>
              </a:bodyPr>
              <a:lstStyle/>
              <a:p>
                <a:pPr algn="just">
                  <a:lnSpc>
                    <a:spcPct val="150000"/>
                  </a:lnSpc>
                </a:pPr>
                <a:r>
                  <a:rPr lang="en-US" altLang="zh-CN" sz="2200" b="1" dirty="0">
                    <a:latin typeface="+mn-ea"/>
                    <a:ea typeface="+mn-ea"/>
                    <a:cs typeface="Times New Roman" panose="02020603050405020304" pitchFamily="18" charset="0"/>
                  </a:rPr>
                  <a:t>    </a:t>
                </a:r>
                <a:r>
                  <a:rPr lang="zh-CN" altLang="zh-CN" sz="2200" b="1" dirty="0">
                    <a:solidFill>
                      <a:srgbClr val="0070C0"/>
                    </a:solidFill>
                    <a:latin typeface="+mn-ea"/>
                    <a:ea typeface="+mn-ea"/>
                    <a:cs typeface="Times New Roman" panose="02020603050405020304" pitchFamily="18" charset="0"/>
                  </a:rPr>
                  <a:t>例</a:t>
                </a:r>
                <a:r>
                  <a:rPr lang="en-US" altLang="zh-CN" sz="2200" b="1" dirty="0">
                    <a:latin typeface="+mn-ea"/>
                    <a:ea typeface="+mn-ea"/>
                    <a:cs typeface="Times New Roman" panose="02020603050405020304" pitchFamily="18" charset="0"/>
                  </a:rPr>
                  <a:t> </a:t>
                </a:r>
                <a:r>
                  <a:rPr lang="zh-CN" altLang="zh-CN" sz="2200" dirty="0">
                    <a:latin typeface="+mn-ea"/>
                    <a:ea typeface="+mn-ea"/>
                    <a:cs typeface="Times New Roman" panose="02020603050405020304" pitchFamily="18" charset="0"/>
                  </a:rPr>
                  <a:t>用最速下降法求解下列问题</a:t>
                </a:r>
                <a:endParaRPr lang="en-US" altLang="zh-CN" sz="2200" dirty="0">
                  <a:latin typeface="+mn-ea"/>
                  <a:ea typeface="+mn-ea"/>
                  <a:cs typeface="Times New Roman" panose="02020603050405020304" pitchFamily="18" charset="0"/>
                </a:endParaRPr>
              </a:p>
              <a:p>
                <a:pPr algn="ctr">
                  <a:lnSpc>
                    <a:spcPct val="150000"/>
                  </a:lnSpc>
                </a:pPr>
                <a:r>
                  <a:rPr lang="en-US" altLang="zh-CN" sz="2200" dirty="0">
                    <a:latin typeface="+mn-ea"/>
                    <a:ea typeface="+mn-ea"/>
                    <a:cs typeface="Times New Roman" panose="02020603050405020304" pitchFamily="18" charset="0"/>
                  </a:rPr>
                  <a:t>  </a:t>
                </a:r>
                <a14:m>
                  <m:oMath xmlns:m="http://schemas.openxmlformats.org/officeDocument/2006/math">
                    <m:m>
                      <m:mPr>
                        <m:mcs>
                          <m:mc>
                            <m:mcPr>
                              <m:count m:val="2"/>
                              <m:mcJc m:val="center"/>
                            </m:mcPr>
                          </m:mc>
                        </m:mcs>
                        <m:ctrlPr>
                          <a:rPr lang="zh-CN" altLang="zh-CN" sz="2200" i="1">
                            <a:latin typeface="Cambria Math" panose="02040503050406030204" pitchFamily="18" charset="0"/>
                            <a:ea typeface="+mn-ea"/>
                          </a:rPr>
                        </m:ctrlPr>
                      </m:mPr>
                      <m:mr>
                        <m:e>
                          <m:r>
                            <a:rPr lang="en-US" altLang="zh-CN" sz="2200" i="1">
                              <a:latin typeface="Cambria Math" panose="02040503050406030204" pitchFamily="18" charset="0"/>
                              <a:ea typeface="+mn-ea"/>
                              <a:cs typeface="Times New Roman" panose="02020603050405020304" pitchFamily="18" charset="0"/>
                            </a:rPr>
                            <m:t>𝑚𝑖𝑛</m:t>
                          </m:r>
                        </m:e>
                        <m:e>
                          <m:r>
                            <a:rPr lang="en-US" altLang="zh-CN" sz="2200" i="1">
                              <a:latin typeface="Cambria Math" panose="02040503050406030204" pitchFamily="18" charset="0"/>
                              <a:ea typeface="+mn-ea"/>
                              <a:cs typeface="Times New Roman" panose="02020603050405020304" pitchFamily="18" charset="0"/>
                            </a:rPr>
                            <m:t>𝑓</m:t>
                          </m:r>
                          <m:r>
                            <a:rPr lang="en-US" altLang="zh-CN" sz="2200" i="1">
                              <a:latin typeface="Cambria Math" panose="02040503050406030204" pitchFamily="18" charset="0"/>
                              <a:ea typeface="+mn-ea"/>
                              <a:cs typeface="Times New Roman" panose="02020603050405020304" pitchFamily="18" charset="0"/>
                            </a:rPr>
                            <m:t>(</m:t>
                          </m:r>
                          <m:r>
                            <a:rPr lang="en-US" altLang="zh-CN" sz="2200" i="1">
                              <a:latin typeface="Cambria Math" panose="02040503050406030204" pitchFamily="18" charset="0"/>
                              <a:ea typeface="+mn-ea"/>
                              <a:cs typeface="Times New Roman" panose="02020603050405020304" pitchFamily="18" charset="0"/>
                            </a:rPr>
                            <m:t>𝑥</m:t>
                          </m:r>
                          <m:r>
                            <a:rPr lang="en-US" altLang="zh-CN" sz="2200" i="1">
                              <a:latin typeface="Cambria Math" panose="02040503050406030204" pitchFamily="18" charset="0"/>
                              <a:ea typeface="+mn-ea"/>
                              <a:cs typeface="Times New Roman" panose="02020603050405020304" pitchFamily="18" charset="0"/>
                            </a:rPr>
                            <m:t>)=2</m:t>
                          </m:r>
                          <m:sSubSup>
                            <m:sSubSupPr>
                              <m:ctrlPr>
                                <a:rPr lang="zh-CN" altLang="zh-CN" sz="2200" i="1">
                                  <a:latin typeface="Cambria Math" panose="02040503050406030204" pitchFamily="18" charset="0"/>
                                  <a:ea typeface="+mn-ea"/>
                                </a:rPr>
                              </m:ctrlPr>
                            </m:sSubSupPr>
                            <m:e>
                              <m:r>
                                <a:rPr lang="en-US" altLang="zh-CN" sz="2200" i="1">
                                  <a:latin typeface="Cambria Math" panose="02040503050406030204" pitchFamily="18" charset="0"/>
                                  <a:ea typeface="+mn-ea"/>
                                  <a:cs typeface="Times New Roman" panose="02020603050405020304" pitchFamily="18" charset="0"/>
                                </a:rPr>
                                <m:t>𝑥</m:t>
                              </m:r>
                            </m:e>
                            <m:sub>
                              <m:r>
                                <a:rPr lang="en-US" altLang="zh-CN" sz="2200" i="1">
                                  <a:latin typeface="Cambria Math" panose="02040503050406030204" pitchFamily="18" charset="0"/>
                                  <a:ea typeface="+mn-ea"/>
                                  <a:cs typeface="Times New Roman" panose="02020603050405020304" pitchFamily="18" charset="0"/>
                                </a:rPr>
                                <m:t>1</m:t>
                              </m:r>
                            </m:sub>
                            <m:sup>
                              <m:r>
                                <a:rPr lang="en-US" altLang="zh-CN" sz="2200" i="1">
                                  <a:latin typeface="Cambria Math" panose="02040503050406030204" pitchFamily="18" charset="0"/>
                                  <a:ea typeface="+mn-ea"/>
                                  <a:cs typeface="Times New Roman" panose="02020603050405020304" pitchFamily="18" charset="0"/>
                                </a:rPr>
                                <m:t>2</m:t>
                              </m:r>
                            </m:sup>
                          </m:sSubSup>
                          <m:r>
                            <a:rPr lang="en-US" altLang="zh-CN" sz="2200" i="1">
                              <a:latin typeface="Cambria Math" panose="02040503050406030204" pitchFamily="18" charset="0"/>
                              <a:ea typeface="+mn-ea"/>
                              <a:cs typeface="Times New Roman" panose="02020603050405020304" pitchFamily="18" charset="0"/>
                            </a:rPr>
                            <m:t>+</m:t>
                          </m:r>
                          <m:sSubSup>
                            <m:sSubSupPr>
                              <m:ctrlPr>
                                <a:rPr lang="zh-CN" altLang="zh-CN" sz="2200" i="1">
                                  <a:latin typeface="Cambria Math" panose="02040503050406030204" pitchFamily="18" charset="0"/>
                                  <a:ea typeface="+mn-ea"/>
                                </a:rPr>
                              </m:ctrlPr>
                            </m:sSubSupPr>
                            <m:e>
                              <m:r>
                                <a:rPr lang="en-US" altLang="zh-CN" sz="2200" i="1">
                                  <a:latin typeface="Cambria Math" panose="02040503050406030204" pitchFamily="18" charset="0"/>
                                  <a:ea typeface="+mn-ea"/>
                                  <a:cs typeface="Times New Roman" panose="02020603050405020304" pitchFamily="18" charset="0"/>
                                </a:rPr>
                                <m:t>𝑥</m:t>
                              </m:r>
                            </m:e>
                            <m:sub>
                              <m:r>
                                <a:rPr lang="en-US" altLang="zh-CN" sz="2200" i="1">
                                  <a:latin typeface="Cambria Math" panose="02040503050406030204" pitchFamily="18" charset="0"/>
                                  <a:ea typeface="+mn-ea"/>
                                  <a:cs typeface="Times New Roman" panose="02020603050405020304" pitchFamily="18" charset="0"/>
                                </a:rPr>
                                <m:t>2</m:t>
                              </m:r>
                            </m:sub>
                            <m:sup>
                              <m:r>
                                <a:rPr lang="en-US" altLang="zh-CN" sz="2200" i="1">
                                  <a:latin typeface="Cambria Math" panose="02040503050406030204" pitchFamily="18" charset="0"/>
                                  <a:ea typeface="+mn-ea"/>
                                  <a:cs typeface="Times New Roman" panose="02020603050405020304" pitchFamily="18" charset="0"/>
                                </a:rPr>
                                <m:t>2</m:t>
                              </m:r>
                            </m:sup>
                          </m:sSubSup>
                        </m:e>
                      </m:mr>
                    </m:m>
                  </m:oMath>
                </a14:m>
                <a:r>
                  <a:rPr lang="zh-CN" altLang="en-US" sz="2200" dirty="0">
                    <a:latin typeface="+mn-ea"/>
                    <a:ea typeface="+mn-ea"/>
                    <a:cs typeface="Times New Roman" panose="02020603050405020304" pitchFamily="18" charset="0"/>
                  </a:rPr>
                  <a:t>，</a:t>
                </a:r>
                <a:endParaRPr lang="en-US" altLang="zh-CN" sz="2200" dirty="0">
                  <a:latin typeface="+mn-ea"/>
                  <a:ea typeface="+mn-ea"/>
                  <a:cs typeface="Times New Roman" panose="02020603050405020304" pitchFamily="18" charset="0"/>
                </a:endParaRPr>
              </a:p>
              <a:p>
                <a:pPr algn="just">
                  <a:lnSpc>
                    <a:spcPct val="150000"/>
                  </a:lnSpc>
                </a:pPr>
                <a:r>
                  <a:rPr lang="zh-CN" altLang="zh-CN" sz="2200" dirty="0">
                    <a:latin typeface="+mn-ea"/>
                    <a:ea typeface="+mn-ea"/>
                  </a:rPr>
                  <a:t>给定初始点</a:t>
                </a:r>
                <a14:m>
                  <m:oMath xmlns:m="http://schemas.openxmlformats.org/officeDocument/2006/math">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(1)</m:t>
                        </m:r>
                      </m:sup>
                    </m:sSup>
                    <m:r>
                      <a:rPr lang="en-US" altLang="zh-CN" sz="2200" i="1">
                        <a:latin typeface="Cambria Math" panose="02040503050406030204" pitchFamily="18" charset="0"/>
                        <a:ea typeface="+mn-ea"/>
                      </a:rPr>
                      <m:t>=(1,1</m:t>
                    </m:r>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m:t>
                        </m:r>
                      </m:e>
                      <m:sup>
                        <m:r>
                          <a:rPr lang="en-US" altLang="zh-CN" sz="2200" i="1">
                            <a:latin typeface="Cambria Math" panose="02040503050406030204" pitchFamily="18" charset="0"/>
                            <a:ea typeface="+mn-ea"/>
                          </a:rPr>
                          <m:t>𝑇</m:t>
                        </m:r>
                      </m:sup>
                    </m:sSup>
                    <m:r>
                      <a:rPr lang="en-US" altLang="zh-CN" sz="2200" i="1">
                        <a:latin typeface="Cambria Math" panose="02040503050406030204" pitchFamily="18" charset="0"/>
                        <a:ea typeface="+mn-ea"/>
                      </a:rPr>
                      <m:t>,</m:t>
                    </m:r>
                    <m:r>
                      <a:rPr lang="en-US" altLang="zh-CN" sz="2200" i="1">
                        <a:latin typeface="Cambria Math" panose="02040503050406030204" pitchFamily="18" charset="0"/>
                        <a:ea typeface="+mn-ea"/>
                      </a:rPr>
                      <m:t>𝜀</m:t>
                    </m:r>
                    <m:r>
                      <a:rPr lang="en-US" altLang="zh-CN" sz="2200" i="1">
                        <a:latin typeface="Cambria Math" panose="02040503050406030204" pitchFamily="18" charset="0"/>
                        <a:ea typeface="+mn-ea"/>
                      </a:rPr>
                      <m:t>=0.1</m:t>
                    </m:r>
                    <m:r>
                      <a:rPr lang="zh-CN" altLang="en-US" sz="2200" i="1">
                        <a:latin typeface="Cambria Math" panose="02040503050406030204" pitchFamily="18" charset="0"/>
                        <a:ea typeface="+mn-ea"/>
                      </a:rPr>
                      <m:t>。</m:t>
                    </m:r>
                  </m:oMath>
                </a14:m>
                <a:endParaRPr lang="en-US" altLang="zh-CN" sz="2200" dirty="0">
                  <a:latin typeface="+mn-ea"/>
                  <a:ea typeface="+mn-ea"/>
                </a:endParaRPr>
              </a:p>
              <a:p>
                <a:pPr algn="just">
                  <a:lnSpc>
                    <a:spcPct val="150000"/>
                  </a:lnSpc>
                </a:pPr>
                <a:r>
                  <a:rPr lang="en-US" altLang="zh-CN" sz="2200" dirty="0">
                    <a:latin typeface="+mn-ea"/>
                    <a:ea typeface="+mn-ea"/>
                  </a:rPr>
                  <a:t>    </a:t>
                </a:r>
                <a:r>
                  <a:rPr lang="zh-CN" altLang="zh-CN" sz="2200" b="1" dirty="0">
                    <a:solidFill>
                      <a:srgbClr val="0070C0"/>
                    </a:solidFill>
                    <a:latin typeface="+mn-ea"/>
                    <a:ea typeface="+mn-ea"/>
                  </a:rPr>
                  <a:t>解</a:t>
                </a:r>
                <a:r>
                  <a:rPr lang="en-US" altLang="zh-CN" sz="2200" dirty="0">
                    <a:latin typeface="+mn-ea"/>
                    <a:ea typeface="+mn-ea"/>
                  </a:rPr>
                  <a:t> </a:t>
                </a:r>
                <a:r>
                  <a:rPr lang="zh-CN" altLang="zh-CN" sz="2200" dirty="0">
                    <a:latin typeface="+mn-ea"/>
                    <a:ea typeface="+mn-ea"/>
                  </a:rPr>
                  <a:t>目标函数</a:t>
                </a:r>
                <a14:m>
                  <m:oMath xmlns:m="http://schemas.openxmlformats.org/officeDocument/2006/math">
                    <m:r>
                      <a:rPr lang="en-US" altLang="zh-CN" sz="2200" i="1">
                        <a:latin typeface="Cambria Math" panose="02040503050406030204" pitchFamily="18" charset="0"/>
                        <a:ea typeface="+mn-ea"/>
                      </a:rPr>
                      <m:t>𝑓</m:t>
                    </m:r>
                    <m:r>
                      <a:rPr lang="en-US" altLang="zh-CN" sz="2200" i="1">
                        <a:latin typeface="Cambria Math" panose="02040503050406030204" pitchFamily="18" charset="0"/>
                        <a:ea typeface="+mn-ea"/>
                      </a:rPr>
                      <m:t>(</m:t>
                    </m:r>
                    <m:r>
                      <a:rPr lang="en-US" altLang="zh-CN" sz="2200" i="1">
                        <a:latin typeface="Cambria Math" panose="02040503050406030204" pitchFamily="18" charset="0"/>
                        <a:ea typeface="+mn-ea"/>
                      </a:rPr>
                      <m:t>𝑥</m:t>
                    </m:r>
                    <m:r>
                      <a:rPr lang="en-US" altLang="zh-CN" sz="2200" i="1">
                        <a:latin typeface="Cambria Math" panose="02040503050406030204" pitchFamily="18" charset="0"/>
                        <a:ea typeface="+mn-ea"/>
                      </a:rPr>
                      <m:t>)</m:t>
                    </m:r>
                  </m:oMath>
                </a14:m>
                <a:r>
                  <a:rPr lang="zh-CN" altLang="zh-CN" sz="2200" dirty="0">
                    <a:latin typeface="+mn-ea"/>
                    <a:ea typeface="+mn-ea"/>
                  </a:rPr>
                  <a:t>的梯度及</a:t>
                </a:r>
                <a14:m>
                  <m:oMath xmlns:m="http://schemas.openxmlformats.org/officeDocument/2006/math">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(1)</m:t>
                        </m:r>
                      </m:sup>
                    </m:sSup>
                  </m:oMath>
                </a14:m>
                <a:r>
                  <a:rPr lang="zh-CN" altLang="zh-CN" sz="2200" dirty="0">
                    <a:latin typeface="+mn-ea"/>
                    <a:ea typeface="+mn-ea"/>
                  </a:rPr>
                  <a:t>处的最速下降方向为</a:t>
                </a:r>
                <a:endParaRPr lang="en-US" altLang="zh-CN" sz="2200" dirty="0">
                  <a:latin typeface="+mn-ea"/>
                  <a:ea typeface="+mn-ea"/>
                </a:endParaRPr>
              </a:p>
              <a:p>
                <a:pPr algn="ctr">
                  <a:lnSpc>
                    <a:spcPct val="150000"/>
                  </a:lnSpc>
                </a:pPr>
                <a14:m>
                  <m:oMath xmlns:m="http://schemas.openxmlformats.org/officeDocument/2006/math">
                    <m:m>
                      <m:mPr>
                        <m:mcs>
                          <m:mc>
                            <m:mcPr>
                              <m:count m:val="2"/>
                              <m:mcJc m:val="center"/>
                            </m:mcPr>
                          </m:mc>
                        </m:mcs>
                        <m:ctrlPr>
                          <a:rPr lang="zh-CN" altLang="zh-CN" sz="2200" i="1">
                            <a:latin typeface="Cambria Math" panose="02040503050406030204" pitchFamily="18" charset="0"/>
                            <a:ea typeface="+mn-ea"/>
                          </a:rPr>
                        </m:ctrlPr>
                      </m:mPr>
                      <m:mr>
                        <m:e>
                          <m:r>
                            <a:rPr lang="en-US" altLang="zh-CN" sz="2200" i="1">
                              <a:latin typeface="Cambria Math" panose="02040503050406030204" pitchFamily="18" charset="0"/>
                              <a:ea typeface="+mn-ea"/>
                            </a:rPr>
                            <m:t>𝛻</m:t>
                          </m:r>
                          <m:r>
                            <a:rPr lang="en-US" altLang="zh-CN" sz="2200" i="1">
                              <a:latin typeface="Cambria Math" panose="02040503050406030204" pitchFamily="18" charset="0"/>
                              <a:ea typeface="+mn-ea"/>
                            </a:rPr>
                            <m:t>𝑓</m:t>
                          </m:r>
                          <m:r>
                            <a:rPr lang="en-US" altLang="zh-CN" sz="2200" i="1">
                              <a:latin typeface="Cambria Math" panose="02040503050406030204" pitchFamily="18" charset="0"/>
                              <a:ea typeface="+mn-ea"/>
                            </a:rPr>
                            <m:t>(</m:t>
                          </m:r>
                          <m:r>
                            <a:rPr lang="en-US" altLang="zh-CN" sz="2200" i="1">
                              <a:latin typeface="Cambria Math" panose="02040503050406030204" pitchFamily="18" charset="0"/>
                              <a:ea typeface="+mn-ea"/>
                            </a:rPr>
                            <m:t>𝑥</m:t>
                          </m:r>
                          <m:r>
                            <a:rPr lang="en-US" altLang="zh-CN" sz="2200" i="1">
                              <a:latin typeface="Cambria Math" panose="02040503050406030204" pitchFamily="18" charset="0"/>
                              <a:ea typeface="+mn-ea"/>
                            </a:rPr>
                            <m:t>)=</m:t>
                          </m:r>
                          <m:d>
                            <m:dPr>
                              <m:begChr m:val="["/>
                              <m:endChr m:val="]"/>
                              <m:ctrlPr>
                                <a:rPr lang="zh-CN" altLang="zh-CN" sz="2200" i="1">
                                  <a:latin typeface="Cambria Math" panose="02040503050406030204" pitchFamily="18" charset="0"/>
                                  <a:ea typeface="+mn-ea"/>
                                </a:rPr>
                              </m:ctrlPr>
                            </m:dPr>
                            <m:e>
                              <m:m>
                                <m:mPr>
                                  <m:mcs>
                                    <m:mc>
                                      <m:mcPr>
                                        <m:count m:val="1"/>
                                        <m:mcJc m:val="center"/>
                                      </m:mcPr>
                                    </m:mc>
                                  </m:mcs>
                                  <m:ctrlPr>
                                    <a:rPr lang="zh-CN" altLang="zh-CN" sz="2200" i="1">
                                      <a:latin typeface="Cambria Math" panose="02040503050406030204" pitchFamily="18" charset="0"/>
                                      <a:ea typeface="+mn-ea"/>
                                    </a:rPr>
                                  </m:ctrlPr>
                                </m:mPr>
                                <m:mr>
                                  <m:e>
                                    <m:r>
                                      <a:rPr lang="en-US" altLang="zh-CN" sz="2200" i="1">
                                        <a:latin typeface="Cambria Math" panose="02040503050406030204" pitchFamily="18" charset="0"/>
                                        <a:ea typeface="+mn-ea"/>
                                      </a:rPr>
                                      <m:t>4</m:t>
                                    </m:r>
                                    <m:sSub>
                                      <m:sSubPr>
                                        <m:ctrlPr>
                                          <a:rPr lang="zh-CN" altLang="zh-CN" sz="2200" i="1">
                                            <a:latin typeface="Cambria Math" panose="02040503050406030204" pitchFamily="18" charset="0"/>
                                            <a:ea typeface="+mn-ea"/>
                                          </a:rPr>
                                        </m:ctrlPr>
                                      </m:sSubPr>
                                      <m:e>
                                        <m:r>
                                          <a:rPr lang="en-US" altLang="zh-CN" sz="2200" i="1">
                                            <a:latin typeface="Cambria Math" panose="02040503050406030204" pitchFamily="18" charset="0"/>
                                            <a:ea typeface="+mn-ea"/>
                                          </a:rPr>
                                          <m:t>𝑥</m:t>
                                        </m:r>
                                      </m:e>
                                      <m:sub>
                                        <m:r>
                                          <a:rPr lang="en-US" altLang="zh-CN" sz="2200" i="1">
                                            <a:latin typeface="Cambria Math" panose="02040503050406030204" pitchFamily="18" charset="0"/>
                                            <a:ea typeface="+mn-ea"/>
                                          </a:rPr>
                                          <m:t>1</m:t>
                                        </m:r>
                                      </m:sub>
                                    </m:sSub>
                                  </m:e>
                                </m:mr>
                                <m:mr>
                                  <m:e>
                                    <m:r>
                                      <a:rPr lang="en-US" altLang="zh-CN" sz="2200" i="1">
                                        <a:latin typeface="Cambria Math" panose="02040503050406030204" pitchFamily="18" charset="0"/>
                                        <a:ea typeface="+mn-ea"/>
                                      </a:rPr>
                                      <m:t>2</m:t>
                                    </m:r>
                                    <m:sSub>
                                      <m:sSubPr>
                                        <m:ctrlPr>
                                          <a:rPr lang="zh-CN" altLang="zh-CN" sz="2200" i="1">
                                            <a:latin typeface="Cambria Math" panose="02040503050406030204" pitchFamily="18" charset="0"/>
                                            <a:ea typeface="+mn-ea"/>
                                          </a:rPr>
                                        </m:ctrlPr>
                                      </m:sSubPr>
                                      <m:e>
                                        <m:r>
                                          <a:rPr lang="en-US" altLang="zh-CN" sz="2200" i="1">
                                            <a:latin typeface="Cambria Math" panose="02040503050406030204" pitchFamily="18" charset="0"/>
                                            <a:ea typeface="+mn-ea"/>
                                          </a:rPr>
                                          <m:t>𝑥</m:t>
                                        </m:r>
                                      </m:e>
                                      <m:sub>
                                        <m:r>
                                          <a:rPr lang="en-US" altLang="zh-CN" sz="2200" i="1">
                                            <a:latin typeface="Cambria Math" panose="02040503050406030204" pitchFamily="18" charset="0"/>
                                            <a:ea typeface="+mn-ea"/>
                                          </a:rPr>
                                          <m:t>2</m:t>
                                        </m:r>
                                      </m:sub>
                                    </m:sSub>
                                  </m:e>
                                </m:mr>
                              </m:m>
                            </m:e>
                          </m:d>
                          <m:r>
                            <a:rPr lang="en-US" altLang="zh-CN" sz="2200" i="1">
                              <a:latin typeface="Cambria Math" panose="02040503050406030204" pitchFamily="18" charset="0"/>
                              <a:ea typeface="+mn-ea"/>
                            </a:rPr>
                            <m:t>,</m:t>
                          </m:r>
                        </m:e>
                        <m:e>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𝑑</m:t>
                              </m:r>
                            </m:e>
                            <m:sup>
                              <m:r>
                                <a:rPr lang="en-US" altLang="zh-CN" sz="2200" i="1">
                                  <a:latin typeface="Cambria Math" panose="02040503050406030204" pitchFamily="18" charset="0"/>
                                  <a:ea typeface="+mn-ea"/>
                                </a:rPr>
                                <m:t>(1)</m:t>
                              </m:r>
                            </m:sup>
                          </m:sSup>
                        </m:e>
                      </m:mr>
                    </m:m>
                    <m:r>
                      <a:rPr lang="en-US" altLang="zh-CN" sz="2200" i="1">
                        <a:latin typeface="Cambria Math" panose="02040503050406030204" pitchFamily="18" charset="0"/>
                        <a:ea typeface="+mn-ea"/>
                      </a:rPr>
                      <m:t>=</m:t>
                    </m:r>
                    <m:r>
                      <a:rPr lang="zh-CN" altLang="en-US" sz="2200" i="1">
                        <a:latin typeface="Cambria Math" panose="02040503050406030204" pitchFamily="18" charset="0"/>
                        <a:ea typeface="+mn-ea"/>
                      </a:rPr>
                      <m:t>−</m:t>
                    </m:r>
                    <m:r>
                      <a:rPr lang="en-US" altLang="zh-CN" sz="2200" i="1">
                        <a:latin typeface="Cambria Math" panose="02040503050406030204" pitchFamily="18" charset="0"/>
                        <a:ea typeface="+mn-ea"/>
                      </a:rPr>
                      <m:t>𝛻</m:t>
                    </m:r>
                    <m:r>
                      <a:rPr lang="en-US" altLang="zh-CN" sz="2200" i="1">
                        <a:latin typeface="Cambria Math" panose="02040503050406030204" pitchFamily="18" charset="0"/>
                        <a:ea typeface="+mn-ea"/>
                      </a:rPr>
                      <m:t>𝑓</m:t>
                    </m:r>
                    <m:r>
                      <a:rPr lang="en-US" altLang="zh-CN" sz="2200" i="1">
                        <a:latin typeface="Cambria Math" panose="02040503050406030204" pitchFamily="18" charset="0"/>
                        <a:ea typeface="+mn-ea"/>
                      </a:rPr>
                      <m:t>(</m:t>
                    </m:r>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(1)</m:t>
                        </m:r>
                      </m:sup>
                    </m:sSup>
                    <m:r>
                      <a:rPr lang="en-US" altLang="zh-CN" sz="2200" i="1">
                        <a:latin typeface="Cambria Math" panose="02040503050406030204" pitchFamily="18" charset="0"/>
                        <a:ea typeface="+mn-ea"/>
                      </a:rPr>
                      <m:t>)=</m:t>
                    </m:r>
                    <m:d>
                      <m:dPr>
                        <m:begChr m:val="["/>
                        <m:endChr m:val="]"/>
                        <m:ctrlPr>
                          <a:rPr lang="zh-CN" altLang="zh-CN" sz="2200" i="1">
                            <a:latin typeface="Cambria Math" panose="02040503050406030204" pitchFamily="18" charset="0"/>
                            <a:ea typeface="+mn-ea"/>
                          </a:rPr>
                        </m:ctrlPr>
                      </m:dPr>
                      <m:e>
                        <m:m>
                          <m:mPr>
                            <m:mcs>
                              <m:mc>
                                <m:mcPr>
                                  <m:count m:val="1"/>
                                  <m:mcJc m:val="center"/>
                                </m:mcPr>
                              </m:mc>
                            </m:mcs>
                            <m:ctrlPr>
                              <a:rPr lang="zh-CN" altLang="zh-CN" sz="2200" i="1">
                                <a:latin typeface="Cambria Math" panose="02040503050406030204" pitchFamily="18" charset="0"/>
                                <a:ea typeface="+mn-ea"/>
                              </a:rPr>
                            </m:ctrlPr>
                          </m:mPr>
                          <m:mr>
                            <m:e>
                              <m:r>
                                <a:rPr lang="zh-CN" altLang="en-US" sz="2200" i="1">
                                  <a:latin typeface="Cambria Math" panose="02040503050406030204" pitchFamily="18" charset="0"/>
                                  <a:ea typeface="+mn-ea"/>
                                </a:rPr>
                                <m:t>−</m:t>
                              </m:r>
                              <m:r>
                                <a:rPr lang="en-US" altLang="zh-CN" sz="2200" i="1">
                                  <a:latin typeface="Cambria Math" panose="02040503050406030204" pitchFamily="18" charset="0"/>
                                  <a:ea typeface="+mn-ea"/>
                                </a:rPr>
                                <m:t>4</m:t>
                              </m:r>
                            </m:e>
                          </m:mr>
                          <m:mr>
                            <m:e>
                              <m:r>
                                <a:rPr lang="zh-CN" altLang="en-US" sz="2200" i="1">
                                  <a:latin typeface="Cambria Math" panose="02040503050406030204" pitchFamily="18" charset="0"/>
                                  <a:ea typeface="+mn-ea"/>
                                </a:rPr>
                                <m:t>−</m:t>
                              </m:r>
                              <m:r>
                                <a:rPr lang="en-US" altLang="zh-CN" sz="2200" i="1">
                                  <a:latin typeface="Cambria Math" panose="02040503050406030204" pitchFamily="18" charset="0"/>
                                  <a:ea typeface="+mn-ea"/>
                                </a:rPr>
                                <m:t>2</m:t>
                              </m:r>
                            </m:e>
                          </m:mr>
                        </m:m>
                      </m:e>
                    </m:d>
                  </m:oMath>
                </a14:m>
                <a:r>
                  <a:rPr lang="zh-CN" altLang="zh-CN" sz="2200" dirty="0">
                    <a:latin typeface="+mn-ea"/>
                    <a:ea typeface="+mn-ea"/>
                  </a:rPr>
                  <a:t>，</a:t>
                </a:r>
                <a:endParaRPr lang="en-US" altLang="zh-CN" sz="2200" dirty="0">
                  <a:latin typeface="+mn-ea"/>
                  <a:ea typeface="+mn-ea"/>
                </a:endParaRPr>
              </a:p>
              <a:p>
                <a:pPr algn="just">
                  <a:lnSpc>
                    <a:spcPct val="150000"/>
                  </a:lnSpc>
                </a:pPr>
                <a14:m>
                  <m:oMath xmlns:m="http://schemas.openxmlformats.org/officeDocument/2006/math">
                    <m:sSub>
                      <m:sSubPr>
                        <m:ctrlPr>
                          <a:rPr lang="en-US" altLang="zh-CN" sz="2200" i="1">
                            <a:latin typeface="Cambria Math" panose="02040503050406030204" pitchFamily="18" charset="0"/>
                            <a:ea typeface="+mn-ea"/>
                          </a:rPr>
                        </m:ctrlPr>
                      </m:sSubPr>
                      <m:e>
                        <m:d>
                          <m:dPr>
                            <m:begChr m:val="‖"/>
                            <m:endChr m:val="‖"/>
                            <m:ctrlPr>
                              <a:rPr lang="zh-CN" altLang="zh-CN" sz="2200" i="1">
                                <a:latin typeface="Cambria Math" panose="02040503050406030204" pitchFamily="18" charset="0"/>
                              </a:rPr>
                            </m:ctrlPr>
                          </m:dPr>
                          <m:e>
                            <m:sSup>
                              <m:sSupPr>
                                <m:ctrlPr>
                                  <a:rPr lang="zh-CN" altLang="zh-CN" sz="2200" i="1">
                                    <a:latin typeface="Cambria Math" panose="02040503050406030204" pitchFamily="18" charset="0"/>
                                  </a:rPr>
                                </m:ctrlPr>
                              </m:sSupPr>
                              <m:e>
                                <m:r>
                                  <a:rPr lang="en-US" altLang="zh-CN" sz="2200" i="1">
                                    <a:latin typeface="Cambria Math" panose="02040503050406030204" pitchFamily="18" charset="0"/>
                                  </a:rPr>
                                  <m:t>𝑑</m:t>
                                </m:r>
                              </m:e>
                              <m:sup>
                                <m:r>
                                  <a:rPr lang="en-US" altLang="zh-CN" sz="2200" i="1">
                                    <a:latin typeface="Cambria Math" panose="02040503050406030204" pitchFamily="18" charset="0"/>
                                  </a:rPr>
                                  <m:t>(1)</m:t>
                                </m:r>
                              </m:sup>
                            </m:sSup>
                          </m:e>
                        </m:d>
                      </m:e>
                      <m:sub>
                        <m:r>
                          <a:rPr lang="en-US" altLang="zh-CN" sz="2200" i="1">
                            <a:latin typeface="Cambria Math" panose="02040503050406030204" pitchFamily="18" charset="0"/>
                            <a:ea typeface="+mn-ea"/>
                          </a:rPr>
                          <m:t>2</m:t>
                        </m:r>
                      </m:sub>
                    </m:sSub>
                    <m:r>
                      <a:rPr lang="en-US" altLang="zh-CN" sz="2200" i="1">
                        <a:latin typeface="Cambria Math" panose="02040503050406030204" pitchFamily="18" charset="0"/>
                        <a:ea typeface="+mn-ea"/>
                      </a:rPr>
                      <m:t>=2</m:t>
                    </m:r>
                    <m:rad>
                      <m:radPr>
                        <m:degHide m:val="on"/>
                        <m:ctrlPr>
                          <a:rPr lang="zh-CN" altLang="zh-CN" sz="2200" i="1">
                            <a:latin typeface="Cambria Math" panose="02040503050406030204" pitchFamily="18" charset="0"/>
                            <a:ea typeface="+mn-ea"/>
                          </a:rPr>
                        </m:ctrlPr>
                      </m:radPr>
                      <m:deg/>
                      <m:e>
                        <m:r>
                          <a:rPr lang="en-US" altLang="zh-CN" sz="2200" i="1">
                            <a:latin typeface="Cambria Math" panose="02040503050406030204" pitchFamily="18" charset="0"/>
                            <a:ea typeface="+mn-ea"/>
                          </a:rPr>
                          <m:t>5</m:t>
                        </m:r>
                      </m:e>
                    </m:rad>
                    <m:r>
                      <a:rPr lang="en-US" altLang="zh-CN" sz="2200" i="1">
                        <a:latin typeface="Cambria Math" panose="02040503050406030204" pitchFamily="18" charset="0"/>
                        <a:ea typeface="+mn-ea"/>
                      </a:rPr>
                      <m:t>&gt;</m:t>
                    </m:r>
                    <m:r>
                      <a:rPr lang="en-US" altLang="zh-CN" sz="2200" i="1">
                        <a:latin typeface="Cambria Math" panose="02040503050406030204" pitchFamily="18" charset="0"/>
                      </a:rPr>
                      <m:t>0.1</m:t>
                    </m:r>
                  </m:oMath>
                </a14:m>
                <a:r>
                  <a:rPr lang="zh-CN" altLang="zh-CN" sz="2200" dirty="0">
                    <a:latin typeface="+mn-ea"/>
                    <a:ea typeface="+mn-ea"/>
                  </a:rPr>
                  <a:t>，不满足精度要求</a:t>
                </a:r>
                <a:r>
                  <a:rPr lang="zh-CN" altLang="en-US" sz="2200" dirty="0">
                    <a:latin typeface="+mn-ea"/>
                    <a:ea typeface="+mn-ea"/>
                  </a:rPr>
                  <a:t>。</a:t>
                </a:r>
                <a:r>
                  <a:rPr lang="zh-CN" altLang="zh-CN" sz="2200" dirty="0">
                    <a:latin typeface="+mn-ea"/>
                    <a:ea typeface="+mn-ea"/>
                  </a:rPr>
                  <a:t>故从</a:t>
                </a:r>
                <a14:m>
                  <m:oMath xmlns:m="http://schemas.openxmlformats.org/officeDocument/2006/math">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(1)</m:t>
                        </m:r>
                      </m:sup>
                    </m:sSup>
                    <m:r>
                      <a:rPr lang="en-US" altLang="zh-CN" sz="2200" i="1">
                        <a:latin typeface="Cambria Math" panose="02040503050406030204" pitchFamily="18" charset="0"/>
                        <a:ea typeface="+mn-ea"/>
                      </a:rPr>
                      <m:t>=(1,1</m:t>
                    </m:r>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m:t>
                        </m:r>
                      </m:e>
                      <m:sup>
                        <m:r>
                          <a:rPr lang="en-US" altLang="zh-CN" sz="2200" i="1">
                            <a:latin typeface="Cambria Math" panose="02040503050406030204" pitchFamily="18" charset="0"/>
                            <a:ea typeface="+mn-ea"/>
                          </a:rPr>
                          <m:t>𝑇</m:t>
                        </m:r>
                      </m:sup>
                    </m:sSup>
                  </m:oMath>
                </a14:m>
                <a:r>
                  <a:rPr lang="zh-CN" altLang="zh-CN" sz="2200" dirty="0">
                    <a:latin typeface="+mn-ea"/>
                    <a:ea typeface="+mn-ea"/>
                  </a:rPr>
                  <a:t>出发，沿方向</a:t>
                </a:r>
                <a14:m>
                  <m:oMath xmlns:m="http://schemas.openxmlformats.org/officeDocument/2006/math">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𝑑</m:t>
                        </m:r>
                      </m:e>
                      <m:sup>
                        <m:r>
                          <a:rPr lang="en-US" altLang="zh-CN" sz="2200" i="1">
                            <a:latin typeface="Cambria Math" panose="02040503050406030204" pitchFamily="18" charset="0"/>
                            <a:ea typeface="+mn-ea"/>
                          </a:rPr>
                          <m:t>(1)</m:t>
                        </m:r>
                      </m:sup>
                    </m:sSup>
                  </m:oMath>
                </a14:m>
                <a:r>
                  <a:rPr lang="zh-CN" altLang="zh-CN" sz="2200" dirty="0">
                    <a:latin typeface="+mn-ea"/>
                    <a:ea typeface="+mn-ea"/>
                  </a:rPr>
                  <a:t>进行一维搜索，通过求关于</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oMath>
                </a14:m>
                <a:r>
                  <a:rPr lang="zh-CN" altLang="zh-CN" sz="2200" dirty="0">
                    <a:latin typeface="+mn-ea"/>
                    <a:ea typeface="+mn-ea"/>
                  </a:rPr>
                  <a:t>的一元函数</a:t>
                </a:r>
                <a14:m>
                  <m:oMath xmlns:m="http://schemas.openxmlformats.org/officeDocument/2006/math">
                    <m:r>
                      <a:rPr lang="en-US" altLang="zh-CN" sz="2200" i="1">
                        <a:latin typeface="Cambria Math" panose="02040503050406030204" pitchFamily="18" charset="0"/>
                        <a:ea typeface="+mn-ea"/>
                      </a:rPr>
                      <m:t>𝑓</m:t>
                    </m:r>
                    <m:r>
                      <a:rPr lang="en-US" altLang="zh-CN" sz="2200" i="1">
                        <a:latin typeface="Cambria Math" panose="02040503050406030204" pitchFamily="18" charset="0"/>
                        <a:ea typeface="+mn-ea"/>
                      </a:rPr>
                      <m:t>(</m:t>
                    </m:r>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(1)</m:t>
                        </m:r>
                      </m:sup>
                    </m:sSup>
                    <m:r>
                      <a:rPr lang="zh-CN" altLang="en-US" sz="2200" i="1">
                        <a:latin typeface="Cambria Math" panose="02040503050406030204" pitchFamily="18" charset="0"/>
                        <a:ea typeface="+mn-ea"/>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2200" i="1">
                        <a:latin typeface="Cambria Math" panose="02040503050406030204" pitchFamily="18" charset="0"/>
                        <a:ea typeface="+mn-ea"/>
                      </a:rPr>
                      <m:t>𝛻</m:t>
                    </m:r>
                    <m:r>
                      <a:rPr lang="en-US" altLang="zh-CN" sz="2200" i="1">
                        <a:latin typeface="Cambria Math" panose="02040503050406030204" pitchFamily="18" charset="0"/>
                        <a:ea typeface="+mn-ea"/>
                      </a:rPr>
                      <m:t>𝑓</m:t>
                    </m:r>
                    <m:r>
                      <a:rPr lang="en-US" altLang="zh-CN" sz="2200" i="1">
                        <a:latin typeface="Cambria Math" panose="02040503050406030204" pitchFamily="18" charset="0"/>
                        <a:ea typeface="+mn-ea"/>
                      </a:rPr>
                      <m:t>(</m:t>
                    </m:r>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(1)</m:t>
                        </m:r>
                      </m:sup>
                    </m:sSup>
                    <m:r>
                      <a:rPr lang="en-US" altLang="zh-CN" sz="2200" i="1">
                        <a:latin typeface="Cambria Math" panose="02040503050406030204" pitchFamily="18" charset="0"/>
                        <a:ea typeface="+mn-ea"/>
                      </a:rPr>
                      <m:t>))</m:t>
                    </m:r>
                  </m:oMath>
                </a14:m>
                <a:r>
                  <a:rPr lang="zh-CN" altLang="zh-CN" sz="2200" dirty="0">
                    <a:latin typeface="+mn-ea"/>
                    <a:ea typeface="+mn-ea"/>
                  </a:rPr>
                  <a:t>的驻点可求得最优步长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sup>
                    </m:sSup>
                    <m:r>
                      <a:rPr lang="en-US" altLang="zh-CN" sz="2200" i="1">
                        <a:latin typeface="Cambria Math" panose="02040503050406030204" pitchFamily="18" charset="0"/>
                        <a:ea typeface="+mn-ea"/>
                      </a:rPr>
                      <m:t>=</m:t>
                    </m:r>
                    <m:f>
                      <m:fPr>
                        <m:type m:val="lin"/>
                        <m:ctrlPr>
                          <a:rPr lang="zh-CN" altLang="zh-CN" sz="2200" i="1">
                            <a:latin typeface="Cambria Math" panose="02040503050406030204" pitchFamily="18" charset="0"/>
                            <a:ea typeface="+mn-ea"/>
                          </a:rPr>
                        </m:ctrlPr>
                      </m:fPr>
                      <m:num>
                        <m:r>
                          <a:rPr lang="en-US" altLang="zh-CN" sz="2200" i="1">
                            <a:latin typeface="Cambria Math" panose="02040503050406030204" pitchFamily="18" charset="0"/>
                            <a:ea typeface="+mn-ea"/>
                          </a:rPr>
                          <m:t>5</m:t>
                        </m:r>
                      </m:num>
                      <m:den>
                        <m:r>
                          <a:rPr lang="en-US" altLang="zh-CN" sz="2200" i="1">
                            <a:latin typeface="Cambria Math" panose="02040503050406030204" pitchFamily="18" charset="0"/>
                            <a:ea typeface="+mn-ea"/>
                          </a:rPr>
                          <m:t>18</m:t>
                        </m:r>
                      </m:den>
                    </m:f>
                  </m:oMath>
                </a14:m>
                <a:r>
                  <a:rPr lang="zh-CN" altLang="zh-CN" sz="2200" dirty="0">
                    <a:latin typeface="+mn-ea"/>
                    <a:ea typeface="+mn-ea"/>
                  </a:rPr>
                  <a:t>，从而可得一个新点</a:t>
                </a:r>
                <a:endParaRPr lang="en-US" altLang="zh-CN" sz="2200" dirty="0">
                  <a:latin typeface="+mn-ea"/>
                  <a:ea typeface="+mn-ea"/>
                </a:endParaRPr>
              </a:p>
              <a:p>
                <a:pPr algn="just">
                  <a:lnSpc>
                    <a:spcPct val="150000"/>
                  </a:lnSpc>
                </a:pPr>
                <a14:m>
                  <m:oMathPara xmlns:m="http://schemas.openxmlformats.org/officeDocument/2006/math">
                    <m:oMathParaPr>
                      <m:jc m:val="center"/>
                    </m:oMathParaPr>
                    <m:oMath xmlns:m="http://schemas.openxmlformats.org/officeDocument/2006/math">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(2)</m:t>
                          </m:r>
                        </m:sup>
                      </m:sSup>
                      <m:r>
                        <a:rPr lang="en-US" altLang="zh-CN" sz="2200" i="1">
                          <a:latin typeface="Cambria Math" panose="02040503050406030204" pitchFamily="18" charset="0"/>
                          <a:ea typeface="+mn-ea"/>
                        </a:rPr>
                        <m:t>=</m:t>
                      </m:r>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𝑥</m:t>
                          </m:r>
                        </m:e>
                        <m:sup>
                          <m:r>
                            <a:rPr lang="en-US" altLang="zh-CN" sz="2200" i="1">
                              <a:latin typeface="Cambria Math" panose="02040503050406030204" pitchFamily="18" charset="0"/>
                              <a:ea typeface="+mn-ea"/>
                            </a:rPr>
                            <m:t>(1)</m:t>
                          </m:r>
                        </m:sup>
                      </m:sSup>
                      <m:r>
                        <a:rPr lang="en-US" altLang="zh-CN" sz="2200" i="1">
                          <a:latin typeface="Cambria Math" panose="02040503050406030204" pitchFamily="18" charset="0"/>
                          <a:ea typeface="+mn-ea"/>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𝑑</m:t>
                          </m:r>
                        </m:e>
                        <m:sup>
                          <m:r>
                            <a:rPr lang="en-US" altLang="zh-CN" sz="2200" i="1">
                              <a:latin typeface="Cambria Math" panose="02040503050406030204" pitchFamily="18" charset="0"/>
                              <a:ea typeface="+mn-ea"/>
                            </a:rPr>
                            <m:t>(1)</m:t>
                          </m:r>
                        </m:sup>
                      </m:sSup>
                      <m:r>
                        <a:rPr lang="en-US" altLang="zh-CN" sz="2200" i="1">
                          <a:latin typeface="Cambria Math" panose="02040503050406030204" pitchFamily="18" charset="0"/>
                          <a:ea typeface="+mn-ea"/>
                        </a:rPr>
                        <m:t>=(</m:t>
                      </m:r>
                      <m:m>
                        <m:mPr>
                          <m:mcs>
                            <m:mc>
                              <m:mcPr>
                                <m:count m:val="2"/>
                                <m:mcJc m:val="center"/>
                              </m:mcPr>
                            </m:mc>
                          </m:mcs>
                          <m:ctrlPr>
                            <a:rPr lang="zh-CN" altLang="zh-CN" sz="2200" i="1">
                              <a:latin typeface="Cambria Math" panose="02040503050406030204" pitchFamily="18" charset="0"/>
                              <a:ea typeface="+mn-ea"/>
                            </a:rPr>
                          </m:ctrlPr>
                        </m:mPr>
                        <m:mr>
                          <m:e>
                            <m:r>
                              <a:rPr lang="zh-CN" altLang="en-US" sz="2200" i="1">
                                <a:latin typeface="Cambria Math" panose="02040503050406030204" pitchFamily="18" charset="0"/>
                                <a:ea typeface="+mn-ea"/>
                              </a:rPr>
                              <m:t>−</m:t>
                            </m:r>
                            <m:f>
                              <m:fPr>
                                <m:ctrlPr>
                                  <a:rPr lang="zh-CN" altLang="zh-CN" sz="2200" i="1">
                                    <a:latin typeface="Cambria Math" panose="02040503050406030204" pitchFamily="18" charset="0"/>
                                    <a:ea typeface="+mn-ea"/>
                                  </a:rPr>
                                </m:ctrlPr>
                              </m:fPr>
                              <m:num>
                                <m:r>
                                  <a:rPr lang="en-US" altLang="zh-CN" sz="2200" i="1">
                                    <a:latin typeface="Cambria Math" panose="02040503050406030204" pitchFamily="18" charset="0"/>
                                    <a:ea typeface="+mn-ea"/>
                                  </a:rPr>
                                  <m:t>1</m:t>
                                </m:r>
                              </m:num>
                              <m:den>
                                <m:r>
                                  <a:rPr lang="en-US" altLang="zh-CN" sz="2200" i="1">
                                    <a:latin typeface="Cambria Math" panose="02040503050406030204" pitchFamily="18" charset="0"/>
                                    <a:ea typeface="+mn-ea"/>
                                  </a:rPr>
                                  <m:t>9</m:t>
                                </m:r>
                              </m:den>
                            </m:f>
                            <m:r>
                              <a:rPr lang="en-US" altLang="zh-CN" sz="2200" i="1">
                                <a:latin typeface="Cambria Math" panose="02040503050406030204" pitchFamily="18" charset="0"/>
                                <a:ea typeface="+mn-ea"/>
                              </a:rPr>
                              <m:t>,</m:t>
                            </m:r>
                          </m:e>
                          <m:e>
                            <m:f>
                              <m:fPr>
                                <m:ctrlPr>
                                  <a:rPr lang="zh-CN" altLang="zh-CN" sz="2200" i="1">
                                    <a:latin typeface="Cambria Math" panose="02040503050406030204" pitchFamily="18" charset="0"/>
                                    <a:ea typeface="+mn-ea"/>
                                  </a:rPr>
                                </m:ctrlPr>
                              </m:fPr>
                              <m:num>
                                <m:r>
                                  <a:rPr lang="en-US" altLang="zh-CN" sz="2200" i="1">
                                    <a:latin typeface="Cambria Math" panose="02040503050406030204" pitchFamily="18" charset="0"/>
                                    <a:ea typeface="+mn-ea"/>
                                  </a:rPr>
                                  <m:t>4</m:t>
                                </m:r>
                              </m:num>
                              <m:den>
                                <m:r>
                                  <a:rPr lang="en-US" altLang="zh-CN" sz="2200" i="1">
                                    <a:latin typeface="Cambria Math" panose="02040503050406030204" pitchFamily="18" charset="0"/>
                                    <a:ea typeface="+mn-ea"/>
                                  </a:rPr>
                                  <m:t>9</m:t>
                                </m:r>
                              </m:den>
                            </m:f>
                          </m:e>
                        </m:mr>
                      </m:m>
                      <m:sSup>
                        <m:sSupPr>
                          <m:ctrlPr>
                            <a:rPr lang="zh-CN" altLang="zh-CN" sz="2200" i="1">
                              <a:latin typeface="Cambria Math" panose="02040503050406030204" pitchFamily="18" charset="0"/>
                              <a:ea typeface="+mn-ea"/>
                            </a:rPr>
                          </m:ctrlPr>
                        </m:sSupPr>
                        <m:e>
                          <m:r>
                            <a:rPr lang="en-US" altLang="zh-CN" sz="2200" i="1">
                              <a:latin typeface="Cambria Math" panose="02040503050406030204" pitchFamily="18" charset="0"/>
                              <a:ea typeface="+mn-ea"/>
                            </a:rPr>
                            <m:t>)</m:t>
                          </m:r>
                        </m:e>
                        <m:sup>
                          <m:r>
                            <a:rPr lang="en-US" altLang="zh-CN" sz="2200" i="1">
                              <a:latin typeface="Cambria Math" panose="02040503050406030204" pitchFamily="18" charset="0"/>
                              <a:ea typeface="+mn-ea"/>
                            </a:rPr>
                            <m:t>𝑇</m:t>
                          </m:r>
                        </m:sup>
                      </m:sSup>
                    </m:oMath>
                  </m:oMathPara>
                </a14:m>
                <a:endParaRPr lang="zh-CN" altLang="en-US" sz="2200" dirty="0">
                  <a:latin typeface="+mn-ea"/>
                  <a:ea typeface="+mn-ea"/>
                </a:endParaRPr>
              </a:p>
            </p:txBody>
          </p:sp>
        </mc:Choice>
        <mc:Fallback xmlns="">
          <p:sp>
            <p:nvSpPr>
              <p:cNvPr id="25" name="文本框 24"/>
              <p:cNvSpPr txBox="1">
                <a:spLocks noRot="1" noChangeAspect="1" noMove="1" noResize="1" noEditPoints="1" noAdjustHandles="1" noChangeArrowheads="1" noChangeShapeType="1" noTextEdit="1"/>
              </p:cNvSpPr>
              <p:nvPr/>
            </p:nvSpPr>
            <p:spPr>
              <a:xfrm>
                <a:off x="323528" y="279387"/>
                <a:ext cx="8148148" cy="6423025"/>
              </a:xfrm>
              <a:prstGeom prst="rect">
                <a:avLst/>
              </a:prstGeom>
              <a:blipFill rotWithShape="1">
                <a:blip r:embed="rId2"/>
                <a:stretch>
                  <a:fillRect l="-4" t="-10" r="2" b="10"/>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481045" y="332656"/>
                <a:ext cx="8181909" cy="6628866"/>
              </a:xfrm>
              <a:prstGeom prst="rect">
                <a:avLst/>
              </a:prstGeom>
              <a:noFill/>
            </p:spPr>
            <p:txBody>
              <a:bodyPr wrap="square" rtlCol="0">
                <a:spAutoFit/>
              </a:bodyPr>
              <a:lstStyle/>
              <a:p>
                <a:pPr algn="just">
                  <a:lnSpc>
                    <a:spcPct val="150000"/>
                  </a:lnSpc>
                </a:pPr>
                <a:r>
                  <a:rPr lang="en-US" altLang="zh-CN" sz="2200" kern="100" dirty="0">
                    <a:latin typeface="+mn-ea"/>
                    <a:ea typeface="+mn-ea"/>
                    <a:cs typeface="Times New Roman" panose="02020603050405020304" pitchFamily="18" charset="0"/>
                  </a:rPr>
                  <a:t>    </a:t>
                </a:r>
                <a:r>
                  <a:rPr lang="zh-CN" altLang="zh-CN" sz="2200" kern="100" dirty="0">
                    <a:latin typeface="+mn-ea"/>
                    <a:ea typeface="+mn-ea"/>
                    <a:cs typeface="Times New Roman" panose="02020603050405020304" pitchFamily="18" charset="0"/>
                  </a:rPr>
                  <a:t>目标函数</a:t>
                </a:r>
                <a14:m>
                  <m:oMath xmlns:m="http://schemas.openxmlformats.org/officeDocument/2006/math">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oMath>
                </a14:m>
                <a:r>
                  <a:rPr lang="zh-CN" altLang="zh-CN" sz="2200" kern="100" dirty="0">
                    <a:latin typeface="+mn-ea"/>
                    <a:ea typeface="+mn-ea"/>
                    <a:cs typeface="Times New Roman" panose="02020603050405020304" pitchFamily="18" charset="0"/>
                  </a:rPr>
                  <a:t>在</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oMath>
                </a14:m>
                <a:r>
                  <a:rPr lang="zh-CN" altLang="zh-CN" sz="2200" kern="100" dirty="0">
                    <a:latin typeface="+mn-ea"/>
                    <a:ea typeface="+mn-ea"/>
                    <a:cs typeface="Times New Roman" panose="02020603050405020304" pitchFamily="18" charset="0"/>
                  </a:rPr>
                  <a:t>处的最速下降方向为</a:t>
                </a:r>
              </a:p>
              <a:p>
                <a:pPr algn="ctr">
                  <a:lnSpc>
                    <a:spcPct val="150000"/>
                  </a:lnSpc>
                </a:pP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𝑑</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zh-CN" altLang="en-US" sz="2200" i="1" kern="100">
                        <a:latin typeface="Cambria Math" panose="02040503050406030204" pitchFamily="18" charset="0"/>
                        <a:ea typeface="微软雅黑" panose="020B0503020204020204" charset="-122"/>
                        <a:cs typeface="微软雅黑" panose="020B0503020204020204" charset="-122"/>
                      </a:rPr>
                      <m:t>−</m:t>
                    </m:r>
                    <m:r>
                      <a:rPr lang="en-US" altLang="zh-CN" sz="2200" i="1" kern="100">
                        <a:latin typeface="Cambria Math" panose="02040503050406030204" pitchFamily="18" charset="0"/>
                        <a:ea typeface="等线" panose="02010600030101010101" charset="-122"/>
                        <a:cs typeface="Cambria Math" panose="020405030504060302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altLang="zh-CN" sz="2200" i="1" kern="100">
                                <a:latin typeface="Cambria Math" panose="02040503050406030204" pitchFamily="18" charset="0"/>
                                <a:ea typeface="等线" panose="02010600030101010101" charset="-122"/>
                                <a:cs typeface="Times New Roman" panose="02020603050405020304" pitchFamily="18" charset="0"/>
                              </a:rPr>
                            </m:ctrlPr>
                          </m:dPr>
                          <m:e>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4</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9</m:t>
                                </m:r>
                              </m:den>
                            </m:f>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8</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9</m:t>
                                </m:r>
                              </m:den>
                            </m:f>
                          </m:e>
                        </m:d>
                        <m:r>
                          <a:rPr lang="en-US" altLang="zh-CN" sz="2200" i="1" kern="100">
                            <a:latin typeface="Cambria Math" panose="02040503050406030204" pitchFamily="18" charset="0"/>
                            <a:ea typeface="等线" panose="02010600030101010101" charset="-122"/>
                            <a:cs typeface="Times New Roman" panose="02020603050405020304" pitchFamily="18" charset="0"/>
                          </a:rPr>
                          <m:t> </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𝑇</m:t>
                        </m:r>
                      </m:sup>
                    </m:sSup>
                  </m:oMath>
                </a14:m>
                <a:r>
                  <a:rPr lang="zh-CN" altLang="en-US" sz="2200" kern="100" dirty="0">
                    <a:latin typeface="+mn-ea"/>
                    <a:ea typeface="+mn-ea"/>
                    <a:cs typeface="Times New Roman" panose="02020603050405020304" pitchFamily="18" charset="0"/>
                  </a:rPr>
                  <a:t>，</a:t>
                </a:r>
                <a:endParaRPr lang="zh-CN" altLang="zh-CN" sz="2200" kern="100" dirty="0">
                  <a:latin typeface="等线" panose="02010600030101010101" charset="-122"/>
                  <a:ea typeface="等线" panose="02010600030101010101" charset="-122"/>
                  <a:cs typeface="Times New Roman" panose="02020603050405020304" pitchFamily="18" charset="0"/>
                </a:endParaRPr>
              </a:p>
              <a:p>
                <a:pPr algn="just">
                  <a:lnSpc>
                    <a:spcPct val="150000"/>
                  </a:lnSpc>
                </a:pPr>
                <a14:m>
                  <m:oMath xmlns:m="http://schemas.openxmlformats.org/officeDocument/2006/math">
                    <m:sSub>
                      <m:sSubPr>
                        <m:ctrlPr>
                          <a:rPr lang="en-US" altLang="zh-CN" sz="2200" i="1">
                            <a:latin typeface="Cambria Math" panose="02040503050406030204" pitchFamily="18" charset="0"/>
                          </a:rPr>
                        </m:ctrlPr>
                      </m:sSubPr>
                      <m:e>
                        <m:d>
                          <m:dPr>
                            <m:begChr m:val="‖"/>
                            <m:endChr m:val="‖"/>
                            <m:ctrlPr>
                              <a:rPr lang="zh-CN" altLang="zh-CN" sz="2200" i="1">
                                <a:latin typeface="Cambria Math" panose="02040503050406030204" pitchFamily="18" charset="0"/>
                              </a:rPr>
                            </m:ctrlPr>
                          </m:dPr>
                          <m:e>
                            <m:sSup>
                              <m:sSupPr>
                                <m:ctrlPr>
                                  <a:rPr lang="zh-CN" altLang="zh-CN" sz="2200" i="1">
                                    <a:latin typeface="Cambria Math" panose="02040503050406030204" pitchFamily="18" charset="0"/>
                                  </a:rPr>
                                </m:ctrlPr>
                              </m:sSupPr>
                              <m:e>
                                <m:r>
                                  <a:rPr lang="en-US" altLang="zh-CN" sz="2200" i="1">
                                    <a:latin typeface="Cambria Math" panose="02040503050406030204" pitchFamily="18" charset="0"/>
                                  </a:rPr>
                                  <m:t>𝑑</m:t>
                                </m:r>
                              </m:e>
                              <m:sup>
                                <m:r>
                                  <a:rPr lang="en-US" altLang="zh-CN" sz="2200" i="1">
                                    <a:latin typeface="Cambria Math" panose="02040503050406030204" pitchFamily="18" charset="0"/>
                                  </a:rPr>
                                  <m:t>(2)</m:t>
                                </m:r>
                              </m:sup>
                            </m:sSup>
                          </m:e>
                        </m:d>
                      </m:e>
                      <m:sub>
                        <m:r>
                          <a:rPr lang="en-US" altLang="zh-CN" sz="2200" i="1">
                            <a:latin typeface="Cambria Math" panose="02040503050406030204" pitchFamily="18" charset="0"/>
                          </a:rPr>
                          <m:t>2</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4</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9</m:t>
                        </m:r>
                      </m:den>
                    </m:f>
                    <m:rad>
                      <m:radPr>
                        <m:degHide m:val="on"/>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200" i="1" kern="100">
                            <a:latin typeface="Cambria Math" panose="02040503050406030204" pitchFamily="18" charset="0"/>
                            <a:ea typeface="等线" panose="02010600030101010101" charset="-122"/>
                            <a:cs typeface="Times New Roman" panose="02020603050405020304" pitchFamily="18" charset="0"/>
                          </a:rPr>
                          <m:t>5</m:t>
                        </m:r>
                      </m:e>
                    </m:rad>
                    <m:r>
                      <a:rPr lang="en-US" altLang="zh-CN" sz="2200" i="1" kern="100">
                        <a:latin typeface="Cambria Math" panose="02040503050406030204" pitchFamily="18" charset="0"/>
                        <a:ea typeface="等线" panose="02010600030101010101" charset="-122"/>
                        <a:cs typeface="Times New Roman" panose="02020603050405020304" pitchFamily="18" charset="0"/>
                      </a:rPr>
                      <m:t>&gt;</m:t>
                    </m:r>
                    <m:r>
                      <a:rPr lang="en-US" altLang="zh-CN" sz="2200" i="1">
                        <a:latin typeface="Cambria Math" panose="02040503050406030204" pitchFamily="18" charset="0"/>
                      </a:rPr>
                      <m:t>0.1</m:t>
                    </m:r>
                  </m:oMath>
                </a14:m>
                <a:r>
                  <a:rPr lang="zh-CN" altLang="en-US"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不满足精度要求需要继续迭代</a:t>
                </a:r>
                <a:r>
                  <a:rPr lang="zh-CN" altLang="en-US"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从</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altLang="zh-CN" sz="2200" i="1" kern="100">
                                <a:latin typeface="Cambria Math" panose="02040503050406030204" pitchFamily="18" charset="0"/>
                                <a:ea typeface="等线" panose="02010600030101010101" charset="-122"/>
                                <a:cs typeface="Times New Roman" panose="02020603050405020304" pitchFamily="18" charset="0"/>
                              </a:rPr>
                            </m:ctrlPr>
                          </m:dPr>
                          <m:e>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9</m:t>
                                </m:r>
                              </m:den>
                            </m:f>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4</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9</m:t>
                                </m:r>
                              </m:den>
                            </m:f>
                          </m:e>
                        </m:d>
                      </m:e>
                      <m:sup>
                        <m:r>
                          <a:rPr lang="en-US" altLang="zh-CN" sz="2200" i="1" kern="100">
                            <a:latin typeface="Cambria Math" panose="02040503050406030204" pitchFamily="18" charset="0"/>
                            <a:ea typeface="等线" panose="02010600030101010101" charset="-122"/>
                            <a:cs typeface="Times New Roman" panose="02020603050405020304" pitchFamily="18" charset="0"/>
                          </a:rPr>
                          <m:t>𝑇</m:t>
                        </m:r>
                      </m:sup>
                    </m:sSup>
                  </m:oMath>
                </a14:m>
                <a:r>
                  <a:rPr lang="zh-CN" altLang="zh-CN" sz="2200" kern="100" dirty="0">
                    <a:latin typeface="+mn-ea"/>
                    <a:ea typeface="+mn-ea"/>
                    <a:cs typeface="Times New Roman" panose="02020603050405020304" pitchFamily="18" charset="0"/>
                  </a:rPr>
                  <a:t>出发，沿方向</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𝑑</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oMath>
                </a14:m>
                <a:r>
                  <a:rPr lang="zh-CN" altLang="zh-CN" sz="2200" kern="100" dirty="0">
                    <a:latin typeface="+mn-ea"/>
                    <a:ea typeface="+mn-ea"/>
                    <a:cs typeface="Times New Roman" panose="02020603050405020304" pitchFamily="18" charset="0"/>
                  </a:rPr>
                  <a:t>进行一维搜索，通过求关于</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oMath>
                </a14:m>
                <a:r>
                  <a:rPr lang="zh-CN" altLang="zh-CN" sz="2200" kern="100" dirty="0">
                    <a:latin typeface="+mn-ea"/>
                    <a:ea typeface="+mn-ea"/>
                    <a:cs typeface="Times New Roman" panose="02020603050405020304" pitchFamily="18" charset="0"/>
                  </a:rPr>
                  <a:t>的一元函数</a:t>
                </a:r>
                <a14:m>
                  <m:oMath xmlns:m="http://schemas.openxmlformats.org/officeDocument/2006/math">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r>
                      <a:rPr lang="zh-CN" altLang="en-US" sz="2200" i="1" kern="100">
                        <a:latin typeface="Cambria Math" panose="02040503050406030204" pitchFamily="18" charset="0"/>
                        <a:ea typeface="微软雅黑" panose="020B0503020204020204" charset="-122"/>
                        <a:cs typeface="微软雅黑" panose="020B0503020204020204" charset="-122"/>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2200" i="1" kern="100">
                        <a:latin typeface="Cambria Math" panose="02040503050406030204" pitchFamily="18" charset="0"/>
                        <a:ea typeface="等线" panose="02010600030101010101" charset="-122"/>
                        <a:cs typeface="Cambria Math" panose="020405030504060302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oMath>
                </a14:m>
                <a:r>
                  <a:rPr lang="zh-CN" altLang="zh-CN" sz="2200" kern="100" dirty="0">
                    <a:latin typeface="+mn-ea"/>
                    <a:ea typeface="+mn-ea"/>
                    <a:cs typeface="Times New Roman" panose="02020603050405020304" pitchFamily="18" charset="0"/>
                  </a:rPr>
                  <a:t>的驻点可求得最优步长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type m:val="lin"/>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5</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12</m:t>
                        </m:r>
                      </m:den>
                    </m:f>
                  </m:oMath>
                </a14:m>
                <a:r>
                  <a:rPr lang="zh-CN" altLang="zh-CN" sz="2200" kern="100" dirty="0">
                    <a:latin typeface="+mn-ea"/>
                    <a:ea typeface="+mn-ea"/>
                    <a:cs typeface="Times New Roman" panose="02020603050405020304" pitchFamily="18" charset="0"/>
                  </a:rPr>
                  <a:t>，从而可得一个新点</a:t>
                </a:r>
              </a:p>
              <a:p>
                <a:pPr algn="just">
                  <a:lnSpc>
                    <a:spcPct val="150000"/>
                  </a:lnSpc>
                </a:pPr>
                <a:r>
                  <a:rPr lang="en-US" altLang="zh-CN" sz="2200" kern="100" dirty="0">
                    <a:latin typeface="宋体" panose="02010600030101010101" pitchFamily="2" charset="-122"/>
                    <a:ea typeface="等线" panose="02010600030101010101" charset="-122"/>
                    <a:cs typeface="Times New Roman" panose="02020603050405020304" pitchFamily="18" charset="0"/>
                  </a:rPr>
                  <a:t>			 </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𝑑</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(2)</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altLang="zh-CN" sz="2200" i="1" kern="100">
                                <a:latin typeface="Cambria Math" panose="02040503050406030204" pitchFamily="18" charset="0"/>
                                <a:ea typeface="等线" panose="02010600030101010101" charset="-122"/>
                                <a:cs typeface="Times New Roman" panose="02020603050405020304" pitchFamily="18" charset="0"/>
                              </a:rPr>
                            </m:ctrlPr>
                          </m:dPr>
                          <m:e>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2</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27</m:t>
                                </m:r>
                              </m:den>
                            </m:f>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2</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27</m:t>
                                </m:r>
                              </m:den>
                            </m:f>
                          </m:e>
                        </m:d>
                      </m:e>
                      <m:sup>
                        <m:r>
                          <a:rPr lang="en-US" altLang="zh-CN" sz="2200" i="1" kern="100">
                            <a:latin typeface="Cambria Math" panose="02040503050406030204" pitchFamily="18" charset="0"/>
                            <a:ea typeface="等线" panose="02010600030101010101" charset="-122"/>
                            <a:cs typeface="Times New Roman" panose="02020603050405020304" pitchFamily="18" charset="0"/>
                          </a:rPr>
                          <m:t>𝑇</m:t>
                        </m:r>
                      </m:sup>
                    </m:sSup>
                  </m:oMath>
                </a14:m>
                <a:endParaRPr lang="zh-CN" altLang="zh-CN" sz="2200" kern="100" dirty="0">
                  <a:latin typeface="等线" panose="02010600030101010101" charset="-122"/>
                  <a:ea typeface="等线" panose="02010600030101010101" charset="-122"/>
                  <a:cs typeface="Times New Roman" panose="02020603050405020304" pitchFamily="18" charset="0"/>
                </a:endParaRPr>
              </a:p>
              <a:p>
                <a:pPr algn="just">
                  <a:lnSpc>
                    <a:spcPct val="150000"/>
                  </a:lnSpc>
                </a:pPr>
                <a:r>
                  <a:rPr lang="zh-CN" altLang="zh-CN" sz="2200" kern="100" dirty="0">
                    <a:latin typeface="+mn-ea"/>
                    <a:ea typeface="+mn-ea"/>
                    <a:cs typeface="Times New Roman" panose="02020603050405020304" pitchFamily="18" charset="0"/>
                  </a:rPr>
                  <a:t>目标函数</a:t>
                </a:r>
                <a14:m>
                  <m:oMath xmlns:m="http://schemas.openxmlformats.org/officeDocument/2006/math">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𝑥</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oMath>
                </a14:m>
                <a:r>
                  <a:rPr lang="zh-CN" altLang="zh-CN" sz="2200" kern="100" dirty="0">
                    <a:latin typeface="+mn-ea"/>
                    <a:ea typeface="+mn-ea"/>
                    <a:cs typeface="Times New Roman" panose="02020603050405020304" pitchFamily="18" charset="0"/>
                  </a:rPr>
                  <a:t>在</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oMath>
                </a14:m>
                <a:r>
                  <a:rPr lang="zh-CN" altLang="zh-CN" sz="2200" kern="100" dirty="0">
                    <a:latin typeface="+mn-ea"/>
                    <a:ea typeface="+mn-ea"/>
                    <a:cs typeface="Times New Roman" panose="02020603050405020304" pitchFamily="18" charset="0"/>
                  </a:rPr>
                  <a:t>处的最速下降方向为</a:t>
                </a:r>
              </a:p>
              <a:p>
                <a:pPr algn="ctr">
                  <a:lnSpc>
                    <a:spcPct val="150000"/>
                  </a:lnSpc>
                </a:pPr>
                <a14:m>
                  <m:oMathPara xmlns:m="http://schemas.openxmlformats.org/officeDocument/2006/math">
                    <m:oMathParaPr>
                      <m:jc m:val="centerGroup"/>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𝑑</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r>
                        <a:rPr lang="zh-CN" altLang="en-US" sz="2200" i="1" kern="100">
                          <a:latin typeface="Cambria Math" panose="02040503050406030204" pitchFamily="18" charset="0"/>
                          <a:ea typeface="微软雅黑" panose="020B0503020204020204" charset="-122"/>
                          <a:cs typeface="微软雅黑" panose="020B0503020204020204" charset="-122"/>
                        </a:rPr>
                        <m:t>−</m:t>
                      </m:r>
                      <m:r>
                        <a:rPr lang="en-US" altLang="zh-CN" sz="2200" i="1" kern="100">
                          <a:latin typeface="Cambria Math" panose="02040503050406030204" pitchFamily="18" charset="0"/>
                          <a:ea typeface="等线" panose="02010600030101010101" charset="-122"/>
                          <a:cs typeface="Cambria Math" panose="020405030504060302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𝑓</m:t>
                      </m:r>
                      <m:d>
                        <m:dPr>
                          <m:ctrlPr>
                            <a:rPr lang="en-US" altLang="zh-CN" sz="2200" i="1" kern="100">
                              <a:latin typeface="Cambria Math" panose="02040503050406030204" pitchFamily="18" charset="0"/>
                              <a:ea typeface="等线" panose="02010600030101010101" charset="-122"/>
                              <a:cs typeface="Times New Roman" panose="02020603050405020304" pitchFamily="18" charset="0"/>
                            </a:rPr>
                          </m:ctrlPr>
                        </m:dPr>
                        <m:e>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d>
                                <m:dPr>
                                  <m:ctrlPr>
                                    <a:rPr lang="en-US" altLang="zh-CN" sz="2200" i="1" kern="100">
                                      <a:latin typeface="Cambria Math" panose="02040503050406030204" pitchFamily="18" charset="0"/>
                                      <a:ea typeface="等线" panose="02010600030101010101" charset="-122"/>
                                      <a:cs typeface="Times New Roman" panose="02020603050405020304" pitchFamily="18" charset="0"/>
                                    </a:rPr>
                                  </m:ctrlPr>
                                </m:dPr>
                                <m:e>
                                  <m:r>
                                    <a:rPr lang="en-US" altLang="zh-CN" sz="2200" i="1" kern="100">
                                      <a:latin typeface="Cambria Math" panose="02040503050406030204" pitchFamily="18" charset="0"/>
                                      <a:ea typeface="等线" panose="02010600030101010101" charset="-122"/>
                                      <a:cs typeface="Times New Roman" panose="02020603050405020304" pitchFamily="18" charset="0"/>
                                    </a:rPr>
                                    <m:t>3</m:t>
                                  </m:r>
                                </m:e>
                              </m:d>
                            </m:sup>
                          </m:sSup>
                        </m:e>
                      </m:d>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altLang="zh-CN" sz="2200" i="1" kern="100">
                                  <a:latin typeface="Cambria Math" panose="02040503050406030204" pitchFamily="18" charset="0"/>
                                  <a:ea typeface="等线" panose="02010600030101010101" charset="-122"/>
                                  <a:cs typeface="Times New Roman" panose="02020603050405020304" pitchFamily="18" charset="0"/>
                                </a:rPr>
                              </m:ctrlPr>
                            </m:dPr>
                            <m:e>
                              <m:r>
                                <a:rPr lang="zh-CN" altLang="en-US" sz="2200" i="1" kern="100">
                                  <a:latin typeface="Cambria Math" panose="02040503050406030204" pitchFamily="18" charset="0"/>
                                  <a:ea typeface="微软雅黑" panose="020B0503020204020204" charset="-122"/>
                                  <a:cs typeface="微软雅黑" panose="020B0503020204020204" charset="-122"/>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8</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27</m:t>
                                  </m:r>
                                </m:den>
                              </m:f>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4</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27</m:t>
                                  </m:r>
                                </m:den>
                              </m:f>
                            </m:e>
                          </m:d>
                        </m:e>
                        <m:sup>
                          <m:r>
                            <a:rPr lang="en-US" altLang="zh-CN" sz="2200" i="1" kern="100">
                              <a:latin typeface="Cambria Math" panose="02040503050406030204" pitchFamily="18" charset="0"/>
                              <a:ea typeface="等线" panose="02010600030101010101" charset="-122"/>
                              <a:cs typeface="Times New Roman" panose="02020603050405020304" pitchFamily="18" charset="0"/>
                            </a:rPr>
                            <m:t>𝑇</m:t>
                          </m:r>
                        </m:sup>
                      </m:sSup>
                    </m:oMath>
                  </m:oMathPara>
                </a14:m>
                <a:endParaRPr lang="zh-CN" altLang="en-US" sz="2200" dirty="0"/>
              </a:p>
            </p:txBody>
          </p:sp>
        </mc:Choice>
        <mc:Fallback xmlns="">
          <p:sp>
            <p:nvSpPr>
              <p:cNvPr id="2" name="文本框 1"/>
              <p:cNvSpPr txBox="1">
                <a:spLocks noRot="1" noChangeAspect="1" noMove="1" noResize="1" noEditPoints="1" noAdjustHandles="1" noChangeArrowheads="1" noChangeShapeType="1" noTextEdit="1"/>
              </p:cNvSpPr>
              <p:nvPr/>
            </p:nvSpPr>
            <p:spPr>
              <a:xfrm>
                <a:off x="481045" y="332656"/>
                <a:ext cx="8181909" cy="6628866"/>
              </a:xfrm>
              <a:prstGeom prst="rect">
                <a:avLst/>
              </a:prstGeom>
              <a:blipFill rotWithShape="1">
                <a:blip r:embed="rId2"/>
                <a:stretch>
                  <a:fillRect l="-4" t="-8" r="3"/>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643063" y="332656"/>
                <a:ext cx="7857873" cy="6452870"/>
              </a:xfrm>
              <a:prstGeom prst="rect">
                <a:avLst/>
              </a:prstGeom>
              <a:noFill/>
            </p:spPr>
            <p:txBody>
              <a:bodyPr wrap="square" rtlCol="0">
                <a:spAutoFit/>
              </a:bodyPr>
              <a:lstStyle/>
              <a:p>
                <a:pPr algn="just">
                  <a:lnSpc>
                    <a:spcPct val="150000"/>
                  </a:lnSpc>
                </a:pPr>
                <a:r>
                  <a:rPr lang="zh-CN" altLang="zh-CN" sz="2200" kern="100" dirty="0">
                    <a:latin typeface="+mn-ea"/>
                    <a:ea typeface="+mn-ea"/>
                    <a:cs typeface="Times New Roman" panose="02020603050405020304" pitchFamily="18" charset="0"/>
                  </a:rPr>
                  <a:t>由于</a:t>
                </a:r>
                <a14:m>
                  <m:oMath xmlns:m="http://schemas.openxmlformats.org/officeDocument/2006/math">
                    <m:sSub>
                      <m:sSubPr>
                        <m:ctrlPr>
                          <a:rPr lang="en-US" altLang="zh-CN" sz="2200" i="1">
                            <a:latin typeface="Cambria Math" panose="02040503050406030204" pitchFamily="18" charset="0"/>
                          </a:rPr>
                        </m:ctrlPr>
                      </m:sSubPr>
                      <m:e>
                        <m:d>
                          <m:dPr>
                            <m:begChr m:val="‖"/>
                            <m:endChr m:val="‖"/>
                            <m:ctrlPr>
                              <a:rPr lang="zh-CN" altLang="zh-CN" sz="2200" i="1">
                                <a:latin typeface="Cambria Math" panose="02040503050406030204" pitchFamily="18" charset="0"/>
                              </a:rPr>
                            </m:ctrlPr>
                          </m:dPr>
                          <m:e>
                            <m:sSup>
                              <m:sSupPr>
                                <m:ctrlPr>
                                  <a:rPr lang="zh-CN" altLang="zh-CN" sz="2200" i="1">
                                    <a:latin typeface="Cambria Math" panose="02040503050406030204" pitchFamily="18" charset="0"/>
                                  </a:rPr>
                                </m:ctrlPr>
                              </m:sSupPr>
                              <m:e>
                                <m:r>
                                  <a:rPr lang="en-US" altLang="zh-CN" sz="2200" i="1">
                                    <a:latin typeface="Cambria Math" panose="02040503050406030204" pitchFamily="18" charset="0"/>
                                  </a:rPr>
                                  <m:t>𝑑</m:t>
                                </m:r>
                              </m:e>
                              <m:sup>
                                <m:r>
                                  <a:rPr lang="en-US" altLang="zh-CN" sz="2200" i="1">
                                    <a:latin typeface="Cambria Math" panose="02040503050406030204" pitchFamily="18" charset="0"/>
                                  </a:rPr>
                                  <m:t>(3)</m:t>
                                </m:r>
                              </m:sup>
                            </m:sSup>
                          </m:e>
                        </m:d>
                      </m:e>
                      <m:sub>
                        <m:r>
                          <a:rPr lang="en-US" altLang="zh-CN" sz="2200" i="1">
                            <a:latin typeface="Cambria Math" panose="02040503050406030204" pitchFamily="18" charset="0"/>
                          </a:rPr>
                          <m:t>2</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&gt;</m:t>
                    </m:r>
                    <m:r>
                      <a:rPr lang="en-US" altLang="zh-CN" sz="2200" i="1">
                        <a:latin typeface="Cambria Math" panose="02040503050406030204" pitchFamily="18" charset="0"/>
                      </a:rPr>
                      <m:t>0.1</m:t>
                    </m:r>
                  </m:oMath>
                </a14:m>
                <a:r>
                  <a:rPr lang="zh-CN" altLang="zh-CN" sz="2200" kern="100" dirty="0">
                    <a:latin typeface="+mn-ea"/>
                    <a:ea typeface="+mn-ea"/>
                    <a:cs typeface="Times New Roman" panose="02020603050405020304" pitchFamily="18" charset="0"/>
                  </a:rPr>
                  <a:t>，不满足精度要求，需要继续迭代</a:t>
                </a:r>
                <a:r>
                  <a:rPr lang="zh-CN" altLang="en-US"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再从</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oMath>
                </a14:m>
                <a:r>
                  <a:rPr lang="zh-CN" altLang="zh-CN" sz="2200" kern="100" dirty="0">
                    <a:latin typeface="+mn-ea"/>
                    <a:ea typeface="+mn-ea"/>
                    <a:cs typeface="Times New Roman" panose="02020603050405020304" pitchFamily="18" charset="0"/>
                  </a:rPr>
                  <a:t>出发，沿方向</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𝑑</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oMath>
                </a14:m>
                <a:r>
                  <a:rPr lang="zh-CN" altLang="zh-CN" sz="2200" kern="100" dirty="0">
                    <a:latin typeface="+mn-ea"/>
                    <a:ea typeface="+mn-ea"/>
                    <a:cs typeface="Times New Roman" panose="02020603050405020304" pitchFamily="18" charset="0"/>
                  </a:rPr>
                  <a:t>进行一维搜索，通过求关于</a:t>
                </a:r>
                <a14:m>
                  <m:oMath xmlns:m="http://schemas.openxmlformats.org/officeDocument/2006/math">
                    <m:r>
                      <a:rPr lang="en-US" altLang="zh-CN" sz="2200" i="1" kern="100">
                        <a:latin typeface="Cambria Math" panose="02040503050406030204" pitchFamily="18" charset="0"/>
                        <a:ea typeface="等线" panose="02010600030101010101" charset="-122"/>
                        <a:cs typeface="Times New Roman" panose="02020603050405020304" pitchFamily="18" charset="0"/>
                      </a:rPr>
                      <m:t>𝜆</m:t>
                    </m:r>
                  </m:oMath>
                </a14:m>
                <a:r>
                  <a:rPr lang="en-US" altLang="zh-CN" sz="220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oMath>
                </a14:m>
                <a:r>
                  <a:rPr lang="zh-CN" altLang="zh-CN" sz="2200" kern="100" dirty="0">
                    <a:latin typeface="+mn-ea"/>
                    <a:ea typeface="+mn-ea"/>
                    <a:cs typeface="Times New Roman" panose="02020603050405020304" pitchFamily="18" charset="0"/>
                  </a:rPr>
                  <a:t>的一元函数</a:t>
                </a:r>
                <a14:m>
                  <m:oMath xmlns:m="http://schemas.openxmlformats.org/officeDocument/2006/math">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r>
                      <a:rPr lang="zh-CN" altLang="en-US" sz="2200" i="1" kern="100">
                        <a:latin typeface="Cambria Math" panose="02040503050406030204" pitchFamily="18" charset="0"/>
                        <a:ea typeface="微软雅黑" panose="020B0503020204020204" charset="-122"/>
                        <a:cs typeface="微软雅黑" panose="020B0503020204020204" charset="-122"/>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2200" i="1" kern="100">
                        <a:latin typeface="Cambria Math" panose="02040503050406030204" pitchFamily="18" charset="0"/>
                        <a:ea typeface="等线" panose="02010600030101010101" charset="-122"/>
                        <a:cs typeface="Cambria Math" panose="020405030504060302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oMath>
                </a14:m>
                <a:r>
                  <a:rPr lang="zh-CN" altLang="zh-CN" sz="2200" kern="100" dirty="0">
                    <a:latin typeface="+mn-ea"/>
                    <a:ea typeface="+mn-ea"/>
                    <a:cs typeface="Times New Roman" panose="02020603050405020304" pitchFamily="18" charset="0"/>
                  </a:rPr>
                  <a:t>的驻点可求得最优步长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(3)</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type m:val="lin"/>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5</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18</m:t>
                        </m:r>
                      </m:den>
                    </m:f>
                  </m:oMath>
                </a14:m>
                <a:r>
                  <a:rPr lang="zh-CN" altLang="en-US" sz="2200" kern="100" dirty="0">
                    <a:latin typeface="+mn-ea"/>
                    <a:ea typeface="+mn-ea"/>
                    <a:cs typeface="Times New Roman" panose="02020603050405020304" pitchFamily="18" charset="0"/>
                  </a:rPr>
                  <a:t>，</a:t>
                </a:r>
                <a:r>
                  <a:rPr lang="zh-CN" altLang="zh-CN" sz="2200" kern="100" dirty="0">
                    <a:latin typeface="+mn-ea"/>
                    <a:ea typeface="+mn-ea"/>
                    <a:cs typeface="Times New Roman" panose="02020603050405020304" pitchFamily="18" charset="0"/>
                  </a:rPr>
                  <a:t>从而可得一个新点</a:t>
                </a:r>
                <a:endParaRPr lang="en-US" altLang="zh-CN" sz="2200" kern="100" dirty="0">
                  <a:latin typeface="+mn-ea"/>
                  <a:ea typeface="+mn-ea"/>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(4)</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(3)</m:t>
                          </m:r>
                        </m:sup>
                      </m:sSup>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𝑑</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(3)</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altLang="zh-CN" sz="2200" i="1" kern="100">
                                  <a:latin typeface="Cambria Math" panose="02040503050406030204" pitchFamily="18" charset="0"/>
                                  <a:ea typeface="等线" panose="02010600030101010101" charset="-122"/>
                                  <a:cs typeface="Times New Roman" panose="02020603050405020304" pitchFamily="18" charset="0"/>
                                </a:rPr>
                              </m:ctrlPr>
                            </m:dPr>
                            <m:e>
                              <m:r>
                                <a:rPr lang="zh-CN" altLang="en-US" sz="2200" i="1" kern="100">
                                  <a:latin typeface="Cambria Math" panose="02040503050406030204" pitchFamily="18" charset="0"/>
                                  <a:cs typeface="微软雅黑" panose="020B0503020204020204" charset="-122"/>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2</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243</m:t>
                                  </m:r>
                                </m:den>
                              </m:f>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4</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243</m:t>
                                  </m:r>
                                </m:den>
                              </m:f>
                            </m:e>
                          </m:d>
                        </m:e>
                        <m:sup>
                          <m:r>
                            <a:rPr lang="en-US" altLang="zh-CN" sz="2200" i="1" kern="100">
                              <a:latin typeface="Cambria Math" panose="02040503050406030204" pitchFamily="18" charset="0"/>
                              <a:ea typeface="等线" panose="02010600030101010101" charset="-122"/>
                              <a:cs typeface="Times New Roman" panose="02020603050405020304" pitchFamily="18" charset="0"/>
                            </a:rPr>
                            <m:t>𝑇</m:t>
                          </m:r>
                        </m:sup>
                      </m:sSup>
                    </m:oMath>
                  </m:oMathPara>
                </a14:m>
                <a:endParaRPr lang="zh-CN" altLang="zh-CN" sz="2200" kern="100" dirty="0">
                  <a:latin typeface="等线" panose="02010600030101010101" charset="-122"/>
                  <a:ea typeface="等线" panose="02010600030101010101" charset="-122"/>
                  <a:cs typeface="Times New Roman" panose="02020603050405020304" pitchFamily="18" charset="0"/>
                </a:endParaRPr>
              </a:p>
              <a:p>
                <a:pPr algn="just">
                  <a:lnSpc>
                    <a:spcPct val="150000"/>
                  </a:lnSpc>
                </a:pPr>
                <a:r>
                  <a:rPr lang="zh-CN" altLang="zh-CN" sz="2200" kern="100" dirty="0">
                    <a:latin typeface="+mn-ea"/>
                    <a:ea typeface="+mn-ea"/>
                    <a:cs typeface="Times New Roman" panose="02020603050405020304" pitchFamily="18" charset="0"/>
                  </a:rPr>
                  <a:t>此时有</a:t>
                </a:r>
                <a14:m>
                  <m:oMath xmlns:m="http://schemas.openxmlformats.org/officeDocument/2006/math">
                    <m:sSub>
                      <m:sSub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等线" panose="02010600030101010101" charset="-122"/>
                                <a:cs typeface="Cambria Math" panose="02040503050406030204" pitchFamily="18" charset="0"/>
                              </a:rPr>
                              <m:t>𝛻</m:t>
                            </m:r>
                            <m:r>
                              <a:rPr lang="en-US" altLang="zh-CN" sz="2200" i="1" kern="100">
                                <a:latin typeface="Cambria Math" panose="02040503050406030204" pitchFamily="18" charset="0"/>
                                <a:ea typeface="等线" panose="02010600030101010101" charset="-122"/>
                                <a:cs typeface="Times New Roman" panose="02020603050405020304" pitchFamily="18" charset="0"/>
                              </a:rPr>
                              <m:t>𝑓</m:t>
                            </m:r>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(4)</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e>
                        </m:d>
                      </m:e>
                      <m:sub>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b>
                    </m:sSub>
                    <m:r>
                      <a:rPr lang="en-US" altLang="zh-CN" sz="2200" i="1" kern="100">
                        <a:latin typeface="Cambria Math" panose="02040503050406030204" pitchFamily="18" charset="0"/>
                        <a:ea typeface="等线" panose="02010600030101010101" charset="-122"/>
                        <a:cs typeface="Times New Roman" panose="02020603050405020304" pitchFamily="18" charset="0"/>
                      </a:rPr>
                      <m:t>&lt;</m:t>
                    </m:r>
                    <m:r>
                      <a:rPr lang="en-US" altLang="zh-CN" sz="2200" i="1">
                        <a:latin typeface="Cambria Math" panose="02040503050406030204" pitchFamily="18" charset="0"/>
                      </a:rPr>
                      <m:t>0.1</m:t>
                    </m:r>
                  </m:oMath>
                </a14:m>
                <a:r>
                  <a:rPr lang="zh-CN" altLang="zh-CN" sz="2200" kern="100" dirty="0">
                    <a:latin typeface="+mn-ea"/>
                    <a:ea typeface="+mn-ea"/>
                    <a:cs typeface="Times New Roman" panose="02020603050405020304" pitchFamily="18" charset="0"/>
                  </a:rPr>
                  <a:t>，已满足精度要求，得到问题的近似解为</a:t>
                </a:r>
                <a:endParaRPr lang="en-US" altLang="zh-CN" sz="2200" i="1" kern="100" dirty="0">
                  <a:latin typeface="+mn-ea"/>
                  <a:ea typeface="+mn-ea"/>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bar>
                        <m:barPr>
                          <m:pos m:val="top"/>
                          <m:ctrlPr>
                            <a:rPr lang="zh-CN" altLang="zh-CN" sz="2200" i="1" kern="100">
                              <a:latin typeface="Cambria Math" panose="02040503050406030204" pitchFamily="18" charset="0"/>
                              <a:ea typeface="+mn-ea"/>
                              <a:cs typeface="Times New Roman" panose="02020603050405020304" pitchFamily="18" charset="0"/>
                            </a:rPr>
                          </m:ctrlPr>
                        </m:barPr>
                        <m:e>
                          <m:r>
                            <a:rPr lang="en-US" altLang="zh-CN" sz="2200" i="1" kern="100">
                              <a:latin typeface="Cambria Math" panose="02040503050406030204" pitchFamily="18" charset="0"/>
                              <a:ea typeface="+mn-ea"/>
                              <a:cs typeface="Times New Roman" panose="02020603050405020304" pitchFamily="18" charset="0"/>
                            </a:rPr>
                            <m:t>𝑥</m:t>
                          </m:r>
                        </m:e>
                      </m:bar>
                      <m:r>
                        <a:rPr lang="en-US" altLang="zh-CN" sz="2200" i="1" kern="100">
                          <a:latin typeface="Cambria Math" panose="02040503050406030204" pitchFamily="18" charset="0"/>
                          <a:ea typeface="+mn-ea"/>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d>
                            <m:dPr>
                              <m:ctrlPr>
                                <a:rPr lang="en-US" altLang="zh-CN" sz="2200" i="1" kern="100">
                                  <a:latin typeface="Cambria Math" panose="02040503050406030204" pitchFamily="18" charset="0"/>
                                  <a:ea typeface="+mn-ea"/>
                                  <a:cs typeface="Times New Roman" panose="02020603050405020304" pitchFamily="18" charset="0"/>
                                </a:rPr>
                              </m:ctrlPr>
                            </m:dPr>
                            <m:e>
                              <m:r>
                                <a:rPr lang="zh-CN" altLang="en-US" sz="2200" i="1" kern="100">
                                  <a:latin typeface="Cambria Math" panose="02040503050406030204" pitchFamily="18" charset="0"/>
                                  <a:cs typeface="微软雅黑" panose="020B0503020204020204" charset="-122"/>
                                </a:rPr>
                                <m:t>−</m:t>
                              </m:r>
                              <m:f>
                                <m:f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a:latin typeface="Cambria Math" panose="02040503050406030204" pitchFamily="18" charset="0"/>
                                      <a:ea typeface="等线" panose="02010600030101010101" charset="-122"/>
                                      <a:cs typeface="Times New Roman" panose="02020603050405020304" pitchFamily="18" charset="0"/>
                                    </a:rPr>
                                    <m:t>2</m:t>
                                  </m:r>
                                </m:num>
                                <m:den>
                                  <m:r>
                                    <a:rPr lang="en-US" altLang="zh-CN" sz="2200" i="1" kern="100">
                                      <a:latin typeface="Cambria Math" panose="02040503050406030204" pitchFamily="18" charset="0"/>
                                      <a:ea typeface="等线" panose="02010600030101010101" charset="-122"/>
                                      <a:cs typeface="Times New Roman" panose="02020603050405020304" pitchFamily="18" charset="0"/>
                                    </a:rPr>
                                    <m:t>243</m:t>
                                  </m:r>
                                </m:den>
                              </m:f>
                              <m:r>
                                <a:rPr lang="en-US" altLang="zh-CN" sz="2200" i="1" kern="100">
                                  <a:latin typeface="Cambria Math" panose="02040503050406030204" pitchFamily="18" charset="0"/>
                                  <a:ea typeface="等线" panose="02010600030101010101" charset="-122"/>
                                  <a:cs typeface="Times New Roman" panose="02020603050405020304" pitchFamily="18" charset="0"/>
                                </a:rPr>
                                <m:t>,</m:t>
                              </m:r>
                              <m:f>
                                <m:fPr>
                                  <m:ctrlPr>
                                    <a:rPr lang="zh-CN" altLang="zh-CN" sz="2200"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200"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4</m:t>
                                  </m:r>
                                </m:num>
                                <m:den>
                                  <m:r>
                                    <a:rPr lang="en-US" altLang="zh-CN" sz="2200" i="1" kern="100">
                                      <a:solidFill>
                                        <a:srgbClr val="FF0000"/>
                                      </a:solidFill>
                                      <a:latin typeface="Cambria Math" panose="02040503050406030204" pitchFamily="18" charset="0"/>
                                      <a:ea typeface="等线" panose="02010600030101010101" charset="-122"/>
                                      <a:cs typeface="Times New Roman" panose="02020603050405020304" pitchFamily="18" charset="0"/>
                                    </a:rPr>
                                    <m:t>243</m:t>
                                  </m:r>
                                </m:den>
                              </m:f>
                            </m:e>
                          </m:d>
                        </m:e>
                        <m:sup>
                          <m:r>
                            <a:rPr lang="en-US" altLang="zh-CN" sz="2200" i="1" kern="100">
                              <a:latin typeface="Cambria Math" panose="02040503050406030204" pitchFamily="18" charset="0"/>
                              <a:ea typeface="+mn-ea"/>
                              <a:cs typeface="Times New Roman" panose="02020603050405020304" pitchFamily="18" charset="0"/>
                            </a:rPr>
                            <m:t>𝑇</m:t>
                          </m:r>
                        </m:sup>
                      </m:sSup>
                    </m:oMath>
                  </m:oMathPara>
                </a14:m>
                <a:endParaRPr lang="en-US" altLang="zh-CN" sz="2200" kern="100" dirty="0">
                  <a:latin typeface="+mn-ea"/>
                  <a:ea typeface="+mn-ea"/>
                  <a:cs typeface="Times New Roman" panose="02020603050405020304" pitchFamily="18" charset="0"/>
                </a:endParaRPr>
              </a:p>
              <a:p>
                <a:pPr algn="just">
                  <a:lnSpc>
                    <a:spcPct val="150000"/>
                  </a:lnSpc>
                </a:pPr>
                <a:r>
                  <a:rPr lang="zh-CN" altLang="zh-CN" sz="2200" kern="100" dirty="0">
                    <a:latin typeface="+mn-ea"/>
                    <a:ea typeface="+mn-ea"/>
                    <a:cs typeface="Times New Roman" panose="02020603050405020304" pitchFamily="18" charset="0"/>
                  </a:rPr>
                  <a:t>实际上，问题的最优解为</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等线" panose="02010600030101010101" charset="-122"/>
                            <a:cs typeface="Times New Roman" panose="02020603050405020304" pitchFamily="18" charset="0"/>
                          </a:rPr>
                          <m:t>𝑥</m:t>
                        </m:r>
                      </m:e>
                      <m:sup>
                        <m:r>
                          <a:rPr lang="en-US" altLang="zh-CN" sz="2200" i="1" kern="100">
                            <a:latin typeface="Cambria Math" panose="02040503050406030204" pitchFamily="18" charset="0"/>
                            <a:ea typeface="等线" panose="02010600030101010101" charset="-122"/>
                            <a:cs typeface="Times New Roman" panose="02020603050405020304" pitchFamily="18" charset="0"/>
                          </a:rPr>
                          <m:t>∗</m:t>
                        </m:r>
                      </m:sup>
                    </m:sSup>
                    <m:r>
                      <a:rPr lang="en-US" altLang="zh-CN" sz="2200" i="1" kern="100">
                        <a:latin typeface="Cambria Math" panose="02040503050406030204" pitchFamily="18" charset="0"/>
                        <a:ea typeface="等线" panose="02010600030101010101" charset="-122"/>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0,0</m:t>
                            </m:r>
                          </m:e>
                        </m:d>
                      </m:e>
                      <m:sup>
                        <m:r>
                          <a:rPr lang="en-US" altLang="zh-CN" sz="2200" i="1" kern="100">
                            <a:latin typeface="Cambria Math" panose="02040503050406030204" pitchFamily="18" charset="0"/>
                            <a:ea typeface="等线" panose="02010600030101010101" charset="-122"/>
                            <a:cs typeface="Times New Roman" panose="02020603050405020304" pitchFamily="18" charset="0"/>
                          </a:rPr>
                          <m:t>𝑇</m:t>
                        </m:r>
                      </m:sup>
                    </m:sSup>
                    <m:r>
                      <a:rPr lang="zh-CN" altLang="en-US" sz="2200" i="1" kern="100">
                        <a:latin typeface="Cambria Math" panose="02040503050406030204" pitchFamily="18" charset="0"/>
                        <a:ea typeface="等线" panose="02010600030101010101" charset="-122"/>
                        <a:cs typeface="Times New Roman" panose="02020603050405020304" pitchFamily="18" charset="0"/>
                      </a:rPr>
                      <m:t>。</m:t>
                    </m:r>
                  </m:oMath>
                </a14:m>
                <a:endParaRPr lang="zh-CN" altLang="zh-CN" sz="2200" kern="100" dirty="0">
                  <a:latin typeface="等线" panose="02010600030101010101" charset="-122"/>
                  <a:ea typeface="等线" panose="02010600030101010101" charset="-122"/>
                  <a:cs typeface="Times New Roman" panose="02020603050405020304" pitchFamily="18" charset="0"/>
                </a:endParaRPr>
              </a:p>
              <a:p>
                <a:endParaRPr lang="zh-CN" altLang="en-US" sz="2200" dirty="0"/>
              </a:p>
            </p:txBody>
          </p:sp>
        </mc:Choice>
        <mc:Fallback xmlns="">
          <p:sp>
            <p:nvSpPr>
              <p:cNvPr id="2" name="文本框 1"/>
              <p:cNvSpPr txBox="1">
                <a:spLocks noRot="1" noChangeAspect="1" noMove="1" noResize="1" noEditPoints="1" noAdjustHandles="1" noChangeArrowheads="1" noChangeShapeType="1" noTextEdit="1"/>
              </p:cNvSpPr>
              <p:nvPr/>
            </p:nvSpPr>
            <p:spPr>
              <a:xfrm>
                <a:off x="643063" y="332656"/>
                <a:ext cx="7857873" cy="6452870"/>
              </a:xfrm>
              <a:prstGeom prst="rect">
                <a:avLst/>
              </a:prstGeom>
              <a:blipFill rotWithShape="1">
                <a:blip r:embed="rId2"/>
                <a:stretch>
                  <a:fillRect l="-6" t="-9" r="2" b="9"/>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79512" y="493398"/>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三、性能分析</a:t>
            </a:r>
            <a:endParaRPr lang="zh-CN" altLang="zh-CN" sz="2400" kern="100" dirty="0">
              <a:latin typeface="Times New Roman" panose="02020603050405020304" pitchFamily="18" charset="0"/>
            </a:endParaRPr>
          </a:p>
        </p:txBody>
      </p:sp>
      <p:sp>
        <p:nvSpPr>
          <p:cNvPr id="6" name="Rectangle 4"/>
          <p:cNvSpPr>
            <a:spLocks noChangeArrowheads="1"/>
          </p:cNvSpPr>
          <p:nvPr/>
        </p:nvSpPr>
        <p:spPr bwMode="auto">
          <a:xfrm>
            <a:off x="391020" y="2315723"/>
            <a:ext cx="669507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Font typeface="Wingdings" panose="05000000000000000000" pitchFamily="2" charset="2"/>
              <a:buNone/>
              <a:defRPr/>
            </a:pPr>
            <a:r>
              <a:rPr lang="zh-CN" altLang="en-US" sz="2200" dirty="0">
                <a:sym typeface="Symbol" panose="05050102010706020507" pitchFamily="18" charset="2"/>
              </a:rPr>
              <a:t>根据一元函数极值条件和多元复合函数求导公式，得</a:t>
            </a:r>
          </a:p>
        </p:txBody>
      </p:sp>
      <p:sp>
        <p:nvSpPr>
          <p:cNvPr id="7" name="矩形 1"/>
          <p:cNvSpPr>
            <a:spLocks noChangeArrowheads="1"/>
          </p:cNvSpPr>
          <p:nvPr/>
        </p:nvSpPr>
        <p:spPr bwMode="auto">
          <a:xfrm>
            <a:off x="575556" y="4047201"/>
            <a:ext cx="7619236" cy="2057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 typeface="Wingdings" panose="05000000000000000000" pitchFamily="2" charset="2"/>
              <a:buNone/>
            </a:pPr>
            <a:r>
              <a:rPr lang="zh-CN" altLang="en-US" sz="2200" b="1" dirty="0">
                <a:solidFill>
                  <a:srgbClr val="C00000"/>
                </a:solidFill>
              </a:rPr>
              <a:t>       此式表明，相邻的两个迭代点的梯度是彼此正交的。也即在梯度的迭代过程中，相邻的搜索方向相互垂直。</a:t>
            </a:r>
            <a:endParaRPr lang="en-US" altLang="zh-CN" sz="2200" b="1" dirty="0">
              <a:solidFill>
                <a:srgbClr val="C00000"/>
              </a:solidFill>
            </a:endParaRPr>
          </a:p>
          <a:p>
            <a:pPr algn="just" eaLnBrk="1" hangingPunct="1">
              <a:lnSpc>
                <a:spcPct val="150000"/>
              </a:lnSpc>
              <a:buFont typeface="Wingdings" panose="05000000000000000000" pitchFamily="2" charset="2"/>
              <a:buNone/>
            </a:pPr>
            <a:r>
              <a:rPr lang="en-US" altLang="zh-CN" sz="2200" b="1" dirty="0">
                <a:solidFill>
                  <a:srgbClr val="C00000"/>
                </a:solidFill>
              </a:rPr>
              <a:t>       </a:t>
            </a:r>
            <a:r>
              <a:rPr lang="zh-CN" altLang="en-US" sz="2200" b="1" dirty="0">
                <a:solidFill>
                  <a:srgbClr val="C00000"/>
                </a:solidFill>
              </a:rPr>
              <a:t>最速下降法向极小点的逼近路径是锯齿形路线，越接近极小点，锯齿越细，前进速度越慢。</a:t>
            </a:r>
          </a:p>
        </p:txBody>
      </p:sp>
      <p:sp>
        <p:nvSpPr>
          <p:cNvPr id="8" name="矩形 7"/>
          <p:cNvSpPr/>
          <p:nvPr/>
        </p:nvSpPr>
        <p:spPr>
          <a:xfrm>
            <a:off x="391020" y="1556267"/>
            <a:ext cx="1382975" cy="430887"/>
          </a:xfrm>
          <a:prstGeom prst="rect">
            <a:avLst/>
          </a:prstGeom>
        </p:spPr>
        <p:txBody>
          <a:bodyPr wrap="square">
            <a:spAutoFit/>
          </a:bodyPr>
          <a:lstStyle/>
          <a:p>
            <a:pPr>
              <a:buFont typeface="Wingdings" panose="05000000000000000000" pitchFamily="2" charset="2"/>
              <a:buNone/>
              <a:defRPr/>
            </a:pPr>
            <a:r>
              <a:rPr lang="zh-CN" altLang="en-US" sz="2200" b="1" dirty="0">
                <a:latin typeface="宋体" panose="02010600030101010101" pitchFamily="2" charset="-122"/>
              </a:rPr>
              <a:t>最优步长</a:t>
            </a:r>
          </a:p>
        </p:txBody>
      </p:sp>
      <mc:AlternateContent xmlns:mc="http://schemas.openxmlformats.org/markup-compatibility/2006" xmlns:a14="http://schemas.microsoft.com/office/drawing/2010/main">
        <mc:Choice Requires="a14">
          <p:sp>
            <p:nvSpPr>
              <p:cNvPr id="9" name="文本框 8"/>
              <p:cNvSpPr txBox="1"/>
              <p:nvPr/>
            </p:nvSpPr>
            <p:spPr>
              <a:xfrm>
                <a:off x="2929321" y="3498736"/>
                <a:ext cx="3429458" cy="361509"/>
              </a:xfrm>
              <a:prstGeom prst="rect">
                <a:avLst/>
              </a:prstGeom>
              <a:noFill/>
            </p:spPr>
            <p:txBody>
              <a:bodyPr wrap="square" lIns="0" tIns="0" rIns="0" bIns="0" rtlCol="0">
                <a:spAutoFit/>
              </a:bodyPr>
              <a:lstStyle/>
              <a:p>
                <a:r>
                  <a:rPr lang="en-US" altLang="zh-CN" sz="2200" dirty="0">
                    <a:latin typeface="Cambria Math" panose="02040503050406030204" pitchFamily="18" charset="0"/>
                    <a:ea typeface="Cambria Math" panose="02040503050406030204" pitchFamily="18" charset="0"/>
                  </a:rPr>
                  <a:t>&lt; </a:t>
                </a:r>
                <a14:m>
                  <m:oMath xmlns:m="http://schemas.openxmlformats.org/officeDocument/2006/math">
                    <m:r>
                      <m:rPr>
                        <m:sty m:val="p"/>
                      </m:rPr>
                      <a:rPr lang="zh-CN" altLang="en-US" sz="2200" i="1">
                        <a:latin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𝑓</m:t>
                    </m:r>
                    <m:r>
                      <a:rPr lang="en-US" altLang="zh-CN" sz="2200" i="1">
                        <a:latin typeface="Cambria Math" panose="02040503050406030204" pitchFamily="18" charset="0"/>
                        <a:ea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e>
                        </m:d>
                      </m:sup>
                    </m:sSup>
                    <m:r>
                      <a:rPr lang="en-US" altLang="zh-CN" sz="2200" i="1">
                        <a:latin typeface="Cambria Math" panose="02040503050406030204" pitchFamily="18" charset="0"/>
                        <a:ea typeface="Cambria Math" panose="02040503050406030204" pitchFamily="18" charset="0"/>
                      </a:rPr>
                      <m:t>)</m:t>
                    </m:r>
                  </m:oMath>
                </a14:m>
                <a:r>
                  <a:rPr lang="en-US" altLang="zh-CN" sz="2200" dirty="0">
                    <a:latin typeface="Cambria Math" panose="02040503050406030204" pitchFamily="18" charset="0"/>
                    <a:ea typeface="Cambria Math" panose="02040503050406030204" pitchFamily="18" charset="0"/>
                  </a:rPr>
                  <a:t>,</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200" dirty="0">
                    <a:latin typeface="Cambria Math" panose="02040503050406030204" pitchFamily="18" charset="0"/>
                    <a:ea typeface="Cambria Math" panose="02040503050406030204" pitchFamily="18" charset="0"/>
                  </a:rPr>
                  <a:t>&gt; = 0 </a:t>
                </a:r>
                <a:endParaRPr lang="zh-CN" altLang="en-US" sz="2200" dirty="0">
                  <a:latin typeface="Cambria Math" panose="020405030504060302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2929321" y="3498736"/>
                <a:ext cx="3429458" cy="361509"/>
              </a:xfrm>
              <a:prstGeom prst="rect">
                <a:avLst/>
              </a:prstGeom>
              <a:blipFill rotWithShape="1">
                <a:blip r:embed="rId2"/>
                <a:stretch>
                  <a:fillRect l="-2" t="-144" r="15" b="-4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753556" y="1467115"/>
                <a:ext cx="6907501" cy="6208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𝑓</m:t>
                      </m:r>
                      <m:d>
                        <m:dPr>
                          <m:ctrlPr>
                            <a:rPr lang="zh-CN" altLang="en-US" sz="2200" i="1">
                              <a:solidFill>
                                <a:srgbClr val="836967"/>
                              </a:solidFill>
                              <a:latin typeface="Cambria Math" panose="02040503050406030204" pitchFamily="18" charset="0"/>
                            </a:rPr>
                          </m:ctrlPr>
                        </m:dPr>
                        <m:e>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solidFill>
                                        <a:srgbClr val="836967"/>
                                      </a:solidFill>
                                      <a:latin typeface="Cambria Math" panose="02040503050406030204" pitchFamily="18" charset="0"/>
                                    </a:rPr>
                                  </m:ctrlPr>
                                </m:dPr>
                                <m:e>
                                  <m:r>
                                    <a:rPr lang="zh-CN" altLang="en-US" sz="2200" i="1">
                                      <a:latin typeface="Cambria Math" panose="02040503050406030204" pitchFamily="18" charset="0"/>
                                    </a:rPr>
                                    <m:t>𝑘</m:t>
                                  </m:r>
                                </m:e>
                              </m:d>
                            </m:sup>
                          </m:sSup>
                          <m:r>
                            <a:rPr lang="zh-CN" altLang="en-US" sz="2200">
                              <a:latin typeface="Cambria Math" panose="02040503050406030204" pitchFamily="18" charset="0"/>
                            </a:rPr>
                            <m:t>−</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𝛼</m:t>
                              </m:r>
                            </m:e>
                            <m:sup>
                              <m:d>
                                <m:dPr>
                                  <m:ctrlPr>
                                    <a:rPr lang="zh-CN" altLang="en-US" sz="2200" i="1">
                                      <a:solidFill>
                                        <a:srgbClr val="836967"/>
                                      </a:solidFill>
                                      <a:latin typeface="Cambria Math" panose="02040503050406030204" pitchFamily="18" charset="0"/>
                                    </a:rPr>
                                  </m:ctrlPr>
                                </m:dPr>
                                <m:e>
                                  <m:r>
                                    <a:rPr lang="zh-CN" altLang="en-US" sz="2200" i="1">
                                      <a:latin typeface="Cambria Math" panose="02040503050406030204" pitchFamily="18" charset="0"/>
                                    </a:rPr>
                                    <m:t>𝑘</m:t>
                                  </m:r>
                                </m:e>
                              </m:d>
                            </m:sup>
                          </m:sSup>
                          <m:r>
                            <m:rPr>
                              <m:sty m:val="p"/>
                            </m:rPr>
                            <a:rPr lang="zh-CN" altLang="en-US" sz="2200">
                              <a:latin typeface="Cambria Math" panose="02040503050406030204" pitchFamily="18" charset="0"/>
                            </a:rPr>
                            <m:t>∇</m:t>
                          </m:r>
                          <m:r>
                            <a:rPr lang="zh-CN" altLang="en-US" sz="2200" i="1">
                              <a:latin typeface="Cambria Math" panose="02040503050406030204" pitchFamily="18" charset="0"/>
                            </a:rPr>
                            <m:t>𝑓</m:t>
                          </m:r>
                          <m:d>
                            <m:dPr>
                              <m:ctrlPr>
                                <a:rPr lang="zh-CN" altLang="en-US" sz="2200" i="1">
                                  <a:solidFill>
                                    <a:srgbClr val="836967"/>
                                  </a:solidFill>
                                  <a:latin typeface="Cambria Math" panose="02040503050406030204" pitchFamily="18" charset="0"/>
                                </a:rPr>
                              </m:ctrlPr>
                            </m:dPr>
                            <m:e>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solidFill>
                                            <a:srgbClr val="836967"/>
                                          </a:solidFill>
                                          <a:latin typeface="Cambria Math" panose="02040503050406030204" pitchFamily="18" charset="0"/>
                                        </a:rPr>
                                      </m:ctrlPr>
                                    </m:dPr>
                                    <m:e>
                                      <m:r>
                                        <a:rPr lang="zh-CN" altLang="en-US" sz="2200" i="1">
                                          <a:latin typeface="Cambria Math" panose="02040503050406030204" pitchFamily="18" charset="0"/>
                                        </a:rPr>
                                        <m:t>𝑘</m:t>
                                      </m:r>
                                    </m:e>
                                  </m:d>
                                </m:sup>
                              </m:sSup>
                            </m:e>
                          </m:d>
                        </m:e>
                      </m:d>
                      <m:r>
                        <a:rPr lang="zh-CN" altLang="en-US" sz="2200">
                          <a:latin typeface="Cambria Math" panose="02040503050406030204" pitchFamily="18" charset="0"/>
                        </a:rPr>
                        <m:t>=</m:t>
                      </m:r>
                      <m:func>
                        <m:funcPr>
                          <m:ctrlPr>
                            <a:rPr lang="zh-CN" altLang="en-US" sz="2200" i="1">
                              <a:latin typeface="Cambria Math" panose="02040503050406030204" pitchFamily="18" charset="0"/>
                            </a:rPr>
                          </m:ctrlPr>
                        </m:funcPr>
                        <m:fName>
                          <m:limLow>
                            <m:limLowPr>
                              <m:ctrlPr>
                                <a:rPr lang="zh-CN" altLang="en-US" sz="2200" i="1">
                                  <a:solidFill>
                                    <a:srgbClr val="836967"/>
                                  </a:solidFill>
                                  <a:latin typeface="Cambria Math" panose="02040503050406030204" pitchFamily="18" charset="0"/>
                                </a:rPr>
                              </m:ctrlPr>
                            </m:limLowPr>
                            <m:e>
                              <m:r>
                                <m:rPr>
                                  <m:sty m:val="p"/>
                                </m:rPr>
                                <a:rPr lang="zh-CN" altLang="en-US" sz="2200">
                                  <a:latin typeface="Cambria Math" panose="02040503050406030204" pitchFamily="18" charset="0"/>
                                </a:rPr>
                                <m:t>min</m:t>
                              </m:r>
                            </m:e>
                            <m:lim>
                              <m:r>
                                <a:rPr lang="zh-CN" altLang="en-US" sz="2200" i="1">
                                  <a:latin typeface="Cambria Math" panose="02040503050406030204" pitchFamily="18" charset="0"/>
                                </a:rPr>
                                <m:t>𝛼</m:t>
                              </m:r>
                              <m:r>
                                <a:rPr lang="zh-CN" altLang="en-US" sz="2200">
                                  <a:latin typeface="Cambria Math" panose="02040503050406030204" pitchFamily="18" charset="0"/>
                                </a:rPr>
                                <m:t>&gt;0</m:t>
                              </m:r>
                            </m:lim>
                          </m:limLow>
                        </m:fName>
                        <m:e>
                          <m:r>
                            <a:rPr lang="zh-CN" altLang="en-US" sz="2200" i="1">
                              <a:latin typeface="Cambria Math" panose="02040503050406030204" pitchFamily="18" charset="0"/>
                            </a:rPr>
                            <m:t>𝑓</m:t>
                          </m:r>
                          <m:d>
                            <m:dPr>
                              <m:ctrlPr>
                                <a:rPr lang="zh-CN" altLang="en-US" sz="2200" i="1">
                                  <a:solidFill>
                                    <a:srgbClr val="836967"/>
                                  </a:solidFill>
                                  <a:latin typeface="Cambria Math" panose="02040503050406030204" pitchFamily="18" charset="0"/>
                                </a:rPr>
                              </m:ctrlPr>
                            </m:dPr>
                            <m:e>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solidFill>
                                            <a:srgbClr val="836967"/>
                                          </a:solidFill>
                                          <a:latin typeface="Cambria Math" panose="02040503050406030204" pitchFamily="18" charset="0"/>
                                        </a:rPr>
                                      </m:ctrlPr>
                                    </m:dPr>
                                    <m:e>
                                      <m:r>
                                        <a:rPr lang="zh-CN" altLang="en-US" sz="2200" i="1">
                                          <a:latin typeface="Cambria Math" panose="02040503050406030204" pitchFamily="18" charset="0"/>
                                        </a:rPr>
                                        <m:t>𝑘</m:t>
                                      </m:r>
                                    </m:e>
                                  </m:d>
                                </m:sup>
                              </m:sSup>
                              <m:r>
                                <a:rPr lang="zh-CN" altLang="en-US" sz="2200">
                                  <a:latin typeface="Cambria Math" panose="02040503050406030204" pitchFamily="18" charset="0"/>
                                </a:rPr>
                                <m:t>−</m:t>
                              </m:r>
                              <m:r>
                                <a:rPr lang="zh-CN" altLang="en-US" sz="2200" i="1">
                                  <a:latin typeface="Cambria Math" panose="02040503050406030204" pitchFamily="18" charset="0"/>
                                </a:rPr>
                                <m:t>𝛼</m:t>
                              </m:r>
                              <m:r>
                                <m:rPr>
                                  <m:sty m:val="p"/>
                                </m:rPr>
                                <a:rPr lang="zh-CN" altLang="en-US" sz="2200">
                                  <a:latin typeface="Cambria Math" panose="02040503050406030204" pitchFamily="18" charset="0"/>
                                </a:rPr>
                                <m:t>∇</m:t>
                              </m:r>
                              <m:r>
                                <a:rPr lang="zh-CN" altLang="en-US" sz="2200" i="1">
                                  <a:latin typeface="Cambria Math" panose="02040503050406030204" pitchFamily="18" charset="0"/>
                                </a:rPr>
                                <m:t>𝑓</m:t>
                              </m:r>
                              <m:d>
                                <m:dPr>
                                  <m:ctrlPr>
                                    <a:rPr lang="zh-CN" altLang="en-US" sz="2200" i="1">
                                      <a:solidFill>
                                        <a:srgbClr val="836967"/>
                                      </a:solidFill>
                                      <a:latin typeface="Cambria Math" panose="02040503050406030204" pitchFamily="18" charset="0"/>
                                    </a:rPr>
                                  </m:ctrlPr>
                                </m:dPr>
                                <m:e>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𝑥</m:t>
                                      </m:r>
                                    </m:e>
                                    <m:sup>
                                      <m:d>
                                        <m:dPr>
                                          <m:ctrlPr>
                                            <a:rPr lang="zh-CN" altLang="en-US" sz="2200" i="1">
                                              <a:solidFill>
                                                <a:srgbClr val="836967"/>
                                              </a:solidFill>
                                              <a:latin typeface="Cambria Math" panose="02040503050406030204" pitchFamily="18" charset="0"/>
                                            </a:rPr>
                                          </m:ctrlPr>
                                        </m:dPr>
                                        <m:e>
                                          <m:r>
                                            <a:rPr lang="zh-CN" altLang="en-US" sz="2200" i="1">
                                              <a:latin typeface="Cambria Math" panose="02040503050406030204" pitchFamily="18" charset="0"/>
                                            </a:rPr>
                                            <m:t>𝑘</m:t>
                                          </m:r>
                                        </m:e>
                                      </m:d>
                                    </m:sup>
                                  </m:sSup>
                                </m:e>
                              </m:d>
                            </m:e>
                          </m:d>
                        </m:e>
                      </m:func>
                    </m:oMath>
                  </m:oMathPara>
                </a14:m>
                <a:endParaRPr lang="zh-CN" altLang="en-US" sz="2200" dirty="0">
                  <a:latin typeface="Cambria Math" panose="02040503050406030204" pitchFamily="18"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753556" y="1467115"/>
                <a:ext cx="6907501" cy="620811"/>
              </a:xfrm>
              <a:prstGeom prst="rect">
                <a:avLst/>
              </a:prstGeom>
              <a:blipFill rotWithShape="1">
                <a:blip r:embed="rId3"/>
                <a:stretch>
                  <a:fillRect l="-5" t="-43" r="4" b="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8"/>
              <p:cNvSpPr txBox="1"/>
              <p:nvPr/>
            </p:nvSpPr>
            <p:spPr>
              <a:xfrm>
                <a:off x="2205140" y="2974408"/>
                <a:ext cx="5332902" cy="381635"/>
              </a:xfrm>
              <a:prstGeom prst="rect">
                <a:avLst/>
              </a:prstGeom>
              <a:noFill/>
            </p:spPr>
            <p:txBody>
              <a:bodyPr wrap="square" lIns="0" tIns="0" rIns="0" bIns="0" rtlCol="0">
                <a:spAutoFit/>
              </a:bodyPr>
              <a:lstStyle/>
              <a:p>
                <a:pPr algn="just"/>
                <a:r>
                  <a:rPr lang="en-US" sz="22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&lt; </a:t>
                </a:r>
                <a14:m>
                  <m:oMath xmlns:m="http://schemas.openxmlformats.org/officeDocument/2006/math">
                    <m:r>
                      <a:rPr lang="en-US" sz="22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2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𝑓</m:t>
                    </m:r>
                    <m:r>
                      <a:rPr lang="en-US" sz="22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sz="2200" i="1" kern="100">
                            <a:latin typeface="Cambria Math" panose="02040503050406030204" pitchFamily="18" charset="0"/>
                            <a:ea typeface="Cambria Math" panose="02040503050406030204" pitchFamily="18" charset="0"/>
                            <a:cs typeface="Times New Roman" panose="02020603050405020304" pitchFamily="18" charset="0"/>
                          </a:rPr>
                          <m:t>𝛼</m:t>
                        </m:r>
                      </m:e>
                      <m:sup>
                        <m:d>
                          <m:dPr>
                            <m:ctrlP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en-US" sz="22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2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en-US" sz="22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&gt; = 0 </a:t>
                </a:r>
                <a:endParaRPr lang="zh-CN" altLang="en-US" sz="2200" kern="100" dirty="0">
                  <a:latin typeface="Cambria Math" panose="02040503050406030204" pitchFamily="18" charset="0"/>
                  <a:ea typeface="等线" panose="02010600030101010101" charset="-122"/>
                  <a:cs typeface="Times New Roman" panose="02020603050405020304" pitchFamily="18" charset="0"/>
                </a:endParaRPr>
              </a:p>
            </p:txBody>
          </p:sp>
        </mc:Choice>
        <mc:Fallback xmlns="">
          <p:sp>
            <p:nvSpPr>
              <p:cNvPr id="11" name="文本框 8"/>
              <p:cNvSpPr txBox="1">
                <a:spLocks noRot="1" noChangeAspect="1" noMove="1" noResize="1" noEditPoints="1" noAdjustHandles="1" noChangeArrowheads="1" noChangeShapeType="1" noTextEdit="1"/>
              </p:cNvSpPr>
              <p:nvPr/>
            </p:nvSpPr>
            <p:spPr>
              <a:xfrm>
                <a:off x="2205140" y="2974408"/>
                <a:ext cx="5332902" cy="381635"/>
              </a:xfrm>
              <a:prstGeom prst="rect">
                <a:avLst/>
              </a:prstGeom>
              <a:blipFill rotWithShape="1">
                <a:blip r:embed="rId4"/>
                <a:stretch>
                  <a:fillRect l="-8" t="-18" r="11" b="18"/>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body" idx="4294967295"/>
          </p:nvPr>
        </p:nvSpPr>
        <p:spPr>
          <a:xfrm>
            <a:off x="467544" y="836712"/>
            <a:ext cx="6156722" cy="4229100"/>
          </a:xfrm>
        </p:spPr>
        <p:txBody>
          <a:bodyPr/>
          <a:lstStyle/>
          <a:p>
            <a:pPr>
              <a:buFont typeface="Wingdings" panose="05000000000000000000" pitchFamily="2" charset="2"/>
              <a:buNone/>
            </a:pPr>
            <a:r>
              <a:rPr lang="en-US" altLang="zh-CN" dirty="0"/>
              <a:t>            </a:t>
            </a:r>
            <a:br>
              <a:rPr lang="zh-CN" altLang="en-US" dirty="0"/>
            </a:br>
            <a:r>
              <a:rPr lang="zh-CN" altLang="en-US" dirty="0"/>
              <a:t>       </a:t>
            </a:r>
            <a:r>
              <a:rPr lang="zh-CN" altLang="en-US" b="1" dirty="0">
                <a:latin typeface="宋体" panose="02010600030101010101" pitchFamily="2" charset="-122"/>
                <a:ea typeface="宋体" panose="02010600030101010101" pitchFamily="2" charset="-122"/>
              </a:rPr>
              <a:t>这是因为</a:t>
            </a:r>
            <a:r>
              <a:rPr lang="zh-CN" altLang="en-US" b="1" dirty="0">
                <a:solidFill>
                  <a:schemeClr val="hlink"/>
                </a:solidFill>
                <a:latin typeface="宋体" panose="02010600030101010101" pitchFamily="2" charset="-122"/>
                <a:ea typeface="宋体" panose="02010600030101010101" pitchFamily="2" charset="-122"/>
              </a:rPr>
              <a:t>梯度是函数的局部性质，</a:t>
            </a:r>
            <a:br>
              <a:rPr lang="zh-CN" altLang="en-US" b="1" dirty="0">
                <a:latin typeface="宋体" panose="02010600030101010101" pitchFamily="2" charset="-122"/>
                <a:ea typeface="宋体" panose="02010600030101010101" pitchFamily="2" charset="-122"/>
              </a:rPr>
            </a:br>
            <a:r>
              <a:rPr lang="zh-CN" altLang="en-US" b="1" dirty="0">
                <a:latin typeface="宋体" panose="02010600030101010101" pitchFamily="2" charset="-122"/>
                <a:ea typeface="宋体" panose="02010600030101010101" pitchFamily="2" charset="-122"/>
              </a:rPr>
              <a:t>从局部上看，在该点</a:t>
            </a:r>
            <a:br>
              <a:rPr lang="zh-CN" altLang="en-US" b="1" dirty="0">
                <a:latin typeface="宋体" panose="02010600030101010101" pitchFamily="2" charset="-122"/>
                <a:ea typeface="宋体" panose="02010600030101010101" pitchFamily="2" charset="-122"/>
              </a:rPr>
            </a:br>
            <a:r>
              <a:rPr lang="zh-CN" altLang="en-US" b="1" dirty="0">
                <a:latin typeface="宋体" panose="02010600030101010101" pitchFamily="2" charset="-122"/>
                <a:ea typeface="宋体" panose="02010600030101010101" pitchFamily="2" charset="-122"/>
              </a:rPr>
              <a:t>附近函数的下降最快，</a:t>
            </a:r>
            <a:br>
              <a:rPr lang="zh-CN" altLang="en-US" b="1" dirty="0">
                <a:latin typeface="宋体" panose="02010600030101010101" pitchFamily="2" charset="-122"/>
                <a:ea typeface="宋体" panose="02010600030101010101" pitchFamily="2" charset="-122"/>
              </a:rPr>
            </a:br>
            <a:r>
              <a:rPr lang="zh-CN" altLang="en-US" b="1" dirty="0">
                <a:latin typeface="宋体" panose="02010600030101010101" pitchFamily="2" charset="-122"/>
                <a:ea typeface="宋体" panose="02010600030101010101" pitchFamily="2" charset="-122"/>
              </a:rPr>
              <a:t>但从总体上看则走了</a:t>
            </a:r>
            <a:br>
              <a:rPr lang="zh-CN" altLang="en-US" b="1" dirty="0">
                <a:latin typeface="宋体" panose="02010600030101010101" pitchFamily="2" charset="-122"/>
                <a:ea typeface="宋体" panose="02010600030101010101" pitchFamily="2" charset="-122"/>
              </a:rPr>
            </a:br>
            <a:r>
              <a:rPr lang="zh-CN" altLang="en-US" b="1" dirty="0">
                <a:latin typeface="宋体" panose="02010600030101010101" pitchFamily="2" charset="-122"/>
                <a:ea typeface="宋体" panose="02010600030101010101" pitchFamily="2" charset="-122"/>
              </a:rPr>
              <a:t>许多弯路，因此函数</a:t>
            </a:r>
            <a:br>
              <a:rPr lang="zh-CN" altLang="en-US" b="1" dirty="0">
                <a:latin typeface="宋体" panose="02010600030101010101" pitchFamily="2" charset="-122"/>
                <a:ea typeface="宋体" panose="02010600030101010101" pitchFamily="2" charset="-122"/>
              </a:rPr>
            </a:br>
            <a:r>
              <a:rPr lang="zh-CN" altLang="en-US" b="1" dirty="0">
                <a:latin typeface="宋体" panose="02010600030101010101" pitchFamily="2" charset="-122"/>
                <a:ea typeface="宋体" panose="02010600030101010101" pitchFamily="2" charset="-122"/>
              </a:rPr>
              <a:t>值的下降并不快。</a:t>
            </a:r>
          </a:p>
        </p:txBody>
      </p:sp>
      <p:graphicFrame>
        <p:nvGraphicFramePr>
          <p:cNvPr id="13314" name="Object 5"/>
          <p:cNvGraphicFramePr>
            <a:graphicFrameLocks noChangeAspect="1"/>
          </p:cNvGraphicFramePr>
          <p:nvPr/>
        </p:nvGraphicFramePr>
        <p:xfrm>
          <a:off x="3971192" y="2369618"/>
          <a:ext cx="3077766" cy="2914650"/>
        </p:xfrm>
        <a:graphic>
          <a:graphicData uri="http://schemas.openxmlformats.org/presentationml/2006/ole">
            <mc:AlternateContent xmlns:mc="http://schemas.openxmlformats.org/markup-compatibility/2006">
              <mc:Choice xmlns:v="urn:schemas-microsoft-com:vml" Requires="v">
                <p:oleObj r:id="rId2" imgW="6667500" imgH="3581400" progId="AutoCAD.Drawing.14">
                  <p:embed/>
                </p:oleObj>
              </mc:Choice>
              <mc:Fallback>
                <p:oleObj r:id="rId2" imgW="6667500" imgH="3581400" progId="AutoCAD.Drawing.14">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l="2127" r="41061"/>
                      <a:stretch>
                        <a:fillRect/>
                      </a:stretch>
                    </p:blipFill>
                    <p:spPr bwMode="auto">
                      <a:xfrm>
                        <a:off x="3971192" y="2369618"/>
                        <a:ext cx="3077766" cy="2914650"/>
                      </a:xfrm>
                      <a:prstGeom prst="rect">
                        <a:avLst/>
                      </a:prstGeom>
                      <a:noFill/>
                      <a:ln>
                        <a:noFill/>
                      </a:ln>
                      <a:effectLst>
                        <a:outerShdw dist="161645"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split orient="vert" dir="in"/>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251520" y="260648"/>
                <a:ext cx="8208912" cy="6435288"/>
              </a:xfrm>
              <a:prstGeom prst="rect">
                <a:avLst/>
              </a:prstGeom>
              <a:noFill/>
            </p:spPr>
            <p:txBody>
              <a:bodyPr wrap="square" rtlCol="0">
                <a:spAutoFit/>
              </a:bodyPr>
              <a:lstStyle/>
              <a:p>
                <a:pPr indent="485775" algn="just">
                  <a:lnSpc>
                    <a:spcPct val="150000"/>
                  </a:lnSpc>
                </a:pPr>
                <a:r>
                  <a:rPr lang="zh-CN" altLang="zh-CN" sz="2200" kern="100" dirty="0">
                    <a:latin typeface="+mn-ea"/>
                    <a:ea typeface="+mn-ea"/>
                    <a:cs typeface="Times New Roman" panose="02020603050405020304" pitchFamily="18" charset="0"/>
                  </a:rPr>
                  <a:t>最速下降法在一定条件下是收敛的。最速下降法产生的序列是线性收敛的，而且收敛性质与极小点处海赛矩阵的特征值有关。</a:t>
                </a:r>
                <a:endParaRPr lang="en-US" altLang="zh-CN" sz="2200" kern="100" dirty="0">
                  <a:latin typeface="+mn-ea"/>
                  <a:ea typeface="+mn-ea"/>
                  <a:cs typeface="Times New Roman" panose="02020603050405020304" pitchFamily="18" charset="0"/>
                </a:endParaRPr>
              </a:p>
              <a:p>
                <a:pPr indent="485775" algn="just" fontAlgn="auto">
                  <a:lnSpc>
                    <a:spcPct val="150000"/>
                  </a:lnSpc>
                </a:pPr>
                <a:r>
                  <a:rPr lang="zh-CN" altLang="zh-CN" sz="2200" b="1" kern="100" dirty="0">
                    <a:solidFill>
                      <a:srgbClr val="0070C0"/>
                    </a:solidFill>
                    <a:latin typeface="+mn-ea"/>
                    <a:ea typeface="+mn-ea"/>
                    <a:cs typeface="Times New Roman" panose="02020603050405020304" pitchFamily="18" charset="0"/>
                  </a:rPr>
                  <a:t>定理</a:t>
                </a:r>
                <a:r>
                  <a:rPr lang="zh-CN" altLang="zh-CN" sz="2200" kern="100" dirty="0">
                    <a:latin typeface="+mn-ea"/>
                    <a:ea typeface="+mn-ea"/>
                    <a:cs typeface="Times New Roman" panose="02020603050405020304" pitchFamily="18" charset="0"/>
                  </a:rPr>
                  <a:t> </a:t>
                </a:r>
                <a:r>
                  <a:rPr lang="en-US" altLang="zh-CN" sz="2200" kern="100" dirty="0">
                    <a:latin typeface="+mn-ea"/>
                    <a:ea typeface="+mn-ea"/>
                    <a:cs typeface="Times New Roman" panose="02020603050405020304" pitchFamily="18" charset="0"/>
                  </a:rPr>
                  <a:t> </a:t>
                </a:r>
                <a:r>
                  <a:rPr lang="zh-CN" altLang="zh-CN" sz="2200" kern="100" dirty="0">
                    <a:latin typeface="+mn-ea"/>
                    <a:ea typeface="+mn-ea"/>
                    <a:cs typeface="Times New Roman" panose="02020603050405020304" pitchFamily="18" charset="0"/>
                  </a:rPr>
                  <a:t>设</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zh-CN" sz="2200" kern="100" dirty="0">
                    <a:latin typeface="+mn-ea"/>
                    <a:ea typeface="+mn-ea"/>
                    <a:cs typeface="Times New Roman" panose="02020603050405020304" pitchFamily="18" charset="0"/>
                  </a:rPr>
                  <a:t>存在连续二阶偏导数，</a:t>
                </a:r>
                <a14:m>
                  <m:oMath xmlns:m="http://schemas.openxmlformats.org/officeDocument/2006/math">
                    <m:sSup>
                      <m:sSup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是局部极小点，海赛矩阵</a:t>
                </a:r>
                <a14:m>
                  <m:oMath xmlns:m="http://schemas.openxmlformats.org/officeDocument/2006/math">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zh-CN" sz="2200" kern="100" dirty="0">
                    <a:latin typeface="+mn-ea"/>
                    <a:ea typeface="+mn-ea"/>
                    <a:cs typeface="Times New Roman" panose="02020603050405020304" pitchFamily="18" charset="0"/>
                  </a:rPr>
                  <a:t>的最小特征值</a:t>
                </a:r>
                <a14:m>
                  <m:oMath xmlns:m="http://schemas.openxmlformats.org/officeDocument/2006/math">
                    <m:r>
                      <a:rPr lang="en-US" altLang="zh-CN" sz="2200" i="1" kern="100" dirty="0">
                        <a:latin typeface="Cambria Math" panose="02040503050406030204" pitchFamily="18" charset="0"/>
                        <a:ea typeface="+mn-ea"/>
                        <a:cs typeface="Times New Roman" panose="02020603050405020304" pitchFamily="18" charset="0"/>
                      </a:rPr>
                      <m:t>𝑎</m:t>
                    </m:r>
                    <m:r>
                      <a:rPr lang="en-US" altLang="zh-CN" sz="2200" i="1" kern="100" dirty="0">
                        <a:latin typeface="Cambria Math" panose="02040503050406030204" pitchFamily="18" charset="0"/>
                        <a:ea typeface="+mn-ea"/>
                        <a:cs typeface="Times New Roman" panose="02020603050405020304" pitchFamily="18" charset="0"/>
                      </a:rPr>
                      <m:t>&gt;0</m:t>
                    </m:r>
                  </m:oMath>
                </a14:m>
                <a:r>
                  <a:rPr lang="zh-CN" altLang="zh-CN" sz="2200" kern="100" dirty="0">
                    <a:latin typeface="+mn-ea"/>
                    <a:ea typeface="+mn-ea"/>
                    <a:cs typeface="Times New Roman" panose="02020603050405020304" pitchFamily="18" charset="0"/>
                  </a:rPr>
                  <a:t>，最大特征值为</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𝐴</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2200" kern="100" dirty="0">
                    <a:latin typeface="+mn-ea"/>
                    <a:ea typeface="+mn-ea"/>
                    <a:cs typeface="Times New Roman" panose="02020603050405020304" pitchFamily="18" charset="0"/>
                  </a:rPr>
                  <a:t>，算法产生的序列</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zh-CN" sz="2200" kern="100" dirty="0">
                    <a:latin typeface="+mn-ea"/>
                    <a:ea typeface="+mn-ea"/>
                    <a:cs typeface="Times New Roman" panose="02020603050405020304" pitchFamily="18" charset="0"/>
                  </a:rPr>
                  <a:t>收敛于</a:t>
                </a:r>
                <a14:m>
                  <m:oMath xmlns:m="http://schemas.openxmlformats.org/officeDocument/2006/math">
                    <m:sSup>
                      <m:sSup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mn-ea"/>
                    <a:ea typeface="+mn-ea"/>
                    <a:cs typeface="Times New Roman" panose="02020603050405020304" pitchFamily="18" charset="0"/>
                  </a:rPr>
                  <a:t>，则目标函数值的序列</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zh-CN" sz="2200" kern="100" dirty="0">
                    <a:latin typeface="+mn-ea"/>
                    <a:ea typeface="+mn-ea"/>
                    <a:cs typeface="Times New Roman" panose="02020603050405020304" pitchFamily="18" charset="0"/>
                  </a:rPr>
                  <a:t>以不大于</a:t>
                </a:r>
                <a14:m>
                  <m:oMath xmlns:m="http://schemas.openxmlformats.org/officeDocument/2006/math">
                    <m:sSup>
                      <m:sSupPr>
                        <m:ctrlPr>
                          <a:rPr lang="zh-CN" altLang="zh-CN" sz="2200" i="1" kern="100">
                            <a:latin typeface="Cambria Math" panose="02040503050406030204" pitchFamily="18" charset="0"/>
                            <a:ea typeface="+mn-ea"/>
                            <a:cs typeface="Times New Roman" panose="02020603050405020304" pitchFamily="18" charset="0"/>
                          </a:rPr>
                        </m:ctrlPr>
                      </m:sSupPr>
                      <m:e>
                        <m:d>
                          <m:dPr>
                            <m:ctrlPr>
                              <a:rPr lang="zh-CN" altLang="zh-CN" sz="2200" i="1" kern="100">
                                <a:latin typeface="Cambria Math" panose="02040503050406030204" pitchFamily="18" charset="0"/>
                                <a:ea typeface="+mn-ea"/>
                                <a:cs typeface="Times New Roman" panose="02020603050405020304" pitchFamily="18" charset="0"/>
                              </a:rPr>
                            </m:ctrlPr>
                          </m:dPr>
                          <m:e>
                            <m:f>
                              <m:fPr>
                                <m:ctrlPr>
                                  <a:rPr lang="zh-CN" altLang="zh-CN" sz="2200" i="1" kern="100">
                                    <a:latin typeface="Cambria Math" panose="02040503050406030204" pitchFamily="18" charset="0"/>
                                    <a:ea typeface="+mn-ea"/>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𝐴</m:t>
                                </m:r>
                                <m:r>
                                  <a:rPr lang="zh-CN" altLang="en-US" sz="2200" i="1" kern="100">
                                    <a:latin typeface="Cambria Math" panose="02040503050406030204" pitchFamily="18" charset="0"/>
                                    <a:ea typeface="+mn-ea"/>
                                    <a:cs typeface="微软雅黑" panose="020B0503020204020204" charset="-122"/>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𝑎</m:t>
                                </m:r>
                              </m:num>
                              <m:den>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𝐴</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𝑎</m:t>
                                </m:r>
                              </m:den>
                            </m:f>
                          </m:e>
                        </m:d>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zh-CN" altLang="zh-CN" sz="2200" kern="100" dirty="0">
                    <a:latin typeface="+mn-ea"/>
                    <a:ea typeface="+mn-ea"/>
                    <a:cs typeface="Times New Roman" panose="02020603050405020304" pitchFamily="18" charset="0"/>
                  </a:rPr>
                  <a:t>的收敛比线性地收敛于</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t>。</m:t>
                    </m:r>
                  </m:oMath>
                </a14:m>
                <a:endParaRPr lang="zh-CN" altLang="zh-CN" sz="2200" kern="100" dirty="0">
                  <a:latin typeface="+mn-ea"/>
                  <a:ea typeface="+mn-ea"/>
                  <a:cs typeface="Times New Roman" panose="02020603050405020304" pitchFamily="18" charset="0"/>
                </a:endParaRPr>
              </a:p>
              <a:p>
                <a:pPr algn="just">
                  <a:lnSpc>
                    <a:spcPct val="150000"/>
                  </a:lnSpc>
                </a:pPr>
                <a:r>
                  <a:rPr lang="en-US" altLang="zh-CN" sz="2200" kern="100" dirty="0">
                    <a:latin typeface="+mn-ea"/>
                    <a:ea typeface="+mn-ea"/>
                    <a:cs typeface="Times New Roman" panose="02020603050405020304" pitchFamily="18" charset="0"/>
                  </a:rPr>
                  <a:t>	</a:t>
                </a:r>
                <a:r>
                  <a:rPr lang="zh-CN" altLang="zh-CN" sz="2200" kern="100" dirty="0">
                    <a:latin typeface="+mn-ea"/>
                    <a:ea typeface="+mn-ea"/>
                    <a:cs typeface="Times New Roman" panose="02020603050405020304" pitchFamily="18" charset="0"/>
                  </a:rPr>
                  <a:t>上述定理中，若令</a:t>
                </a:r>
                <a14:m>
                  <m:oMath xmlns:m="http://schemas.openxmlformats.org/officeDocument/2006/math">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f>
                      <m:fPr>
                        <m:type m:val="lin"/>
                        <m:ctrlPr>
                          <a:rPr lang="zh-CN" altLang="zh-CN" sz="2200" i="1" kern="100">
                            <a:latin typeface="Cambria Math" panose="02040503050406030204" pitchFamily="18" charset="0"/>
                            <a:ea typeface="+mn-ea"/>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𝐴</m:t>
                        </m:r>
                      </m:num>
                      <m:den>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𝑎</m:t>
                        </m:r>
                      </m:den>
                    </m:f>
                  </m:oMath>
                </a14:m>
                <a:r>
                  <a:rPr lang="zh-CN" altLang="zh-CN" sz="2200" kern="100" dirty="0">
                    <a:latin typeface="+mn-ea"/>
                    <a:ea typeface="+mn-ea"/>
                    <a:cs typeface="Times New Roman" panose="02020603050405020304" pitchFamily="18" charset="0"/>
                  </a:rPr>
                  <a:t>，则</a:t>
                </a:r>
                <a:endParaRPr lang="en-US" altLang="zh-CN" sz="2200" kern="100" dirty="0">
                  <a:latin typeface="+mn-ea"/>
                  <a:ea typeface="+mn-ea"/>
                  <a:cs typeface="Times New Roman" panose="02020603050405020304" pitchFamily="18" charset="0"/>
                </a:endParaRPr>
              </a:p>
              <a:p>
                <a:pPr algn="ctr"/>
                <a14:m>
                  <m:oMath xmlns:m="http://schemas.openxmlformats.org/officeDocument/2006/math">
                    <m:sSup>
                      <m:sSupPr>
                        <m:ctrlPr>
                          <a:rPr lang="zh-CN" altLang="zh-CN" sz="2200" i="1" kern="100">
                            <a:latin typeface="Cambria Math" panose="02040503050406030204" pitchFamily="18" charset="0"/>
                            <a:ea typeface="+mn-ea"/>
                            <a:cs typeface="Times New Roman" panose="02020603050405020304" pitchFamily="18" charset="0"/>
                          </a:rPr>
                        </m:ctrlPr>
                      </m:sSupPr>
                      <m:e>
                        <m:d>
                          <m:dPr>
                            <m:ctrlPr>
                              <a:rPr lang="zh-CN" altLang="zh-CN" sz="2200" i="1" kern="100">
                                <a:latin typeface="Cambria Math" panose="02040503050406030204" pitchFamily="18" charset="0"/>
                                <a:ea typeface="+mn-ea"/>
                                <a:cs typeface="Times New Roman" panose="02020603050405020304" pitchFamily="18" charset="0"/>
                              </a:rPr>
                            </m:ctrlPr>
                          </m:dPr>
                          <m:e>
                            <m:f>
                              <m:fPr>
                                <m:ctrlPr>
                                  <a:rPr lang="zh-CN" altLang="zh-CN" sz="2200" i="1" kern="100">
                                    <a:latin typeface="Cambria Math" panose="02040503050406030204" pitchFamily="18" charset="0"/>
                                    <a:ea typeface="+mn-ea"/>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𝐴</m:t>
                                </m:r>
                                <m:r>
                                  <a:rPr lang="zh-CN" altLang="en-US" sz="2200" i="1" kern="100">
                                    <a:latin typeface="Cambria Math" panose="02040503050406030204" pitchFamily="18" charset="0"/>
                                    <a:ea typeface="+mn-ea"/>
                                    <a:cs typeface="微软雅黑" panose="020B0503020204020204" charset="-122"/>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𝑎</m:t>
                                </m:r>
                              </m:num>
                              <m:den>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𝐴</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𝑎</m:t>
                                </m:r>
                              </m:den>
                            </m:f>
                          </m:e>
                        </m:d>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mn-ea"/>
                            <a:cs typeface="Times New Roman" panose="02020603050405020304" pitchFamily="18" charset="0"/>
                          </a:rPr>
                        </m:ctrlPr>
                      </m:sSupPr>
                      <m:e>
                        <m:d>
                          <m:dPr>
                            <m:ctrlPr>
                              <a:rPr lang="zh-CN" altLang="zh-CN" sz="2200" i="1" kern="100">
                                <a:latin typeface="Cambria Math" panose="02040503050406030204" pitchFamily="18" charset="0"/>
                                <a:ea typeface="+mn-ea"/>
                                <a:cs typeface="Times New Roman" panose="02020603050405020304" pitchFamily="18" charset="0"/>
                              </a:rPr>
                            </m:ctrlPr>
                          </m:dPr>
                          <m:e>
                            <m:f>
                              <m:fPr>
                                <m:ctrlPr>
                                  <a:rPr lang="zh-CN" altLang="zh-CN" sz="2200" i="1" kern="100">
                                    <a:latin typeface="Cambria Math" panose="02040503050406030204" pitchFamily="18" charset="0"/>
                                    <a:ea typeface="+mn-ea"/>
                                    <a:cs typeface="Times New Roman" panose="02020603050405020304" pitchFamily="18" charset="0"/>
                                  </a:rPr>
                                </m:ctrlPr>
                              </m:fPr>
                              <m:nu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𝑟</m:t>
                                </m:r>
                                <m:r>
                                  <a:rPr lang="zh-CN" altLang="en-US" sz="2200" i="1" kern="100">
                                    <a:latin typeface="Cambria Math" panose="02040503050406030204" pitchFamily="18" charset="0"/>
                                    <a:ea typeface="+mn-ea"/>
                                    <a:cs typeface="微软雅黑" panose="020B0503020204020204" charset="-122"/>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num>
                              <m:den>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𝑟</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den>
                            </m:f>
                          </m:e>
                        </m:d>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&lt;1</m:t>
                    </m:r>
                  </m:oMath>
                </a14:m>
                <a:r>
                  <a:rPr lang="zh-CN" altLang="en-US" sz="2200" kern="100" dirty="0">
                    <a:latin typeface="+mn-ea"/>
                    <a:ea typeface="+mn-ea"/>
                    <a:cs typeface="Times New Roman" panose="02020603050405020304" pitchFamily="18" charset="0"/>
                  </a:rPr>
                  <a:t>，</a:t>
                </a:r>
                <a:endParaRPr lang="zh-CN" altLang="zh-CN" sz="2200" kern="100" dirty="0">
                  <a:latin typeface="+mn-ea"/>
                  <a:ea typeface="+mn-ea"/>
                  <a:cs typeface="Times New Roman" panose="02020603050405020304" pitchFamily="18" charset="0"/>
                </a:endParaRPr>
              </a:p>
              <a:p>
                <a:pPr algn="just">
                  <a:lnSpc>
                    <a:spcPct val="150000"/>
                  </a:lnSpc>
                </a:pPr>
                <a14:m>
                  <m:oMath xmlns:m="http://schemas.openxmlformats.org/officeDocument/2006/math">
                    <m:r>
                      <a:rPr lang="en-US" altLang="zh-CN" sz="2200" i="1" kern="100" dirty="0">
                        <a:latin typeface="Cambria Math" panose="02040503050406030204" pitchFamily="18" charset="0"/>
                        <a:ea typeface="Cambria Math" panose="02040503050406030204" pitchFamily="18" charset="0"/>
                        <a:cs typeface="Times New Roman" panose="02020603050405020304" pitchFamily="18" charset="0"/>
                      </a:rPr>
                      <m:t>𝑟</m:t>
                    </m:r>
                  </m:oMath>
                </a14:m>
                <a:r>
                  <a:rPr lang="zh-CN" altLang="zh-CN" sz="2200" kern="100" dirty="0">
                    <a:latin typeface="+mn-ea"/>
                    <a:ea typeface="+mn-ea"/>
                    <a:cs typeface="Times New Roman" panose="02020603050405020304" pitchFamily="18" charset="0"/>
                  </a:rPr>
                  <a:t>是对称正定矩阵</a:t>
                </a:r>
                <a14:m>
                  <m:oMath xmlns:m="http://schemas.openxmlformats.org/officeDocument/2006/math">
                    <m:sSup>
                      <m:sSupPr>
                        <m:ctrlPr>
                          <a:rPr lang="zh-CN" altLang="zh-CN" sz="2200" i="1" kern="100">
                            <a:latin typeface="Cambria Math" panose="02040503050406030204" pitchFamily="18" charset="0"/>
                            <a:ea typeface="+mn-ea"/>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Cambria Math" panose="02040503050406030204" pitchFamily="18" charset="0"/>
                          </a:rPr>
                          <m:t>𝛻</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zh-CN" altLang="en-US" sz="22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zh-CN" sz="2200" kern="100" dirty="0">
                    <a:latin typeface="+mn-ea"/>
                    <a:ea typeface="+mn-ea"/>
                    <a:cs typeface="Times New Roman" panose="02020603050405020304" pitchFamily="18" charset="0"/>
                  </a:rPr>
                  <a:t>的条件数，条件数越小，收敛越快；条件数越大，收敛越慢。</a:t>
                </a:r>
              </a:p>
              <a:p>
                <a:endParaRPr lang="zh-CN" altLang="en-US" sz="2200" dirty="0"/>
              </a:p>
            </p:txBody>
          </p:sp>
        </mc:Choice>
        <mc:Fallback xmlns="">
          <p:sp>
            <p:nvSpPr>
              <p:cNvPr id="2" name="文本框 1"/>
              <p:cNvSpPr txBox="1">
                <a:spLocks noRot="1" noChangeAspect="1" noMove="1" noResize="1" noEditPoints="1" noAdjustHandles="1" noChangeArrowheads="1" noChangeShapeType="1" noTextEdit="1"/>
              </p:cNvSpPr>
              <p:nvPr/>
            </p:nvSpPr>
            <p:spPr>
              <a:xfrm>
                <a:off x="251520" y="260648"/>
                <a:ext cx="8208912" cy="6435288"/>
              </a:xfrm>
              <a:prstGeom prst="rect">
                <a:avLst/>
              </a:prstGeom>
              <a:blipFill rotWithShape="1">
                <a:blip r:embed="rId2"/>
                <a:stretch>
                  <a:fillRect l="-1" t="-5" r="4" b="8"/>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39261" y="476672"/>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四、小结</a:t>
            </a:r>
            <a:endParaRPr lang="zh-CN" altLang="zh-CN" sz="2400" kern="100" dirty="0">
              <a:latin typeface="Times New Roman" panose="02020603050405020304" pitchFamily="18" charset="0"/>
            </a:endParaRPr>
          </a:p>
        </p:txBody>
      </p:sp>
      <p:sp>
        <p:nvSpPr>
          <p:cNvPr id="7" name="文本框 6"/>
          <p:cNvSpPr txBox="1"/>
          <p:nvPr/>
        </p:nvSpPr>
        <p:spPr>
          <a:xfrm>
            <a:off x="323528" y="980728"/>
            <a:ext cx="8496944" cy="5575309"/>
          </a:xfrm>
          <a:prstGeom prst="rect">
            <a:avLst/>
          </a:prstGeom>
          <a:noFill/>
        </p:spPr>
        <p:txBody>
          <a:bodyPr wrap="square">
            <a:spAutoFit/>
          </a:bodyPr>
          <a:lstStyle/>
          <a:p>
            <a:pPr marL="214630" indent="-214630" algn="just">
              <a:lnSpc>
                <a:spcPct val="150000"/>
              </a:lnSpc>
              <a:buFont typeface="Wingdings" panose="05000000000000000000" pitchFamily="2" charset="2"/>
              <a:buChar char="Ø"/>
            </a:pPr>
            <a:r>
              <a:rPr lang="zh-CN" altLang="zh-CN" sz="2000" dirty="0"/>
              <a:t>最速下降法对初始点的选择要求不高，每一轮迭代工作量较少，它可以比较快地从初始点达到极小点附近</a:t>
            </a:r>
            <a:r>
              <a:rPr lang="zh-CN" altLang="en-US" sz="2000" dirty="0"/>
              <a:t>。</a:t>
            </a:r>
            <a:r>
              <a:rPr lang="zh-CN" altLang="zh-CN" sz="2000" dirty="0"/>
              <a:t>从局部看，最速下降方向的确是目标函数值下降最快的方向，选择这样的方向进行搜索是有利的</a:t>
            </a:r>
            <a:r>
              <a:rPr lang="zh-CN" altLang="en-US" sz="2000" dirty="0"/>
              <a:t>。</a:t>
            </a:r>
            <a:r>
              <a:rPr lang="zh-CN" altLang="zh-CN" sz="2000" dirty="0"/>
              <a:t>但从全局看，由于锯齿现象的影响，即使向着极小点移近不太大的距离，也要经历不小的“弯路”，因此收敛速率大为减慢</a:t>
            </a:r>
            <a:r>
              <a:rPr lang="zh-CN" altLang="en-US" sz="2000" dirty="0"/>
              <a:t>。</a:t>
            </a:r>
            <a:endParaRPr lang="en-US" altLang="zh-CN" sz="2000" dirty="0"/>
          </a:p>
          <a:p>
            <a:pPr marL="214630" indent="-214630" algn="just">
              <a:lnSpc>
                <a:spcPct val="150000"/>
              </a:lnSpc>
              <a:buFont typeface="Wingdings" panose="05000000000000000000" pitchFamily="2" charset="2"/>
              <a:buChar char="Ø"/>
            </a:pPr>
            <a:r>
              <a:rPr lang="zh-CN" altLang="zh-CN" sz="2000" dirty="0"/>
              <a:t>最速下降法并不是收敛最快的方法，从全局看，它的收敛是比较慢的</a:t>
            </a:r>
            <a:r>
              <a:rPr lang="zh-CN" altLang="en-US" sz="2000" dirty="0"/>
              <a:t>。</a:t>
            </a:r>
            <a:r>
              <a:rPr lang="zh-CN" altLang="zh-CN" sz="2000" dirty="0"/>
              <a:t>因此，最速下降法一般适用于计算过程的前期迭代</a:t>
            </a:r>
            <a:r>
              <a:rPr lang="zh-CN" altLang="en-US" sz="2000" dirty="0"/>
              <a:t>。</a:t>
            </a:r>
            <a:r>
              <a:rPr lang="zh-CN" altLang="zh-CN" sz="2000" dirty="0"/>
              <a:t>当接近极小点时，再使用此方法，试图达到迭代的终止，并非有利</a:t>
            </a:r>
            <a:r>
              <a:rPr lang="zh-CN" altLang="en-US" sz="2000" dirty="0"/>
              <a:t>。</a:t>
            </a:r>
            <a:endParaRPr lang="en-US" altLang="zh-CN" sz="2000" dirty="0"/>
          </a:p>
          <a:p>
            <a:pPr marL="214630" indent="-214630" algn="just">
              <a:lnSpc>
                <a:spcPct val="150000"/>
              </a:lnSpc>
              <a:buFont typeface="Wingdings" panose="05000000000000000000" pitchFamily="2" charset="2"/>
              <a:buChar char="Ø"/>
            </a:pPr>
            <a:r>
              <a:rPr lang="zh-CN" altLang="zh-CN" sz="2000" kern="100" dirty="0">
                <a:solidFill>
                  <a:srgbClr val="000000"/>
                </a:solidFill>
                <a:latin typeface="Times New Roman" panose="02020603050405020304" pitchFamily="18" charset="0"/>
              </a:rPr>
              <a:t>从最速下降法的终止条件可以看出，用最速下降法求出的近似极小点，</a:t>
            </a:r>
            <a:r>
              <a:rPr lang="zh-CN" altLang="zh-CN" sz="2000" u="sng" kern="100" dirty="0">
                <a:solidFill>
                  <a:srgbClr val="FF0000"/>
                </a:solidFill>
                <a:latin typeface="Times New Roman" panose="02020603050405020304" pitchFamily="18" charset="0"/>
              </a:rPr>
              <a:t>仅仅是</a:t>
            </a:r>
            <a:r>
              <a:rPr lang="zh-CN" altLang="en-US" sz="2000" u="sng" kern="100" dirty="0">
                <a:solidFill>
                  <a:srgbClr val="FF0000"/>
                </a:solidFill>
                <a:latin typeface="Times New Roman" panose="02020603050405020304" pitchFamily="18" charset="0"/>
              </a:rPr>
              <a:t>目标函数的</a:t>
            </a:r>
            <a:r>
              <a:rPr lang="zh-CN" altLang="zh-CN" sz="2000" u="sng" kern="100" dirty="0">
                <a:solidFill>
                  <a:srgbClr val="FF0000"/>
                </a:solidFill>
                <a:latin typeface="Times New Roman" panose="02020603050405020304" pitchFamily="18" charset="0"/>
              </a:rPr>
              <a:t>驻点而已</a:t>
            </a:r>
            <a:r>
              <a:rPr lang="zh-CN" altLang="zh-CN" sz="2000" kern="100" dirty="0">
                <a:solidFill>
                  <a:srgbClr val="000000"/>
                </a:solidFill>
                <a:latin typeface="Times New Roman" panose="02020603050405020304" pitchFamily="18" charset="0"/>
              </a:rPr>
              <a:t>（也就是说仅仅满足极值点的必要条件），它未必是真正的极小点，即使是极小点，也可能是局部的极小点</a:t>
            </a:r>
            <a:r>
              <a:rPr lang="zh-CN" altLang="en-US" sz="2000" kern="100" dirty="0">
                <a:solidFill>
                  <a:srgbClr val="000000"/>
                </a:solidFill>
                <a:latin typeface="Times New Roman" panose="02020603050405020304" pitchFamily="18" charset="0"/>
              </a:rPr>
              <a:t>。</a:t>
            </a:r>
            <a:endParaRPr lang="zh-CN" altLang="zh-CN" sz="2000" kern="100" dirty="0">
              <a:latin typeface="Times New Roman" panose="02020603050405020304" pitchFamily="18" charset="0"/>
            </a:endParaRPr>
          </a:p>
          <a:p>
            <a:pPr>
              <a:lnSpc>
                <a:spcPct val="150000"/>
              </a:lnSpc>
            </a:pPr>
            <a:endParaRPr lang="zh-CN" altLang="zh-CN"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p:cNvGrpSpPr/>
          <p:nvPr/>
        </p:nvGrpSpPr>
        <p:grpSpPr bwMode="auto">
          <a:xfrm>
            <a:off x="1619672" y="1340768"/>
            <a:ext cx="6264696" cy="5145601"/>
            <a:chOff x="2654" y="1972"/>
            <a:chExt cx="6706" cy="4808"/>
          </a:xfrm>
        </p:grpSpPr>
        <p:pic>
          <p:nvPicPr>
            <p:cNvPr id="3"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54" y="1972"/>
              <a:ext cx="6706" cy="3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11"/>
            <p:cNvSpPr txBox="1">
              <a:spLocks noChangeArrowheads="1"/>
            </p:cNvSpPr>
            <p:nvPr/>
          </p:nvSpPr>
          <p:spPr bwMode="auto">
            <a:xfrm>
              <a:off x="3743" y="6177"/>
              <a:ext cx="4351" cy="603"/>
            </a:xfrm>
            <a:prstGeom prst="rect">
              <a:avLst/>
            </a:prstGeom>
            <a:solidFill>
              <a:schemeClr val="bg1">
                <a:lumMod val="100000"/>
                <a:lumOff val="0"/>
              </a:schemeClr>
            </a:solidFill>
            <a:ln w="9525">
              <a:solidFill>
                <a:schemeClr val="bg1"/>
              </a:solidFill>
              <a:miter lim="800000"/>
            </a:ln>
          </p:spPr>
          <p:txBody>
            <a:bodyPr rot="0" vert="horz" wrap="square" lIns="91440" tIns="45720" rIns="91440" bIns="45720" anchor="t" anchorCtr="0" upright="1">
              <a:noAutofit/>
            </a:bodyPr>
            <a:lstStyle/>
            <a:p>
              <a:pPr>
                <a:lnSpc>
                  <a:spcPct val="150000"/>
                </a:lnSpc>
              </a:pPr>
              <a:r>
                <a:rPr lang="zh-CN" sz="2000" kern="100" dirty="0">
                  <a:effectLst/>
                  <a:latin typeface="Times New Roman" panose="02020603050405020304" pitchFamily="18" charset="0"/>
                  <a:ea typeface="宋体" panose="02010600030101010101" pitchFamily="2" charset="-122"/>
                </a:rPr>
                <a:t>图</a:t>
              </a:r>
              <a:r>
                <a:rPr lang="en-US" altLang="zh-CN" sz="2000" kern="100" dirty="0">
                  <a:latin typeface="Times New Roman" panose="02020603050405020304" pitchFamily="18" charset="0"/>
                  <a:ea typeface="宋体" panose="02010600030101010101" pitchFamily="2" charset="-122"/>
                </a:rPr>
                <a:t>1</a:t>
              </a:r>
              <a:r>
                <a:rPr lang="en-US" sz="2000" kern="100" dirty="0">
                  <a:effectLst/>
                  <a:latin typeface="Times New Roman" panose="02020603050405020304" pitchFamily="18" charset="0"/>
                  <a:ea typeface="宋体" panose="02010600030101010101" pitchFamily="2" charset="-122"/>
                </a:rPr>
                <a:t> </a:t>
              </a:r>
              <a:r>
                <a:rPr lang="en-US" sz="2000" kern="100" dirty="0">
                  <a:latin typeface="Times New Roman" panose="02020603050405020304" pitchFamily="18" charset="0"/>
                  <a:ea typeface="宋体" panose="02010600030101010101" pitchFamily="2" charset="-122"/>
                </a:rPr>
                <a:t>    </a:t>
              </a:r>
              <a:r>
                <a:rPr lang="zh-CN" sz="2000" kern="100" dirty="0">
                  <a:effectLst/>
                  <a:latin typeface="Times New Roman" panose="02020603050405020304" pitchFamily="18" charset="0"/>
                  <a:ea typeface="宋体" panose="02010600030101010101" pitchFamily="2" charset="-122"/>
                </a:rPr>
                <a:t>四层神经网络模型</a:t>
              </a:r>
            </a:p>
          </p:txBody>
        </p:sp>
      </p:grpSp>
      <mc:AlternateContent xmlns:mc="http://schemas.openxmlformats.org/markup-compatibility/2006" xmlns:a14="http://schemas.microsoft.com/office/drawing/2010/main">
        <mc:Choice Requires="a14">
          <p:sp>
            <p:nvSpPr>
              <p:cNvPr id="5" name="文本框 4"/>
              <p:cNvSpPr txBox="1"/>
              <p:nvPr/>
            </p:nvSpPr>
            <p:spPr>
              <a:xfrm>
                <a:off x="573106" y="1019703"/>
                <a:ext cx="4572000" cy="5091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zh-CN" altLang="en-US" sz="2400" i="1" smtClean="0">
                              <a:solidFill>
                                <a:srgbClr val="836967"/>
                              </a:solidFill>
                              <a:latin typeface="Cambria Math" panose="02040503050406030204" pitchFamily="18" charset="0"/>
                            </a:rPr>
                          </m:ctrlPr>
                        </m:eqArrPr>
                        <m:e>
                          <m:r>
                            <a:rPr lang="zh-CN" altLang="en-US" sz="2400">
                              <a:latin typeface="Cambria Math" panose="02040503050406030204" pitchFamily="18" charset="0"/>
                            </a:rPr>
                            <m:t>&amp;</m:t>
                          </m:r>
                          <m:r>
                            <a:rPr lang="zh-CN" altLang="en-US" sz="2400" i="1">
                              <a:latin typeface="Cambria Math" panose="02040503050406030204" pitchFamily="18" charset="0"/>
                            </a:rPr>
                            <m:t>𝑦</m:t>
                          </m:r>
                          <m:r>
                            <a:rPr lang="zh-CN" altLang="en-US" sz="2400" i="0">
                              <a:latin typeface="Cambria Math" panose="02040503050406030204" pitchFamily="18" charset="0"/>
                            </a:rPr>
                            <m:t>=</m:t>
                          </m:r>
                          <m:sSup>
                            <m:sSupPr>
                              <m:ctrlPr>
                                <a:rPr lang="zh-CN" altLang="en-US" sz="2400" b="1" i="1" smtClean="0">
                                  <a:solidFill>
                                    <a:srgbClr val="0070C0"/>
                                  </a:solidFill>
                                  <a:latin typeface="Cambria Math" panose="02040503050406030204" pitchFamily="18" charset="0"/>
                                </a:rPr>
                              </m:ctrlPr>
                            </m:sSupPr>
                            <m:e>
                              <m:r>
                                <a:rPr lang="zh-CN" altLang="en-US" sz="2400" b="1" i="1">
                                  <a:solidFill>
                                    <a:srgbClr val="0070C0"/>
                                  </a:solidFill>
                                  <a:latin typeface="Cambria Math" panose="02040503050406030204" pitchFamily="18" charset="0"/>
                                </a:rPr>
                                <m:t>𝒇</m:t>
                              </m:r>
                            </m:e>
                            <m:sup>
                              <m:r>
                                <a:rPr lang="en-US" altLang="zh-CN" sz="2400" b="1" i="1" smtClean="0">
                                  <a:solidFill>
                                    <a:srgbClr val="0070C0"/>
                                  </a:solidFill>
                                  <a:latin typeface="Cambria Math" panose="02040503050406030204" pitchFamily="18" charset="0"/>
                                </a:rPr>
                                <m:t>𝟒</m:t>
                              </m:r>
                            </m:sup>
                          </m:sSup>
                          <m:r>
                            <a:rPr lang="en-US" altLang="zh-CN" sz="2400" b="0" i="1" smtClean="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𝑊</m:t>
                              </m:r>
                            </m:e>
                            <m:sup>
                              <m:r>
                                <a:rPr lang="en-US" altLang="zh-CN" sz="2400" b="0" i="0" smtClean="0">
                                  <a:latin typeface="Cambria Math" panose="02040503050406030204" pitchFamily="18" charset="0"/>
                                </a:rPr>
                                <m:t>4</m:t>
                              </m:r>
                              <m:r>
                                <a:rPr lang="zh-CN" altLang="en-US" sz="2400">
                                  <a:latin typeface="Cambria Math" panose="02040503050406030204" pitchFamily="18" charset="0"/>
                                </a:rPr>
                                <m:t>,</m:t>
                              </m:r>
                              <m:r>
                                <a:rPr lang="en-US" altLang="zh-CN" sz="2400" b="0" i="1" smtClean="0">
                                  <a:latin typeface="Cambria Math" panose="02040503050406030204" pitchFamily="18" charset="0"/>
                                </a:rPr>
                                <m:t>3</m:t>
                              </m:r>
                            </m:sup>
                          </m:sSup>
                          <m:sSup>
                            <m:sSupPr>
                              <m:ctrlPr>
                                <a:rPr lang="zh-CN" altLang="en-US" sz="2400" b="1" i="1" smtClean="0">
                                  <a:solidFill>
                                    <a:srgbClr val="0070C0"/>
                                  </a:solidFill>
                                  <a:latin typeface="Cambria Math" panose="02040503050406030204" pitchFamily="18" charset="0"/>
                                </a:rPr>
                              </m:ctrlPr>
                            </m:sSupPr>
                            <m:e>
                              <m:r>
                                <a:rPr lang="zh-CN" altLang="en-US" sz="2400" b="1" i="1">
                                  <a:solidFill>
                                    <a:srgbClr val="0070C0"/>
                                  </a:solidFill>
                                  <a:latin typeface="Cambria Math" panose="02040503050406030204" pitchFamily="18" charset="0"/>
                                </a:rPr>
                                <m:t>𝒇</m:t>
                              </m:r>
                            </m:e>
                            <m:sup>
                              <m:r>
                                <a:rPr lang="zh-CN" altLang="en-US" sz="2400" b="1" i="0">
                                  <a:solidFill>
                                    <a:srgbClr val="0070C0"/>
                                  </a:solidFill>
                                  <a:latin typeface="Cambria Math" panose="02040503050406030204" pitchFamily="18" charset="0"/>
                                </a:rPr>
                                <m:t>𝟑</m:t>
                              </m:r>
                            </m:sup>
                          </m:sSup>
                          <m:d>
                            <m:dPr>
                              <m:ctrlPr>
                                <a:rPr lang="zh-CN" altLang="en-US" sz="2400" i="1">
                                  <a:solidFill>
                                    <a:srgbClr val="836967"/>
                                  </a:solidFill>
                                  <a:latin typeface="Cambria Math" panose="02040503050406030204" pitchFamily="18" charset="0"/>
                                </a:rPr>
                              </m:ctrlPr>
                            </m:dPr>
                            <m:e>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𝑊</m:t>
                                  </m:r>
                                </m:e>
                                <m:sup>
                                  <m:r>
                                    <a:rPr lang="zh-CN" altLang="en-US" sz="2400" i="0">
                                      <a:latin typeface="Cambria Math" panose="02040503050406030204" pitchFamily="18" charset="0"/>
                                    </a:rPr>
                                    <m:t>3,2</m:t>
                                  </m:r>
                                </m:sup>
                              </m:sSup>
                              <m:sSup>
                                <m:sSupPr>
                                  <m:ctrlPr>
                                    <a:rPr lang="zh-CN" altLang="en-US" sz="2400" b="1" i="1" smtClean="0">
                                      <a:solidFill>
                                        <a:srgbClr val="0070C0"/>
                                      </a:solidFill>
                                      <a:latin typeface="Cambria Math" panose="02040503050406030204" pitchFamily="18" charset="0"/>
                                    </a:rPr>
                                  </m:ctrlPr>
                                </m:sSupPr>
                                <m:e>
                                  <m:r>
                                    <a:rPr lang="zh-CN" altLang="en-US" sz="2400" b="1" i="1">
                                      <a:solidFill>
                                        <a:srgbClr val="0070C0"/>
                                      </a:solidFill>
                                      <a:latin typeface="Cambria Math" panose="02040503050406030204" pitchFamily="18" charset="0"/>
                                    </a:rPr>
                                    <m:t>𝒇</m:t>
                                  </m:r>
                                </m:e>
                                <m:sup>
                                  <m:r>
                                    <a:rPr lang="zh-CN" altLang="en-US" sz="2400" b="1" i="0">
                                      <a:solidFill>
                                        <a:srgbClr val="0070C0"/>
                                      </a:solidFill>
                                      <a:latin typeface="Cambria Math" panose="02040503050406030204" pitchFamily="18" charset="0"/>
                                    </a:rPr>
                                    <m:t>𝟐</m:t>
                                  </m:r>
                                </m:sup>
                              </m:sSup>
                              <m:d>
                                <m:dPr>
                                  <m:ctrlPr>
                                    <a:rPr lang="zh-CN" altLang="en-US" sz="2400" i="1">
                                      <a:solidFill>
                                        <a:srgbClr val="836967"/>
                                      </a:solidFill>
                                      <a:latin typeface="Cambria Math" panose="02040503050406030204" pitchFamily="18" charset="0"/>
                                    </a:rPr>
                                  </m:ctrlPr>
                                </m:dPr>
                                <m:e>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𝑊</m:t>
                                      </m:r>
                                    </m:e>
                                    <m:sup>
                                      <m:r>
                                        <a:rPr lang="zh-CN" altLang="en-US" sz="2400" i="0">
                                          <a:latin typeface="Cambria Math" panose="02040503050406030204" pitchFamily="18" charset="0"/>
                                        </a:rPr>
                                        <m:t>2,1</m:t>
                                      </m:r>
                                    </m:sup>
                                  </m:sSup>
                                  <m:sSup>
                                    <m:sSupPr>
                                      <m:ctrlPr>
                                        <a:rPr lang="zh-CN" altLang="en-US" sz="2400" b="1" i="1" smtClean="0">
                                          <a:solidFill>
                                            <a:srgbClr val="0070C0"/>
                                          </a:solidFill>
                                          <a:latin typeface="Cambria Math" panose="02040503050406030204" pitchFamily="18" charset="0"/>
                                        </a:rPr>
                                      </m:ctrlPr>
                                    </m:sSupPr>
                                    <m:e>
                                      <m:r>
                                        <a:rPr lang="zh-CN" altLang="en-US" sz="2400" b="1" i="1">
                                          <a:solidFill>
                                            <a:srgbClr val="0070C0"/>
                                          </a:solidFill>
                                          <a:latin typeface="Cambria Math" panose="02040503050406030204" pitchFamily="18" charset="0"/>
                                        </a:rPr>
                                        <m:t>𝒇</m:t>
                                      </m:r>
                                    </m:e>
                                    <m:sup>
                                      <m:r>
                                        <a:rPr lang="zh-CN" altLang="en-US" sz="2400" b="1" i="0">
                                          <a:solidFill>
                                            <a:srgbClr val="0070C0"/>
                                          </a:solidFill>
                                          <a:latin typeface="Cambria Math" panose="02040503050406030204" pitchFamily="18" charset="0"/>
                                        </a:rPr>
                                        <m:t>𝟏</m:t>
                                      </m:r>
                                    </m:sup>
                                  </m:sSup>
                                  <m:d>
                                    <m:dPr>
                                      <m:ctrlPr>
                                        <a:rPr lang="zh-CN" altLang="en-US" sz="2400" b="1" i="1">
                                          <a:solidFill>
                                            <a:srgbClr val="0070C0"/>
                                          </a:solidFill>
                                          <a:latin typeface="Cambria Math" panose="02040503050406030204" pitchFamily="18" charset="0"/>
                                        </a:rPr>
                                      </m:ctrlPr>
                                    </m:dPr>
                                    <m:e>
                                      <m:sSup>
                                        <m:sSupPr>
                                          <m:ctrlPr>
                                            <a:rPr lang="zh-CN" altLang="en-US" sz="2400" b="1" i="1">
                                              <a:solidFill>
                                                <a:srgbClr val="0070C0"/>
                                              </a:solidFill>
                                              <a:latin typeface="Cambria Math" panose="02040503050406030204" pitchFamily="18" charset="0"/>
                                            </a:rPr>
                                          </m:ctrlPr>
                                        </m:sSupPr>
                                        <m:e>
                                          <m:r>
                                            <a:rPr lang="zh-CN" altLang="en-US" sz="2400" b="1" i="1">
                                              <a:solidFill>
                                                <a:srgbClr val="0070C0"/>
                                              </a:solidFill>
                                              <a:latin typeface="Cambria Math" panose="02040503050406030204" pitchFamily="18" charset="0"/>
                                            </a:rPr>
                                            <m:t>𝑾</m:t>
                                          </m:r>
                                        </m:e>
                                        <m:sup>
                                          <m:r>
                                            <a:rPr lang="zh-CN" altLang="en-US" sz="2400" b="1" i="0">
                                              <a:solidFill>
                                                <a:srgbClr val="0070C0"/>
                                              </a:solidFill>
                                              <a:latin typeface="Cambria Math" panose="02040503050406030204" pitchFamily="18" charset="0"/>
                                            </a:rPr>
                                            <m:t>𝟏</m:t>
                                          </m:r>
                                          <m:r>
                                            <a:rPr lang="zh-CN" altLang="en-US" sz="2400" b="1" i="0">
                                              <a:solidFill>
                                                <a:srgbClr val="0070C0"/>
                                              </a:solidFill>
                                              <a:latin typeface="Cambria Math" panose="02040503050406030204" pitchFamily="18" charset="0"/>
                                            </a:rPr>
                                            <m:t>,</m:t>
                                          </m:r>
                                          <m:r>
                                            <a:rPr lang="zh-CN" altLang="en-US" sz="2400" b="1" i="0">
                                              <a:solidFill>
                                                <a:srgbClr val="0070C0"/>
                                              </a:solidFill>
                                              <a:latin typeface="Cambria Math" panose="02040503050406030204" pitchFamily="18" charset="0"/>
                                            </a:rPr>
                                            <m:t>𝟏</m:t>
                                          </m:r>
                                        </m:sup>
                                      </m:sSup>
                                      <m:r>
                                        <a:rPr lang="en-US" altLang="zh-CN" sz="2400" b="1" i="1" smtClean="0">
                                          <a:solidFill>
                                            <a:srgbClr val="0070C0"/>
                                          </a:solidFill>
                                          <a:latin typeface="Cambria Math" panose="02040503050406030204" pitchFamily="18" charset="0"/>
                                        </a:rPr>
                                        <m:t>𝒙</m:t>
                                      </m:r>
                                      <m:r>
                                        <a:rPr lang="zh-CN" altLang="en-US" sz="2400" b="1" i="0">
                                          <a:solidFill>
                                            <a:srgbClr val="0070C0"/>
                                          </a:solidFill>
                                          <a:latin typeface="Cambria Math" panose="02040503050406030204" pitchFamily="18" charset="0"/>
                                        </a:rPr>
                                        <m:t>+</m:t>
                                      </m:r>
                                      <m:sSup>
                                        <m:sSupPr>
                                          <m:ctrlPr>
                                            <a:rPr lang="zh-CN" altLang="en-US" sz="2400" b="1" i="1">
                                              <a:solidFill>
                                                <a:srgbClr val="0070C0"/>
                                              </a:solidFill>
                                              <a:latin typeface="Cambria Math" panose="02040503050406030204" pitchFamily="18" charset="0"/>
                                            </a:rPr>
                                          </m:ctrlPr>
                                        </m:sSupPr>
                                        <m:e>
                                          <m:r>
                                            <a:rPr lang="zh-CN" altLang="en-US" sz="2400" b="1" i="1">
                                              <a:solidFill>
                                                <a:srgbClr val="0070C0"/>
                                              </a:solidFill>
                                              <a:latin typeface="Cambria Math" panose="02040503050406030204" pitchFamily="18" charset="0"/>
                                            </a:rPr>
                                            <m:t>𝒃</m:t>
                                          </m:r>
                                        </m:e>
                                        <m:sup>
                                          <m:r>
                                            <a:rPr lang="zh-CN" altLang="en-US" sz="2400" b="1" i="0">
                                              <a:solidFill>
                                                <a:srgbClr val="0070C0"/>
                                              </a:solidFill>
                                              <a:latin typeface="Cambria Math" panose="02040503050406030204" pitchFamily="18" charset="0"/>
                                            </a:rPr>
                                            <m:t>𝟏</m:t>
                                          </m:r>
                                        </m:sup>
                                      </m:sSup>
                                    </m:e>
                                  </m:d>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𝑏</m:t>
                                      </m:r>
                                    </m:e>
                                    <m:sup>
                                      <m:r>
                                        <a:rPr lang="zh-CN" altLang="en-US" sz="2400" i="0">
                                          <a:latin typeface="Cambria Math" panose="02040503050406030204" pitchFamily="18" charset="0"/>
                                        </a:rPr>
                                        <m:t>2</m:t>
                                      </m:r>
                                    </m:sup>
                                  </m:sSup>
                                </m:e>
                              </m:d>
                              <m:r>
                                <a:rPr lang="zh-CN" altLang="en-US" sz="2400" i="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𝑏</m:t>
                                  </m:r>
                                </m:e>
                                <m:sup>
                                  <m:r>
                                    <a:rPr lang="zh-CN" altLang="en-US" sz="2400" i="0">
                                      <a:latin typeface="Cambria Math" panose="02040503050406030204" pitchFamily="18" charset="0"/>
                                    </a:rPr>
                                    <m:t>3</m:t>
                                  </m:r>
                                </m:sup>
                              </m:sSup>
                            </m:e>
                          </m:d>
                          <m:r>
                            <a:rPr lang="zh-CN" altLang="en-US" sz="2400" i="0">
                              <a:latin typeface="Cambria Math" panose="02040503050406030204" pitchFamily="18" charset="0"/>
                            </a:rPr>
                            <m:t>#</m:t>
                          </m:r>
                          <m:r>
                            <a:rPr lang="zh-CN" altLang="en-US" sz="2400">
                              <a:latin typeface="Cambria Math" panose="02040503050406030204" pitchFamily="18" charset="0"/>
                            </a:rPr>
                            <m:t>+</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𝑏</m:t>
                              </m:r>
                            </m:e>
                            <m:sup>
                              <m:r>
                                <a:rPr lang="en-US" altLang="zh-CN" sz="2400" b="0" i="1" smtClean="0">
                                  <a:latin typeface="Cambria Math" panose="02040503050406030204" pitchFamily="18" charset="0"/>
                                </a:rPr>
                                <m:t>4</m:t>
                              </m:r>
                            </m:sup>
                          </m:sSup>
                          <m:r>
                            <a:rPr lang="en-US" altLang="zh-CN" sz="2400" b="0" i="1" smtClean="0">
                              <a:latin typeface="Cambria Math" panose="02040503050406030204" pitchFamily="18" charset="0"/>
                            </a:rPr>
                            <m:t>)</m:t>
                          </m:r>
                        </m:e>
                      </m:eqArr>
                    </m:oMath>
                  </m:oMathPara>
                </a14:m>
                <a:endParaRPr lang="zh-CN" altLang="en-US" sz="2400" dirty="0"/>
              </a:p>
            </p:txBody>
          </p:sp>
        </mc:Choice>
        <mc:Fallback xmlns="">
          <p:sp>
            <p:nvSpPr>
              <p:cNvPr id="5" name="文本框 4"/>
              <p:cNvSpPr txBox="1">
                <a:spLocks noRot="1" noChangeAspect="1" noMove="1" noResize="1" noEditPoints="1" noAdjustHandles="1" noChangeArrowheads="1" noChangeShapeType="1" noTextEdit="1"/>
              </p:cNvSpPr>
              <p:nvPr/>
            </p:nvSpPr>
            <p:spPr>
              <a:xfrm>
                <a:off x="573106" y="1019703"/>
                <a:ext cx="4572000" cy="509178"/>
              </a:xfrm>
              <a:prstGeom prst="rect">
                <a:avLst/>
              </a:prstGeom>
              <a:blipFill>
                <a:blip r:embed="rId3"/>
                <a:stretch>
                  <a:fillRect r="-834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2859106" y="4869469"/>
                <a:ext cx="457200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000" i="1">
                              <a:solidFill>
                                <a:srgbClr val="FF0000"/>
                              </a:solidFill>
                              <a:latin typeface="Cambria Math" panose="02040503050406030204" pitchFamily="18" charset="0"/>
                            </a:rPr>
                          </m:ctrlPr>
                        </m:sSupPr>
                        <m:e>
                          <m:r>
                            <a:rPr lang="zh-CN" altLang="en-US" sz="2000" i="1">
                              <a:solidFill>
                                <a:srgbClr val="FF0000"/>
                              </a:solidFill>
                              <a:latin typeface="Cambria Math" panose="02040503050406030204" pitchFamily="18" charset="0"/>
                            </a:rPr>
                            <m:t>𝑊</m:t>
                          </m:r>
                        </m:e>
                        <m:sup>
                          <m:r>
                            <a:rPr lang="zh-CN" altLang="en-US" sz="2000">
                              <a:solidFill>
                                <a:srgbClr val="FF0000"/>
                              </a:solidFill>
                              <a:latin typeface="Cambria Math" panose="02040503050406030204" pitchFamily="18" charset="0"/>
                            </a:rPr>
                            <m:t>3,2</m:t>
                          </m:r>
                        </m:sup>
                      </m:sSup>
                    </m:oMath>
                  </m:oMathPara>
                </a14:m>
                <a:endParaRPr lang="zh-CN" altLang="en-US" sz="2000" dirty="0">
                  <a:solidFill>
                    <a:srgbClr val="FF0000"/>
                  </a:solidFill>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2859106" y="4869469"/>
                <a:ext cx="4572000" cy="400110"/>
              </a:xfrm>
              <a:prstGeom prst="rect">
                <a:avLst/>
              </a:prstGeom>
              <a:blipFill rotWithShape="1">
                <a:blip r:embed="rId4"/>
                <a:stretch>
                  <a:fillRect l="-7" t="-72" r="7" b="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0" y="4984735"/>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800" i="1">
                              <a:solidFill>
                                <a:srgbClr val="FF0000"/>
                              </a:solidFill>
                              <a:latin typeface="Cambria Math" panose="02040503050406030204" pitchFamily="18" charset="0"/>
                            </a:rPr>
                          </m:ctrlPr>
                        </m:sSupPr>
                        <m:e>
                          <m:r>
                            <a:rPr lang="zh-CN" altLang="en-US" sz="1800" i="1">
                              <a:solidFill>
                                <a:srgbClr val="FF0000"/>
                              </a:solidFill>
                              <a:latin typeface="Cambria Math" panose="02040503050406030204" pitchFamily="18" charset="0"/>
                            </a:rPr>
                            <m:t>𝑊</m:t>
                          </m:r>
                        </m:e>
                        <m:sup>
                          <m:r>
                            <a:rPr lang="zh-CN" altLang="en-US" sz="1800">
                              <a:solidFill>
                                <a:srgbClr val="FF0000"/>
                              </a:solidFill>
                              <a:latin typeface="Cambria Math" panose="02040503050406030204" pitchFamily="18" charset="0"/>
                            </a:rPr>
                            <m:t>1,1</m:t>
                          </m:r>
                        </m:sup>
                      </m:sSup>
                    </m:oMath>
                  </m:oMathPara>
                </a14:m>
                <a:endParaRPr lang="zh-CN" altLang="en-US" dirty="0">
                  <a:solidFill>
                    <a:srgbClr val="FF0000"/>
                  </a:solidFill>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0" y="4984735"/>
                <a:ext cx="4572000" cy="369332"/>
              </a:xfrm>
              <a:prstGeom prst="rect">
                <a:avLst/>
              </a:prstGeom>
              <a:blipFill rotWithShape="1">
                <a:blip r:embed="rId5"/>
                <a:stretch>
                  <a:fillRect t="-168" b="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146212" y="5010050"/>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1800" i="1" smtClean="0">
                              <a:solidFill>
                                <a:srgbClr val="FF0000"/>
                              </a:solidFill>
                              <a:latin typeface="Cambria Math" panose="02040503050406030204" pitchFamily="18" charset="0"/>
                            </a:rPr>
                          </m:ctrlPr>
                        </m:sSupPr>
                        <m:e>
                          <m:r>
                            <a:rPr lang="zh-CN" altLang="en-US" sz="1800" i="1">
                              <a:solidFill>
                                <a:srgbClr val="FF0000"/>
                              </a:solidFill>
                              <a:latin typeface="Cambria Math" panose="02040503050406030204" pitchFamily="18" charset="0"/>
                            </a:rPr>
                            <m:t>𝑊</m:t>
                          </m:r>
                        </m:e>
                        <m:sup>
                          <m:r>
                            <a:rPr lang="en-US" altLang="zh-CN" sz="1800" b="0" i="0" smtClean="0">
                              <a:solidFill>
                                <a:srgbClr val="FF0000"/>
                              </a:solidFill>
                              <a:latin typeface="Cambria Math" panose="02040503050406030204" pitchFamily="18" charset="0"/>
                            </a:rPr>
                            <m:t>2</m:t>
                          </m:r>
                          <m:r>
                            <a:rPr lang="zh-CN" altLang="en-US" sz="1800">
                              <a:solidFill>
                                <a:srgbClr val="FF0000"/>
                              </a:solidFill>
                              <a:latin typeface="Cambria Math" panose="02040503050406030204" pitchFamily="18" charset="0"/>
                            </a:rPr>
                            <m:t>,1</m:t>
                          </m:r>
                        </m:sup>
                      </m:sSup>
                    </m:oMath>
                  </m:oMathPara>
                </a14:m>
                <a:endParaRPr lang="zh-CN" altLang="en-US" dirty="0">
                  <a:solidFill>
                    <a:srgbClr val="FF0000"/>
                  </a:solidFill>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1146212" y="5010050"/>
                <a:ext cx="4572000" cy="369332"/>
              </a:xfrm>
              <a:prstGeom prst="rect">
                <a:avLst/>
              </a:prstGeom>
              <a:blipFill rotWithShape="1">
                <a:blip r:embed="rId6"/>
                <a:stretch>
                  <a:fillRect l="-1" t="-145" r="1" b="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4130093" y="4211671"/>
                <a:ext cx="457200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000" i="1" smtClean="0">
                              <a:solidFill>
                                <a:srgbClr val="FF0000"/>
                              </a:solidFill>
                              <a:latin typeface="Cambria Math" panose="02040503050406030204" pitchFamily="18" charset="0"/>
                            </a:rPr>
                          </m:ctrlPr>
                        </m:sSupPr>
                        <m:e>
                          <m:r>
                            <a:rPr lang="zh-CN" altLang="en-US" sz="2000" i="1">
                              <a:solidFill>
                                <a:srgbClr val="FF0000"/>
                              </a:solidFill>
                              <a:latin typeface="Cambria Math" panose="02040503050406030204" pitchFamily="18" charset="0"/>
                            </a:rPr>
                            <m:t>𝑊</m:t>
                          </m:r>
                        </m:e>
                        <m:sup>
                          <m:r>
                            <a:rPr lang="en-US" altLang="zh-CN" sz="2000" b="0" i="0" smtClean="0">
                              <a:solidFill>
                                <a:srgbClr val="FF0000"/>
                              </a:solidFill>
                              <a:latin typeface="Cambria Math" panose="02040503050406030204" pitchFamily="18" charset="0"/>
                            </a:rPr>
                            <m:t>4</m:t>
                          </m:r>
                          <m:r>
                            <a:rPr lang="zh-CN" altLang="en-US" sz="2000">
                              <a:solidFill>
                                <a:srgbClr val="FF0000"/>
                              </a:solidFill>
                              <a:latin typeface="Cambria Math" panose="02040503050406030204" pitchFamily="18" charset="0"/>
                            </a:rPr>
                            <m:t>,</m:t>
                          </m:r>
                          <m:r>
                            <a:rPr lang="en-US" altLang="zh-CN" sz="2000" b="0" i="1" smtClean="0">
                              <a:solidFill>
                                <a:srgbClr val="FF0000"/>
                              </a:solidFill>
                              <a:latin typeface="Cambria Math" panose="02040503050406030204" pitchFamily="18" charset="0"/>
                            </a:rPr>
                            <m:t>3</m:t>
                          </m:r>
                        </m:sup>
                      </m:sSup>
                    </m:oMath>
                  </m:oMathPara>
                </a14:m>
                <a:endParaRPr lang="zh-CN" altLang="en-US" sz="2000" dirty="0">
                  <a:solidFill>
                    <a:srgbClr val="FF0000"/>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4130093" y="4211671"/>
                <a:ext cx="4572000" cy="400110"/>
              </a:xfrm>
              <a:prstGeom prst="rect">
                <a:avLst/>
              </a:prstGeom>
              <a:blipFill rotWithShape="1">
                <a:blip r:embed="rId7"/>
                <a:stretch>
                  <a:fillRect l="-1" t="-88" r="1" b="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451504" y="5275823"/>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70C0"/>
                              </a:solidFill>
                              <a:latin typeface="Cambria Math" panose="02040503050406030204" pitchFamily="18" charset="0"/>
                            </a:rPr>
                          </m:ctrlPr>
                        </m:sSupPr>
                        <m:e>
                          <m:r>
                            <a:rPr lang="zh-CN" altLang="en-US" sz="2400" i="1">
                              <a:solidFill>
                                <a:srgbClr val="0070C0"/>
                              </a:solidFill>
                              <a:latin typeface="Cambria Math" panose="02040503050406030204" pitchFamily="18" charset="0"/>
                            </a:rPr>
                            <m:t>𝑓</m:t>
                          </m:r>
                        </m:e>
                        <m:sup>
                          <m:r>
                            <a:rPr lang="zh-CN" altLang="en-US" sz="2400" i="0">
                              <a:solidFill>
                                <a:srgbClr val="0070C0"/>
                              </a:solidFill>
                              <a:latin typeface="Cambria Math" panose="02040503050406030204" pitchFamily="18" charset="0"/>
                            </a:rPr>
                            <m:t>1</m:t>
                          </m:r>
                        </m:sup>
                      </m:sSup>
                    </m:oMath>
                  </m:oMathPara>
                </a14:m>
                <a:endParaRPr lang="zh-CN" altLang="en-US" sz="2400" dirty="0">
                  <a:solidFill>
                    <a:srgbClr val="0070C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451504" y="5275823"/>
                <a:ext cx="4572000" cy="461665"/>
              </a:xfrm>
              <a:prstGeom prst="rect">
                <a:avLst/>
              </a:prstGeom>
              <a:blipFill rotWithShape="1">
                <a:blip r:embed="rId8"/>
                <a:stretch>
                  <a:fillRect t="-53" b="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2002659" y="528700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70C0"/>
                              </a:solidFill>
                              <a:latin typeface="Cambria Math" panose="02040503050406030204" pitchFamily="18" charset="0"/>
                            </a:rPr>
                          </m:ctrlPr>
                        </m:sSupPr>
                        <m:e>
                          <m:r>
                            <a:rPr lang="zh-CN" altLang="en-US" sz="2400" i="1">
                              <a:solidFill>
                                <a:srgbClr val="0070C0"/>
                              </a:solidFill>
                              <a:latin typeface="Cambria Math" panose="02040503050406030204" pitchFamily="18" charset="0"/>
                            </a:rPr>
                            <m:t>𝑓</m:t>
                          </m:r>
                        </m:e>
                        <m:sup>
                          <m:r>
                            <a:rPr lang="en-US" altLang="zh-CN" sz="2400" b="0" i="1" smtClean="0">
                              <a:solidFill>
                                <a:srgbClr val="0070C0"/>
                              </a:solidFill>
                              <a:latin typeface="Cambria Math" panose="02040503050406030204" pitchFamily="18" charset="0"/>
                            </a:rPr>
                            <m:t>2</m:t>
                          </m:r>
                        </m:sup>
                      </m:sSup>
                    </m:oMath>
                  </m:oMathPara>
                </a14:m>
                <a:endParaRPr lang="zh-CN" altLang="en-US" sz="2400" dirty="0">
                  <a:solidFill>
                    <a:srgbClr val="0070C0"/>
                  </a:solidFill>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2002659" y="5287008"/>
                <a:ext cx="4572000" cy="461665"/>
              </a:xfrm>
              <a:prstGeom prst="rect">
                <a:avLst/>
              </a:prstGeom>
              <a:blipFill rotWithShape="1">
                <a:blip r:embed="rId9"/>
                <a:stretch>
                  <a:fillRect l="-11" t="-137" r="11" b="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p:cNvSpPr txBox="1"/>
              <p:nvPr/>
            </p:nvSpPr>
            <p:spPr>
              <a:xfrm>
                <a:off x="4752020" y="4071090"/>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70C0"/>
                              </a:solidFill>
                              <a:latin typeface="Cambria Math" panose="02040503050406030204" pitchFamily="18" charset="0"/>
                            </a:rPr>
                          </m:ctrlPr>
                        </m:sSupPr>
                        <m:e>
                          <m:r>
                            <a:rPr lang="zh-CN" altLang="en-US" sz="2400" i="1">
                              <a:solidFill>
                                <a:srgbClr val="0070C0"/>
                              </a:solidFill>
                              <a:latin typeface="Cambria Math" panose="02040503050406030204" pitchFamily="18" charset="0"/>
                            </a:rPr>
                            <m:t>𝑓</m:t>
                          </m:r>
                        </m:e>
                        <m:sup>
                          <m:r>
                            <a:rPr lang="en-US" altLang="zh-CN" sz="2400" b="0" i="1" smtClean="0">
                              <a:solidFill>
                                <a:srgbClr val="0070C0"/>
                              </a:solidFill>
                              <a:latin typeface="Cambria Math" panose="02040503050406030204" pitchFamily="18" charset="0"/>
                            </a:rPr>
                            <m:t>4</m:t>
                          </m:r>
                        </m:sup>
                      </m:sSup>
                    </m:oMath>
                  </m:oMathPara>
                </a14:m>
                <a:endParaRPr lang="zh-CN" altLang="en-US" sz="2400" dirty="0">
                  <a:solidFill>
                    <a:srgbClr val="0070C0"/>
                  </a:solidFill>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4752020" y="4071090"/>
                <a:ext cx="4572000" cy="461665"/>
              </a:xfrm>
              <a:prstGeom prst="rect">
                <a:avLst/>
              </a:prstGeom>
              <a:blipFill rotWithShape="1">
                <a:blip r:embed="rId10"/>
                <a:stretch>
                  <a:fillRect l="-7" t="-23" r="7" b="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3545230" y="493622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rgbClr val="0070C0"/>
                              </a:solidFill>
                              <a:latin typeface="Cambria Math" panose="02040503050406030204" pitchFamily="18" charset="0"/>
                            </a:rPr>
                          </m:ctrlPr>
                        </m:sSupPr>
                        <m:e>
                          <m:r>
                            <a:rPr lang="zh-CN" altLang="en-US" sz="2400" i="1">
                              <a:solidFill>
                                <a:srgbClr val="0070C0"/>
                              </a:solidFill>
                              <a:latin typeface="Cambria Math" panose="02040503050406030204" pitchFamily="18" charset="0"/>
                            </a:rPr>
                            <m:t>𝑓</m:t>
                          </m:r>
                        </m:e>
                        <m:sup>
                          <m:r>
                            <a:rPr lang="en-US" altLang="zh-CN" sz="2400" b="0" i="1" smtClean="0">
                              <a:solidFill>
                                <a:srgbClr val="0070C0"/>
                              </a:solidFill>
                              <a:latin typeface="Cambria Math" panose="02040503050406030204" pitchFamily="18" charset="0"/>
                            </a:rPr>
                            <m:t>3</m:t>
                          </m:r>
                        </m:sup>
                      </m:sSup>
                    </m:oMath>
                  </m:oMathPara>
                </a14:m>
                <a:endParaRPr lang="zh-CN" altLang="en-US" sz="2400" dirty="0">
                  <a:solidFill>
                    <a:srgbClr val="0070C0"/>
                  </a:solidFill>
                </a:endParaRPr>
              </a:p>
            </p:txBody>
          </p:sp>
        </mc:Choice>
        <mc:Fallback xmlns="">
          <p:sp>
            <p:nvSpPr>
              <p:cNvPr id="16" name="文本框 15"/>
              <p:cNvSpPr txBox="1">
                <a:spLocks noRot="1" noChangeAspect="1" noMove="1" noResize="1" noEditPoints="1" noAdjustHandles="1" noChangeArrowheads="1" noChangeShapeType="1" noTextEdit="1"/>
              </p:cNvSpPr>
              <p:nvPr/>
            </p:nvSpPr>
            <p:spPr>
              <a:xfrm>
                <a:off x="3545230" y="4936228"/>
                <a:ext cx="4572000" cy="461665"/>
              </a:xfrm>
              <a:prstGeom prst="rect">
                <a:avLst/>
              </a:prstGeom>
              <a:blipFill rotWithShape="1">
                <a:blip r:embed="rId11"/>
                <a:stretch>
                  <a:fillRect l="-1" t="-81" r="1" b="85"/>
                </a:stretch>
              </a:blipFill>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72" name="Group 2"/>
          <p:cNvGrpSpPr/>
          <p:nvPr/>
        </p:nvGrpSpPr>
        <p:grpSpPr bwMode="auto">
          <a:xfrm>
            <a:off x="1098674" y="1628405"/>
            <a:ext cx="6710363" cy="3317875"/>
            <a:chOff x="1101" y="2160"/>
            <a:chExt cx="4227" cy="2090"/>
          </a:xfrm>
        </p:grpSpPr>
        <p:sp>
          <p:nvSpPr>
            <p:cNvPr id="11" name="Oval 3"/>
            <p:cNvSpPr>
              <a:spLocks noChangeAspect="1" noChangeArrowheads="1"/>
            </p:cNvSpPr>
            <p:nvPr/>
          </p:nvSpPr>
          <p:spPr bwMode="auto">
            <a:xfrm>
              <a:off x="2973" y="2496"/>
              <a:ext cx="336" cy="336"/>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12" name="Oval 4"/>
            <p:cNvSpPr>
              <a:spLocks noChangeAspect="1" noChangeArrowheads="1"/>
            </p:cNvSpPr>
            <p:nvPr/>
          </p:nvSpPr>
          <p:spPr bwMode="auto">
            <a:xfrm>
              <a:off x="2973" y="2976"/>
              <a:ext cx="336" cy="336"/>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13" name="Oval 5"/>
            <p:cNvSpPr>
              <a:spLocks noChangeAspect="1" noChangeArrowheads="1"/>
            </p:cNvSpPr>
            <p:nvPr/>
          </p:nvSpPr>
          <p:spPr bwMode="auto">
            <a:xfrm>
              <a:off x="2973" y="3792"/>
              <a:ext cx="336" cy="336"/>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M</a:t>
              </a:r>
            </a:p>
          </p:txBody>
        </p:sp>
        <p:sp>
          <p:nvSpPr>
            <p:cNvPr id="32778" name="AutoShape 6"/>
            <p:cNvSpPr>
              <a:spLocks noChangeAspect="1" noChangeArrowheads="1"/>
            </p:cNvSpPr>
            <p:nvPr/>
          </p:nvSpPr>
          <p:spPr bwMode="auto">
            <a:xfrm>
              <a:off x="3117" y="3456"/>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779" name="AutoShape 7"/>
            <p:cNvSpPr>
              <a:spLocks noChangeAspect="1" noChangeArrowheads="1"/>
            </p:cNvSpPr>
            <p:nvPr/>
          </p:nvSpPr>
          <p:spPr bwMode="auto">
            <a:xfrm>
              <a:off x="3117" y="3552"/>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780" name="AutoShape 8"/>
            <p:cNvSpPr>
              <a:spLocks noChangeAspect="1" noChangeArrowheads="1"/>
            </p:cNvSpPr>
            <p:nvPr/>
          </p:nvSpPr>
          <p:spPr bwMode="auto">
            <a:xfrm>
              <a:off x="3117" y="3648"/>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781" name="Line 9"/>
            <p:cNvSpPr>
              <a:spLocks noChangeShapeType="1"/>
            </p:cNvSpPr>
            <p:nvPr/>
          </p:nvSpPr>
          <p:spPr bwMode="auto">
            <a:xfrm>
              <a:off x="4413" y="2640"/>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AutoShape 10"/>
            <p:cNvSpPr>
              <a:spLocks noChangeArrowheads="1"/>
            </p:cNvSpPr>
            <p:nvPr/>
          </p:nvSpPr>
          <p:spPr bwMode="auto">
            <a:xfrm>
              <a:off x="1702" y="2976"/>
              <a:ext cx="480" cy="288"/>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2</a:t>
              </a:r>
            </a:p>
          </p:txBody>
        </p:sp>
        <p:sp>
          <p:nvSpPr>
            <p:cNvPr id="19" name="AutoShape 11"/>
            <p:cNvSpPr>
              <a:spLocks noChangeArrowheads="1"/>
            </p:cNvSpPr>
            <p:nvPr/>
          </p:nvSpPr>
          <p:spPr bwMode="auto">
            <a:xfrm>
              <a:off x="1702" y="2496"/>
              <a:ext cx="480" cy="288"/>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1</a:t>
              </a:r>
            </a:p>
          </p:txBody>
        </p:sp>
        <p:sp>
          <p:nvSpPr>
            <p:cNvPr id="32784" name="Text Box 12"/>
            <p:cNvSpPr txBox="1">
              <a:spLocks noChangeArrowheads="1"/>
            </p:cNvSpPr>
            <p:nvPr/>
          </p:nvSpPr>
          <p:spPr bwMode="auto">
            <a:xfrm>
              <a:off x="1110" y="2400"/>
              <a:ext cx="3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1</a:t>
              </a:r>
            </a:p>
          </p:txBody>
        </p:sp>
        <p:sp>
          <p:nvSpPr>
            <p:cNvPr id="32785" name="Line 13"/>
            <p:cNvSpPr>
              <a:spLocks noChangeShapeType="1"/>
            </p:cNvSpPr>
            <p:nvPr/>
          </p:nvSpPr>
          <p:spPr bwMode="auto">
            <a:xfrm>
              <a:off x="1366" y="2640"/>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86" name="Text Box 14"/>
            <p:cNvSpPr txBox="1">
              <a:spLocks noChangeArrowheads="1"/>
            </p:cNvSpPr>
            <p:nvPr/>
          </p:nvSpPr>
          <p:spPr bwMode="auto">
            <a:xfrm>
              <a:off x="1101" y="3696"/>
              <a:ext cx="3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N</a:t>
              </a:r>
            </a:p>
          </p:txBody>
        </p:sp>
        <p:sp>
          <p:nvSpPr>
            <p:cNvPr id="23" name="AutoShape 15"/>
            <p:cNvSpPr>
              <a:spLocks noChangeArrowheads="1"/>
            </p:cNvSpPr>
            <p:nvPr/>
          </p:nvSpPr>
          <p:spPr bwMode="auto">
            <a:xfrm>
              <a:off x="1702" y="3783"/>
              <a:ext cx="480" cy="288"/>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N</a:t>
              </a:r>
            </a:p>
          </p:txBody>
        </p:sp>
        <p:sp>
          <p:nvSpPr>
            <p:cNvPr id="32788" name="AutoShape 16"/>
            <p:cNvSpPr>
              <a:spLocks noChangeAspect="1" noChangeArrowheads="1"/>
            </p:cNvSpPr>
            <p:nvPr/>
          </p:nvSpPr>
          <p:spPr bwMode="auto">
            <a:xfrm>
              <a:off x="1894" y="3408"/>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789" name="AutoShape 17"/>
            <p:cNvSpPr>
              <a:spLocks noChangeAspect="1" noChangeArrowheads="1"/>
            </p:cNvSpPr>
            <p:nvPr/>
          </p:nvSpPr>
          <p:spPr bwMode="auto">
            <a:xfrm>
              <a:off x="1894" y="3504"/>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790" name="AutoShape 18"/>
            <p:cNvSpPr>
              <a:spLocks noChangeAspect="1" noChangeArrowheads="1"/>
            </p:cNvSpPr>
            <p:nvPr/>
          </p:nvSpPr>
          <p:spPr bwMode="auto">
            <a:xfrm>
              <a:off x="1894" y="3600"/>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791" name="Line 19"/>
            <p:cNvSpPr>
              <a:spLocks noChangeShapeType="1"/>
            </p:cNvSpPr>
            <p:nvPr/>
          </p:nvSpPr>
          <p:spPr bwMode="auto">
            <a:xfrm>
              <a:off x="1366" y="3120"/>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2" name="Line 20"/>
            <p:cNvSpPr>
              <a:spLocks noChangeShapeType="1"/>
            </p:cNvSpPr>
            <p:nvPr/>
          </p:nvSpPr>
          <p:spPr bwMode="auto">
            <a:xfrm>
              <a:off x="1366" y="3927"/>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3" name="Text Box 21"/>
            <p:cNvSpPr txBox="1">
              <a:spLocks noChangeArrowheads="1"/>
            </p:cNvSpPr>
            <p:nvPr/>
          </p:nvSpPr>
          <p:spPr bwMode="auto">
            <a:xfrm>
              <a:off x="1110" y="2880"/>
              <a:ext cx="3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2</a:t>
              </a:r>
            </a:p>
          </p:txBody>
        </p:sp>
        <p:sp>
          <p:nvSpPr>
            <p:cNvPr id="32794" name="Line 22"/>
            <p:cNvSpPr>
              <a:spLocks noChangeShapeType="1"/>
            </p:cNvSpPr>
            <p:nvPr/>
          </p:nvSpPr>
          <p:spPr bwMode="auto">
            <a:xfrm>
              <a:off x="2182" y="259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5" name="Line 23"/>
            <p:cNvSpPr>
              <a:spLocks noChangeShapeType="1"/>
            </p:cNvSpPr>
            <p:nvPr/>
          </p:nvSpPr>
          <p:spPr bwMode="auto">
            <a:xfrm>
              <a:off x="2182" y="3120"/>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6" name="Text Box 24"/>
            <p:cNvSpPr txBox="1">
              <a:spLocks noChangeArrowheads="1"/>
            </p:cNvSpPr>
            <p:nvPr/>
          </p:nvSpPr>
          <p:spPr bwMode="auto">
            <a:xfrm>
              <a:off x="5037" y="2448"/>
              <a:ext cx="2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1</a:t>
              </a:r>
            </a:p>
          </p:txBody>
        </p:sp>
        <p:sp>
          <p:nvSpPr>
            <p:cNvPr id="32797" name="Line 25"/>
            <p:cNvSpPr>
              <a:spLocks noChangeShapeType="1"/>
            </p:cNvSpPr>
            <p:nvPr/>
          </p:nvSpPr>
          <p:spPr bwMode="auto">
            <a:xfrm>
              <a:off x="2182" y="3984"/>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8" name="Line 26"/>
            <p:cNvSpPr>
              <a:spLocks noChangeShapeType="1"/>
            </p:cNvSpPr>
            <p:nvPr/>
          </p:nvSpPr>
          <p:spPr bwMode="auto">
            <a:xfrm>
              <a:off x="2182" y="2640"/>
              <a:ext cx="791" cy="43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99" name="Line 27"/>
            <p:cNvSpPr>
              <a:spLocks noChangeShapeType="1"/>
            </p:cNvSpPr>
            <p:nvPr/>
          </p:nvSpPr>
          <p:spPr bwMode="auto">
            <a:xfrm>
              <a:off x="2182" y="2688"/>
              <a:ext cx="791" cy="115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0" name="Line 28"/>
            <p:cNvSpPr>
              <a:spLocks noChangeShapeType="1"/>
            </p:cNvSpPr>
            <p:nvPr/>
          </p:nvSpPr>
          <p:spPr bwMode="auto">
            <a:xfrm>
              <a:off x="2182" y="3168"/>
              <a:ext cx="791" cy="768"/>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1" name="Line 29"/>
            <p:cNvSpPr>
              <a:spLocks noChangeShapeType="1"/>
            </p:cNvSpPr>
            <p:nvPr/>
          </p:nvSpPr>
          <p:spPr bwMode="auto">
            <a:xfrm flipV="1">
              <a:off x="2205" y="2592"/>
              <a:ext cx="768" cy="4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2" name="Line 30"/>
            <p:cNvSpPr>
              <a:spLocks noChangeShapeType="1"/>
            </p:cNvSpPr>
            <p:nvPr/>
          </p:nvSpPr>
          <p:spPr bwMode="auto">
            <a:xfrm flipV="1">
              <a:off x="2182" y="3168"/>
              <a:ext cx="791" cy="768"/>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03" name="Line 31"/>
            <p:cNvSpPr>
              <a:spLocks noChangeShapeType="1"/>
            </p:cNvSpPr>
            <p:nvPr/>
          </p:nvSpPr>
          <p:spPr bwMode="auto">
            <a:xfrm flipV="1">
              <a:off x="2157" y="2640"/>
              <a:ext cx="816" cy="1248"/>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Oval 32"/>
            <p:cNvSpPr>
              <a:spLocks noChangeAspect="1" noChangeArrowheads="1"/>
            </p:cNvSpPr>
            <p:nvPr/>
          </p:nvSpPr>
          <p:spPr bwMode="auto">
            <a:xfrm>
              <a:off x="4077" y="2496"/>
              <a:ext cx="336" cy="336"/>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41" name="Oval 33"/>
            <p:cNvSpPr>
              <a:spLocks noChangeAspect="1" noChangeArrowheads="1"/>
            </p:cNvSpPr>
            <p:nvPr/>
          </p:nvSpPr>
          <p:spPr bwMode="auto">
            <a:xfrm>
              <a:off x="4077" y="2976"/>
              <a:ext cx="336" cy="336"/>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42" name="Oval 34"/>
            <p:cNvSpPr>
              <a:spLocks noChangeAspect="1" noChangeArrowheads="1"/>
            </p:cNvSpPr>
            <p:nvPr/>
          </p:nvSpPr>
          <p:spPr bwMode="auto">
            <a:xfrm>
              <a:off x="4077" y="3792"/>
              <a:ext cx="336" cy="336"/>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c</a:t>
              </a:r>
            </a:p>
          </p:txBody>
        </p:sp>
        <p:sp>
          <p:nvSpPr>
            <p:cNvPr id="32807" name="AutoShape 35"/>
            <p:cNvSpPr>
              <a:spLocks noChangeAspect="1" noChangeArrowheads="1"/>
            </p:cNvSpPr>
            <p:nvPr/>
          </p:nvSpPr>
          <p:spPr bwMode="auto">
            <a:xfrm>
              <a:off x="4221" y="3456"/>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808" name="AutoShape 36"/>
            <p:cNvSpPr>
              <a:spLocks noChangeAspect="1" noChangeArrowheads="1"/>
            </p:cNvSpPr>
            <p:nvPr/>
          </p:nvSpPr>
          <p:spPr bwMode="auto">
            <a:xfrm>
              <a:off x="4221" y="3552"/>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809" name="AutoShape 37"/>
            <p:cNvSpPr>
              <a:spLocks noChangeAspect="1" noChangeArrowheads="1"/>
            </p:cNvSpPr>
            <p:nvPr/>
          </p:nvSpPr>
          <p:spPr bwMode="auto">
            <a:xfrm>
              <a:off x="4221" y="3648"/>
              <a:ext cx="48" cy="48"/>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2810" name="Line 38"/>
            <p:cNvSpPr>
              <a:spLocks noChangeShapeType="1"/>
            </p:cNvSpPr>
            <p:nvPr/>
          </p:nvSpPr>
          <p:spPr bwMode="auto">
            <a:xfrm>
              <a:off x="3286" y="259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1" name="Line 39"/>
            <p:cNvSpPr>
              <a:spLocks noChangeShapeType="1"/>
            </p:cNvSpPr>
            <p:nvPr/>
          </p:nvSpPr>
          <p:spPr bwMode="auto">
            <a:xfrm>
              <a:off x="3286" y="3120"/>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2" name="Line 40"/>
            <p:cNvSpPr>
              <a:spLocks noChangeShapeType="1"/>
            </p:cNvSpPr>
            <p:nvPr/>
          </p:nvSpPr>
          <p:spPr bwMode="auto">
            <a:xfrm>
              <a:off x="3286" y="3984"/>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3" name="Line 41"/>
            <p:cNvSpPr>
              <a:spLocks noChangeShapeType="1"/>
            </p:cNvSpPr>
            <p:nvPr/>
          </p:nvSpPr>
          <p:spPr bwMode="auto">
            <a:xfrm>
              <a:off x="3286" y="2640"/>
              <a:ext cx="791" cy="43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4" name="Line 42"/>
            <p:cNvSpPr>
              <a:spLocks noChangeShapeType="1"/>
            </p:cNvSpPr>
            <p:nvPr/>
          </p:nvSpPr>
          <p:spPr bwMode="auto">
            <a:xfrm>
              <a:off x="3286" y="2688"/>
              <a:ext cx="791" cy="115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5" name="Line 43"/>
            <p:cNvSpPr>
              <a:spLocks noChangeShapeType="1"/>
            </p:cNvSpPr>
            <p:nvPr/>
          </p:nvSpPr>
          <p:spPr bwMode="auto">
            <a:xfrm>
              <a:off x="3286" y="3168"/>
              <a:ext cx="791" cy="768"/>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6" name="Line 44"/>
            <p:cNvSpPr>
              <a:spLocks noChangeShapeType="1"/>
            </p:cNvSpPr>
            <p:nvPr/>
          </p:nvSpPr>
          <p:spPr bwMode="auto">
            <a:xfrm flipV="1">
              <a:off x="3309" y="2592"/>
              <a:ext cx="768" cy="4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7" name="Line 45"/>
            <p:cNvSpPr>
              <a:spLocks noChangeShapeType="1"/>
            </p:cNvSpPr>
            <p:nvPr/>
          </p:nvSpPr>
          <p:spPr bwMode="auto">
            <a:xfrm flipV="1">
              <a:off x="3286" y="3168"/>
              <a:ext cx="791" cy="768"/>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8" name="Line 46"/>
            <p:cNvSpPr>
              <a:spLocks noChangeShapeType="1"/>
            </p:cNvSpPr>
            <p:nvPr/>
          </p:nvSpPr>
          <p:spPr bwMode="auto">
            <a:xfrm flipV="1">
              <a:off x="3261" y="2640"/>
              <a:ext cx="816" cy="1248"/>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19" name="Line 47"/>
            <p:cNvSpPr>
              <a:spLocks noChangeShapeType="1"/>
            </p:cNvSpPr>
            <p:nvPr/>
          </p:nvSpPr>
          <p:spPr bwMode="auto">
            <a:xfrm>
              <a:off x="4413" y="3129"/>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0" name="Text Box 48"/>
            <p:cNvSpPr txBox="1">
              <a:spLocks noChangeArrowheads="1"/>
            </p:cNvSpPr>
            <p:nvPr/>
          </p:nvSpPr>
          <p:spPr bwMode="auto">
            <a:xfrm>
              <a:off x="5037" y="2937"/>
              <a:ext cx="2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2</a:t>
              </a:r>
            </a:p>
          </p:txBody>
        </p:sp>
        <p:sp>
          <p:nvSpPr>
            <p:cNvPr id="32821" name="Line 49"/>
            <p:cNvSpPr>
              <a:spLocks noChangeShapeType="1"/>
            </p:cNvSpPr>
            <p:nvPr/>
          </p:nvSpPr>
          <p:spPr bwMode="auto">
            <a:xfrm>
              <a:off x="4413" y="3945"/>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22" name="Text Box 50"/>
            <p:cNvSpPr txBox="1">
              <a:spLocks noChangeArrowheads="1"/>
            </p:cNvSpPr>
            <p:nvPr/>
          </p:nvSpPr>
          <p:spPr bwMode="auto">
            <a:xfrm>
              <a:off x="5037" y="3753"/>
              <a:ext cx="28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c</a:t>
              </a:r>
            </a:p>
          </p:txBody>
        </p:sp>
        <p:sp>
          <p:nvSpPr>
            <p:cNvPr id="32823" name="Text Box 51"/>
            <p:cNvSpPr txBox="1">
              <a:spLocks noChangeArrowheads="1"/>
            </p:cNvSpPr>
            <p:nvPr/>
          </p:nvSpPr>
          <p:spPr bwMode="auto">
            <a:xfrm>
              <a:off x="2339" y="3962"/>
              <a:ext cx="4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(1)</a:t>
              </a:r>
            </a:p>
          </p:txBody>
        </p:sp>
        <p:sp>
          <p:nvSpPr>
            <p:cNvPr id="32824" name="Text Box 52"/>
            <p:cNvSpPr txBox="1">
              <a:spLocks noChangeArrowheads="1"/>
            </p:cNvSpPr>
            <p:nvPr/>
          </p:nvSpPr>
          <p:spPr bwMode="auto">
            <a:xfrm>
              <a:off x="3448" y="3936"/>
              <a:ext cx="43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(2)</a:t>
              </a:r>
            </a:p>
          </p:txBody>
        </p:sp>
        <p:sp>
          <p:nvSpPr>
            <p:cNvPr id="32825" name="Text Box 53"/>
            <p:cNvSpPr txBox="1">
              <a:spLocks noChangeArrowheads="1"/>
            </p:cNvSpPr>
            <p:nvPr/>
          </p:nvSpPr>
          <p:spPr bwMode="auto">
            <a:xfrm>
              <a:off x="1722" y="2160"/>
              <a:ext cx="483"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0"/>
                </a:spcBef>
                <a:buFontTx/>
                <a:buNone/>
              </a:pPr>
              <a:r>
                <a:rPr kumimoji="1" lang="zh-CN" altLang="en-US" sz="2000" b="1">
                  <a:latin typeface="Times New Roman" panose="02020603050405020304" pitchFamily="18" charset="0"/>
                </a:rPr>
                <a:t>输入层</a:t>
              </a:r>
            </a:p>
            <a:p>
              <a:pPr algn="ctr" eaLnBrk="1" hangingPunct="1">
                <a:lnSpc>
                  <a:spcPct val="9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X</a:t>
              </a:r>
              <a:r>
                <a:rPr kumimoji="1" lang="en-US" altLang="zh-CN" sz="2000" b="1">
                  <a:latin typeface="Times New Roman" panose="02020603050405020304" pitchFamily="18" charset="0"/>
                </a:rPr>
                <a:t>)</a:t>
              </a:r>
            </a:p>
          </p:txBody>
        </p:sp>
        <p:sp>
          <p:nvSpPr>
            <p:cNvPr id="32826" name="Text Box 54"/>
            <p:cNvSpPr txBox="1">
              <a:spLocks noChangeArrowheads="1"/>
            </p:cNvSpPr>
            <p:nvPr/>
          </p:nvSpPr>
          <p:spPr bwMode="auto">
            <a:xfrm>
              <a:off x="2973" y="2160"/>
              <a:ext cx="322"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0"/>
                </a:spcBef>
                <a:buFontTx/>
                <a:buNone/>
              </a:pPr>
              <a:r>
                <a:rPr kumimoji="1" lang="zh-CN" altLang="en-US" sz="2000" b="1">
                  <a:latin typeface="Times New Roman" panose="02020603050405020304" pitchFamily="18" charset="0"/>
                </a:rPr>
                <a:t>隐层</a:t>
              </a:r>
            </a:p>
            <a:p>
              <a:pPr algn="ctr" eaLnBrk="1" hangingPunct="1">
                <a:lnSpc>
                  <a:spcPct val="9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Z</a:t>
              </a:r>
              <a:r>
                <a:rPr kumimoji="1" lang="en-US" altLang="zh-CN" sz="2000" b="1">
                  <a:latin typeface="Times New Roman" panose="02020603050405020304" pitchFamily="18" charset="0"/>
                </a:rPr>
                <a:t>)</a:t>
              </a:r>
            </a:p>
          </p:txBody>
        </p:sp>
        <p:sp>
          <p:nvSpPr>
            <p:cNvPr id="32827" name="Text Box 55"/>
            <p:cNvSpPr txBox="1">
              <a:spLocks noChangeArrowheads="1"/>
            </p:cNvSpPr>
            <p:nvPr/>
          </p:nvSpPr>
          <p:spPr bwMode="auto">
            <a:xfrm>
              <a:off x="4026" y="2160"/>
              <a:ext cx="483"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0"/>
                </a:spcBef>
                <a:buFontTx/>
                <a:buNone/>
              </a:pPr>
              <a:r>
                <a:rPr kumimoji="1" lang="zh-CN" altLang="en-US" sz="2000" b="1">
                  <a:latin typeface="Times New Roman" panose="02020603050405020304" pitchFamily="18" charset="0"/>
                </a:rPr>
                <a:t>输出层</a:t>
              </a:r>
            </a:p>
            <a:p>
              <a:pPr algn="ctr" eaLnBrk="1" hangingPunct="1">
                <a:lnSpc>
                  <a:spcPct val="9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Y</a:t>
              </a:r>
              <a:r>
                <a:rPr kumimoji="1" lang="en-US" altLang="zh-CN" sz="2000" b="1">
                  <a:latin typeface="Times New Roman" panose="02020603050405020304" pitchFamily="18" charset="0"/>
                </a:rPr>
                <a:t>)</a:t>
              </a:r>
            </a:p>
          </p:txBody>
        </p:sp>
        <p:sp>
          <p:nvSpPr>
            <p:cNvPr id="32828" name="Rectangle 56"/>
            <p:cNvSpPr>
              <a:spLocks noChangeArrowheads="1"/>
            </p:cNvSpPr>
            <p:nvPr/>
          </p:nvSpPr>
          <p:spPr bwMode="auto">
            <a:xfrm>
              <a:off x="2880" y="2496"/>
              <a:ext cx="480" cy="1632"/>
            </a:xfrm>
            <a:prstGeom prst="rect">
              <a:avLst/>
            </a:prstGeom>
            <a:noFill/>
            <a:ln w="38100">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sp>
        <p:nvSpPr>
          <p:cNvPr id="123" name="矩形 122"/>
          <p:cNvSpPr/>
          <p:nvPr/>
        </p:nvSpPr>
        <p:spPr>
          <a:xfrm>
            <a:off x="2722257" y="5424118"/>
            <a:ext cx="4053033" cy="523220"/>
          </a:xfrm>
          <a:prstGeom prst="rect">
            <a:avLst/>
          </a:prstGeom>
        </p:spPr>
        <p:txBody>
          <a:bodyPr wrap="none">
            <a:spAutoFit/>
          </a:bodyPr>
          <a:lstStyle/>
          <a:p>
            <a:pPr marL="68580">
              <a:defRPr/>
            </a:pPr>
            <a:r>
              <a:rPr lang="zh-CN" altLang="en-US" sz="2800" kern="0" dirty="0">
                <a:solidFill>
                  <a:srgbClr val="333399"/>
                </a:solidFill>
                <a:latin typeface="Times New Roman" panose="02020603050405020304" pitchFamily="18" charset="0"/>
                <a:cs typeface="Times New Roman" panose="02020603050405020304" pitchFamily="18" charset="0"/>
              </a:rPr>
              <a:t>  图</a:t>
            </a:r>
            <a:r>
              <a:rPr lang="en-US" altLang="zh-CN" sz="2800" kern="0" dirty="0">
                <a:solidFill>
                  <a:srgbClr val="333399"/>
                </a:solidFill>
                <a:latin typeface="Times New Roman" panose="02020603050405020304" pitchFamily="18" charset="0"/>
                <a:cs typeface="Times New Roman" panose="02020603050405020304" pitchFamily="18" charset="0"/>
              </a:rPr>
              <a:t>2 </a:t>
            </a:r>
            <a:r>
              <a:rPr lang="zh-CN" altLang="en-US" sz="2800" kern="0" dirty="0">
                <a:solidFill>
                  <a:srgbClr val="333399"/>
                </a:solidFill>
                <a:latin typeface="Times New Roman" panose="02020603050405020304" pitchFamily="18" charset="0"/>
                <a:cs typeface="Times New Roman" panose="02020603050405020304" pitchFamily="18" charset="0"/>
              </a:rPr>
              <a:t>三</a:t>
            </a:r>
            <a:r>
              <a:rPr lang="zh-CN" altLang="en-US" sz="2800" kern="0">
                <a:latin typeface="Times New Roman" panose="02020603050405020304" pitchFamily="18" charset="0"/>
                <a:cs typeface="Times New Roman" panose="02020603050405020304" pitchFamily="18" charset="0"/>
              </a:rPr>
              <a:t>层</a:t>
            </a:r>
            <a:r>
              <a:rPr lang="zh-CN" altLang="en-US" sz="2800" kern="0" dirty="0">
                <a:latin typeface="Times New Roman" panose="02020603050405020304" pitchFamily="18" charset="0"/>
                <a:cs typeface="Times New Roman" panose="02020603050405020304" pitchFamily="18" charset="0"/>
              </a:rPr>
              <a:t>神经网络模型</a:t>
            </a:r>
            <a:endParaRPr lang="en-US" altLang="zh-CN" sz="28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509588" y="792163"/>
            <a:ext cx="800100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设输入层的输入为</a:t>
            </a:r>
            <a:r>
              <a:rPr kumimoji="1" lang="en-US" altLang="zh-CN" sz="2400" b="1">
                <a:latin typeface="Times New Roman" panose="02020603050405020304" pitchFamily="18" charset="0"/>
                <a:ea typeface="仿宋_GB2312" pitchFamily="49" charset="-122"/>
              </a:rPr>
              <a:t>(</a:t>
            </a:r>
            <a:r>
              <a:rPr kumimoji="1" lang="en-US" altLang="zh-CN" sz="2400" b="1" i="1">
                <a:latin typeface="Times New Roman" panose="02020603050405020304" pitchFamily="18" charset="0"/>
                <a:ea typeface="仿宋_GB2312" pitchFamily="49" charset="-122"/>
              </a:rPr>
              <a:t>x</a:t>
            </a:r>
            <a:r>
              <a:rPr kumimoji="1" lang="en-US" altLang="zh-CN" sz="2400" b="1" baseline="-25000">
                <a:latin typeface="Times New Roman" panose="02020603050405020304" pitchFamily="18" charset="0"/>
                <a:ea typeface="仿宋_GB2312" pitchFamily="49" charset="-122"/>
              </a:rPr>
              <a:t>1</a:t>
            </a:r>
            <a:r>
              <a:rPr kumimoji="1" lang="en-US" altLang="zh-CN" sz="2400" b="1">
                <a:latin typeface="Times New Roman" panose="02020603050405020304" pitchFamily="18" charset="0"/>
                <a:ea typeface="仿宋_GB2312" pitchFamily="49" charset="-122"/>
              </a:rPr>
              <a:t>, </a:t>
            </a:r>
            <a:r>
              <a:rPr kumimoji="1" lang="en-US" altLang="zh-CN" sz="2400" b="1" i="1">
                <a:latin typeface="Times New Roman" panose="02020603050405020304" pitchFamily="18" charset="0"/>
                <a:ea typeface="仿宋_GB2312" pitchFamily="49" charset="-122"/>
              </a:rPr>
              <a:t>x</a:t>
            </a:r>
            <a:r>
              <a:rPr kumimoji="1" lang="en-US" altLang="zh-CN" sz="2400" b="1" baseline="-25000">
                <a:latin typeface="Times New Roman" panose="02020603050405020304" pitchFamily="18" charset="0"/>
                <a:ea typeface="仿宋_GB2312" pitchFamily="49" charset="-122"/>
              </a:rPr>
              <a:t>2</a:t>
            </a:r>
            <a:r>
              <a:rPr kumimoji="1" lang="en-US" altLang="zh-CN" sz="2400" b="1">
                <a:latin typeface="Times New Roman" panose="02020603050405020304" pitchFamily="18" charset="0"/>
                <a:ea typeface="仿宋_GB2312" pitchFamily="49" charset="-122"/>
              </a:rPr>
              <a:t>, …, </a:t>
            </a:r>
            <a:r>
              <a:rPr kumimoji="1" lang="en-US" altLang="zh-CN" sz="2400" b="1" i="1">
                <a:latin typeface="Times New Roman" panose="02020603050405020304" pitchFamily="18" charset="0"/>
                <a:ea typeface="仿宋_GB2312" pitchFamily="49" charset="-122"/>
              </a:rPr>
              <a:t>x</a:t>
            </a:r>
            <a:r>
              <a:rPr kumimoji="1" lang="en-US" altLang="zh-CN" sz="2400" b="1" baseline="-25000">
                <a:latin typeface="Times New Roman" panose="02020603050405020304" pitchFamily="18" charset="0"/>
                <a:ea typeface="仿宋_GB2312" pitchFamily="49" charset="-122"/>
              </a:rPr>
              <a:t>n</a:t>
            </a:r>
            <a:r>
              <a:rPr kumimoji="1" lang="en-US" altLang="zh-CN" sz="2400" b="1">
                <a:latin typeface="Times New Roman" panose="02020603050405020304" pitchFamily="18" charset="0"/>
                <a:ea typeface="仿宋_GB2312" pitchFamily="49" charset="-122"/>
              </a:rPr>
              <a:t>)</a:t>
            </a:r>
            <a:r>
              <a:rPr kumimoji="1" lang="en-US" altLang="zh-CN" sz="2400" b="1">
                <a:latin typeface="Times New Roman" panose="02020603050405020304" pitchFamily="18" charset="0"/>
                <a:ea typeface="仿宋_GB2312" pitchFamily="49" charset="-122"/>
                <a:sym typeface="Symbol" panose="05050102010706020507" pitchFamily="18" charset="2"/>
              </a:rPr>
              <a:t></a:t>
            </a:r>
            <a:r>
              <a:rPr kumimoji="1" lang="en-US" altLang="zh-CN" sz="2400" b="1" i="1">
                <a:latin typeface="Times New Roman" panose="02020603050405020304" pitchFamily="18" charset="0"/>
                <a:ea typeface="仿宋_GB2312" pitchFamily="49" charset="-122"/>
                <a:sym typeface="Symbol" panose="05050102010706020507" pitchFamily="18" charset="2"/>
              </a:rPr>
              <a:t>R</a:t>
            </a:r>
            <a:r>
              <a:rPr kumimoji="1" lang="en-US" altLang="zh-CN" sz="2400" b="1" baseline="30000">
                <a:latin typeface="Times New Roman" panose="02020603050405020304" pitchFamily="18" charset="0"/>
                <a:ea typeface="仿宋_GB2312" pitchFamily="49" charset="-122"/>
                <a:sym typeface="Symbol" panose="05050102010706020507" pitchFamily="18" charset="2"/>
              </a:rPr>
              <a:t>n</a:t>
            </a:r>
            <a:r>
              <a:rPr kumimoji="1" lang="zh-CN" altLang="en-US" sz="2400" b="1">
                <a:latin typeface="Times New Roman" panose="02020603050405020304" pitchFamily="18" charset="0"/>
                <a:ea typeface="仿宋_GB2312" pitchFamily="49" charset="-122"/>
                <a:sym typeface="Symbol" panose="05050102010706020507" pitchFamily="18" charset="2"/>
              </a:rPr>
              <a:t>。</a:t>
            </a:r>
            <a:endParaRPr kumimoji="1" lang="zh-CN" altLang="en-US" sz="2400" b="1" baseline="30000">
              <a:latin typeface="Times New Roman" panose="02020603050405020304" pitchFamily="18" charset="0"/>
              <a:ea typeface="仿宋_GB2312" pitchFamily="49" charset="-122"/>
            </a:endParaRPr>
          </a:p>
        </p:txBody>
      </p:sp>
      <p:sp>
        <p:nvSpPr>
          <p:cNvPr id="33795" name="Text Box 3"/>
          <p:cNvSpPr txBox="1">
            <a:spLocks noChangeArrowheads="1"/>
          </p:cNvSpPr>
          <p:nvPr/>
        </p:nvSpPr>
        <p:spPr bwMode="auto">
          <a:xfrm>
            <a:off x="509588" y="1401763"/>
            <a:ext cx="8001000" cy="8032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首先考察隐层，设隐层神经元的激活函数为</a:t>
            </a:r>
            <a:r>
              <a:rPr kumimoji="1" lang="zh-CN" altLang="en-US" sz="2400" b="1" i="1">
                <a:latin typeface="Times New Roman" panose="02020603050405020304" pitchFamily="18" charset="0"/>
                <a:ea typeface="仿宋_GB2312" pitchFamily="49" charset="-122"/>
                <a:sym typeface="Symbol" panose="05050102010706020507" pitchFamily="18" charset="2"/>
              </a:rPr>
              <a:t></a:t>
            </a:r>
            <a:r>
              <a:rPr kumimoji="1" lang="zh-CN" altLang="en-US" sz="2400" b="1">
                <a:latin typeface="Times New Roman" panose="02020603050405020304" pitchFamily="18" charset="0"/>
                <a:ea typeface="仿宋_GB2312" pitchFamily="49" charset="-122"/>
                <a:sym typeface="Symbol" panose="05050102010706020507" pitchFamily="18" charset="2"/>
              </a:rPr>
              <a:t>。第</a:t>
            </a:r>
            <a:r>
              <a:rPr kumimoji="1" lang="en-US" altLang="zh-CN" sz="2400" b="1" i="1">
                <a:latin typeface="Times New Roman" panose="02020603050405020304" pitchFamily="18" charset="0"/>
                <a:ea typeface="仿宋_GB2312" pitchFamily="49" charset="-122"/>
                <a:sym typeface="Symbol" panose="05050102010706020507" pitchFamily="18" charset="2"/>
              </a:rPr>
              <a:t>j</a:t>
            </a:r>
            <a:r>
              <a:rPr kumimoji="1" lang="zh-CN" altLang="en-US" sz="2400" b="1">
                <a:latin typeface="Times New Roman" panose="02020603050405020304" pitchFamily="18" charset="0"/>
                <a:ea typeface="仿宋_GB2312" pitchFamily="49" charset="-122"/>
                <a:sym typeface="Symbol" panose="05050102010706020507" pitchFamily="18" charset="2"/>
              </a:rPr>
              <a:t>个隐层神经元的整合函数为</a:t>
            </a:r>
            <a:r>
              <a:rPr kumimoji="1" lang="en-US" altLang="zh-CN" sz="2400" b="1" i="1">
                <a:latin typeface="Times New Roman" panose="02020603050405020304" pitchFamily="18" charset="0"/>
                <a:ea typeface="仿宋_GB2312" pitchFamily="49" charset="-122"/>
                <a:sym typeface="Symbol" panose="05050102010706020507" pitchFamily="18" charset="2"/>
              </a:rPr>
              <a:t>a</a:t>
            </a:r>
            <a:r>
              <a:rPr kumimoji="1" lang="en-US" altLang="zh-CN" sz="2400" b="1" baseline="-25000">
                <a:latin typeface="Times New Roman" panose="02020603050405020304" pitchFamily="18" charset="0"/>
                <a:ea typeface="仿宋_GB2312" pitchFamily="49" charset="-122"/>
                <a:sym typeface="Symbol" panose="05050102010706020507" pitchFamily="18" charset="2"/>
              </a:rPr>
              <a:t>j</a:t>
            </a:r>
            <a:r>
              <a:rPr kumimoji="1" lang="zh-CN" altLang="en-US" sz="2400" b="1">
                <a:latin typeface="Times New Roman" panose="02020603050405020304" pitchFamily="18" charset="0"/>
                <a:ea typeface="仿宋_GB2312" pitchFamily="49" charset="-122"/>
                <a:sym typeface="Symbol" panose="05050102010706020507" pitchFamily="18" charset="2"/>
              </a:rPr>
              <a:t>、输出值为</a:t>
            </a:r>
            <a:r>
              <a:rPr kumimoji="1" lang="en-US" altLang="zh-CN" sz="2400" b="1" i="1">
                <a:latin typeface="Times New Roman" panose="02020603050405020304" pitchFamily="18" charset="0"/>
                <a:ea typeface="仿宋_GB2312" pitchFamily="49" charset="-122"/>
                <a:sym typeface="Symbol" panose="05050102010706020507" pitchFamily="18" charset="2"/>
              </a:rPr>
              <a:t>z</a:t>
            </a:r>
            <a:r>
              <a:rPr kumimoji="1" lang="en-US" altLang="zh-CN" sz="2400" b="1" baseline="-25000">
                <a:latin typeface="Times New Roman" panose="02020603050405020304" pitchFamily="18" charset="0"/>
                <a:ea typeface="仿宋_GB2312" pitchFamily="49" charset="-122"/>
                <a:sym typeface="Symbol" panose="05050102010706020507" pitchFamily="18" charset="2"/>
              </a:rPr>
              <a:t>j</a:t>
            </a:r>
            <a:r>
              <a:rPr kumimoji="1" lang="zh-CN" altLang="en-US" sz="2400" b="1">
                <a:latin typeface="Times New Roman" panose="02020603050405020304" pitchFamily="18" charset="0"/>
                <a:ea typeface="仿宋_GB2312" pitchFamily="49" charset="-122"/>
                <a:sym typeface="Symbol" panose="05050102010706020507" pitchFamily="18" charset="2"/>
              </a:rPr>
              <a:t>：</a:t>
            </a:r>
            <a:endParaRPr kumimoji="1" lang="zh-CN" altLang="en-US" sz="2400" b="1" baseline="30000">
              <a:latin typeface="Times New Roman" panose="02020603050405020304" pitchFamily="18" charset="0"/>
              <a:ea typeface="仿宋_GB2312" pitchFamily="49" charset="-122"/>
            </a:endParaRPr>
          </a:p>
        </p:txBody>
      </p:sp>
      <p:graphicFrame>
        <p:nvGraphicFramePr>
          <p:cNvPr id="33796" name="Object 4"/>
          <p:cNvGraphicFramePr>
            <a:graphicFrameLocks noChangeAspect="1"/>
          </p:cNvGraphicFramePr>
          <p:nvPr/>
        </p:nvGraphicFramePr>
        <p:xfrm>
          <a:off x="2070100" y="2349500"/>
          <a:ext cx="4113213" cy="1316038"/>
        </p:xfrm>
        <a:graphic>
          <a:graphicData uri="http://schemas.openxmlformats.org/presentationml/2006/ole">
            <mc:AlternateContent xmlns:mc="http://schemas.openxmlformats.org/markup-compatibility/2006">
              <mc:Choice xmlns:v="urn:schemas-microsoft-com:vml" Requires="v">
                <p:oleObj name="Equation" r:id="rId2" imgW="1342390" imgH="445770" progId="Equation.3">
                  <p:embed/>
                </p:oleObj>
              </mc:Choice>
              <mc:Fallback>
                <p:oleObj name="Equation" r:id="rId2" imgW="1342390" imgH="44577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0100" y="2349500"/>
                        <a:ext cx="4113213" cy="1316038"/>
                      </a:xfrm>
                      <a:prstGeom prst="rect">
                        <a:avLst/>
                      </a:prstGeom>
                      <a:solidFill>
                        <a:srgbClr val="FFFF00">
                          <a:alpha val="27843"/>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797" name="Object 5"/>
          <p:cNvGraphicFramePr>
            <a:graphicFrameLocks noChangeAspect="1"/>
          </p:cNvGraphicFramePr>
          <p:nvPr/>
        </p:nvGraphicFramePr>
        <p:xfrm>
          <a:off x="334963" y="4394200"/>
          <a:ext cx="696912" cy="484188"/>
        </p:xfrm>
        <a:graphic>
          <a:graphicData uri="http://schemas.openxmlformats.org/presentationml/2006/ole">
            <mc:AlternateContent xmlns:mc="http://schemas.openxmlformats.org/markup-compatibility/2006">
              <mc:Choice xmlns:v="urn:schemas-microsoft-com:vml" Requires="v">
                <p:oleObj name="Equation" r:id="rId4" imgW="121285" imgH="121285" progId="Equation.3">
                  <p:embed/>
                </p:oleObj>
              </mc:Choice>
              <mc:Fallback>
                <p:oleObj name="Equation" r:id="rId4" imgW="121285" imgH="12128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963" y="4394200"/>
                        <a:ext cx="696912"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8" name="Text Box 6"/>
          <p:cNvSpPr txBox="1">
            <a:spLocks noChangeArrowheads="1"/>
          </p:cNvSpPr>
          <p:nvPr/>
        </p:nvSpPr>
        <p:spPr bwMode="auto">
          <a:xfrm>
            <a:off x="1108075" y="4327525"/>
            <a:ext cx="2057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仿宋_GB2312" pitchFamily="49" charset="-122"/>
              </a:rPr>
              <a:t>第</a:t>
            </a:r>
            <a:r>
              <a:rPr kumimoji="1" lang="en-US" altLang="zh-CN" sz="2000" b="1">
                <a:latin typeface="Times New Roman" panose="02020603050405020304" pitchFamily="18" charset="0"/>
                <a:ea typeface="仿宋_GB2312" pitchFamily="49" charset="-122"/>
              </a:rPr>
              <a:t>1</a:t>
            </a:r>
            <a:r>
              <a:rPr kumimoji="1" lang="zh-CN" altLang="en-US" sz="2000" b="1">
                <a:latin typeface="Times New Roman" panose="02020603050405020304" pitchFamily="18" charset="0"/>
                <a:ea typeface="仿宋_GB2312" pitchFamily="49" charset="-122"/>
              </a:rPr>
              <a:t>层（隐层）权重矩阵中第</a:t>
            </a:r>
            <a:r>
              <a:rPr kumimoji="1" lang="en-US" altLang="zh-CN" sz="2000" b="1" i="1">
                <a:latin typeface="Times New Roman" panose="02020603050405020304" pitchFamily="18" charset="0"/>
                <a:ea typeface="仿宋_GB2312" pitchFamily="49" charset="-122"/>
              </a:rPr>
              <a:t>i</a:t>
            </a:r>
            <a:r>
              <a:rPr kumimoji="1" lang="zh-CN" altLang="en-US" sz="2000" b="1">
                <a:latin typeface="Times New Roman" panose="02020603050405020304" pitchFamily="18" charset="0"/>
                <a:ea typeface="仿宋_GB2312" pitchFamily="49" charset="-122"/>
              </a:rPr>
              <a:t>个输入联结到第</a:t>
            </a:r>
            <a:r>
              <a:rPr kumimoji="1" lang="en-US" altLang="zh-CN" sz="2000" b="1" i="1">
                <a:latin typeface="Times New Roman" panose="02020603050405020304" pitchFamily="18" charset="0"/>
                <a:ea typeface="仿宋_GB2312" pitchFamily="49" charset="-122"/>
              </a:rPr>
              <a:t>j</a:t>
            </a:r>
            <a:r>
              <a:rPr kumimoji="1" lang="zh-CN" altLang="en-US" sz="2000" b="1">
                <a:latin typeface="Times New Roman" panose="02020603050405020304" pitchFamily="18" charset="0"/>
                <a:ea typeface="仿宋_GB2312" pitchFamily="49" charset="-122"/>
              </a:rPr>
              <a:t>个隐神经元的权重</a:t>
            </a:r>
          </a:p>
        </p:txBody>
      </p:sp>
      <p:graphicFrame>
        <p:nvGraphicFramePr>
          <p:cNvPr id="33799" name="Object 7"/>
          <p:cNvGraphicFramePr>
            <a:graphicFrameLocks noChangeAspect="1"/>
          </p:cNvGraphicFramePr>
          <p:nvPr/>
        </p:nvGraphicFramePr>
        <p:xfrm>
          <a:off x="315913" y="5857875"/>
          <a:ext cx="717550" cy="525463"/>
        </p:xfrm>
        <a:graphic>
          <a:graphicData uri="http://schemas.openxmlformats.org/presentationml/2006/ole">
            <mc:AlternateContent xmlns:mc="http://schemas.openxmlformats.org/markup-compatibility/2006">
              <mc:Choice xmlns:v="urn:schemas-microsoft-com:vml" Requires="v">
                <p:oleObj name="Equation" r:id="rId6" imgW="109855" imgH="121285" progId="Equation.3">
                  <p:embed/>
                </p:oleObj>
              </mc:Choice>
              <mc:Fallback>
                <p:oleObj name="Equation" r:id="rId6" imgW="109855" imgH="121285"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913" y="5857875"/>
                        <a:ext cx="7175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0" name="Text Box 8"/>
          <p:cNvSpPr txBox="1">
            <a:spLocks noChangeArrowheads="1"/>
          </p:cNvSpPr>
          <p:nvPr/>
        </p:nvSpPr>
        <p:spPr bwMode="auto">
          <a:xfrm>
            <a:off x="1031875" y="5851525"/>
            <a:ext cx="2073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仿宋_GB2312" pitchFamily="49" charset="-122"/>
              </a:rPr>
              <a:t>第</a:t>
            </a:r>
            <a:r>
              <a:rPr kumimoji="1" lang="en-US" altLang="zh-CN" sz="2000" b="1" i="1">
                <a:latin typeface="Times New Roman" panose="02020603050405020304" pitchFamily="18" charset="0"/>
                <a:ea typeface="仿宋_GB2312" pitchFamily="49" charset="-122"/>
              </a:rPr>
              <a:t>j</a:t>
            </a:r>
            <a:r>
              <a:rPr kumimoji="1" lang="zh-CN" altLang="en-US" sz="2000" b="1">
                <a:latin typeface="Times New Roman" panose="02020603050405020304" pitchFamily="18" charset="0"/>
                <a:ea typeface="仿宋_GB2312" pitchFamily="49" charset="-122"/>
              </a:rPr>
              <a:t>个隐神经元的阈值</a:t>
            </a:r>
          </a:p>
        </p:txBody>
      </p:sp>
      <p:grpSp>
        <p:nvGrpSpPr>
          <p:cNvPr id="33801" name="Group 9"/>
          <p:cNvGrpSpPr/>
          <p:nvPr/>
        </p:nvGrpSpPr>
        <p:grpSpPr bwMode="auto">
          <a:xfrm>
            <a:off x="3109913" y="4038600"/>
            <a:ext cx="5999162" cy="2817813"/>
            <a:chOff x="1101" y="2454"/>
            <a:chExt cx="4266" cy="1882"/>
          </a:xfrm>
        </p:grpSpPr>
        <p:sp>
          <p:nvSpPr>
            <p:cNvPr id="10" name="Oval 10"/>
            <p:cNvSpPr>
              <a:spLocks noChangeAspect="1" noChangeArrowheads="1"/>
            </p:cNvSpPr>
            <p:nvPr/>
          </p:nvSpPr>
          <p:spPr bwMode="auto">
            <a:xfrm>
              <a:off x="2973" y="2734"/>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11" name="Oval 11"/>
            <p:cNvSpPr>
              <a:spLocks noChangeAspect="1" noChangeArrowheads="1"/>
            </p:cNvSpPr>
            <p:nvPr/>
          </p:nvSpPr>
          <p:spPr bwMode="auto">
            <a:xfrm>
              <a:off x="2973" y="3159"/>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12" name="Oval 12"/>
            <p:cNvSpPr>
              <a:spLocks noChangeAspect="1" noChangeArrowheads="1"/>
            </p:cNvSpPr>
            <p:nvPr/>
          </p:nvSpPr>
          <p:spPr bwMode="auto">
            <a:xfrm>
              <a:off x="2973" y="3882"/>
              <a:ext cx="336"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M</a:t>
              </a:r>
            </a:p>
          </p:txBody>
        </p:sp>
        <p:sp>
          <p:nvSpPr>
            <p:cNvPr id="33806" name="AutoShape 13"/>
            <p:cNvSpPr>
              <a:spLocks noChangeAspect="1" noChangeArrowheads="1"/>
            </p:cNvSpPr>
            <p:nvPr/>
          </p:nvSpPr>
          <p:spPr bwMode="auto">
            <a:xfrm>
              <a:off x="3117" y="358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07" name="AutoShape 14"/>
            <p:cNvSpPr>
              <a:spLocks noChangeAspect="1" noChangeArrowheads="1"/>
            </p:cNvSpPr>
            <p:nvPr/>
          </p:nvSpPr>
          <p:spPr bwMode="auto">
            <a:xfrm>
              <a:off x="3117" y="3669"/>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08" name="AutoShape 15"/>
            <p:cNvSpPr>
              <a:spLocks noChangeAspect="1" noChangeArrowheads="1"/>
            </p:cNvSpPr>
            <p:nvPr/>
          </p:nvSpPr>
          <p:spPr bwMode="auto">
            <a:xfrm>
              <a:off x="3117" y="375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09" name="Line 16"/>
            <p:cNvSpPr>
              <a:spLocks noChangeShapeType="1"/>
            </p:cNvSpPr>
            <p:nvPr/>
          </p:nvSpPr>
          <p:spPr bwMode="auto">
            <a:xfrm>
              <a:off x="4413" y="2862"/>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AutoShape 17"/>
            <p:cNvSpPr>
              <a:spLocks noChangeArrowheads="1"/>
            </p:cNvSpPr>
            <p:nvPr/>
          </p:nvSpPr>
          <p:spPr bwMode="auto">
            <a:xfrm>
              <a:off x="1702" y="3159"/>
              <a:ext cx="481" cy="253"/>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2</a:t>
              </a:r>
            </a:p>
          </p:txBody>
        </p:sp>
        <p:sp>
          <p:nvSpPr>
            <p:cNvPr id="18" name="AutoShape 18"/>
            <p:cNvSpPr>
              <a:spLocks noChangeArrowheads="1"/>
            </p:cNvSpPr>
            <p:nvPr/>
          </p:nvSpPr>
          <p:spPr bwMode="auto">
            <a:xfrm>
              <a:off x="1702" y="2734"/>
              <a:ext cx="481" cy="257"/>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1</a:t>
              </a:r>
            </a:p>
          </p:txBody>
        </p:sp>
        <p:sp>
          <p:nvSpPr>
            <p:cNvPr id="33812" name="Text Box 19"/>
            <p:cNvSpPr txBox="1">
              <a:spLocks noChangeArrowheads="1"/>
            </p:cNvSpPr>
            <p:nvPr/>
          </p:nvSpPr>
          <p:spPr bwMode="auto">
            <a:xfrm>
              <a:off x="1112" y="2648"/>
              <a:ext cx="343"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1</a:t>
              </a:r>
            </a:p>
          </p:txBody>
        </p:sp>
        <p:sp>
          <p:nvSpPr>
            <p:cNvPr id="33813" name="Line 20"/>
            <p:cNvSpPr>
              <a:spLocks noChangeShapeType="1"/>
            </p:cNvSpPr>
            <p:nvPr/>
          </p:nvSpPr>
          <p:spPr bwMode="auto">
            <a:xfrm>
              <a:off x="1366" y="2862"/>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14" name="Text Box 21"/>
            <p:cNvSpPr txBox="1">
              <a:spLocks noChangeArrowheads="1"/>
            </p:cNvSpPr>
            <p:nvPr/>
          </p:nvSpPr>
          <p:spPr bwMode="auto">
            <a:xfrm>
              <a:off x="1101" y="3797"/>
              <a:ext cx="382"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N</a:t>
              </a:r>
            </a:p>
          </p:txBody>
        </p:sp>
        <p:sp>
          <p:nvSpPr>
            <p:cNvPr id="22" name="AutoShape 22"/>
            <p:cNvSpPr>
              <a:spLocks noChangeArrowheads="1"/>
            </p:cNvSpPr>
            <p:nvPr/>
          </p:nvSpPr>
          <p:spPr bwMode="auto">
            <a:xfrm>
              <a:off x="1702" y="3874"/>
              <a:ext cx="481" cy="260"/>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N</a:t>
              </a:r>
            </a:p>
          </p:txBody>
        </p:sp>
        <p:sp>
          <p:nvSpPr>
            <p:cNvPr id="33816" name="AutoShape 23"/>
            <p:cNvSpPr>
              <a:spLocks noChangeAspect="1" noChangeArrowheads="1"/>
            </p:cNvSpPr>
            <p:nvPr/>
          </p:nvSpPr>
          <p:spPr bwMode="auto">
            <a:xfrm>
              <a:off x="1894" y="3542"/>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17" name="AutoShape 24"/>
            <p:cNvSpPr>
              <a:spLocks noChangeAspect="1" noChangeArrowheads="1"/>
            </p:cNvSpPr>
            <p:nvPr/>
          </p:nvSpPr>
          <p:spPr bwMode="auto">
            <a:xfrm>
              <a:off x="1894" y="3627"/>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18" name="AutoShape 25"/>
            <p:cNvSpPr>
              <a:spLocks noChangeAspect="1" noChangeArrowheads="1"/>
            </p:cNvSpPr>
            <p:nvPr/>
          </p:nvSpPr>
          <p:spPr bwMode="auto">
            <a:xfrm>
              <a:off x="1894" y="3712"/>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19" name="Line 26"/>
            <p:cNvSpPr>
              <a:spLocks noChangeShapeType="1"/>
            </p:cNvSpPr>
            <p:nvPr/>
          </p:nvSpPr>
          <p:spPr bwMode="auto">
            <a:xfrm>
              <a:off x="1366" y="3287"/>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0" name="Line 27"/>
            <p:cNvSpPr>
              <a:spLocks noChangeShapeType="1"/>
            </p:cNvSpPr>
            <p:nvPr/>
          </p:nvSpPr>
          <p:spPr bwMode="auto">
            <a:xfrm>
              <a:off x="1366" y="4001"/>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1" name="Text Box 28"/>
            <p:cNvSpPr txBox="1">
              <a:spLocks noChangeArrowheads="1"/>
            </p:cNvSpPr>
            <p:nvPr/>
          </p:nvSpPr>
          <p:spPr bwMode="auto">
            <a:xfrm>
              <a:off x="1112" y="3074"/>
              <a:ext cx="343"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2</a:t>
              </a:r>
            </a:p>
          </p:txBody>
        </p:sp>
        <p:sp>
          <p:nvSpPr>
            <p:cNvPr id="33822" name="Line 29"/>
            <p:cNvSpPr>
              <a:spLocks noChangeShapeType="1"/>
            </p:cNvSpPr>
            <p:nvPr/>
          </p:nvSpPr>
          <p:spPr bwMode="auto">
            <a:xfrm>
              <a:off x="2182" y="2819"/>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3" name="Line 30"/>
            <p:cNvSpPr>
              <a:spLocks noChangeShapeType="1"/>
            </p:cNvSpPr>
            <p:nvPr/>
          </p:nvSpPr>
          <p:spPr bwMode="auto">
            <a:xfrm>
              <a:off x="2182" y="3287"/>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4" name="Text Box 31"/>
            <p:cNvSpPr txBox="1">
              <a:spLocks noChangeArrowheads="1"/>
            </p:cNvSpPr>
            <p:nvPr/>
          </p:nvSpPr>
          <p:spPr bwMode="auto">
            <a:xfrm>
              <a:off x="5038" y="2693"/>
              <a:ext cx="32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1</a:t>
              </a:r>
            </a:p>
          </p:txBody>
        </p:sp>
        <p:sp>
          <p:nvSpPr>
            <p:cNvPr id="33825" name="Line 32"/>
            <p:cNvSpPr>
              <a:spLocks noChangeShapeType="1"/>
            </p:cNvSpPr>
            <p:nvPr/>
          </p:nvSpPr>
          <p:spPr bwMode="auto">
            <a:xfrm>
              <a:off x="2182" y="405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6" name="Line 33"/>
            <p:cNvSpPr>
              <a:spLocks noChangeShapeType="1"/>
            </p:cNvSpPr>
            <p:nvPr/>
          </p:nvSpPr>
          <p:spPr bwMode="auto">
            <a:xfrm>
              <a:off x="2182" y="2862"/>
              <a:ext cx="791" cy="38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7" name="Line 34"/>
            <p:cNvSpPr>
              <a:spLocks noChangeShapeType="1"/>
            </p:cNvSpPr>
            <p:nvPr/>
          </p:nvSpPr>
          <p:spPr bwMode="auto">
            <a:xfrm>
              <a:off x="2182" y="2904"/>
              <a:ext cx="791" cy="102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8" name="Line 35"/>
            <p:cNvSpPr>
              <a:spLocks noChangeShapeType="1"/>
            </p:cNvSpPr>
            <p:nvPr/>
          </p:nvSpPr>
          <p:spPr bwMode="auto">
            <a:xfrm>
              <a:off x="2182"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29" name="Line 36"/>
            <p:cNvSpPr>
              <a:spLocks noChangeShapeType="1"/>
            </p:cNvSpPr>
            <p:nvPr/>
          </p:nvSpPr>
          <p:spPr bwMode="auto">
            <a:xfrm flipV="1">
              <a:off x="2205" y="2819"/>
              <a:ext cx="768" cy="42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0" name="Line 37"/>
            <p:cNvSpPr>
              <a:spLocks noChangeShapeType="1"/>
            </p:cNvSpPr>
            <p:nvPr/>
          </p:nvSpPr>
          <p:spPr bwMode="auto">
            <a:xfrm flipV="1">
              <a:off x="2182"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1" name="Line 38"/>
            <p:cNvSpPr>
              <a:spLocks noChangeShapeType="1"/>
            </p:cNvSpPr>
            <p:nvPr/>
          </p:nvSpPr>
          <p:spPr bwMode="auto">
            <a:xfrm flipV="1">
              <a:off x="2157" y="2862"/>
              <a:ext cx="816" cy="110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Oval 39"/>
            <p:cNvSpPr>
              <a:spLocks noChangeAspect="1" noChangeArrowheads="1"/>
            </p:cNvSpPr>
            <p:nvPr/>
          </p:nvSpPr>
          <p:spPr bwMode="auto">
            <a:xfrm>
              <a:off x="4077" y="2734"/>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40" name="Oval 40"/>
            <p:cNvSpPr>
              <a:spLocks noChangeAspect="1" noChangeArrowheads="1"/>
            </p:cNvSpPr>
            <p:nvPr/>
          </p:nvSpPr>
          <p:spPr bwMode="auto">
            <a:xfrm>
              <a:off x="4077" y="3159"/>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41" name="Oval 41"/>
            <p:cNvSpPr>
              <a:spLocks noChangeAspect="1" noChangeArrowheads="1"/>
            </p:cNvSpPr>
            <p:nvPr/>
          </p:nvSpPr>
          <p:spPr bwMode="auto">
            <a:xfrm>
              <a:off x="4077" y="3882"/>
              <a:ext cx="336"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c</a:t>
              </a:r>
            </a:p>
          </p:txBody>
        </p:sp>
        <p:sp>
          <p:nvSpPr>
            <p:cNvPr id="33835" name="AutoShape 42"/>
            <p:cNvSpPr>
              <a:spLocks noChangeAspect="1" noChangeArrowheads="1"/>
            </p:cNvSpPr>
            <p:nvPr/>
          </p:nvSpPr>
          <p:spPr bwMode="auto">
            <a:xfrm>
              <a:off x="4221" y="358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36" name="AutoShape 43"/>
            <p:cNvSpPr>
              <a:spLocks noChangeAspect="1" noChangeArrowheads="1"/>
            </p:cNvSpPr>
            <p:nvPr/>
          </p:nvSpPr>
          <p:spPr bwMode="auto">
            <a:xfrm>
              <a:off x="4221" y="3669"/>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37" name="AutoShape 44"/>
            <p:cNvSpPr>
              <a:spLocks noChangeAspect="1" noChangeArrowheads="1"/>
            </p:cNvSpPr>
            <p:nvPr/>
          </p:nvSpPr>
          <p:spPr bwMode="auto">
            <a:xfrm>
              <a:off x="4221" y="375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3838" name="Line 45"/>
            <p:cNvSpPr>
              <a:spLocks noChangeShapeType="1"/>
            </p:cNvSpPr>
            <p:nvPr/>
          </p:nvSpPr>
          <p:spPr bwMode="auto">
            <a:xfrm>
              <a:off x="3286" y="2819"/>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9" name="Line 46"/>
            <p:cNvSpPr>
              <a:spLocks noChangeShapeType="1"/>
            </p:cNvSpPr>
            <p:nvPr/>
          </p:nvSpPr>
          <p:spPr bwMode="auto">
            <a:xfrm>
              <a:off x="3286" y="3287"/>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0" name="Line 47"/>
            <p:cNvSpPr>
              <a:spLocks noChangeShapeType="1"/>
            </p:cNvSpPr>
            <p:nvPr/>
          </p:nvSpPr>
          <p:spPr bwMode="auto">
            <a:xfrm>
              <a:off x="3286" y="405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1" name="Line 48"/>
            <p:cNvSpPr>
              <a:spLocks noChangeShapeType="1"/>
            </p:cNvSpPr>
            <p:nvPr/>
          </p:nvSpPr>
          <p:spPr bwMode="auto">
            <a:xfrm>
              <a:off x="3286" y="2862"/>
              <a:ext cx="791" cy="38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2" name="Line 49"/>
            <p:cNvSpPr>
              <a:spLocks noChangeShapeType="1"/>
            </p:cNvSpPr>
            <p:nvPr/>
          </p:nvSpPr>
          <p:spPr bwMode="auto">
            <a:xfrm>
              <a:off x="3286" y="2904"/>
              <a:ext cx="791" cy="102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3" name="Line 50"/>
            <p:cNvSpPr>
              <a:spLocks noChangeShapeType="1"/>
            </p:cNvSpPr>
            <p:nvPr/>
          </p:nvSpPr>
          <p:spPr bwMode="auto">
            <a:xfrm>
              <a:off x="3286"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4" name="Line 51"/>
            <p:cNvSpPr>
              <a:spLocks noChangeShapeType="1"/>
            </p:cNvSpPr>
            <p:nvPr/>
          </p:nvSpPr>
          <p:spPr bwMode="auto">
            <a:xfrm flipV="1">
              <a:off x="3309" y="2819"/>
              <a:ext cx="768" cy="42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5" name="Line 52"/>
            <p:cNvSpPr>
              <a:spLocks noChangeShapeType="1"/>
            </p:cNvSpPr>
            <p:nvPr/>
          </p:nvSpPr>
          <p:spPr bwMode="auto">
            <a:xfrm flipV="1">
              <a:off x="3286"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6" name="Line 53"/>
            <p:cNvSpPr>
              <a:spLocks noChangeShapeType="1"/>
            </p:cNvSpPr>
            <p:nvPr/>
          </p:nvSpPr>
          <p:spPr bwMode="auto">
            <a:xfrm flipV="1">
              <a:off x="3261" y="2862"/>
              <a:ext cx="816" cy="110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7" name="Line 54"/>
            <p:cNvSpPr>
              <a:spLocks noChangeShapeType="1"/>
            </p:cNvSpPr>
            <p:nvPr/>
          </p:nvSpPr>
          <p:spPr bwMode="auto">
            <a:xfrm>
              <a:off x="4413" y="3295"/>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8" name="Text Box 55"/>
            <p:cNvSpPr txBox="1">
              <a:spLocks noChangeArrowheads="1"/>
            </p:cNvSpPr>
            <p:nvPr/>
          </p:nvSpPr>
          <p:spPr bwMode="auto">
            <a:xfrm>
              <a:off x="5039" y="3126"/>
              <a:ext cx="328"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2</a:t>
              </a:r>
            </a:p>
          </p:txBody>
        </p:sp>
        <p:sp>
          <p:nvSpPr>
            <p:cNvPr id="33849" name="Line 56"/>
            <p:cNvSpPr>
              <a:spLocks noChangeShapeType="1"/>
            </p:cNvSpPr>
            <p:nvPr/>
          </p:nvSpPr>
          <p:spPr bwMode="auto">
            <a:xfrm>
              <a:off x="4413" y="4017"/>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50" name="Text Box 57"/>
            <p:cNvSpPr txBox="1">
              <a:spLocks noChangeArrowheads="1"/>
            </p:cNvSpPr>
            <p:nvPr/>
          </p:nvSpPr>
          <p:spPr bwMode="auto">
            <a:xfrm>
              <a:off x="5039" y="3847"/>
              <a:ext cx="318"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c</a:t>
              </a:r>
            </a:p>
          </p:txBody>
        </p:sp>
        <p:sp>
          <p:nvSpPr>
            <p:cNvPr id="33851" name="Text Box 58"/>
            <p:cNvSpPr txBox="1">
              <a:spLocks noChangeArrowheads="1"/>
            </p:cNvSpPr>
            <p:nvPr/>
          </p:nvSpPr>
          <p:spPr bwMode="auto">
            <a:xfrm>
              <a:off x="2339" y="4031"/>
              <a:ext cx="49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(1)</a:t>
              </a:r>
            </a:p>
          </p:txBody>
        </p:sp>
        <p:sp>
          <p:nvSpPr>
            <p:cNvPr id="33852" name="Text Box 59"/>
            <p:cNvSpPr txBox="1">
              <a:spLocks noChangeArrowheads="1"/>
            </p:cNvSpPr>
            <p:nvPr/>
          </p:nvSpPr>
          <p:spPr bwMode="auto">
            <a:xfrm>
              <a:off x="3448" y="4009"/>
              <a:ext cx="493"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(2)</a:t>
              </a:r>
            </a:p>
          </p:txBody>
        </p:sp>
        <p:sp>
          <p:nvSpPr>
            <p:cNvPr id="33853" name="Text Box 60"/>
            <p:cNvSpPr txBox="1">
              <a:spLocks noChangeArrowheads="1"/>
            </p:cNvSpPr>
            <p:nvPr/>
          </p:nvSpPr>
          <p:spPr bwMode="auto">
            <a:xfrm>
              <a:off x="1690" y="2454"/>
              <a:ext cx="54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输入层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X</a:t>
              </a:r>
              <a:r>
                <a:rPr kumimoji="1" lang="en-US" altLang="zh-CN" sz="2000" b="1">
                  <a:latin typeface="Times New Roman" panose="02020603050405020304" pitchFamily="18" charset="0"/>
                </a:rPr>
                <a:t>)</a:t>
              </a:r>
            </a:p>
          </p:txBody>
        </p:sp>
        <p:sp>
          <p:nvSpPr>
            <p:cNvPr id="33854" name="Text Box 61"/>
            <p:cNvSpPr txBox="1">
              <a:spLocks noChangeArrowheads="1"/>
            </p:cNvSpPr>
            <p:nvPr/>
          </p:nvSpPr>
          <p:spPr bwMode="auto">
            <a:xfrm>
              <a:off x="2953" y="2454"/>
              <a:ext cx="3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隐层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Z</a:t>
              </a:r>
              <a:r>
                <a:rPr kumimoji="1" lang="en-US" altLang="zh-CN" sz="2000" b="1">
                  <a:latin typeface="Times New Roman" panose="02020603050405020304" pitchFamily="18" charset="0"/>
                </a:rPr>
                <a:t>)</a:t>
              </a:r>
            </a:p>
          </p:txBody>
        </p:sp>
        <p:sp>
          <p:nvSpPr>
            <p:cNvPr id="33855" name="Text Box 62"/>
            <p:cNvSpPr txBox="1">
              <a:spLocks noChangeArrowheads="1"/>
            </p:cNvSpPr>
            <p:nvPr/>
          </p:nvSpPr>
          <p:spPr bwMode="auto">
            <a:xfrm>
              <a:off x="3994" y="2454"/>
              <a:ext cx="54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输出层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Y</a:t>
              </a:r>
              <a:r>
                <a:rPr kumimoji="1" lang="en-US" altLang="zh-CN" sz="2000" b="1">
                  <a:latin typeface="Times New Roman" panose="02020603050405020304" pitchFamily="18" charset="0"/>
                </a:rPr>
                <a:t>)</a:t>
              </a:r>
            </a:p>
          </p:txBody>
        </p:sp>
      </p:grpSp>
      <p:sp>
        <p:nvSpPr>
          <p:cNvPr id="33802" name="AutoShape 63"/>
          <p:cNvSpPr>
            <a:spLocks noChangeArrowheads="1"/>
          </p:cNvSpPr>
          <p:nvPr/>
        </p:nvSpPr>
        <p:spPr bwMode="auto">
          <a:xfrm>
            <a:off x="3775075" y="4221163"/>
            <a:ext cx="2514600" cy="2603500"/>
          </a:xfrm>
          <a:prstGeom prst="roundRect">
            <a:avLst>
              <a:gd name="adj" fmla="val 16667"/>
            </a:avLst>
          </a:prstGeom>
          <a:noFill/>
          <a:ln w="571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144463" y="1196975"/>
            <a:ext cx="8001000" cy="118069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dirty="0">
                <a:latin typeface="Times New Roman" panose="02020603050405020304" pitchFamily="18" charset="0"/>
                <a:ea typeface="仿宋_GB2312" pitchFamily="49" charset="-122"/>
              </a:rPr>
              <a:t>考察输出层，设输出层神经元的激活函数为</a:t>
            </a:r>
            <a:r>
              <a:rPr kumimoji="1" lang="zh-CN" altLang="en-US" sz="2400" b="1" i="1" dirty="0">
                <a:latin typeface="Times New Roman" panose="02020603050405020304" pitchFamily="18" charset="0"/>
                <a:ea typeface="仿宋_GB2312" pitchFamily="49" charset="-122"/>
                <a:sym typeface="Symbol" panose="05050102010706020507" pitchFamily="18" charset="2"/>
              </a:rPr>
              <a:t></a:t>
            </a:r>
            <a:r>
              <a:rPr kumimoji="1" lang="zh-CN" altLang="en-US" sz="2400" b="1" dirty="0">
                <a:latin typeface="Times New Roman" panose="02020603050405020304" pitchFamily="18" charset="0"/>
                <a:ea typeface="仿宋_GB2312" pitchFamily="49" charset="-122"/>
                <a:sym typeface="Symbol" panose="05050102010706020507" pitchFamily="18" charset="2"/>
              </a:rPr>
              <a:t>。第</a:t>
            </a:r>
            <a:r>
              <a:rPr kumimoji="1" lang="en-US" altLang="zh-CN" sz="2400" b="1" i="1" dirty="0">
                <a:latin typeface="Times New Roman" panose="02020603050405020304" pitchFamily="18" charset="0"/>
                <a:ea typeface="仿宋_GB2312" pitchFamily="49" charset="-122"/>
                <a:sym typeface="Symbol" panose="05050102010706020507" pitchFamily="18" charset="2"/>
              </a:rPr>
              <a:t>k</a:t>
            </a:r>
            <a:r>
              <a:rPr kumimoji="1" lang="zh-CN" altLang="en-US" sz="2400" b="1" dirty="0">
                <a:latin typeface="Times New Roman" panose="02020603050405020304" pitchFamily="18" charset="0"/>
                <a:ea typeface="仿宋_GB2312" pitchFamily="49" charset="-122"/>
                <a:sym typeface="Symbol" panose="05050102010706020507" pitchFamily="18" charset="2"/>
              </a:rPr>
              <a:t>个输出神经元以</a:t>
            </a:r>
            <a:r>
              <a:rPr kumimoji="1" lang="en-US" altLang="zh-CN" sz="2400" b="1" dirty="0">
                <a:latin typeface="Times New Roman" panose="02020603050405020304" pitchFamily="18" charset="0"/>
                <a:ea typeface="仿宋_GB2312" pitchFamily="49" charset="-122"/>
                <a:sym typeface="Symbol" panose="05050102010706020507" pitchFamily="18" charset="2"/>
              </a:rPr>
              <a:t>z=(z</a:t>
            </a:r>
            <a:r>
              <a:rPr kumimoji="1" lang="en-US" altLang="zh-CN" sz="2400" b="1" baseline="-25000" dirty="0">
                <a:latin typeface="Times New Roman" panose="02020603050405020304" pitchFamily="18" charset="0"/>
                <a:ea typeface="仿宋_GB2312" pitchFamily="49" charset="-122"/>
                <a:sym typeface="Symbol" panose="05050102010706020507" pitchFamily="18" charset="2"/>
              </a:rPr>
              <a:t>1</a:t>
            </a:r>
            <a:r>
              <a:rPr kumimoji="1" lang="en-US" altLang="zh-CN" sz="2400" b="1" dirty="0">
                <a:latin typeface="Times New Roman" panose="02020603050405020304" pitchFamily="18" charset="0"/>
                <a:ea typeface="仿宋_GB2312" pitchFamily="49" charset="-122"/>
                <a:sym typeface="Symbol" panose="05050102010706020507" pitchFamily="18" charset="2"/>
              </a:rPr>
              <a:t>, z</a:t>
            </a:r>
            <a:r>
              <a:rPr kumimoji="1" lang="en-US" altLang="zh-CN" sz="2400" b="1" baseline="-25000" dirty="0">
                <a:latin typeface="Times New Roman" panose="02020603050405020304" pitchFamily="18" charset="0"/>
                <a:ea typeface="仿宋_GB2312" pitchFamily="49" charset="-122"/>
                <a:sym typeface="Symbol" panose="05050102010706020507" pitchFamily="18" charset="2"/>
              </a:rPr>
              <a:t>2</a:t>
            </a:r>
            <a:r>
              <a:rPr kumimoji="1" lang="en-US" altLang="zh-CN" sz="2400" b="1" dirty="0">
                <a:latin typeface="Times New Roman" panose="02020603050405020304" pitchFamily="18" charset="0"/>
                <a:ea typeface="仿宋_GB2312" pitchFamily="49" charset="-122"/>
                <a:sym typeface="Symbol" panose="05050102010706020507" pitchFamily="18" charset="2"/>
              </a:rPr>
              <a:t>, …, </a:t>
            </a:r>
            <a:r>
              <a:rPr kumimoji="1" lang="en-US" altLang="zh-CN" sz="2400" b="1" dirty="0" err="1">
                <a:latin typeface="Times New Roman" panose="02020603050405020304" pitchFamily="18" charset="0"/>
                <a:ea typeface="仿宋_GB2312" pitchFamily="49" charset="-122"/>
                <a:sym typeface="Symbol" panose="05050102010706020507" pitchFamily="18" charset="2"/>
              </a:rPr>
              <a:t>z</a:t>
            </a:r>
            <a:r>
              <a:rPr kumimoji="1" lang="en-US" altLang="zh-CN" sz="2400" b="1" baseline="-25000" dirty="0" err="1">
                <a:latin typeface="Times New Roman" panose="02020603050405020304" pitchFamily="18" charset="0"/>
                <a:ea typeface="仿宋_GB2312" pitchFamily="49" charset="-122"/>
                <a:sym typeface="Symbol" panose="05050102010706020507" pitchFamily="18" charset="2"/>
              </a:rPr>
              <a:t>M</a:t>
            </a:r>
            <a:r>
              <a:rPr kumimoji="1" lang="en-US" altLang="zh-CN" sz="2400" b="1" dirty="0">
                <a:latin typeface="Times New Roman" panose="02020603050405020304" pitchFamily="18" charset="0"/>
                <a:ea typeface="仿宋_GB2312" pitchFamily="49" charset="-122"/>
                <a:sym typeface="Symbol" panose="05050102010706020507" pitchFamily="18" charset="2"/>
              </a:rPr>
              <a:t>)</a:t>
            </a:r>
            <a:r>
              <a:rPr kumimoji="1" lang="en-US" altLang="zh-CN" sz="2400" b="1" i="1" dirty="0">
                <a:latin typeface="Times New Roman" panose="02020603050405020304" pitchFamily="18" charset="0"/>
                <a:ea typeface="仿宋_GB2312" pitchFamily="49" charset="-122"/>
                <a:sym typeface="Symbol" panose="05050102010706020507" pitchFamily="18" charset="2"/>
              </a:rPr>
              <a:t>R</a:t>
            </a:r>
            <a:r>
              <a:rPr kumimoji="1" lang="en-US" altLang="zh-CN" sz="2400" b="1" baseline="30000" dirty="0">
                <a:latin typeface="Times New Roman" panose="02020603050405020304" pitchFamily="18" charset="0"/>
                <a:ea typeface="仿宋_GB2312" pitchFamily="49" charset="-122"/>
                <a:sym typeface="Symbol" panose="05050102010706020507" pitchFamily="18" charset="2"/>
              </a:rPr>
              <a:t>M</a:t>
            </a:r>
            <a:r>
              <a:rPr kumimoji="1" lang="zh-CN" altLang="en-US" sz="2400" b="1" dirty="0">
                <a:latin typeface="Times New Roman" panose="02020603050405020304" pitchFamily="18" charset="0"/>
                <a:ea typeface="仿宋_GB2312" pitchFamily="49" charset="-122"/>
                <a:sym typeface="Symbol" panose="05050102010706020507" pitchFamily="18" charset="2"/>
              </a:rPr>
              <a:t>为输入，其整合函数为</a:t>
            </a:r>
            <a:r>
              <a:rPr kumimoji="1" lang="en-US" altLang="zh-CN" sz="2400" b="1" i="1" dirty="0">
                <a:latin typeface="Times New Roman" panose="02020603050405020304" pitchFamily="18" charset="0"/>
                <a:ea typeface="仿宋_GB2312" pitchFamily="49" charset="-122"/>
                <a:sym typeface="Symbol" panose="05050102010706020507" pitchFamily="18" charset="2"/>
              </a:rPr>
              <a:t>b</a:t>
            </a:r>
            <a:r>
              <a:rPr kumimoji="1" lang="en-US" altLang="zh-CN" sz="2400" b="1" baseline="-25000" dirty="0">
                <a:latin typeface="Times New Roman" panose="02020603050405020304" pitchFamily="18" charset="0"/>
                <a:ea typeface="仿宋_GB2312" pitchFamily="49" charset="-122"/>
                <a:sym typeface="Symbol" panose="05050102010706020507" pitchFamily="18" charset="2"/>
              </a:rPr>
              <a:t>k</a:t>
            </a:r>
            <a:r>
              <a:rPr kumimoji="1" lang="zh-CN" altLang="en-US" sz="2400" b="1" dirty="0">
                <a:latin typeface="Times New Roman" panose="02020603050405020304" pitchFamily="18" charset="0"/>
                <a:ea typeface="仿宋_GB2312" pitchFamily="49" charset="-122"/>
                <a:sym typeface="Symbol" panose="05050102010706020507" pitchFamily="18" charset="2"/>
              </a:rPr>
              <a:t>、输出值为</a:t>
            </a:r>
            <a:r>
              <a:rPr kumimoji="1" lang="en-US" altLang="zh-CN" sz="2400" b="1" i="1" dirty="0" err="1">
                <a:latin typeface="Times New Roman" panose="02020603050405020304" pitchFamily="18" charset="0"/>
                <a:ea typeface="仿宋_GB2312" pitchFamily="49" charset="-122"/>
                <a:sym typeface="Symbol" panose="05050102010706020507" pitchFamily="18" charset="2"/>
              </a:rPr>
              <a:t>y</a:t>
            </a:r>
            <a:r>
              <a:rPr kumimoji="1" lang="en-US" altLang="zh-CN" sz="2400" b="1" baseline="-25000" dirty="0" err="1">
                <a:latin typeface="Times New Roman" panose="02020603050405020304" pitchFamily="18" charset="0"/>
                <a:ea typeface="仿宋_GB2312" pitchFamily="49" charset="-122"/>
                <a:sym typeface="Symbol" panose="05050102010706020507" pitchFamily="18" charset="2"/>
              </a:rPr>
              <a:t>k</a:t>
            </a:r>
            <a:r>
              <a:rPr kumimoji="1" lang="zh-CN" altLang="en-US" sz="2400" b="1" dirty="0">
                <a:latin typeface="Times New Roman" panose="02020603050405020304" pitchFamily="18" charset="0"/>
                <a:ea typeface="仿宋_GB2312" pitchFamily="49" charset="-122"/>
                <a:sym typeface="Symbol" panose="05050102010706020507" pitchFamily="18" charset="2"/>
              </a:rPr>
              <a:t>：</a:t>
            </a:r>
          </a:p>
        </p:txBody>
      </p:sp>
      <p:graphicFrame>
        <p:nvGraphicFramePr>
          <p:cNvPr id="34819" name="Object 3"/>
          <p:cNvGraphicFramePr>
            <a:graphicFrameLocks noChangeAspect="1"/>
          </p:cNvGraphicFramePr>
          <p:nvPr/>
        </p:nvGraphicFramePr>
        <p:xfrm>
          <a:off x="2174875" y="2276475"/>
          <a:ext cx="4700588" cy="1325563"/>
        </p:xfrm>
        <a:graphic>
          <a:graphicData uri="http://schemas.openxmlformats.org/presentationml/2006/ole">
            <mc:AlternateContent xmlns:mc="http://schemas.openxmlformats.org/markup-compatibility/2006">
              <mc:Choice xmlns:v="urn:schemas-microsoft-com:vml" Requires="v">
                <p:oleObj name="Equation" r:id="rId2" imgW="1394460" imgH="445770" progId="Equation.3">
                  <p:embed/>
                </p:oleObj>
              </mc:Choice>
              <mc:Fallback>
                <p:oleObj name="Equation" r:id="rId2" imgW="1394460" imgH="44577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4875" y="2276475"/>
                        <a:ext cx="4700588" cy="1325563"/>
                      </a:xfrm>
                      <a:prstGeom prst="rect">
                        <a:avLst/>
                      </a:prstGeom>
                      <a:solidFill>
                        <a:srgbClr val="FFFF00">
                          <a:alpha val="27058"/>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20" name="Object 4"/>
          <p:cNvGraphicFramePr>
            <a:graphicFrameLocks noChangeAspect="1"/>
          </p:cNvGraphicFramePr>
          <p:nvPr/>
        </p:nvGraphicFramePr>
        <p:xfrm>
          <a:off x="365125" y="4248150"/>
          <a:ext cx="684213" cy="560388"/>
        </p:xfrm>
        <a:graphic>
          <a:graphicData uri="http://schemas.openxmlformats.org/presentationml/2006/ole">
            <mc:AlternateContent xmlns:mc="http://schemas.openxmlformats.org/markup-compatibility/2006">
              <mc:Choice xmlns:v="urn:schemas-microsoft-com:vml" Requires="v">
                <p:oleObj name="Equation" r:id="rId4" imgW="139065" imgH="121285" progId="Equation.3">
                  <p:embed/>
                </p:oleObj>
              </mc:Choice>
              <mc:Fallback>
                <p:oleObj name="Equation" r:id="rId4" imgW="139065" imgH="12128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5" y="4248150"/>
                        <a:ext cx="68421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1" name="Text Box 5"/>
          <p:cNvSpPr txBox="1">
            <a:spLocks noChangeArrowheads="1"/>
          </p:cNvSpPr>
          <p:nvPr/>
        </p:nvSpPr>
        <p:spPr bwMode="auto">
          <a:xfrm>
            <a:off x="1066800" y="4191000"/>
            <a:ext cx="19050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仿宋_GB2312" pitchFamily="49" charset="-122"/>
              </a:rPr>
              <a:t>第</a:t>
            </a:r>
            <a:r>
              <a:rPr kumimoji="1" lang="en-US" altLang="zh-CN" sz="2000" b="1">
                <a:latin typeface="Times New Roman" panose="02020603050405020304" pitchFamily="18" charset="0"/>
                <a:ea typeface="仿宋_GB2312" pitchFamily="49" charset="-122"/>
              </a:rPr>
              <a:t>2</a:t>
            </a:r>
            <a:r>
              <a:rPr kumimoji="1" lang="zh-CN" altLang="en-US" sz="2000" b="1">
                <a:latin typeface="Times New Roman" panose="02020603050405020304" pitchFamily="18" charset="0"/>
                <a:ea typeface="仿宋_GB2312" pitchFamily="49" charset="-122"/>
              </a:rPr>
              <a:t>层（输出层）权重矩阵中第</a:t>
            </a:r>
            <a:r>
              <a:rPr kumimoji="1" lang="en-US" altLang="zh-CN" sz="2000" b="1" i="1">
                <a:latin typeface="Times New Roman" panose="02020603050405020304" pitchFamily="18" charset="0"/>
                <a:ea typeface="仿宋_GB2312" pitchFamily="49" charset="-122"/>
              </a:rPr>
              <a:t>j</a:t>
            </a:r>
            <a:r>
              <a:rPr kumimoji="1" lang="zh-CN" altLang="en-US" sz="2000" b="1">
                <a:latin typeface="Times New Roman" panose="02020603050405020304" pitchFamily="18" charset="0"/>
                <a:ea typeface="仿宋_GB2312" pitchFamily="49" charset="-122"/>
              </a:rPr>
              <a:t>个隐神经元联结到第</a:t>
            </a:r>
            <a:r>
              <a:rPr kumimoji="1" lang="en-US" altLang="zh-CN" sz="2000" b="1" i="1">
                <a:latin typeface="Times New Roman" panose="02020603050405020304" pitchFamily="18" charset="0"/>
                <a:ea typeface="仿宋_GB2312" pitchFamily="49" charset="-122"/>
              </a:rPr>
              <a:t>k</a:t>
            </a:r>
            <a:r>
              <a:rPr kumimoji="1" lang="zh-CN" altLang="en-US" sz="2000" b="1">
                <a:latin typeface="Times New Roman" panose="02020603050405020304" pitchFamily="18" charset="0"/>
                <a:ea typeface="仿宋_GB2312" pitchFamily="49" charset="-122"/>
              </a:rPr>
              <a:t>个输出神经元的权重</a:t>
            </a:r>
          </a:p>
        </p:txBody>
      </p:sp>
      <p:sp>
        <p:nvSpPr>
          <p:cNvPr id="34822" name="Text Box 6"/>
          <p:cNvSpPr txBox="1">
            <a:spLocks noChangeArrowheads="1"/>
          </p:cNvSpPr>
          <p:nvPr/>
        </p:nvSpPr>
        <p:spPr bwMode="auto">
          <a:xfrm>
            <a:off x="1050925" y="5943600"/>
            <a:ext cx="2149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000" b="1">
                <a:latin typeface="Times New Roman" panose="02020603050405020304" pitchFamily="18" charset="0"/>
                <a:ea typeface="仿宋_GB2312" pitchFamily="49" charset="-122"/>
              </a:rPr>
              <a:t>第</a:t>
            </a:r>
            <a:r>
              <a:rPr kumimoji="1" lang="en-US" altLang="zh-CN" sz="2000" b="1" i="1">
                <a:latin typeface="Times New Roman" panose="02020603050405020304" pitchFamily="18" charset="0"/>
                <a:ea typeface="仿宋_GB2312" pitchFamily="49" charset="-122"/>
              </a:rPr>
              <a:t>k</a:t>
            </a:r>
            <a:r>
              <a:rPr kumimoji="1" lang="zh-CN" altLang="en-US" sz="2000" b="1">
                <a:latin typeface="Times New Roman" panose="02020603050405020304" pitchFamily="18" charset="0"/>
                <a:ea typeface="仿宋_GB2312" pitchFamily="49" charset="-122"/>
              </a:rPr>
              <a:t>个输出神经元的阈值</a:t>
            </a:r>
          </a:p>
        </p:txBody>
      </p:sp>
      <p:graphicFrame>
        <p:nvGraphicFramePr>
          <p:cNvPr id="34823" name="Object 7"/>
          <p:cNvGraphicFramePr>
            <a:graphicFrameLocks noChangeAspect="1"/>
          </p:cNvGraphicFramePr>
          <p:nvPr/>
        </p:nvGraphicFramePr>
        <p:xfrm>
          <a:off x="415925" y="5943600"/>
          <a:ext cx="628650" cy="495300"/>
        </p:xfrm>
        <a:graphic>
          <a:graphicData uri="http://schemas.openxmlformats.org/presentationml/2006/ole">
            <mc:AlternateContent xmlns:mc="http://schemas.openxmlformats.org/markup-compatibility/2006">
              <mc:Choice xmlns:v="urn:schemas-microsoft-com:vml" Requires="v">
                <p:oleObj name="Equation" r:id="rId6" imgW="121285" imgH="109855" progId="Equation.3">
                  <p:embed/>
                </p:oleObj>
              </mc:Choice>
              <mc:Fallback>
                <p:oleObj name="Equation" r:id="rId6" imgW="121285" imgH="109855"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925" y="5943600"/>
                        <a:ext cx="6286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4824" name="Group 8"/>
          <p:cNvGrpSpPr/>
          <p:nvPr/>
        </p:nvGrpSpPr>
        <p:grpSpPr bwMode="auto">
          <a:xfrm>
            <a:off x="2989263" y="4038600"/>
            <a:ext cx="6078537" cy="2817813"/>
            <a:chOff x="1044" y="2454"/>
            <a:chExt cx="4323" cy="1882"/>
          </a:xfrm>
        </p:grpSpPr>
        <p:sp>
          <p:nvSpPr>
            <p:cNvPr id="9" name="Oval 9"/>
            <p:cNvSpPr>
              <a:spLocks noChangeAspect="1" noChangeArrowheads="1"/>
            </p:cNvSpPr>
            <p:nvPr/>
          </p:nvSpPr>
          <p:spPr bwMode="auto">
            <a:xfrm>
              <a:off x="2973" y="2734"/>
              <a:ext cx="333"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10" name="Oval 10"/>
            <p:cNvSpPr>
              <a:spLocks noChangeAspect="1" noChangeArrowheads="1"/>
            </p:cNvSpPr>
            <p:nvPr/>
          </p:nvSpPr>
          <p:spPr bwMode="auto">
            <a:xfrm>
              <a:off x="2973" y="3159"/>
              <a:ext cx="333"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11" name="Oval 11"/>
            <p:cNvSpPr>
              <a:spLocks noChangeAspect="1" noChangeArrowheads="1"/>
            </p:cNvSpPr>
            <p:nvPr/>
          </p:nvSpPr>
          <p:spPr bwMode="auto">
            <a:xfrm>
              <a:off x="2973" y="3882"/>
              <a:ext cx="333"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M</a:t>
              </a:r>
            </a:p>
          </p:txBody>
        </p:sp>
        <p:sp>
          <p:nvSpPr>
            <p:cNvPr id="34829" name="AutoShape 12"/>
            <p:cNvSpPr>
              <a:spLocks noChangeAspect="1" noChangeArrowheads="1"/>
            </p:cNvSpPr>
            <p:nvPr/>
          </p:nvSpPr>
          <p:spPr bwMode="auto">
            <a:xfrm>
              <a:off x="3117" y="358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0" name="AutoShape 13"/>
            <p:cNvSpPr>
              <a:spLocks noChangeAspect="1" noChangeArrowheads="1"/>
            </p:cNvSpPr>
            <p:nvPr/>
          </p:nvSpPr>
          <p:spPr bwMode="auto">
            <a:xfrm>
              <a:off x="3117" y="3669"/>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1" name="AutoShape 14"/>
            <p:cNvSpPr>
              <a:spLocks noChangeAspect="1" noChangeArrowheads="1"/>
            </p:cNvSpPr>
            <p:nvPr/>
          </p:nvSpPr>
          <p:spPr bwMode="auto">
            <a:xfrm>
              <a:off x="3117" y="375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32" name="Line 15"/>
            <p:cNvSpPr>
              <a:spLocks noChangeShapeType="1"/>
            </p:cNvSpPr>
            <p:nvPr/>
          </p:nvSpPr>
          <p:spPr bwMode="auto">
            <a:xfrm>
              <a:off x="4413" y="2862"/>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AutoShape 16"/>
            <p:cNvSpPr>
              <a:spLocks noChangeArrowheads="1"/>
            </p:cNvSpPr>
            <p:nvPr/>
          </p:nvSpPr>
          <p:spPr bwMode="auto">
            <a:xfrm>
              <a:off x="1702" y="3159"/>
              <a:ext cx="481" cy="253"/>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2</a:t>
              </a:r>
            </a:p>
          </p:txBody>
        </p:sp>
        <p:sp>
          <p:nvSpPr>
            <p:cNvPr id="17" name="AutoShape 17"/>
            <p:cNvSpPr>
              <a:spLocks noChangeArrowheads="1"/>
            </p:cNvSpPr>
            <p:nvPr/>
          </p:nvSpPr>
          <p:spPr bwMode="auto">
            <a:xfrm>
              <a:off x="1702" y="2734"/>
              <a:ext cx="481" cy="257"/>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1</a:t>
              </a:r>
            </a:p>
          </p:txBody>
        </p:sp>
        <p:sp>
          <p:nvSpPr>
            <p:cNvPr id="34835" name="Text Box 18"/>
            <p:cNvSpPr txBox="1">
              <a:spLocks noChangeArrowheads="1"/>
            </p:cNvSpPr>
            <p:nvPr/>
          </p:nvSpPr>
          <p:spPr bwMode="auto">
            <a:xfrm>
              <a:off x="1044" y="2648"/>
              <a:ext cx="343"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1</a:t>
              </a:r>
            </a:p>
          </p:txBody>
        </p:sp>
        <p:sp>
          <p:nvSpPr>
            <p:cNvPr id="34836" name="Line 19"/>
            <p:cNvSpPr>
              <a:spLocks noChangeShapeType="1"/>
            </p:cNvSpPr>
            <p:nvPr/>
          </p:nvSpPr>
          <p:spPr bwMode="auto">
            <a:xfrm>
              <a:off x="1366" y="2862"/>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37" name="Text Box 20"/>
            <p:cNvSpPr txBox="1">
              <a:spLocks noChangeArrowheads="1"/>
            </p:cNvSpPr>
            <p:nvPr/>
          </p:nvSpPr>
          <p:spPr bwMode="auto">
            <a:xfrm>
              <a:off x="1044" y="3797"/>
              <a:ext cx="382"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N</a:t>
              </a:r>
            </a:p>
          </p:txBody>
        </p:sp>
        <p:sp>
          <p:nvSpPr>
            <p:cNvPr id="21" name="AutoShape 21"/>
            <p:cNvSpPr>
              <a:spLocks noChangeArrowheads="1"/>
            </p:cNvSpPr>
            <p:nvPr/>
          </p:nvSpPr>
          <p:spPr bwMode="auto">
            <a:xfrm>
              <a:off x="1702" y="3874"/>
              <a:ext cx="481" cy="260"/>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N</a:t>
              </a:r>
            </a:p>
          </p:txBody>
        </p:sp>
        <p:sp>
          <p:nvSpPr>
            <p:cNvPr id="34839" name="AutoShape 22"/>
            <p:cNvSpPr>
              <a:spLocks noChangeAspect="1" noChangeArrowheads="1"/>
            </p:cNvSpPr>
            <p:nvPr/>
          </p:nvSpPr>
          <p:spPr bwMode="auto">
            <a:xfrm>
              <a:off x="1894" y="3542"/>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40" name="AutoShape 23"/>
            <p:cNvSpPr>
              <a:spLocks noChangeAspect="1" noChangeArrowheads="1"/>
            </p:cNvSpPr>
            <p:nvPr/>
          </p:nvSpPr>
          <p:spPr bwMode="auto">
            <a:xfrm>
              <a:off x="1894" y="3627"/>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41" name="AutoShape 24"/>
            <p:cNvSpPr>
              <a:spLocks noChangeAspect="1" noChangeArrowheads="1"/>
            </p:cNvSpPr>
            <p:nvPr/>
          </p:nvSpPr>
          <p:spPr bwMode="auto">
            <a:xfrm>
              <a:off x="1894" y="3712"/>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42" name="Line 25"/>
            <p:cNvSpPr>
              <a:spLocks noChangeShapeType="1"/>
            </p:cNvSpPr>
            <p:nvPr/>
          </p:nvSpPr>
          <p:spPr bwMode="auto">
            <a:xfrm>
              <a:off x="1366" y="3287"/>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3" name="Line 26"/>
            <p:cNvSpPr>
              <a:spLocks noChangeShapeType="1"/>
            </p:cNvSpPr>
            <p:nvPr/>
          </p:nvSpPr>
          <p:spPr bwMode="auto">
            <a:xfrm>
              <a:off x="1366" y="4001"/>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4" name="Text Box 27"/>
            <p:cNvSpPr txBox="1">
              <a:spLocks noChangeArrowheads="1"/>
            </p:cNvSpPr>
            <p:nvPr/>
          </p:nvSpPr>
          <p:spPr bwMode="auto">
            <a:xfrm>
              <a:off x="1044" y="3074"/>
              <a:ext cx="343"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2</a:t>
              </a:r>
            </a:p>
          </p:txBody>
        </p:sp>
        <p:sp>
          <p:nvSpPr>
            <p:cNvPr id="34845" name="Line 28"/>
            <p:cNvSpPr>
              <a:spLocks noChangeShapeType="1"/>
            </p:cNvSpPr>
            <p:nvPr/>
          </p:nvSpPr>
          <p:spPr bwMode="auto">
            <a:xfrm>
              <a:off x="2182" y="2819"/>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6" name="Line 29"/>
            <p:cNvSpPr>
              <a:spLocks noChangeShapeType="1"/>
            </p:cNvSpPr>
            <p:nvPr/>
          </p:nvSpPr>
          <p:spPr bwMode="auto">
            <a:xfrm>
              <a:off x="2182" y="3287"/>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7" name="Text Box 30"/>
            <p:cNvSpPr txBox="1">
              <a:spLocks noChangeArrowheads="1"/>
            </p:cNvSpPr>
            <p:nvPr/>
          </p:nvSpPr>
          <p:spPr bwMode="auto">
            <a:xfrm>
              <a:off x="5038" y="2693"/>
              <a:ext cx="32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1</a:t>
              </a:r>
            </a:p>
          </p:txBody>
        </p:sp>
        <p:sp>
          <p:nvSpPr>
            <p:cNvPr id="34848" name="Line 31"/>
            <p:cNvSpPr>
              <a:spLocks noChangeShapeType="1"/>
            </p:cNvSpPr>
            <p:nvPr/>
          </p:nvSpPr>
          <p:spPr bwMode="auto">
            <a:xfrm>
              <a:off x="2182" y="405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49" name="Line 32"/>
            <p:cNvSpPr>
              <a:spLocks noChangeShapeType="1"/>
            </p:cNvSpPr>
            <p:nvPr/>
          </p:nvSpPr>
          <p:spPr bwMode="auto">
            <a:xfrm>
              <a:off x="2182" y="2862"/>
              <a:ext cx="791" cy="38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0" name="Line 33"/>
            <p:cNvSpPr>
              <a:spLocks noChangeShapeType="1"/>
            </p:cNvSpPr>
            <p:nvPr/>
          </p:nvSpPr>
          <p:spPr bwMode="auto">
            <a:xfrm>
              <a:off x="2182" y="2904"/>
              <a:ext cx="791" cy="102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1" name="Line 34"/>
            <p:cNvSpPr>
              <a:spLocks noChangeShapeType="1"/>
            </p:cNvSpPr>
            <p:nvPr/>
          </p:nvSpPr>
          <p:spPr bwMode="auto">
            <a:xfrm>
              <a:off x="2182"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2" name="Line 35"/>
            <p:cNvSpPr>
              <a:spLocks noChangeShapeType="1"/>
            </p:cNvSpPr>
            <p:nvPr/>
          </p:nvSpPr>
          <p:spPr bwMode="auto">
            <a:xfrm flipV="1">
              <a:off x="2205" y="2819"/>
              <a:ext cx="768" cy="42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3" name="Line 36"/>
            <p:cNvSpPr>
              <a:spLocks noChangeShapeType="1"/>
            </p:cNvSpPr>
            <p:nvPr/>
          </p:nvSpPr>
          <p:spPr bwMode="auto">
            <a:xfrm flipV="1">
              <a:off x="2182"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54" name="Line 37"/>
            <p:cNvSpPr>
              <a:spLocks noChangeShapeType="1"/>
            </p:cNvSpPr>
            <p:nvPr/>
          </p:nvSpPr>
          <p:spPr bwMode="auto">
            <a:xfrm flipV="1">
              <a:off x="2157" y="2862"/>
              <a:ext cx="816" cy="110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Oval 38"/>
            <p:cNvSpPr>
              <a:spLocks noChangeAspect="1" noChangeArrowheads="1"/>
            </p:cNvSpPr>
            <p:nvPr/>
          </p:nvSpPr>
          <p:spPr bwMode="auto">
            <a:xfrm>
              <a:off x="4077" y="2734"/>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39" name="Oval 39"/>
            <p:cNvSpPr>
              <a:spLocks noChangeAspect="1" noChangeArrowheads="1"/>
            </p:cNvSpPr>
            <p:nvPr/>
          </p:nvSpPr>
          <p:spPr bwMode="auto">
            <a:xfrm>
              <a:off x="4077" y="3159"/>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40" name="Oval 40"/>
            <p:cNvSpPr>
              <a:spLocks noChangeAspect="1" noChangeArrowheads="1"/>
            </p:cNvSpPr>
            <p:nvPr/>
          </p:nvSpPr>
          <p:spPr bwMode="auto">
            <a:xfrm>
              <a:off x="4077" y="3882"/>
              <a:ext cx="336"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c</a:t>
              </a:r>
            </a:p>
          </p:txBody>
        </p:sp>
        <p:sp>
          <p:nvSpPr>
            <p:cNvPr id="34858" name="AutoShape 41"/>
            <p:cNvSpPr>
              <a:spLocks noChangeAspect="1" noChangeArrowheads="1"/>
            </p:cNvSpPr>
            <p:nvPr/>
          </p:nvSpPr>
          <p:spPr bwMode="auto">
            <a:xfrm>
              <a:off x="4221" y="358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59" name="AutoShape 42"/>
            <p:cNvSpPr>
              <a:spLocks noChangeAspect="1" noChangeArrowheads="1"/>
            </p:cNvSpPr>
            <p:nvPr/>
          </p:nvSpPr>
          <p:spPr bwMode="auto">
            <a:xfrm>
              <a:off x="4221" y="3669"/>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60" name="AutoShape 43"/>
            <p:cNvSpPr>
              <a:spLocks noChangeAspect="1" noChangeArrowheads="1"/>
            </p:cNvSpPr>
            <p:nvPr/>
          </p:nvSpPr>
          <p:spPr bwMode="auto">
            <a:xfrm>
              <a:off x="4221" y="375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4861" name="Line 44"/>
            <p:cNvSpPr>
              <a:spLocks noChangeShapeType="1"/>
            </p:cNvSpPr>
            <p:nvPr/>
          </p:nvSpPr>
          <p:spPr bwMode="auto">
            <a:xfrm>
              <a:off x="3286" y="2819"/>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2" name="Line 45"/>
            <p:cNvSpPr>
              <a:spLocks noChangeShapeType="1"/>
            </p:cNvSpPr>
            <p:nvPr/>
          </p:nvSpPr>
          <p:spPr bwMode="auto">
            <a:xfrm>
              <a:off x="3286" y="3287"/>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3" name="Line 46"/>
            <p:cNvSpPr>
              <a:spLocks noChangeShapeType="1"/>
            </p:cNvSpPr>
            <p:nvPr/>
          </p:nvSpPr>
          <p:spPr bwMode="auto">
            <a:xfrm>
              <a:off x="3286" y="405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4" name="Line 47"/>
            <p:cNvSpPr>
              <a:spLocks noChangeShapeType="1"/>
            </p:cNvSpPr>
            <p:nvPr/>
          </p:nvSpPr>
          <p:spPr bwMode="auto">
            <a:xfrm>
              <a:off x="3286" y="2862"/>
              <a:ext cx="791" cy="38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5" name="Line 48"/>
            <p:cNvSpPr>
              <a:spLocks noChangeShapeType="1"/>
            </p:cNvSpPr>
            <p:nvPr/>
          </p:nvSpPr>
          <p:spPr bwMode="auto">
            <a:xfrm>
              <a:off x="3286" y="2904"/>
              <a:ext cx="791" cy="102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6" name="Line 49"/>
            <p:cNvSpPr>
              <a:spLocks noChangeShapeType="1"/>
            </p:cNvSpPr>
            <p:nvPr/>
          </p:nvSpPr>
          <p:spPr bwMode="auto">
            <a:xfrm>
              <a:off x="3286"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7" name="Line 50"/>
            <p:cNvSpPr>
              <a:spLocks noChangeShapeType="1"/>
            </p:cNvSpPr>
            <p:nvPr/>
          </p:nvSpPr>
          <p:spPr bwMode="auto">
            <a:xfrm flipV="1">
              <a:off x="3309" y="2819"/>
              <a:ext cx="768" cy="42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8" name="Line 51"/>
            <p:cNvSpPr>
              <a:spLocks noChangeShapeType="1"/>
            </p:cNvSpPr>
            <p:nvPr/>
          </p:nvSpPr>
          <p:spPr bwMode="auto">
            <a:xfrm flipV="1">
              <a:off x="3286"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69" name="Line 52"/>
            <p:cNvSpPr>
              <a:spLocks noChangeShapeType="1"/>
            </p:cNvSpPr>
            <p:nvPr/>
          </p:nvSpPr>
          <p:spPr bwMode="auto">
            <a:xfrm flipV="1">
              <a:off x="3261" y="2862"/>
              <a:ext cx="816" cy="110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70" name="Line 53"/>
            <p:cNvSpPr>
              <a:spLocks noChangeShapeType="1"/>
            </p:cNvSpPr>
            <p:nvPr/>
          </p:nvSpPr>
          <p:spPr bwMode="auto">
            <a:xfrm>
              <a:off x="4413" y="3295"/>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71" name="Text Box 54"/>
            <p:cNvSpPr txBox="1">
              <a:spLocks noChangeArrowheads="1"/>
            </p:cNvSpPr>
            <p:nvPr/>
          </p:nvSpPr>
          <p:spPr bwMode="auto">
            <a:xfrm>
              <a:off x="5039" y="3126"/>
              <a:ext cx="328"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2</a:t>
              </a:r>
            </a:p>
          </p:txBody>
        </p:sp>
        <p:sp>
          <p:nvSpPr>
            <p:cNvPr id="34872" name="Line 55"/>
            <p:cNvSpPr>
              <a:spLocks noChangeShapeType="1"/>
            </p:cNvSpPr>
            <p:nvPr/>
          </p:nvSpPr>
          <p:spPr bwMode="auto">
            <a:xfrm>
              <a:off x="4413" y="4017"/>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73" name="Text Box 56"/>
            <p:cNvSpPr txBox="1">
              <a:spLocks noChangeArrowheads="1"/>
            </p:cNvSpPr>
            <p:nvPr/>
          </p:nvSpPr>
          <p:spPr bwMode="auto">
            <a:xfrm>
              <a:off x="5039" y="3847"/>
              <a:ext cx="318"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c</a:t>
              </a:r>
            </a:p>
          </p:txBody>
        </p:sp>
        <p:sp>
          <p:nvSpPr>
            <p:cNvPr id="34874" name="Text Box 57"/>
            <p:cNvSpPr txBox="1">
              <a:spLocks noChangeArrowheads="1"/>
            </p:cNvSpPr>
            <p:nvPr/>
          </p:nvSpPr>
          <p:spPr bwMode="auto">
            <a:xfrm>
              <a:off x="2339" y="4031"/>
              <a:ext cx="49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(1)</a:t>
              </a:r>
            </a:p>
          </p:txBody>
        </p:sp>
        <p:sp>
          <p:nvSpPr>
            <p:cNvPr id="34875" name="Text Box 58"/>
            <p:cNvSpPr txBox="1">
              <a:spLocks noChangeArrowheads="1"/>
            </p:cNvSpPr>
            <p:nvPr/>
          </p:nvSpPr>
          <p:spPr bwMode="auto">
            <a:xfrm>
              <a:off x="3448" y="4009"/>
              <a:ext cx="493"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(2)</a:t>
              </a:r>
            </a:p>
          </p:txBody>
        </p:sp>
        <p:sp>
          <p:nvSpPr>
            <p:cNvPr id="34876" name="Text Box 59"/>
            <p:cNvSpPr txBox="1">
              <a:spLocks noChangeArrowheads="1"/>
            </p:cNvSpPr>
            <p:nvPr/>
          </p:nvSpPr>
          <p:spPr bwMode="auto">
            <a:xfrm>
              <a:off x="1690" y="2454"/>
              <a:ext cx="54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输入层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X</a:t>
              </a:r>
              <a:r>
                <a:rPr kumimoji="1" lang="en-US" altLang="zh-CN" sz="2000" b="1">
                  <a:latin typeface="Times New Roman" panose="02020603050405020304" pitchFamily="18" charset="0"/>
                </a:rPr>
                <a:t>)</a:t>
              </a:r>
            </a:p>
          </p:txBody>
        </p:sp>
        <p:sp>
          <p:nvSpPr>
            <p:cNvPr id="34877" name="Text Box 60"/>
            <p:cNvSpPr txBox="1">
              <a:spLocks noChangeArrowheads="1"/>
            </p:cNvSpPr>
            <p:nvPr/>
          </p:nvSpPr>
          <p:spPr bwMode="auto">
            <a:xfrm>
              <a:off x="2953" y="2454"/>
              <a:ext cx="3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隐层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Z</a:t>
              </a:r>
              <a:r>
                <a:rPr kumimoji="1" lang="en-US" altLang="zh-CN" sz="2000" b="1">
                  <a:latin typeface="Times New Roman" panose="02020603050405020304" pitchFamily="18" charset="0"/>
                </a:rPr>
                <a:t>)</a:t>
              </a:r>
            </a:p>
          </p:txBody>
        </p:sp>
        <p:sp>
          <p:nvSpPr>
            <p:cNvPr id="34878" name="Text Box 61"/>
            <p:cNvSpPr txBox="1">
              <a:spLocks noChangeArrowheads="1"/>
            </p:cNvSpPr>
            <p:nvPr/>
          </p:nvSpPr>
          <p:spPr bwMode="auto">
            <a:xfrm>
              <a:off x="3994" y="2454"/>
              <a:ext cx="54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输出层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Y</a:t>
              </a:r>
              <a:r>
                <a:rPr kumimoji="1" lang="en-US" altLang="zh-CN" sz="2000" b="1">
                  <a:latin typeface="Times New Roman" panose="02020603050405020304" pitchFamily="18" charset="0"/>
                </a:rPr>
                <a:t>)</a:t>
              </a:r>
            </a:p>
          </p:txBody>
        </p:sp>
      </p:grpSp>
      <p:sp>
        <p:nvSpPr>
          <p:cNvPr id="34825" name="AutoShape 62"/>
          <p:cNvSpPr>
            <a:spLocks noChangeArrowheads="1"/>
          </p:cNvSpPr>
          <p:nvPr/>
        </p:nvSpPr>
        <p:spPr bwMode="auto">
          <a:xfrm>
            <a:off x="6324600" y="3933825"/>
            <a:ext cx="2743200" cy="2847975"/>
          </a:xfrm>
          <a:prstGeom prst="roundRect">
            <a:avLst>
              <a:gd name="adj" fmla="val 16667"/>
            </a:avLst>
          </a:prstGeom>
          <a:noFill/>
          <a:ln w="5715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755650" y="758825"/>
            <a:ext cx="800100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accent2"/>
                </a:solidFill>
                <a:latin typeface="Times New Roman" panose="02020603050405020304" pitchFamily="18" charset="0"/>
                <a:ea typeface="仿宋_GB2312" pitchFamily="49" charset="-122"/>
              </a:rPr>
              <a:t>联合得到双层前向网的输出表达式</a:t>
            </a:r>
            <a:endParaRPr kumimoji="1" lang="zh-CN" altLang="en-US" sz="2400" b="1">
              <a:solidFill>
                <a:schemeClr val="accent2"/>
              </a:solidFill>
              <a:latin typeface="Times New Roman" panose="02020603050405020304" pitchFamily="18" charset="0"/>
              <a:ea typeface="仿宋_GB2312" pitchFamily="49" charset="-122"/>
              <a:sym typeface="Symbol" panose="05050102010706020507" pitchFamily="18" charset="2"/>
            </a:endParaRPr>
          </a:p>
        </p:txBody>
      </p:sp>
      <p:grpSp>
        <p:nvGrpSpPr>
          <p:cNvPr id="35843" name="Group 3"/>
          <p:cNvGrpSpPr/>
          <p:nvPr/>
        </p:nvGrpSpPr>
        <p:grpSpPr bwMode="auto">
          <a:xfrm>
            <a:off x="1593850" y="4038600"/>
            <a:ext cx="6635750" cy="2841625"/>
            <a:chOff x="1101" y="2454"/>
            <a:chExt cx="4231" cy="1881"/>
          </a:xfrm>
        </p:grpSpPr>
        <p:sp>
          <p:nvSpPr>
            <p:cNvPr id="4" name="Oval 4"/>
            <p:cNvSpPr>
              <a:spLocks noChangeAspect="1" noChangeArrowheads="1"/>
            </p:cNvSpPr>
            <p:nvPr/>
          </p:nvSpPr>
          <p:spPr bwMode="auto">
            <a:xfrm>
              <a:off x="2973" y="2734"/>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5" name="Oval 5"/>
            <p:cNvSpPr>
              <a:spLocks noChangeAspect="1" noChangeArrowheads="1"/>
            </p:cNvSpPr>
            <p:nvPr/>
          </p:nvSpPr>
          <p:spPr bwMode="auto">
            <a:xfrm>
              <a:off x="2973" y="3159"/>
              <a:ext cx="336"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6" name="Oval 6"/>
            <p:cNvSpPr>
              <a:spLocks noChangeAspect="1" noChangeArrowheads="1"/>
            </p:cNvSpPr>
            <p:nvPr/>
          </p:nvSpPr>
          <p:spPr bwMode="auto">
            <a:xfrm>
              <a:off x="2973" y="3882"/>
              <a:ext cx="336"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M</a:t>
              </a:r>
            </a:p>
          </p:txBody>
        </p:sp>
        <p:sp>
          <p:nvSpPr>
            <p:cNvPr id="35850" name="AutoShape 7"/>
            <p:cNvSpPr>
              <a:spLocks noChangeAspect="1" noChangeArrowheads="1"/>
            </p:cNvSpPr>
            <p:nvPr/>
          </p:nvSpPr>
          <p:spPr bwMode="auto">
            <a:xfrm>
              <a:off x="3117" y="358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51" name="AutoShape 8"/>
            <p:cNvSpPr>
              <a:spLocks noChangeAspect="1" noChangeArrowheads="1"/>
            </p:cNvSpPr>
            <p:nvPr/>
          </p:nvSpPr>
          <p:spPr bwMode="auto">
            <a:xfrm>
              <a:off x="3117" y="3669"/>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52" name="AutoShape 9"/>
            <p:cNvSpPr>
              <a:spLocks noChangeAspect="1" noChangeArrowheads="1"/>
            </p:cNvSpPr>
            <p:nvPr/>
          </p:nvSpPr>
          <p:spPr bwMode="auto">
            <a:xfrm>
              <a:off x="3117" y="375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53" name="Line 10"/>
            <p:cNvSpPr>
              <a:spLocks noChangeShapeType="1"/>
            </p:cNvSpPr>
            <p:nvPr/>
          </p:nvSpPr>
          <p:spPr bwMode="auto">
            <a:xfrm>
              <a:off x="4413" y="2862"/>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AutoShape 11"/>
            <p:cNvSpPr>
              <a:spLocks noChangeArrowheads="1"/>
            </p:cNvSpPr>
            <p:nvPr/>
          </p:nvSpPr>
          <p:spPr bwMode="auto">
            <a:xfrm>
              <a:off x="1702" y="3159"/>
              <a:ext cx="480" cy="255"/>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2</a:t>
              </a:r>
            </a:p>
          </p:txBody>
        </p:sp>
        <p:sp>
          <p:nvSpPr>
            <p:cNvPr id="12" name="AutoShape 12"/>
            <p:cNvSpPr>
              <a:spLocks noChangeArrowheads="1"/>
            </p:cNvSpPr>
            <p:nvPr/>
          </p:nvSpPr>
          <p:spPr bwMode="auto">
            <a:xfrm>
              <a:off x="1702" y="2734"/>
              <a:ext cx="480" cy="255"/>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1</a:t>
              </a:r>
            </a:p>
          </p:txBody>
        </p:sp>
        <p:sp>
          <p:nvSpPr>
            <p:cNvPr id="35856" name="Text Box 13"/>
            <p:cNvSpPr txBox="1">
              <a:spLocks noChangeArrowheads="1"/>
            </p:cNvSpPr>
            <p:nvPr/>
          </p:nvSpPr>
          <p:spPr bwMode="auto">
            <a:xfrm>
              <a:off x="1110" y="2649"/>
              <a:ext cx="308"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1</a:t>
              </a:r>
            </a:p>
          </p:txBody>
        </p:sp>
        <p:sp>
          <p:nvSpPr>
            <p:cNvPr id="35857" name="Line 14"/>
            <p:cNvSpPr>
              <a:spLocks noChangeShapeType="1"/>
            </p:cNvSpPr>
            <p:nvPr/>
          </p:nvSpPr>
          <p:spPr bwMode="auto">
            <a:xfrm>
              <a:off x="1366" y="2862"/>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58" name="Text Box 15"/>
            <p:cNvSpPr txBox="1">
              <a:spLocks noChangeArrowheads="1"/>
            </p:cNvSpPr>
            <p:nvPr/>
          </p:nvSpPr>
          <p:spPr bwMode="auto">
            <a:xfrm>
              <a:off x="1101" y="3797"/>
              <a:ext cx="342"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N</a:t>
              </a:r>
            </a:p>
          </p:txBody>
        </p:sp>
        <p:sp>
          <p:nvSpPr>
            <p:cNvPr id="16" name="AutoShape 16"/>
            <p:cNvSpPr>
              <a:spLocks noChangeArrowheads="1"/>
            </p:cNvSpPr>
            <p:nvPr/>
          </p:nvSpPr>
          <p:spPr bwMode="auto">
            <a:xfrm>
              <a:off x="1702" y="3874"/>
              <a:ext cx="480" cy="255"/>
            </a:xfrm>
            <a:prstGeom prst="cube">
              <a:avLst>
                <a:gd name="adj" fmla="val 14236"/>
              </a:avLst>
            </a:prstGeom>
            <a:gradFill rotWithShape="0">
              <a:gsLst>
                <a:gs pos="0">
                  <a:schemeClr val="accent1">
                    <a:gamma/>
                    <a:shade val="69804"/>
                    <a:invGamma/>
                  </a:schemeClr>
                </a:gs>
                <a:gs pos="50000">
                  <a:schemeClr val="accent1"/>
                </a:gs>
                <a:gs pos="100000">
                  <a:schemeClr val="accent1">
                    <a:gamma/>
                    <a:shade val="69804"/>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tIns="0" rIns="18000" bIns="0" anchor="ctr"/>
            <a:lstStyle/>
            <a:p>
              <a:pPr algn="ctr">
                <a:defRPr/>
              </a:pPr>
              <a:r>
                <a:rPr kumimoji="1" lang="en-US" altLang="zh-CN" sz="2400" b="1">
                  <a:latin typeface="Times New Roman" panose="02020603050405020304" pitchFamily="18" charset="0"/>
                </a:rPr>
                <a:t>N</a:t>
              </a:r>
            </a:p>
          </p:txBody>
        </p:sp>
        <p:sp>
          <p:nvSpPr>
            <p:cNvPr id="35860" name="AutoShape 17"/>
            <p:cNvSpPr>
              <a:spLocks noChangeAspect="1" noChangeArrowheads="1"/>
            </p:cNvSpPr>
            <p:nvPr/>
          </p:nvSpPr>
          <p:spPr bwMode="auto">
            <a:xfrm>
              <a:off x="1894" y="3542"/>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61" name="AutoShape 18"/>
            <p:cNvSpPr>
              <a:spLocks noChangeAspect="1" noChangeArrowheads="1"/>
            </p:cNvSpPr>
            <p:nvPr/>
          </p:nvSpPr>
          <p:spPr bwMode="auto">
            <a:xfrm>
              <a:off x="1894" y="3627"/>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62" name="AutoShape 19"/>
            <p:cNvSpPr>
              <a:spLocks noChangeAspect="1" noChangeArrowheads="1"/>
            </p:cNvSpPr>
            <p:nvPr/>
          </p:nvSpPr>
          <p:spPr bwMode="auto">
            <a:xfrm>
              <a:off x="1894" y="3712"/>
              <a:ext cx="48" cy="42"/>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63" name="Line 20"/>
            <p:cNvSpPr>
              <a:spLocks noChangeShapeType="1"/>
            </p:cNvSpPr>
            <p:nvPr/>
          </p:nvSpPr>
          <p:spPr bwMode="auto">
            <a:xfrm>
              <a:off x="1366" y="3287"/>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64" name="Line 21"/>
            <p:cNvSpPr>
              <a:spLocks noChangeShapeType="1"/>
            </p:cNvSpPr>
            <p:nvPr/>
          </p:nvSpPr>
          <p:spPr bwMode="auto">
            <a:xfrm>
              <a:off x="1366" y="4001"/>
              <a:ext cx="336" cy="0"/>
            </a:xfrm>
            <a:prstGeom prst="line">
              <a:avLst/>
            </a:prstGeom>
            <a:noFill/>
            <a:ln w="5715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65" name="Text Box 22"/>
            <p:cNvSpPr txBox="1">
              <a:spLocks noChangeArrowheads="1"/>
            </p:cNvSpPr>
            <p:nvPr/>
          </p:nvSpPr>
          <p:spPr bwMode="auto">
            <a:xfrm>
              <a:off x="1110" y="3074"/>
              <a:ext cx="308"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x</a:t>
              </a:r>
              <a:r>
                <a:rPr kumimoji="1" lang="en-US" altLang="zh-CN" sz="2800" b="1" baseline="-25000">
                  <a:latin typeface="Times New Roman" panose="02020603050405020304" pitchFamily="18" charset="0"/>
                </a:rPr>
                <a:t>2</a:t>
              </a:r>
            </a:p>
          </p:txBody>
        </p:sp>
        <p:sp>
          <p:nvSpPr>
            <p:cNvPr id="35866" name="Line 23"/>
            <p:cNvSpPr>
              <a:spLocks noChangeShapeType="1"/>
            </p:cNvSpPr>
            <p:nvPr/>
          </p:nvSpPr>
          <p:spPr bwMode="auto">
            <a:xfrm>
              <a:off x="2182" y="2819"/>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67" name="Line 24"/>
            <p:cNvSpPr>
              <a:spLocks noChangeShapeType="1"/>
            </p:cNvSpPr>
            <p:nvPr/>
          </p:nvSpPr>
          <p:spPr bwMode="auto">
            <a:xfrm>
              <a:off x="2182" y="3287"/>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68" name="Text Box 25"/>
            <p:cNvSpPr txBox="1">
              <a:spLocks noChangeArrowheads="1"/>
            </p:cNvSpPr>
            <p:nvPr/>
          </p:nvSpPr>
          <p:spPr bwMode="auto">
            <a:xfrm>
              <a:off x="5037" y="2691"/>
              <a:ext cx="295"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1</a:t>
              </a:r>
            </a:p>
          </p:txBody>
        </p:sp>
        <p:sp>
          <p:nvSpPr>
            <p:cNvPr id="35869" name="Line 26"/>
            <p:cNvSpPr>
              <a:spLocks noChangeShapeType="1"/>
            </p:cNvSpPr>
            <p:nvPr/>
          </p:nvSpPr>
          <p:spPr bwMode="auto">
            <a:xfrm>
              <a:off x="2182" y="405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0" name="Line 27"/>
            <p:cNvSpPr>
              <a:spLocks noChangeShapeType="1"/>
            </p:cNvSpPr>
            <p:nvPr/>
          </p:nvSpPr>
          <p:spPr bwMode="auto">
            <a:xfrm>
              <a:off x="2182" y="2862"/>
              <a:ext cx="791" cy="38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1" name="Line 28"/>
            <p:cNvSpPr>
              <a:spLocks noChangeShapeType="1"/>
            </p:cNvSpPr>
            <p:nvPr/>
          </p:nvSpPr>
          <p:spPr bwMode="auto">
            <a:xfrm>
              <a:off x="2182" y="2904"/>
              <a:ext cx="791" cy="102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2" name="Line 29"/>
            <p:cNvSpPr>
              <a:spLocks noChangeShapeType="1"/>
            </p:cNvSpPr>
            <p:nvPr/>
          </p:nvSpPr>
          <p:spPr bwMode="auto">
            <a:xfrm>
              <a:off x="2182"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3" name="Line 30"/>
            <p:cNvSpPr>
              <a:spLocks noChangeShapeType="1"/>
            </p:cNvSpPr>
            <p:nvPr/>
          </p:nvSpPr>
          <p:spPr bwMode="auto">
            <a:xfrm flipV="1">
              <a:off x="2205" y="2819"/>
              <a:ext cx="768" cy="42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4" name="Line 31"/>
            <p:cNvSpPr>
              <a:spLocks noChangeShapeType="1"/>
            </p:cNvSpPr>
            <p:nvPr/>
          </p:nvSpPr>
          <p:spPr bwMode="auto">
            <a:xfrm flipV="1">
              <a:off x="2182"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5" name="Line 32"/>
            <p:cNvSpPr>
              <a:spLocks noChangeShapeType="1"/>
            </p:cNvSpPr>
            <p:nvPr/>
          </p:nvSpPr>
          <p:spPr bwMode="auto">
            <a:xfrm flipV="1">
              <a:off x="2157" y="2862"/>
              <a:ext cx="816" cy="110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Oval 33"/>
            <p:cNvSpPr>
              <a:spLocks noChangeAspect="1" noChangeArrowheads="1"/>
            </p:cNvSpPr>
            <p:nvPr/>
          </p:nvSpPr>
          <p:spPr bwMode="auto">
            <a:xfrm>
              <a:off x="4077" y="2734"/>
              <a:ext cx="336" cy="298"/>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1</a:t>
              </a:r>
            </a:p>
          </p:txBody>
        </p:sp>
        <p:sp>
          <p:nvSpPr>
            <p:cNvPr id="34" name="Oval 34"/>
            <p:cNvSpPr>
              <a:spLocks noChangeAspect="1" noChangeArrowheads="1"/>
            </p:cNvSpPr>
            <p:nvPr/>
          </p:nvSpPr>
          <p:spPr bwMode="auto">
            <a:xfrm>
              <a:off x="4077" y="3159"/>
              <a:ext cx="336"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a:latin typeface="Times New Roman" panose="02020603050405020304" pitchFamily="18" charset="0"/>
                </a:rPr>
                <a:t>2</a:t>
              </a:r>
            </a:p>
          </p:txBody>
        </p:sp>
        <p:sp>
          <p:nvSpPr>
            <p:cNvPr id="35" name="Oval 35"/>
            <p:cNvSpPr>
              <a:spLocks noChangeAspect="1" noChangeArrowheads="1"/>
            </p:cNvSpPr>
            <p:nvPr/>
          </p:nvSpPr>
          <p:spPr bwMode="auto">
            <a:xfrm>
              <a:off x="4077" y="3882"/>
              <a:ext cx="336" cy="297"/>
            </a:xfrm>
            <a:prstGeom prst="ellipse">
              <a:avLst/>
            </a:prstGeom>
            <a:gradFill rotWithShape="0">
              <a:gsLst>
                <a:gs pos="0">
                  <a:schemeClr val="accent1"/>
                </a:gs>
                <a:gs pos="100000">
                  <a:schemeClr val="accent1">
                    <a:gamma/>
                    <a:shade val="53333"/>
                    <a:invGamma/>
                  </a:schemeClr>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kumimoji="1" lang="en-US" altLang="zh-CN" sz="2400" b="1" i="1">
                  <a:latin typeface="Times New Roman" panose="02020603050405020304" pitchFamily="18" charset="0"/>
                </a:rPr>
                <a:t>c</a:t>
              </a:r>
            </a:p>
          </p:txBody>
        </p:sp>
        <p:sp>
          <p:nvSpPr>
            <p:cNvPr id="35879" name="AutoShape 36"/>
            <p:cNvSpPr>
              <a:spLocks noChangeAspect="1" noChangeArrowheads="1"/>
            </p:cNvSpPr>
            <p:nvPr/>
          </p:nvSpPr>
          <p:spPr bwMode="auto">
            <a:xfrm>
              <a:off x="4221" y="358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80" name="AutoShape 37"/>
            <p:cNvSpPr>
              <a:spLocks noChangeAspect="1" noChangeArrowheads="1"/>
            </p:cNvSpPr>
            <p:nvPr/>
          </p:nvSpPr>
          <p:spPr bwMode="auto">
            <a:xfrm>
              <a:off x="4221" y="3669"/>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81" name="AutoShape 38"/>
            <p:cNvSpPr>
              <a:spLocks noChangeAspect="1" noChangeArrowheads="1"/>
            </p:cNvSpPr>
            <p:nvPr/>
          </p:nvSpPr>
          <p:spPr bwMode="auto">
            <a:xfrm>
              <a:off x="4221" y="3754"/>
              <a:ext cx="48" cy="43"/>
            </a:xfrm>
            <a:prstGeom prst="flowChartConnector">
              <a:avLst/>
            </a:prstGeom>
            <a:solidFill>
              <a:srgbClr val="0000FF"/>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35882" name="Line 39"/>
            <p:cNvSpPr>
              <a:spLocks noChangeShapeType="1"/>
            </p:cNvSpPr>
            <p:nvPr/>
          </p:nvSpPr>
          <p:spPr bwMode="auto">
            <a:xfrm>
              <a:off x="3286" y="2819"/>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3" name="Line 40"/>
            <p:cNvSpPr>
              <a:spLocks noChangeShapeType="1"/>
            </p:cNvSpPr>
            <p:nvPr/>
          </p:nvSpPr>
          <p:spPr bwMode="auto">
            <a:xfrm>
              <a:off x="3286" y="3287"/>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4" name="Line 41"/>
            <p:cNvSpPr>
              <a:spLocks noChangeShapeType="1"/>
            </p:cNvSpPr>
            <p:nvPr/>
          </p:nvSpPr>
          <p:spPr bwMode="auto">
            <a:xfrm>
              <a:off x="3286" y="4052"/>
              <a:ext cx="791" cy="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5" name="Line 42"/>
            <p:cNvSpPr>
              <a:spLocks noChangeShapeType="1"/>
            </p:cNvSpPr>
            <p:nvPr/>
          </p:nvSpPr>
          <p:spPr bwMode="auto">
            <a:xfrm>
              <a:off x="3286" y="2862"/>
              <a:ext cx="791" cy="382"/>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6" name="Line 43"/>
            <p:cNvSpPr>
              <a:spLocks noChangeShapeType="1"/>
            </p:cNvSpPr>
            <p:nvPr/>
          </p:nvSpPr>
          <p:spPr bwMode="auto">
            <a:xfrm>
              <a:off x="3286" y="2904"/>
              <a:ext cx="791" cy="102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7" name="Line 44"/>
            <p:cNvSpPr>
              <a:spLocks noChangeShapeType="1"/>
            </p:cNvSpPr>
            <p:nvPr/>
          </p:nvSpPr>
          <p:spPr bwMode="auto">
            <a:xfrm>
              <a:off x="3286"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8" name="Line 45"/>
            <p:cNvSpPr>
              <a:spLocks noChangeShapeType="1"/>
            </p:cNvSpPr>
            <p:nvPr/>
          </p:nvSpPr>
          <p:spPr bwMode="auto">
            <a:xfrm flipV="1">
              <a:off x="3309" y="2819"/>
              <a:ext cx="768" cy="42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9" name="Line 46"/>
            <p:cNvSpPr>
              <a:spLocks noChangeShapeType="1"/>
            </p:cNvSpPr>
            <p:nvPr/>
          </p:nvSpPr>
          <p:spPr bwMode="auto">
            <a:xfrm flipV="1">
              <a:off x="3286" y="3329"/>
              <a:ext cx="791" cy="680"/>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0" name="Line 47"/>
            <p:cNvSpPr>
              <a:spLocks noChangeShapeType="1"/>
            </p:cNvSpPr>
            <p:nvPr/>
          </p:nvSpPr>
          <p:spPr bwMode="auto">
            <a:xfrm flipV="1">
              <a:off x="3261" y="2862"/>
              <a:ext cx="816" cy="1105"/>
            </a:xfrm>
            <a:prstGeom prst="line">
              <a:avLst/>
            </a:prstGeom>
            <a:noFill/>
            <a:ln w="381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1" name="Line 48"/>
            <p:cNvSpPr>
              <a:spLocks noChangeShapeType="1"/>
            </p:cNvSpPr>
            <p:nvPr/>
          </p:nvSpPr>
          <p:spPr bwMode="auto">
            <a:xfrm>
              <a:off x="4413" y="3295"/>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2" name="Text Box 49"/>
            <p:cNvSpPr txBox="1">
              <a:spLocks noChangeArrowheads="1"/>
            </p:cNvSpPr>
            <p:nvPr/>
          </p:nvSpPr>
          <p:spPr bwMode="auto">
            <a:xfrm>
              <a:off x="5037" y="3125"/>
              <a:ext cx="295"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2</a:t>
              </a:r>
            </a:p>
          </p:txBody>
        </p:sp>
        <p:sp>
          <p:nvSpPr>
            <p:cNvPr id="35893" name="Line 50"/>
            <p:cNvSpPr>
              <a:spLocks noChangeShapeType="1"/>
            </p:cNvSpPr>
            <p:nvPr/>
          </p:nvSpPr>
          <p:spPr bwMode="auto">
            <a:xfrm>
              <a:off x="4413" y="4017"/>
              <a:ext cx="624" cy="0"/>
            </a:xfrm>
            <a:prstGeom prst="line">
              <a:avLst/>
            </a:prstGeom>
            <a:noFill/>
            <a:ln w="63500">
              <a:solidFill>
                <a:srgbClr val="0000FF"/>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4" name="Text Box 51"/>
            <p:cNvSpPr txBox="1">
              <a:spLocks noChangeArrowheads="1"/>
            </p:cNvSpPr>
            <p:nvPr/>
          </p:nvSpPr>
          <p:spPr bwMode="auto">
            <a:xfrm>
              <a:off x="5037" y="3847"/>
              <a:ext cx="286"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800" b="1" i="1">
                  <a:latin typeface="Times New Roman" panose="02020603050405020304" pitchFamily="18" charset="0"/>
                </a:rPr>
                <a:t>y</a:t>
              </a:r>
              <a:r>
                <a:rPr kumimoji="1" lang="en-US" altLang="zh-CN" sz="2800" b="1" baseline="-25000">
                  <a:latin typeface="Times New Roman" panose="02020603050405020304" pitchFamily="18" charset="0"/>
                </a:rPr>
                <a:t>c</a:t>
              </a:r>
            </a:p>
          </p:txBody>
        </p:sp>
        <p:sp>
          <p:nvSpPr>
            <p:cNvPr id="35895" name="Text Box 52"/>
            <p:cNvSpPr txBox="1">
              <a:spLocks noChangeArrowheads="1"/>
            </p:cNvSpPr>
            <p:nvPr/>
          </p:nvSpPr>
          <p:spPr bwMode="auto">
            <a:xfrm>
              <a:off x="2339" y="4032"/>
              <a:ext cx="442"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(1)</a:t>
              </a:r>
            </a:p>
          </p:txBody>
        </p:sp>
        <p:sp>
          <p:nvSpPr>
            <p:cNvPr id="35896" name="Text Box 53"/>
            <p:cNvSpPr txBox="1">
              <a:spLocks noChangeArrowheads="1"/>
            </p:cNvSpPr>
            <p:nvPr/>
          </p:nvSpPr>
          <p:spPr bwMode="auto">
            <a:xfrm>
              <a:off x="3448" y="4009"/>
              <a:ext cx="443"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2400" b="1" i="1">
                  <a:latin typeface="Times New Roman" panose="02020603050405020304" pitchFamily="18" charset="0"/>
                </a:rPr>
                <a:t>W</a:t>
              </a:r>
              <a:r>
                <a:rPr kumimoji="1" lang="en-US" altLang="zh-CN" sz="2400" b="1" baseline="30000">
                  <a:latin typeface="Times New Roman" panose="02020603050405020304" pitchFamily="18" charset="0"/>
                </a:rPr>
                <a:t>(2)</a:t>
              </a:r>
            </a:p>
          </p:txBody>
        </p:sp>
        <p:sp>
          <p:nvSpPr>
            <p:cNvPr id="35897" name="Text Box 54"/>
            <p:cNvSpPr txBox="1">
              <a:spLocks noChangeArrowheads="1"/>
            </p:cNvSpPr>
            <p:nvPr/>
          </p:nvSpPr>
          <p:spPr bwMode="auto">
            <a:xfrm>
              <a:off x="1719" y="2454"/>
              <a:ext cx="48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输入层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X</a:t>
              </a:r>
              <a:r>
                <a:rPr kumimoji="1" lang="en-US" altLang="zh-CN" sz="2000" b="1">
                  <a:latin typeface="Times New Roman" panose="02020603050405020304" pitchFamily="18" charset="0"/>
                </a:rPr>
                <a:t>)</a:t>
              </a:r>
            </a:p>
          </p:txBody>
        </p:sp>
        <p:sp>
          <p:nvSpPr>
            <p:cNvPr id="35898" name="Text Box 55"/>
            <p:cNvSpPr txBox="1">
              <a:spLocks noChangeArrowheads="1"/>
            </p:cNvSpPr>
            <p:nvPr/>
          </p:nvSpPr>
          <p:spPr bwMode="auto">
            <a:xfrm>
              <a:off x="2972" y="2454"/>
              <a:ext cx="326"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隐层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Z</a:t>
              </a:r>
              <a:r>
                <a:rPr kumimoji="1" lang="en-US" altLang="zh-CN" sz="2000" b="1">
                  <a:latin typeface="Times New Roman" panose="02020603050405020304" pitchFamily="18" charset="0"/>
                </a:rPr>
                <a:t>)</a:t>
              </a:r>
            </a:p>
          </p:txBody>
        </p:sp>
        <p:sp>
          <p:nvSpPr>
            <p:cNvPr id="35899" name="Text Box 56"/>
            <p:cNvSpPr txBox="1">
              <a:spLocks noChangeArrowheads="1"/>
            </p:cNvSpPr>
            <p:nvPr/>
          </p:nvSpPr>
          <p:spPr bwMode="auto">
            <a:xfrm>
              <a:off x="4023" y="2454"/>
              <a:ext cx="48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0"/>
                </a:spcBef>
                <a:buFontTx/>
                <a:buNone/>
              </a:pPr>
              <a:r>
                <a:rPr kumimoji="1" lang="zh-CN" altLang="en-US" sz="2000" b="1">
                  <a:latin typeface="Times New Roman" panose="02020603050405020304" pitchFamily="18" charset="0"/>
                </a:rPr>
                <a:t>输出层</a:t>
              </a:r>
            </a:p>
            <a:p>
              <a:pPr algn="ctr" eaLnBrk="1" hangingPunct="1">
                <a:lnSpc>
                  <a:spcPct val="80000"/>
                </a:lnSpc>
                <a:spcBef>
                  <a:spcPct val="0"/>
                </a:spcBef>
                <a:buFontTx/>
                <a:buNone/>
              </a:pPr>
              <a:r>
                <a:rPr kumimoji="1" lang="en-US" altLang="zh-CN" sz="2000" b="1">
                  <a:latin typeface="Times New Roman" panose="02020603050405020304" pitchFamily="18" charset="0"/>
                </a:rPr>
                <a:t>(</a:t>
              </a:r>
              <a:r>
                <a:rPr kumimoji="1" lang="en-US" altLang="zh-CN" sz="2000" b="1" i="1">
                  <a:latin typeface="Times New Roman" panose="02020603050405020304" pitchFamily="18" charset="0"/>
                </a:rPr>
                <a:t>Y</a:t>
              </a:r>
              <a:r>
                <a:rPr kumimoji="1" lang="en-US" altLang="zh-CN" sz="2000" b="1">
                  <a:latin typeface="Times New Roman" panose="02020603050405020304" pitchFamily="18" charset="0"/>
                </a:rPr>
                <a:t>)</a:t>
              </a:r>
            </a:p>
          </p:txBody>
        </p:sp>
      </p:grpSp>
      <p:graphicFrame>
        <p:nvGraphicFramePr>
          <p:cNvPr id="35844" name="Object 57"/>
          <p:cNvGraphicFramePr>
            <a:graphicFrameLocks noChangeAspect="1"/>
          </p:cNvGraphicFramePr>
          <p:nvPr/>
        </p:nvGraphicFramePr>
        <p:xfrm>
          <a:off x="1357313" y="1341438"/>
          <a:ext cx="5562600" cy="1730375"/>
        </p:xfrm>
        <a:graphic>
          <a:graphicData uri="http://schemas.openxmlformats.org/presentationml/2006/ole">
            <mc:AlternateContent xmlns:mc="http://schemas.openxmlformats.org/markup-compatibility/2006">
              <mc:Choice xmlns:v="urn:schemas-microsoft-com:vml" Requires="v">
                <p:oleObj name="公式" r:id="rId2" imgW="1979295" imgH="676910" progId="Equation.3">
                  <p:embed/>
                </p:oleObj>
              </mc:Choice>
              <mc:Fallback>
                <p:oleObj name="公式" r:id="rId2" imgW="1979295" imgH="676910" progId="Equation.3">
                  <p:embed/>
                  <p:pic>
                    <p:nvPicPr>
                      <p:cNvPr id="0" name="Object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313" y="1341438"/>
                        <a:ext cx="5562600" cy="1730375"/>
                      </a:xfrm>
                      <a:prstGeom prst="rect">
                        <a:avLst/>
                      </a:prstGeom>
                      <a:solidFill>
                        <a:srgbClr val="92D050">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5" name="Text Box 58"/>
          <p:cNvSpPr txBox="1">
            <a:spLocks noChangeArrowheads="1"/>
          </p:cNvSpPr>
          <p:nvPr/>
        </p:nvSpPr>
        <p:spPr bwMode="auto">
          <a:xfrm>
            <a:off x="755650" y="3276600"/>
            <a:ext cx="114300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记为：</a:t>
            </a:r>
            <a:endParaRPr kumimoji="1" lang="zh-CN" altLang="en-US" sz="2400" b="1">
              <a:latin typeface="Times New Roman" panose="02020603050405020304" pitchFamily="18" charset="0"/>
              <a:ea typeface="仿宋_GB2312" pitchFamily="49" charset="-122"/>
              <a:sym typeface="Symbol" panose="05050102010706020507" pitchFamily="18" charset="2"/>
            </a:endParaRPr>
          </a:p>
        </p:txBody>
      </p:sp>
      <p:graphicFrame>
        <p:nvGraphicFramePr>
          <p:cNvPr id="35846" name="Object 59"/>
          <p:cNvGraphicFramePr>
            <a:graphicFrameLocks noChangeAspect="1"/>
          </p:cNvGraphicFramePr>
          <p:nvPr/>
        </p:nvGraphicFramePr>
        <p:xfrm>
          <a:off x="1595438" y="3230563"/>
          <a:ext cx="4360862" cy="500062"/>
        </p:xfrm>
        <a:graphic>
          <a:graphicData uri="http://schemas.openxmlformats.org/presentationml/2006/ole">
            <mc:AlternateContent xmlns:mc="http://schemas.openxmlformats.org/markup-compatibility/2006">
              <mc:Choice xmlns:v="urn:schemas-microsoft-com:vml" Requires="v">
                <p:oleObj name="Equation" r:id="rId4" imgW="1238250" imgH="104140" progId="Equation.3">
                  <p:embed/>
                </p:oleObj>
              </mc:Choice>
              <mc:Fallback>
                <p:oleObj name="Equation" r:id="rId4" imgW="1238250" imgH="104140" progId="Equation.3">
                  <p:embed/>
                  <p:pic>
                    <p:nvPicPr>
                      <p:cNvPr id="0"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438" y="3230563"/>
                        <a:ext cx="4360862" cy="500062"/>
                      </a:xfrm>
                      <a:prstGeom prst="rect">
                        <a:avLst/>
                      </a:prstGeom>
                      <a:solidFill>
                        <a:srgbClr val="FF0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395288" y="1474788"/>
            <a:ext cx="852170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设学习集有</a:t>
            </a:r>
            <a:r>
              <a:rPr kumimoji="1" lang="en-US" altLang="zh-CN" sz="2400" b="1" i="1">
                <a:latin typeface="Times New Roman" panose="02020603050405020304" pitchFamily="18" charset="0"/>
                <a:ea typeface="仿宋_GB2312" pitchFamily="49" charset="-122"/>
              </a:rPr>
              <a:t>T</a:t>
            </a:r>
            <a:r>
              <a:rPr kumimoji="1" lang="zh-CN" altLang="en-US" sz="2400" b="1">
                <a:latin typeface="Times New Roman" panose="02020603050405020304" pitchFamily="18" charset="0"/>
                <a:ea typeface="仿宋_GB2312" pitchFamily="49" charset="-122"/>
              </a:rPr>
              <a:t>个样本，记为</a:t>
            </a:r>
            <a:r>
              <a:rPr kumimoji="1" lang="en-US" altLang="zh-CN" sz="2400" b="1">
                <a:latin typeface="Times New Roman" panose="02020603050405020304" pitchFamily="18" charset="0"/>
                <a:ea typeface="仿宋_GB2312" pitchFamily="49" charset="-122"/>
              </a:rPr>
              <a:t>{</a:t>
            </a:r>
            <a:r>
              <a:rPr kumimoji="1" lang="en-US" altLang="zh-CN" sz="2400" b="1" i="1">
                <a:latin typeface="Times New Roman" panose="02020603050405020304" pitchFamily="18" charset="0"/>
                <a:ea typeface="仿宋_GB2312" pitchFamily="49" charset="-122"/>
              </a:rPr>
              <a:t>x</a:t>
            </a:r>
            <a:r>
              <a:rPr kumimoji="1" lang="en-US" altLang="zh-CN" sz="2400" b="1" i="1" baseline="30000">
                <a:latin typeface="Times New Roman" panose="02020603050405020304" pitchFamily="18" charset="0"/>
                <a:ea typeface="仿宋_GB2312" pitchFamily="49" charset="-122"/>
                <a:sym typeface="Symbol" panose="05050102010706020507" pitchFamily="18" charset="2"/>
              </a:rPr>
              <a:t></a:t>
            </a:r>
            <a:r>
              <a:rPr kumimoji="1" lang="en-US" altLang="zh-CN" sz="2400" b="1" i="1">
                <a:latin typeface="Times New Roman" panose="02020603050405020304" pitchFamily="18" charset="0"/>
                <a:ea typeface="仿宋_GB2312" pitchFamily="49" charset="-122"/>
                <a:sym typeface="Symbol" panose="05050102010706020507" pitchFamily="18" charset="2"/>
              </a:rPr>
              <a:t>, t</a:t>
            </a:r>
            <a:r>
              <a:rPr kumimoji="1" lang="en-US" altLang="zh-CN" sz="2400" b="1" i="1" baseline="30000">
                <a:latin typeface="Times New Roman" panose="02020603050405020304" pitchFamily="18" charset="0"/>
                <a:ea typeface="仿宋_GB2312" pitchFamily="49" charset="-122"/>
                <a:sym typeface="Symbol" panose="05050102010706020507" pitchFamily="18" charset="2"/>
              </a:rPr>
              <a:t></a:t>
            </a:r>
            <a:r>
              <a:rPr kumimoji="1" lang="en-US" altLang="zh-CN" sz="2400" b="1">
                <a:latin typeface="Times New Roman" panose="02020603050405020304" pitchFamily="18" charset="0"/>
                <a:ea typeface="仿宋_GB2312" pitchFamily="49" charset="-122"/>
              </a:rPr>
              <a:t>}</a:t>
            </a:r>
            <a:r>
              <a:rPr kumimoji="1" lang="zh-CN" altLang="en-US" sz="2400" b="1">
                <a:latin typeface="Times New Roman" panose="02020603050405020304" pitchFamily="18" charset="0"/>
                <a:ea typeface="仿宋_GB2312" pitchFamily="49" charset="-122"/>
              </a:rPr>
              <a:t>，</a:t>
            </a:r>
            <a:r>
              <a:rPr kumimoji="1" lang="zh-CN" altLang="en-US" sz="2400" b="1" i="1">
                <a:latin typeface="Times New Roman" panose="02020603050405020304" pitchFamily="18" charset="0"/>
                <a:ea typeface="仿宋_GB2312" pitchFamily="49" charset="-122"/>
                <a:sym typeface="Symbol" panose="05050102010706020507" pitchFamily="18" charset="2"/>
              </a:rPr>
              <a:t></a:t>
            </a:r>
            <a:r>
              <a:rPr kumimoji="1" lang="zh-CN" altLang="en-US" sz="2400" b="1">
                <a:latin typeface="Times New Roman" panose="02020603050405020304" pitchFamily="18" charset="0"/>
                <a:ea typeface="仿宋_GB2312" pitchFamily="49" charset="-122"/>
              </a:rPr>
              <a:t> </a:t>
            </a:r>
            <a:r>
              <a:rPr kumimoji="1" lang="en-US" altLang="zh-CN" sz="2400" b="1">
                <a:latin typeface="Times New Roman" panose="02020603050405020304" pitchFamily="18" charset="0"/>
                <a:ea typeface="仿宋_GB2312" pitchFamily="49" charset="-122"/>
              </a:rPr>
              <a:t>=1, 2, …, </a:t>
            </a:r>
            <a:r>
              <a:rPr kumimoji="1" lang="en-US" altLang="zh-CN" sz="2400" b="1" i="1">
                <a:latin typeface="Times New Roman" panose="02020603050405020304" pitchFamily="18" charset="0"/>
                <a:ea typeface="仿宋_GB2312" pitchFamily="49" charset="-122"/>
              </a:rPr>
              <a:t>T</a:t>
            </a:r>
            <a:r>
              <a:rPr kumimoji="1" lang="zh-CN" altLang="en-US" sz="2400" b="1">
                <a:latin typeface="Times New Roman" panose="02020603050405020304" pitchFamily="18" charset="0"/>
                <a:ea typeface="仿宋_GB2312" pitchFamily="49" charset="-122"/>
              </a:rPr>
              <a:t>，其中：</a:t>
            </a:r>
          </a:p>
        </p:txBody>
      </p:sp>
      <p:graphicFrame>
        <p:nvGraphicFramePr>
          <p:cNvPr id="39939" name="Object 3"/>
          <p:cNvGraphicFramePr>
            <a:graphicFrameLocks noChangeAspect="1"/>
          </p:cNvGraphicFramePr>
          <p:nvPr/>
        </p:nvGraphicFramePr>
        <p:xfrm>
          <a:off x="1979613" y="2417763"/>
          <a:ext cx="3870325" cy="1143000"/>
        </p:xfrm>
        <a:graphic>
          <a:graphicData uri="http://schemas.openxmlformats.org/presentationml/2006/ole">
            <mc:AlternateContent xmlns:mc="http://schemas.openxmlformats.org/markup-compatibility/2006">
              <mc:Choice xmlns:v="urn:schemas-microsoft-com:vml" Requires="v">
                <p:oleObj name="Equation" r:id="rId2" imgW="1082040" imgH="295275" progId="Equation.3">
                  <p:embed/>
                </p:oleObj>
              </mc:Choice>
              <mc:Fallback>
                <p:oleObj name="Equation" r:id="rId2" imgW="1082040" imgH="295275"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2417763"/>
                        <a:ext cx="3870325" cy="1143000"/>
                      </a:xfrm>
                      <a:prstGeom prst="rect">
                        <a:avLst/>
                      </a:prstGeom>
                      <a:solidFill>
                        <a:srgbClr val="FFFF00">
                          <a:alpha val="30980"/>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0" name="Text Box 4"/>
          <p:cNvSpPr txBox="1">
            <a:spLocks noChangeArrowheads="1"/>
          </p:cNvSpPr>
          <p:nvPr/>
        </p:nvSpPr>
        <p:spPr bwMode="auto">
          <a:xfrm>
            <a:off x="5881688" y="2466975"/>
            <a:ext cx="1947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chemeClr val="accent2"/>
                </a:solidFill>
                <a:latin typeface="Times New Roman" panose="02020603050405020304" pitchFamily="18" charset="0"/>
                <a:ea typeface="仿宋_GB2312" pitchFamily="49" charset="-122"/>
              </a:rPr>
              <a:t>输入</a:t>
            </a:r>
          </a:p>
        </p:txBody>
      </p:sp>
      <p:sp>
        <p:nvSpPr>
          <p:cNvPr id="39941" name="Text Box 5"/>
          <p:cNvSpPr txBox="1">
            <a:spLocks noChangeArrowheads="1"/>
          </p:cNvSpPr>
          <p:nvPr/>
        </p:nvSpPr>
        <p:spPr bwMode="auto">
          <a:xfrm>
            <a:off x="5884863" y="3052763"/>
            <a:ext cx="25749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rgbClr val="FF0000"/>
                </a:solidFill>
                <a:latin typeface="Times New Roman" panose="02020603050405020304" pitchFamily="18" charset="0"/>
                <a:ea typeface="仿宋_GB2312" pitchFamily="49" charset="-122"/>
              </a:rPr>
              <a:t>理想输出</a:t>
            </a:r>
          </a:p>
        </p:txBody>
      </p:sp>
      <p:graphicFrame>
        <p:nvGraphicFramePr>
          <p:cNvPr id="39942" name="Object 6"/>
          <p:cNvGraphicFramePr>
            <a:graphicFrameLocks noChangeAspect="1"/>
          </p:cNvGraphicFramePr>
          <p:nvPr/>
        </p:nvGraphicFramePr>
        <p:xfrm>
          <a:off x="2047875" y="4724400"/>
          <a:ext cx="3378200" cy="512763"/>
        </p:xfrm>
        <a:graphic>
          <a:graphicData uri="http://schemas.openxmlformats.org/presentationml/2006/ole">
            <mc:AlternateContent xmlns:mc="http://schemas.openxmlformats.org/markup-compatibility/2006">
              <mc:Choice xmlns:v="urn:schemas-microsoft-com:vml" Requires="v">
                <p:oleObj name="Equation" r:id="rId4" imgW="1082040" imgH="109855" progId="Equation.3">
                  <p:embed/>
                </p:oleObj>
              </mc:Choice>
              <mc:Fallback>
                <p:oleObj name="Equation" r:id="rId4" imgW="1082040" imgH="109855"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875" y="4724400"/>
                        <a:ext cx="3378200" cy="512763"/>
                      </a:xfrm>
                      <a:prstGeom prst="rect">
                        <a:avLst/>
                      </a:prstGeom>
                      <a:solidFill>
                        <a:schemeClr val="accent2">
                          <a:alpha val="21960"/>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43" name="Text Box 7"/>
          <p:cNvSpPr txBox="1">
            <a:spLocks noChangeArrowheads="1"/>
          </p:cNvSpPr>
          <p:nvPr/>
        </p:nvSpPr>
        <p:spPr bwMode="auto">
          <a:xfrm>
            <a:off x="427038" y="3932238"/>
            <a:ext cx="852170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accent2"/>
                </a:solidFill>
                <a:latin typeface="Times New Roman" panose="02020603050405020304" pitchFamily="18" charset="0"/>
                <a:ea typeface="仿宋_GB2312" pitchFamily="49" charset="-122"/>
              </a:rPr>
              <a:t>计算实际输出</a:t>
            </a:r>
            <a:r>
              <a:rPr kumimoji="1" lang="zh-CN" altLang="en-US" sz="2400" b="1">
                <a:latin typeface="Times New Roman" panose="02020603050405020304" pitchFamily="18" charset="0"/>
                <a:ea typeface="仿宋_GB2312" pitchFamily="49" charset="-122"/>
              </a:rPr>
              <a:t>，记为：</a:t>
            </a:r>
          </a:p>
        </p:txBody>
      </p:sp>
      <p:sp>
        <p:nvSpPr>
          <p:cNvPr id="39944" name="Text Box 8"/>
          <p:cNvSpPr txBox="1">
            <a:spLocks noChangeArrowheads="1"/>
          </p:cNvSpPr>
          <p:nvPr/>
        </p:nvSpPr>
        <p:spPr bwMode="auto">
          <a:xfrm>
            <a:off x="6008688" y="4779963"/>
            <a:ext cx="1947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zh-CN" altLang="en-US" sz="2400" b="1">
                <a:solidFill>
                  <a:schemeClr val="accent2"/>
                </a:solidFill>
                <a:latin typeface="Times New Roman" panose="02020603050405020304" pitchFamily="18" charset="0"/>
                <a:ea typeface="仿宋_GB2312" pitchFamily="49" charset="-122"/>
              </a:rPr>
              <a:t>实际输出</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571500" y="3213100"/>
            <a:ext cx="845185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显然有：</a:t>
            </a:r>
          </a:p>
        </p:txBody>
      </p:sp>
      <p:graphicFrame>
        <p:nvGraphicFramePr>
          <p:cNvPr id="40963" name="Object 3"/>
          <p:cNvGraphicFramePr>
            <a:graphicFrameLocks noChangeAspect="1"/>
          </p:cNvGraphicFramePr>
          <p:nvPr/>
        </p:nvGraphicFramePr>
        <p:xfrm>
          <a:off x="2857500" y="3860800"/>
          <a:ext cx="3816350" cy="947738"/>
        </p:xfrm>
        <a:graphic>
          <a:graphicData uri="http://schemas.openxmlformats.org/presentationml/2006/ole">
            <mc:AlternateContent xmlns:mc="http://schemas.openxmlformats.org/markup-compatibility/2006">
              <mc:Choice xmlns:v="urn:schemas-microsoft-com:vml" Requires="v">
                <p:oleObj name="Equation" r:id="rId2" imgW="1151890" imgH="283845" progId="Equation.3">
                  <p:embed/>
                </p:oleObj>
              </mc:Choice>
              <mc:Fallback>
                <p:oleObj name="Equation" r:id="rId2" imgW="1151890" imgH="283845"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0" y="3860800"/>
                        <a:ext cx="3816350" cy="947738"/>
                      </a:xfrm>
                      <a:prstGeom prst="rect">
                        <a:avLst/>
                      </a:prstGeom>
                      <a:solidFill>
                        <a:schemeClr val="accent2">
                          <a:alpha val="14117"/>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4" name="Text Box 5"/>
          <p:cNvSpPr txBox="1">
            <a:spLocks noChangeArrowheads="1"/>
          </p:cNvSpPr>
          <p:nvPr/>
        </p:nvSpPr>
        <p:spPr bwMode="auto">
          <a:xfrm>
            <a:off x="539750" y="762000"/>
            <a:ext cx="845185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故</a:t>
            </a:r>
            <a:r>
              <a:rPr kumimoji="1" lang="zh-CN" altLang="en-US" sz="2400" b="1">
                <a:solidFill>
                  <a:schemeClr val="accent2"/>
                </a:solidFill>
                <a:latin typeface="Times New Roman" panose="02020603050405020304" pitchFamily="18" charset="0"/>
                <a:ea typeface="仿宋_GB2312" pitchFamily="49" charset="-122"/>
              </a:rPr>
              <a:t>误差函数</a:t>
            </a:r>
            <a:r>
              <a:rPr kumimoji="1" lang="zh-CN" altLang="en-US" sz="2400" b="1">
                <a:latin typeface="Times New Roman" panose="02020603050405020304" pitchFamily="18" charset="0"/>
                <a:ea typeface="仿宋_GB2312" pitchFamily="49" charset="-122"/>
              </a:rPr>
              <a:t>为：</a:t>
            </a:r>
          </a:p>
        </p:txBody>
      </p:sp>
      <p:graphicFrame>
        <p:nvGraphicFramePr>
          <p:cNvPr id="40965" name="Object 6"/>
          <p:cNvGraphicFramePr>
            <a:graphicFrameLocks noChangeAspect="1"/>
          </p:cNvGraphicFramePr>
          <p:nvPr/>
        </p:nvGraphicFramePr>
        <p:xfrm>
          <a:off x="1763713" y="1212850"/>
          <a:ext cx="5184775" cy="2016125"/>
        </p:xfrm>
        <a:graphic>
          <a:graphicData uri="http://schemas.openxmlformats.org/presentationml/2006/ole">
            <mc:AlternateContent xmlns:mc="http://schemas.openxmlformats.org/markup-compatibility/2006">
              <mc:Choice xmlns:v="urn:schemas-microsoft-com:vml" Requires="v">
                <p:oleObj name="Equation" r:id="rId4" imgW="1492885" imgH="601980" progId="Equation.3">
                  <p:embed/>
                </p:oleObj>
              </mc:Choice>
              <mc:Fallback>
                <p:oleObj name="Equation" r:id="rId4" imgW="1492885" imgH="60198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1212850"/>
                        <a:ext cx="5184775" cy="2016125"/>
                      </a:xfrm>
                      <a:prstGeom prst="rect">
                        <a:avLst/>
                      </a:prstGeom>
                      <a:solidFill>
                        <a:srgbClr val="FFFF00">
                          <a:alpha val="30980"/>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6" name="Text Box 4"/>
          <p:cNvSpPr txBox="1">
            <a:spLocks noChangeArrowheads="1"/>
          </p:cNvSpPr>
          <p:nvPr/>
        </p:nvSpPr>
        <p:spPr bwMode="auto">
          <a:xfrm>
            <a:off x="468313" y="5307013"/>
            <a:ext cx="845185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因此只需讨论某一个样本点的误差传播，以下略去上标</a:t>
            </a:r>
            <a:r>
              <a:rPr kumimoji="1" lang="zh-CN" altLang="en-US" sz="2400" b="1" i="1">
                <a:latin typeface="Times New Roman" panose="02020603050405020304" pitchFamily="18" charset="0"/>
                <a:ea typeface="仿宋_GB2312" pitchFamily="49" charset="-122"/>
                <a:sym typeface="Symbol" panose="05050102010706020507" pitchFamily="18" charset="2"/>
              </a:rPr>
              <a:t></a:t>
            </a:r>
            <a:r>
              <a:rPr kumimoji="1" lang="zh-CN" altLang="en-US" sz="2400" b="1">
                <a:latin typeface="Times New Roman" panose="02020603050405020304" pitchFamily="18" charset="0"/>
                <a:ea typeface="仿宋_GB2312" pitchFamily="49" charset="-122"/>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986" name="Object 2"/>
          <p:cNvGraphicFramePr>
            <a:graphicFrameLocks noChangeAspect="1"/>
          </p:cNvGraphicFramePr>
          <p:nvPr/>
        </p:nvGraphicFramePr>
        <p:xfrm>
          <a:off x="1914525" y="620713"/>
          <a:ext cx="4292600" cy="1408112"/>
        </p:xfrm>
        <a:graphic>
          <a:graphicData uri="http://schemas.openxmlformats.org/presentationml/2006/ole">
            <mc:AlternateContent xmlns:mc="http://schemas.openxmlformats.org/markup-compatibility/2006">
              <mc:Choice xmlns:v="urn:schemas-microsoft-com:vml" Requires="v">
                <p:oleObj name="Equation" r:id="rId2" imgW="1342390" imgH="445770" progId="Equation.3">
                  <p:embed/>
                </p:oleObj>
              </mc:Choice>
              <mc:Fallback>
                <p:oleObj name="Equation" r:id="rId2" imgW="1342390" imgH="44577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525" y="620713"/>
                        <a:ext cx="4292600" cy="1408112"/>
                      </a:xfrm>
                      <a:prstGeom prst="rect">
                        <a:avLst/>
                      </a:prstGeom>
                      <a:solidFill>
                        <a:schemeClr val="accent2">
                          <a:alpha val="23921"/>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987" name="Object 3"/>
          <p:cNvGraphicFramePr>
            <a:graphicFrameLocks noChangeAspect="1"/>
          </p:cNvGraphicFramePr>
          <p:nvPr/>
        </p:nvGraphicFramePr>
        <p:xfrm>
          <a:off x="1863725" y="2171700"/>
          <a:ext cx="4508500" cy="1417638"/>
        </p:xfrm>
        <a:graphic>
          <a:graphicData uri="http://schemas.openxmlformats.org/presentationml/2006/ole">
            <mc:AlternateContent xmlns:mc="http://schemas.openxmlformats.org/markup-compatibility/2006">
              <mc:Choice xmlns:v="urn:schemas-microsoft-com:vml" Requires="v">
                <p:oleObj name="Equation" r:id="rId4" imgW="1394460" imgH="445770" progId="Equation.3">
                  <p:embed/>
                </p:oleObj>
              </mc:Choice>
              <mc:Fallback>
                <p:oleObj name="Equation" r:id="rId4" imgW="1394460" imgH="44577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3725" y="2171700"/>
                        <a:ext cx="4508500" cy="1417638"/>
                      </a:xfrm>
                      <a:prstGeom prst="rect">
                        <a:avLst/>
                      </a:prstGeom>
                      <a:solidFill>
                        <a:srgbClr val="92D050">
                          <a:alpha val="34117"/>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88" name="Text Box 4"/>
          <p:cNvSpPr txBox="1">
            <a:spLocks noChangeArrowheads="1"/>
          </p:cNvSpPr>
          <p:nvPr/>
        </p:nvSpPr>
        <p:spPr bwMode="auto">
          <a:xfrm>
            <a:off x="539750" y="687388"/>
            <a:ext cx="845185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作记号</a:t>
            </a:r>
          </a:p>
        </p:txBody>
      </p:sp>
      <p:sp>
        <p:nvSpPr>
          <p:cNvPr id="5" name="Text Box 5"/>
          <p:cNvSpPr txBox="1">
            <a:spLocks noChangeArrowheads="1"/>
          </p:cNvSpPr>
          <p:nvPr/>
        </p:nvSpPr>
        <p:spPr bwMode="auto">
          <a:xfrm>
            <a:off x="504825" y="3794125"/>
            <a:ext cx="845185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p>
            <a:pPr>
              <a:defRPr/>
            </a:pPr>
            <a:r>
              <a:rPr kumimoji="1" lang="zh-CN" altLang="en-US" sz="2400" b="1" dirty="0">
                <a:latin typeface="Times New Roman" panose="02020603050405020304" pitchFamily="18" charset="0"/>
                <a:ea typeface="仿宋_GB2312" pitchFamily="49" charset="-122"/>
              </a:rPr>
              <a:t>又定义</a:t>
            </a:r>
            <a:r>
              <a:rPr kumimoji="1" lang="zh-CN" altLang="en-US" sz="2400" b="1" dirty="0">
                <a:solidFill>
                  <a:srgbClr val="FF0000"/>
                </a:solidFill>
                <a:latin typeface="Times New Roman" panose="02020603050405020304" pitchFamily="18" charset="0"/>
                <a:ea typeface="仿宋_GB2312" pitchFamily="49" charset="-122"/>
              </a:rPr>
              <a:t>第</a:t>
            </a:r>
            <a:r>
              <a:rPr kumimoji="1" lang="en-US" altLang="zh-CN" sz="2400" b="1" dirty="0">
                <a:solidFill>
                  <a:srgbClr val="FF0000"/>
                </a:solidFill>
                <a:latin typeface="Times New Roman" panose="02020603050405020304" pitchFamily="18" charset="0"/>
                <a:ea typeface="仿宋_GB2312" pitchFamily="49" charset="-122"/>
              </a:rPr>
              <a:t>k</a:t>
            </a:r>
            <a:r>
              <a:rPr kumimoji="1" lang="zh-CN" altLang="en-US" sz="2400" b="1" dirty="0">
                <a:solidFill>
                  <a:srgbClr val="FF0000"/>
                </a:solidFill>
                <a:latin typeface="Times New Roman" panose="02020603050405020304" pitchFamily="18" charset="0"/>
                <a:ea typeface="仿宋_GB2312" pitchFamily="49" charset="-122"/>
              </a:rPr>
              <a:t>个输出神经元</a:t>
            </a:r>
            <a:r>
              <a:rPr kumimoji="1" lang="zh-CN" altLang="en-US" sz="2400" b="1" dirty="0">
                <a:latin typeface="Times New Roman" panose="02020603050405020304" pitchFamily="18" charset="0"/>
                <a:ea typeface="仿宋_GB2312" pitchFamily="49" charset="-122"/>
              </a:rPr>
              <a:t>和</a:t>
            </a:r>
            <a:r>
              <a:rPr kumimoji="1" lang="zh-CN" altLang="en-US" sz="2400" b="1" dirty="0">
                <a:solidFill>
                  <a:schemeClr val="accent2"/>
                </a:solidFill>
                <a:latin typeface="Times New Roman" panose="02020603050405020304" pitchFamily="18" charset="0"/>
                <a:ea typeface="仿宋_GB2312" pitchFamily="49" charset="-122"/>
              </a:rPr>
              <a:t>第</a:t>
            </a:r>
            <a:r>
              <a:rPr kumimoji="1" lang="en-US" altLang="zh-CN" sz="2400" b="1" dirty="0">
                <a:solidFill>
                  <a:schemeClr val="accent2"/>
                </a:solidFill>
                <a:latin typeface="Times New Roman" panose="02020603050405020304" pitchFamily="18" charset="0"/>
                <a:ea typeface="仿宋_GB2312" pitchFamily="49" charset="-122"/>
              </a:rPr>
              <a:t>j</a:t>
            </a:r>
            <a:r>
              <a:rPr kumimoji="1" lang="zh-CN" altLang="en-US" sz="2400" b="1" dirty="0">
                <a:solidFill>
                  <a:schemeClr val="accent2"/>
                </a:solidFill>
                <a:latin typeface="Times New Roman" panose="02020603050405020304" pitchFamily="18" charset="0"/>
                <a:ea typeface="仿宋_GB2312" pitchFamily="49" charset="-122"/>
              </a:rPr>
              <a:t>个隐层神经元</a:t>
            </a:r>
            <a:r>
              <a:rPr kumimoji="1" lang="zh-CN" altLang="en-US" sz="2400" b="1" dirty="0">
                <a:latin typeface="Times New Roman" panose="02020603050405020304" pitchFamily="18" charset="0"/>
                <a:ea typeface="仿宋_GB2312" pitchFamily="49" charset="-122"/>
              </a:rPr>
              <a:t>的</a:t>
            </a:r>
            <a:r>
              <a:rPr kumimoji="1" lang="zh-CN" altLang="en-US" sz="2400" b="1" u="sng" dirty="0">
                <a:effectLst>
                  <a:outerShdw blurRad="38100" dist="38100" dir="2700000" algn="tl">
                    <a:srgbClr val="C0C0C0"/>
                  </a:outerShdw>
                </a:effectLst>
                <a:latin typeface="Times New Roman" panose="02020603050405020304" pitchFamily="18" charset="0"/>
                <a:ea typeface="仿宋_GB2312" pitchFamily="49" charset="-122"/>
              </a:rPr>
              <a:t>误差率</a:t>
            </a:r>
            <a:r>
              <a:rPr kumimoji="1" lang="zh-CN" altLang="en-US" sz="2400" b="1" dirty="0">
                <a:latin typeface="Times New Roman" panose="02020603050405020304" pitchFamily="18" charset="0"/>
                <a:ea typeface="仿宋_GB2312" pitchFamily="49" charset="-122"/>
              </a:rPr>
              <a:t>为：</a:t>
            </a:r>
          </a:p>
        </p:txBody>
      </p:sp>
      <p:graphicFrame>
        <p:nvGraphicFramePr>
          <p:cNvPr id="41990" name="Object 6"/>
          <p:cNvGraphicFramePr>
            <a:graphicFrameLocks noChangeAspect="1"/>
          </p:cNvGraphicFramePr>
          <p:nvPr/>
        </p:nvGraphicFramePr>
        <p:xfrm>
          <a:off x="1763713" y="4529138"/>
          <a:ext cx="4464050" cy="1844675"/>
        </p:xfrm>
        <a:graphic>
          <a:graphicData uri="http://schemas.openxmlformats.org/presentationml/2006/ole">
            <mc:AlternateContent xmlns:mc="http://schemas.openxmlformats.org/markup-compatibility/2006">
              <mc:Choice xmlns:v="urn:schemas-microsoft-com:vml" Requires="v">
                <p:oleObj name="Equation" r:id="rId6" imgW="1209675" imgH="601980" progId="Equation.3">
                  <p:embed/>
                </p:oleObj>
              </mc:Choice>
              <mc:Fallback>
                <p:oleObj name="Equation" r:id="rId6" imgW="1209675" imgH="60198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13" y="4529138"/>
                        <a:ext cx="4464050" cy="1844675"/>
                      </a:xfrm>
                      <a:prstGeom prst="rect">
                        <a:avLst/>
                      </a:prstGeom>
                      <a:solidFill>
                        <a:srgbClr val="FFFF00">
                          <a:alpha val="29019"/>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1" name="Text Box 7"/>
          <p:cNvSpPr txBox="1">
            <a:spLocks noChangeArrowheads="1"/>
          </p:cNvSpPr>
          <p:nvPr/>
        </p:nvSpPr>
        <p:spPr bwMode="auto">
          <a:xfrm>
            <a:off x="6227763" y="4546600"/>
            <a:ext cx="202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chemeClr val="accent2"/>
                </a:solidFill>
                <a:latin typeface="Times New Roman" panose="02020603050405020304" pitchFamily="18" charset="0"/>
                <a:ea typeface="仿宋_GB2312" pitchFamily="49" charset="-122"/>
              </a:rPr>
              <a:t>输出层误差率</a:t>
            </a:r>
          </a:p>
        </p:txBody>
      </p:sp>
      <p:sp>
        <p:nvSpPr>
          <p:cNvPr id="41992" name="Text Box 8"/>
          <p:cNvSpPr txBox="1">
            <a:spLocks noChangeArrowheads="1"/>
          </p:cNvSpPr>
          <p:nvPr/>
        </p:nvSpPr>
        <p:spPr bwMode="auto">
          <a:xfrm>
            <a:off x="6343650" y="5662613"/>
            <a:ext cx="171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solidFill>
                  <a:srgbClr val="FF0000"/>
                </a:solidFill>
                <a:latin typeface="Times New Roman" panose="02020603050405020304" pitchFamily="18" charset="0"/>
                <a:ea typeface="仿宋_GB2312" pitchFamily="49" charset="-122"/>
              </a:rPr>
              <a:t>隐层误差率</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468313" y="1017588"/>
            <a:ext cx="8497887"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由微分链式法则，计算可得：</a:t>
            </a:r>
          </a:p>
        </p:txBody>
      </p:sp>
      <p:graphicFrame>
        <p:nvGraphicFramePr>
          <p:cNvPr id="43011" name="Object 3"/>
          <p:cNvGraphicFramePr>
            <a:graphicFrameLocks noChangeAspect="1"/>
          </p:cNvGraphicFramePr>
          <p:nvPr/>
        </p:nvGraphicFramePr>
        <p:xfrm>
          <a:off x="2195513" y="4227513"/>
          <a:ext cx="5527675" cy="1938337"/>
        </p:xfrm>
        <a:graphic>
          <a:graphicData uri="http://schemas.openxmlformats.org/presentationml/2006/ole">
            <mc:AlternateContent xmlns:mc="http://schemas.openxmlformats.org/markup-compatibility/2006">
              <mc:Choice xmlns:v="urn:schemas-microsoft-com:vml" Requires="v">
                <p:oleObj name="Equation" r:id="rId2" imgW="1544955" imgH="619125" progId="Equation.3">
                  <p:embed/>
                </p:oleObj>
              </mc:Choice>
              <mc:Fallback>
                <p:oleObj name="Equation" r:id="rId2" imgW="1544955" imgH="619125"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4227513"/>
                        <a:ext cx="5527675" cy="1938337"/>
                      </a:xfrm>
                      <a:prstGeom prst="rect">
                        <a:avLst/>
                      </a:prstGeom>
                      <a:solidFill>
                        <a:srgbClr val="FFC0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2" name="Line 4"/>
          <p:cNvSpPr>
            <a:spLocks noChangeShapeType="1"/>
          </p:cNvSpPr>
          <p:nvPr/>
        </p:nvSpPr>
        <p:spPr bwMode="auto">
          <a:xfrm>
            <a:off x="4876800" y="3084513"/>
            <a:ext cx="0" cy="11430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76200">
                <a:solidFill>
                  <a:srgbClr val="FF0000"/>
                </a:solidFill>
                <a:round/>
                <a:tailEnd type="triangl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13" name="Text Box 5"/>
          <p:cNvSpPr txBox="1">
            <a:spLocks noChangeArrowheads="1"/>
          </p:cNvSpPr>
          <p:nvPr/>
        </p:nvSpPr>
        <p:spPr bwMode="auto">
          <a:xfrm>
            <a:off x="900113" y="1808163"/>
            <a:ext cx="202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输出层误差率</a:t>
            </a:r>
          </a:p>
        </p:txBody>
      </p:sp>
      <p:sp>
        <p:nvSpPr>
          <p:cNvPr id="43014" name="Text Box 6"/>
          <p:cNvSpPr txBox="1">
            <a:spLocks noChangeArrowheads="1"/>
          </p:cNvSpPr>
          <p:nvPr/>
        </p:nvSpPr>
        <p:spPr bwMode="auto">
          <a:xfrm>
            <a:off x="920750" y="3770313"/>
            <a:ext cx="171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隐层误差率</a:t>
            </a:r>
          </a:p>
        </p:txBody>
      </p:sp>
      <p:graphicFrame>
        <p:nvGraphicFramePr>
          <p:cNvPr id="43015" name="Object 7"/>
          <p:cNvGraphicFramePr>
            <a:graphicFrameLocks noChangeAspect="1"/>
          </p:cNvGraphicFramePr>
          <p:nvPr/>
        </p:nvGraphicFramePr>
        <p:xfrm>
          <a:off x="2049463" y="2349500"/>
          <a:ext cx="5654675" cy="946150"/>
        </p:xfrm>
        <a:graphic>
          <a:graphicData uri="http://schemas.openxmlformats.org/presentationml/2006/ole">
            <mc:AlternateContent xmlns:mc="http://schemas.openxmlformats.org/markup-compatibility/2006">
              <mc:Choice xmlns:v="urn:schemas-microsoft-com:vml" Requires="v">
                <p:oleObj name="Equation" r:id="rId4" imgW="1579880" imgH="254635" progId="Equation.3">
                  <p:embed/>
                </p:oleObj>
              </mc:Choice>
              <mc:Fallback>
                <p:oleObj name="Equation" r:id="rId4" imgW="1579880" imgH="25463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9463" y="2349500"/>
                        <a:ext cx="5654675" cy="946150"/>
                      </a:xfrm>
                      <a:prstGeom prst="rect">
                        <a:avLst/>
                      </a:prstGeom>
                      <a:solidFill>
                        <a:schemeClr val="accent2">
                          <a:alpha val="5098"/>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696913" y="962025"/>
            <a:ext cx="8001000" cy="43815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a:latin typeface="Times New Roman" panose="02020603050405020304" pitchFamily="18" charset="0"/>
                <a:ea typeface="仿宋_GB2312" pitchFamily="49" charset="-122"/>
              </a:rPr>
              <a:t>因此，得到：</a:t>
            </a:r>
          </a:p>
        </p:txBody>
      </p:sp>
      <p:graphicFrame>
        <p:nvGraphicFramePr>
          <p:cNvPr id="44035" name="Object 3"/>
          <p:cNvGraphicFramePr>
            <a:graphicFrameLocks noChangeAspect="1"/>
          </p:cNvGraphicFramePr>
          <p:nvPr/>
        </p:nvGraphicFramePr>
        <p:xfrm>
          <a:off x="2124075" y="1433513"/>
          <a:ext cx="4298950" cy="2089150"/>
        </p:xfrm>
        <a:graphic>
          <a:graphicData uri="http://schemas.openxmlformats.org/presentationml/2006/ole">
            <mc:AlternateContent xmlns:mc="http://schemas.openxmlformats.org/markup-compatibility/2006">
              <mc:Choice xmlns:v="urn:schemas-microsoft-com:vml" Requires="v">
                <p:oleObj name="Equation" r:id="rId3" imgW="1261745" imgH="642620" progId="Equation.3">
                  <p:embed/>
                </p:oleObj>
              </mc:Choice>
              <mc:Fallback>
                <p:oleObj name="Equation" r:id="rId3" imgW="1261745" imgH="64262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433513"/>
                        <a:ext cx="4298950" cy="2089150"/>
                      </a:xfrm>
                      <a:prstGeom prst="rect">
                        <a:avLst/>
                      </a:prstGeom>
                      <a:solidFill>
                        <a:srgbClr val="FFC000">
                          <a:alpha val="32941"/>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4036" name="Picture 8" descr="BD14710_"/>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313" y="4086225"/>
            <a:ext cx="8382000" cy="13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4"/>
          <p:cNvSpPr>
            <a:spLocks noChangeShapeType="1"/>
          </p:cNvSpPr>
          <p:nvPr/>
        </p:nvSpPr>
        <p:spPr bwMode="auto">
          <a:xfrm>
            <a:off x="1839913" y="5468938"/>
            <a:ext cx="762000" cy="0"/>
          </a:xfrm>
          <a:prstGeom prst="line">
            <a:avLst/>
          </a:prstGeom>
          <a:noFill/>
          <a:ln w="762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5"/>
          <p:cNvSpPr>
            <a:spLocks noChangeShapeType="1"/>
          </p:cNvSpPr>
          <p:nvPr/>
        </p:nvSpPr>
        <p:spPr bwMode="auto">
          <a:xfrm>
            <a:off x="3708400" y="5457825"/>
            <a:ext cx="1027113" cy="11113"/>
          </a:xfrm>
          <a:prstGeom prst="line">
            <a:avLst/>
          </a:prstGeom>
          <a:noFill/>
          <a:ln w="762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 name="Object 6"/>
          <p:cNvGraphicFramePr>
            <a:graphicFrameLocks noChangeAspect="1"/>
          </p:cNvGraphicFramePr>
          <p:nvPr/>
        </p:nvGraphicFramePr>
        <p:xfrm>
          <a:off x="849313" y="5084763"/>
          <a:ext cx="698500" cy="652462"/>
        </p:xfrm>
        <a:graphic>
          <a:graphicData uri="http://schemas.openxmlformats.org/presentationml/2006/ole">
            <mc:AlternateContent xmlns:mc="http://schemas.openxmlformats.org/markup-compatibility/2006">
              <mc:Choice xmlns:v="urn:schemas-microsoft-com:vml" Requires="v">
                <p:oleObj name="Equation" r:id="rId6" imgW="127635" imgH="109855" progId="Equation.3">
                  <p:embed/>
                </p:oleObj>
              </mc:Choice>
              <mc:Fallback>
                <p:oleObj name="Equation" r:id="rId6" imgW="127635" imgH="10985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9313" y="5084763"/>
                        <a:ext cx="698500"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nvGraphicFramePr>
        <p:xfrm>
          <a:off x="2771775" y="5133975"/>
          <a:ext cx="727075" cy="647700"/>
        </p:xfrm>
        <a:graphic>
          <a:graphicData uri="http://schemas.openxmlformats.org/presentationml/2006/ole">
            <mc:AlternateContent xmlns:mc="http://schemas.openxmlformats.org/markup-compatibility/2006">
              <mc:Choice xmlns:v="urn:schemas-microsoft-com:vml" Requires="v">
                <p:oleObj name="Equation" r:id="rId8" imgW="109855" imgH="121285" progId="Equation.3">
                  <p:embed/>
                </p:oleObj>
              </mc:Choice>
              <mc:Fallback>
                <p:oleObj name="Equation" r:id="rId8" imgW="109855" imgH="121285"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775" y="5133975"/>
                        <a:ext cx="7270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nvGraphicFramePr>
        <p:xfrm>
          <a:off x="4932363" y="4581525"/>
          <a:ext cx="935037" cy="1943100"/>
        </p:xfrm>
        <a:graphic>
          <a:graphicData uri="http://schemas.openxmlformats.org/presentationml/2006/ole">
            <mc:AlternateContent xmlns:mc="http://schemas.openxmlformats.org/markup-compatibility/2006">
              <mc:Choice xmlns:v="urn:schemas-microsoft-com:vml" Requires="v">
                <p:oleObj name="Equation" r:id="rId10" imgW="213995" imgH="659765" progId="Equation.3">
                  <p:embed/>
                </p:oleObj>
              </mc:Choice>
              <mc:Fallback>
                <p:oleObj name="Equation" r:id="rId10" imgW="213995" imgH="659765"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32363" y="4581525"/>
                        <a:ext cx="935037"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0"/>
          <p:cNvGraphicFramePr>
            <a:graphicFrameLocks noChangeAspect="1"/>
          </p:cNvGraphicFramePr>
          <p:nvPr/>
        </p:nvGraphicFramePr>
        <p:xfrm>
          <a:off x="7259638" y="4446588"/>
          <a:ext cx="912812" cy="2047875"/>
        </p:xfrm>
        <a:graphic>
          <a:graphicData uri="http://schemas.openxmlformats.org/presentationml/2006/ole">
            <mc:AlternateContent xmlns:mc="http://schemas.openxmlformats.org/markup-compatibility/2006">
              <mc:Choice xmlns:v="urn:schemas-microsoft-com:vml" Requires="v">
                <p:oleObj name="Equation" r:id="rId12" imgW="237490" imgH="642620" progId="Equation.DSMT4">
                  <p:embed/>
                </p:oleObj>
              </mc:Choice>
              <mc:Fallback>
                <p:oleObj name="Equation" r:id="rId12" imgW="237490" imgH="642620" progId="Equation.DSMT4">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59638" y="4446588"/>
                        <a:ext cx="912812"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Line 11"/>
          <p:cNvSpPr>
            <a:spLocks noChangeShapeType="1"/>
          </p:cNvSpPr>
          <p:nvPr/>
        </p:nvSpPr>
        <p:spPr bwMode="auto">
          <a:xfrm flipV="1">
            <a:off x="6011863" y="5457825"/>
            <a:ext cx="1162050" cy="4763"/>
          </a:xfrm>
          <a:prstGeom prst="line">
            <a:avLst/>
          </a:prstGeom>
          <a:noFill/>
          <a:ln w="76200">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par>
                                <p:cTn id="17" presetID="22" presetClass="entr" presetSubtype="8"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par>
                                <p:cTn id="20" presetID="22" presetClass="entr" presetSubtype="8"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par>
                                <p:cTn id="23" presetID="22" presetClass="entr" presetSubtype="8"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584200" y="884238"/>
            <a:ext cx="8380413" cy="11811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p>
            <a:pPr>
              <a:defRPr/>
            </a:pPr>
            <a:r>
              <a:rPr kumimoji="1" lang="zh-CN" altLang="en-US" sz="24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梯度法求解</a:t>
            </a:r>
            <a:r>
              <a:rPr kumimoji="1" lang="en-US" altLang="zh-CN" sz="2400" b="1" i="1" dirty="0" err="1">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w</a:t>
            </a:r>
            <a:r>
              <a:rPr kumimoji="1" lang="en-US" altLang="zh-CN" sz="2400" b="1" baseline="-25000" dirty="0" err="1">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ij</a:t>
            </a:r>
            <a:r>
              <a:rPr kumimoji="1" lang="en-US" altLang="zh-CN" sz="2400" b="1" baseline="300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kumimoji="1" lang="en-US" altLang="zh-CN" sz="2400" b="1" i="1" baseline="300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l</a:t>
            </a:r>
            <a:r>
              <a:rPr kumimoji="1" lang="en-US" altLang="zh-CN" sz="2400" b="1" baseline="300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endParaRPr kumimoji="1" lang="en-US" altLang="zh-CN" sz="24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a:defRPr/>
            </a:pPr>
            <a:endParaRPr kumimoji="1" lang="en-US" altLang="zh-CN" sz="2400" b="1" dirty="0">
              <a:solidFill>
                <a:srgbClr val="000000"/>
              </a:solidFill>
              <a:latin typeface="Times New Roman" panose="02020603050405020304" pitchFamily="18" charset="0"/>
              <a:ea typeface="仿宋_GB2312" pitchFamily="49" charset="-122"/>
            </a:endParaRPr>
          </a:p>
          <a:p>
            <a:pPr>
              <a:defRPr/>
            </a:pPr>
            <a:r>
              <a:rPr kumimoji="1" lang="zh-CN" altLang="en-US" sz="2400" b="1" dirty="0">
                <a:solidFill>
                  <a:schemeClr val="accent2"/>
                </a:solidFill>
                <a:latin typeface="Times New Roman" panose="02020603050405020304" pitchFamily="18" charset="0"/>
                <a:ea typeface="仿宋_GB2312" pitchFamily="49" charset="-122"/>
              </a:rPr>
              <a:t>取步长因子为固定步长</a:t>
            </a:r>
            <a:r>
              <a:rPr kumimoji="1" lang="zh-CN" altLang="en-US" sz="2400" b="1" i="1" dirty="0">
                <a:solidFill>
                  <a:schemeClr val="accent2"/>
                </a:solidFill>
                <a:latin typeface="Times New Roman" panose="02020603050405020304" pitchFamily="18" charset="0"/>
                <a:ea typeface="仿宋_GB2312" pitchFamily="49" charset="-122"/>
                <a:sym typeface="Symbol" panose="05050102010706020507" pitchFamily="18" charset="2"/>
              </a:rPr>
              <a:t></a:t>
            </a:r>
            <a:r>
              <a:rPr kumimoji="1" lang="zh-CN" altLang="en-US" sz="2400" b="1" dirty="0">
                <a:solidFill>
                  <a:srgbClr val="000000"/>
                </a:solidFill>
                <a:latin typeface="Times New Roman" panose="02020603050405020304" pitchFamily="18" charset="0"/>
                <a:ea typeface="仿宋_GB2312" pitchFamily="49" charset="-122"/>
                <a:sym typeface="Symbol" panose="05050102010706020507" pitchFamily="18" charset="2"/>
              </a:rPr>
              <a:t>，得到学习规则：</a:t>
            </a:r>
            <a:endParaRPr kumimoji="1" lang="zh-CN" altLang="en-US" sz="2400" b="1" dirty="0">
              <a:solidFill>
                <a:srgbClr val="000000"/>
              </a:solidFill>
              <a:latin typeface="Times New Roman" panose="02020603050405020304" pitchFamily="18" charset="0"/>
              <a:ea typeface="仿宋_GB2312" pitchFamily="49" charset="-122"/>
            </a:endParaRPr>
          </a:p>
        </p:txBody>
      </p:sp>
      <p:graphicFrame>
        <p:nvGraphicFramePr>
          <p:cNvPr id="45059" name="Object 3"/>
          <p:cNvGraphicFramePr>
            <a:graphicFrameLocks noChangeAspect="1"/>
          </p:cNvGraphicFramePr>
          <p:nvPr/>
        </p:nvGraphicFramePr>
        <p:xfrm>
          <a:off x="3059113" y="2276475"/>
          <a:ext cx="2881312" cy="1800225"/>
        </p:xfrm>
        <a:graphic>
          <a:graphicData uri="http://schemas.openxmlformats.org/presentationml/2006/ole">
            <mc:AlternateContent xmlns:mc="http://schemas.openxmlformats.org/markup-compatibility/2006">
              <mc:Choice xmlns:v="urn:schemas-microsoft-com:vml" Requires="v">
                <p:oleObj name="Equation" r:id="rId2" imgW="949325" imgH="601980" progId="Equation.3">
                  <p:embed/>
                </p:oleObj>
              </mc:Choice>
              <mc:Fallback>
                <p:oleObj name="Equation" r:id="rId2" imgW="949325" imgH="60198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2276475"/>
                        <a:ext cx="2881312"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0" name="Text Box 4"/>
          <p:cNvSpPr txBox="1">
            <a:spLocks noChangeArrowheads="1"/>
          </p:cNvSpPr>
          <p:nvPr/>
        </p:nvSpPr>
        <p:spPr bwMode="auto">
          <a:xfrm>
            <a:off x="609600" y="4665031"/>
            <a:ext cx="6146800" cy="44203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dirty="0">
                <a:solidFill>
                  <a:srgbClr val="000000"/>
                </a:solidFill>
                <a:latin typeface="Times New Roman" panose="02020603050405020304" pitchFamily="18" charset="0"/>
                <a:ea typeface="仿宋_GB2312" pitchFamily="49" charset="-122"/>
                <a:sym typeface="Symbol" panose="05050102010706020507" pitchFamily="18" charset="2"/>
              </a:rPr>
              <a:t>算法主要步骤</a:t>
            </a:r>
          </a:p>
        </p:txBody>
      </p:sp>
      <p:sp>
        <p:nvSpPr>
          <p:cNvPr id="2" name="Text Box 2"/>
          <p:cNvSpPr txBox="1">
            <a:spLocks noChangeArrowheads="1"/>
          </p:cNvSpPr>
          <p:nvPr/>
        </p:nvSpPr>
        <p:spPr bwMode="auto">
          <a:xfrm>
            <a:off x="609600" y="5107066"/>
            <a:ext cx="7924800" cy="15494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p>
            <a:pPr>
              <a:defRPr/>
            </a:pPr>
            <a:endParaRPr kumimoji="1" lang="en-US" altLang="zh-CN" sz="24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sym typeface="Symbol" panose="05050102010706020507" pitchFamily="18" charset="2"/>
            </a:endParaRPr>
          </a:p>
          <a:p>
            <a:pPr>
              <a:defRPr/>
            </a:pPr>
            <a:r>
              <a:rPr kumimoji="1" lang="en-US" altLang="zh-CN" sz="2400" b="1" dirty="0">
                <a:solidFill>
                  <a:schemeClr val="accent2"/>
                </a:solidFill>
                <a:latin typeface="Times New Roman" panose="02020603050405020304" pitchFamily="18" charset="0"/>
                <a:ea typeface="黑体" panose="02010609060101010101" pitchFamily="49" charset="-122"/>
                <a:sym typeface="Symbol" panose="05050102010706020507" pitchFamily="18" charset="2"/>
              </a:rPr>
              <a:t>Step 1 </a:t>
            </a:r>
            <a:r>
              <a:rPr kumimoji="1" lang="zh-CN" altLang="en-US" sz="2400" b="1" dirty="0">
                <a:latin typeface="Times New Roman" panose="02020603050405020304" pitchFamily="18" charset="0"/>
                <a:ea typeface="仿宋_GB2312" pitchFamily="49" charset="-122"/>
                <a:sym typeface="Symbol" panose="05050102010706020507" pitchFamily="18" charset="2"/>
              </a:rPr>
              <a:t>初始化权重矩阵和阈值</a:t>
            </a:r>
            <a:r>
              <a:rPr kumimoji="1" lang="en-US" altLang="zh-CN" sz="2400" b="1" i="1" dirty="0" err="1">
                <a:latin typeface="Times New Roman" panose="02020603050405020304" pitchFamily="18" charset="0"/>
                <a:ea typeface="仿宋_GB2312" pitchFamily="49" charset="-122"/>
                <a:sym typeface="Symbol" panose="05050102010706020507" pitchFamily="18" charset="2"/>
              </a:rPr>
              <a:t>w</a:t>
            </a:r>
            <a:r>
              <a:rPr kumimoji="1" lang="en-US" altLang="zh-CN" sz="2400" b="1" baseline="-25000" dirty="0" err="1">
                <a:latin typeface="Times New Roman" panose="02020603050405020304" pitchFamily="18" charset="0"/>
                <a:ea typeface="仿宋_GB2312" pitchFamily="49" charset="-122"/>
                <a:sym typeface="Symbol" panose="05050102010706020507" pitchFamily="18" charset="2"/>
              </a:rPr>
              <a:t>ji</a:t>
            </a:r>
            <a:r>
              <a:rPr kumimoji="1" lang="en-US" altLang="zh-CN" sz="2400" b="1" baseline="30000" dirty="0">
                <a:latin typeface="Times New Roman" panose="02020603050405020304" pitchFamily="18" charset="0"/>
                <a:ea typeface="仿宋_GB2312" pitchFamily="49" charset="-122"/>
                <a:sym typeface="Symbol" panose="05050102010706020507" pitchFamily="18" charset="2"/>
              </a:rPr>
              <a:t>(1)</a:t>
            </a:r>
            <a:r>
              <a:rPr kumimoji="1" lang="en-US" altLang="zh-CN" sz="2400" b="1" dirty="0">
                <a:latin typeface="Times New Roman" panose="02020603050405020304" pitchFamily="18" charset="0"/>
                <a:ea typeface="仿宋_GB2312" pitchFamily="49" charset="-122"/>
                <a:sym typeface="Symbol" panose="05050102010706020507" pitchFamily="18" charset="2"/>
              </a:rPr>
              <a:t>(0)</a:t>
            </a:r>
            <a:r>
              <a:rPr kumimoji="1" lang="zh-CN" altLang="en-US" sz="2400" b="1" dirty="0">
                <a:latin typeface="Times New Roman" panose="02020603050405020304" pitchFamily="18" charset="0"/>
                <a:ea typeface="仿宋_GB2312" pitchFamily="49" charset="-122"/>
                <a:sym typeface="Symbol" panose="05050102010706020507" pitchFamily="18" charset="2"/>
              </a:rPr>
              <a:t>、 </a:t>
            </a:r>
            <a:r>
              <a:rPr kumimoji="1" lang="en-US" altLang="zh-CN" sz="2400" b="1" i="1" dirty="0" err="1">
                <a:latin typeface="Times New Roman" panose="02020603050405020304" pitchFamily="18" charset="0"/>
                <a:ea typeface="仿宋_GB2312" pitchFamily="49" charset="-122"/>
                <a:sym typeface="Symbol" panose="05050102010706020507" pitchFamily="18" charset="2"/>
              </a:rPr>
              <a:t>w</a:t>
            </a:r>
            <a:r>
              <a:rPr kumimoji="1" lang="en-US" altLang="zh-CN" sz="2400" b="1" baseline="-25000" dirty="0" err="1">
                <a:latin typeface="Times New Roman" panose="02020603050405020304" pitchFamily="18" charset="0"/>
                <a:ea typeface="仿宋_GB2312" pitchFamily="49" charset="-122"/>
                <a:sym typeface="Symbol" panose="05050102010706020507" pitchFamily="18" charset="2"/>
              </a:rPr>
              <a:t>kj</a:t>
            </a:r>
            <a:r>
              <a:rPr kumimoji="1" lang="en-US" altLang="zh-CN" sz="2400" b="1" baseline="30000" dirty="0">
                <a:latin typeface="Times New Roman" panose="02020603050405020304" pitchFamily="18" charset="0"/>
                <a:ea typeface="仿宋_GB2312" pitchFamily="49" charset="-122"/>
                <a:sym typeface="Symbol" panose="05050102010706020507" pitchFamily="18" charset="2"/>
              </a:rPr>
              <a:t>(2)</a:t>
            </a:r>
            <a:r>
              <a:rPr kumimoji="1" lang="en-US" altLang="zh-CN" sz="2400" b="1" dirty="0">
                <a:latin typeface="Times New Roman" panose="02020603050405020304" pitchFamily="18" charset="0"/>
                <a:ea typeface="仿宋_GB2312" pitchFamily="49" charset="-122"/>
                <a:sym typeface="Symbol" panose="05050102010706020507" pitchFamily="18" charset="2"/>
              </a:rPr>
              <a:t>(0) </a:t>
            </a:r>
            <a:r>
              <a:rPr kumimoji="1" lang="zh-CN" altLang="en-US" sz="2400" b="1" dirty="0">
                <a:latin typeface="Times New Roman" panose="02020603050405020304" pitchFamily="18" charset="0"/>
                <a:ea typeface="仿宋_GB2312" pitchFamily="49" charset="-122"/>
                <a:sym typeface="Symbol" panose="05050102010706020507" pitchFamily="18" charset="2"/>
              </a:rPr>
              <a:t>（已包含阈值）</a:t>
            </a:r>
            <a:r>
              <a:rPr kumimoji="1" lang="zh-CN" altLang="en-US" sz="2400" b="1" dirty="0">
                <a:latin typeface="Times New Roman" panose="02020603050405020304" pitchFamily="18" charset="0"/>
                <a:ea typeface="仿宋_GB2312" pitchFamily="49" charset="-122"/>
              </a:rPr>
              <a:t>，选择学习效率</a:t>
            </a:r>
            <a:r>
              <a:rPr kumimoji="1" lang="zh-CN" altLang="en-US" sz="2400" b="1" i="1" dirty="0">
                <a:latin typeface="Times New Roman" panose="02020603050405020304" pitchFamily="18" charset="0"/>
                <a:ea typeface="仿宋_GB2312" pitchFamily="49" charset="-122"/>
                <a:sym typeface="Symbol" panose="05050102010706020507" pitchFamily="18" charset="2"/>
              </a:rPr>
              <a:t></a:t>
            </a: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en-US" altLang="zh-CN" sz="2400" b="1" dirty="0">
              <a:latin typeface="Times New Roman" panose="02020603050405020304" pitchFamily="18" charset="0"/>
              <a:ea typeface="仿宋_GB2312" pitchFamily="49" charset="-122"/>
              <a:sym typeface="Symbol" panose="05050102010706020507" pitchFamily="18" charset="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2"/>
          <p:cNvGrpSpPr/>
          <p:nvPr/>
        </p:nvGrpSpPr>
        <p:grpSpPr bwMode="auto">
          <a:xfrm>
            <a:off x="539750" y="765175"/>
            <a:ext cx="7848600" cy="5472113"/>
            <a:chOff x="624" y="288"/>
            <a:chExt cx="4992" cy="3479"/>
          </a:xfrm>
        </p:grpSpPr>
        <p:sp>
          <p:nvSpPr>
            <p:cNvPr id="9" name="Text Box 3"/>
            <p:cNvSpPr txBox="1">
              <a:spLocks noChangeArrowheads="1"/>
            </p:cNvSpPr>
            <p:nvPr/>
          </p:nvSpPr>
          <p:spPr bwMode="auto">
            <a:xfrm>
              <a:off x="624" y="288"/>
              <a:ext cx="4992" cy="314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p>
              <a:pPr fontAlgn="auto">
                <a:spcBef>
                  <a:spcPts val="0"/>
                </a:spcBef>
                <a:spcAft>
                  <a:spcPts val="0"/>
                </a:spcAft>
                <a:defRPr/>
              </a:pPr>
              <a:r>
                <a:rPr kumimoji="1" lang="en-US" altLang="zh-CN" sz="2400" b="1" kern="0" dirty="0">
                  <a:solidFill>
                    <a:schemeClr val="accent2"/>
                  </a:solidFill>
                  <a:latin typeface="Times New Roman" panose="02020603050405020304" pitchFamily="18" charset="0"/>
                  <a:ea typeface="仿宋_GB2312" pitchFamily="49" charset="-122"/>
                  <a:sym typeface="Symbol" panose="05050102010706020507" pitchFamily="18" charset="2"/>
                </a:rPr>
                <a:t>Step 2 </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设第</a:t>
              </a:r>
              <a:r>
                <a:rPr kumimoji="1" lang="en-US" altLang="zh-CN" sz="2400" b="1" kern="0" dirty="0">
                  <a:solidFill>
                    <a:srgbClr val="000000"/>
                  </a:solidFill>
                  <a:latin typeface="Times New Roman" panose="02020603050405020304" pitchFamily="18" charset="0"/>
                  <a:ea typeface="仿宋_GB2312" pitchFamily="49" charset="-122"/>
                  <a:sym typeface="Symbol" panose="05050102010706020507" pitchFamily="18" charset="2"/>
                </a:rPr>
                <a:t>t</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次迭代值</a:t>
              </a:r>
              <a:r>
                <a:rPr kumimoji="1" lang="en-US" altLang="zh-CN" sz="2400" b="1" i="1" kern="0" dirty="0" err="1">
                  <a:solidFill>
                    <a:srgbClr val="000000"/>
                  </a:solidFill>
                  <a:latin typeface="Times New Roman" panose="02020603050405020304" pitchFamily="18" charset="0"/>
                  <a:ea typeface="仿宋_GB2312" pitchFamily="49" charset="-122"/>
                  <a:sym typeface="Symbol" panose="05050102010706020507" pitchFamily="18" charset="2"/>
                </a:rPr>
                <a:t>w</a:t>
              </a:r>
              <a:r>
                <a:rPr kumimoji="1" lang="en-US" altLang="zh-CN" sz="2400" b="1" kern="0" baseline="-25000" dirty="0" err="1">
                  <a:solidFill>
                    <a:srgbClr val="000000"/>
                  </a:solidFill>
                  <a:latin typeface="Times New Roman" panose="02020603050405020304" pitchFamily="18" charset="0"/>
                  <a:ea typeface="仿宋_GB2312" pitchFamily="49" charset="-122"/>
                  <a:sym typeface="Symbol" panose="05050102010706020507" pitchFamily="18" charset="2"/>
                </a:rPr>
                <a:t>ji</a:t>
              </a:r>
              <a:r>
                <a:rPr kumimoji="1" lang="en-US" altLang="zh-CN" sz="2400" b="1" kern="0" baseline="30000" dirty="0">
                  <a:solidFill>
                    <a:srgbClr val="000000"/>
                  </a:solidFill>
                  <a:latin typeface="Times New Roman" panose="02020603050405020304" pitchFamily="18" charset="0"/>
                  <a:ea typeface="仿宋_GB2312" pitchFamily="49" charset="-122"/>
                  <a:sym typeface="Symbol" panose="05050102010706020507" pitchFamily="18" charset="2"/>
                </a:rPr>
                <a:t>(1)</a:t>
              </a:r>
              <a:r>
                <a:rPr kumimoji="1" lang="en-US" altLang="zh-CN" sz="2400" b="1" kern="0" dirty="0">
                  <a:solidFill>
                    <a:srgbClr val="000000"/>
                  </a:solidFill>
                  <a:latin typeface="Times New Roman" panose="02020603050405020304" pitchFamily="18" charset="0"/>
                  <a:ea typeface="仿宋_GB2312" pitchFamily="49" charset="-122"/>
                  <a:sym typeface="Symbol" panose="05050102010706020507" pitchFamily="18" charset="2"/>
                </a:rPr>
                <a:t>(t)</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 </a:t>
              </a:r>
              <a:r>
                <a:rPr kumimoji="1" lang="en-US" altLang="zh-CN" sz="2400" b="1" i="1" kern="0" dirty="0" err="1">
                  <a:solidFill>
                    <a:srgbClr val="000000"/>
                  </a:solidFill>
                  <a:latin typeface="Times New Roman" panose="02020603050405020304" pitchFamily="18" charset="0"/>
                  <a:ea typeface="仿宋_GB2312" pitchFamily="49" charset="-122"/>
                  <a:sym typeface="Symbol" panose="05050102010706020507" pitchFamily="18" charset="2"/>
                </a:rPr>
                <a:t>w</a:t>
              </a:r>
              <a:r>
                <a:rPr kumimoji="1" lang="en-US" altLang="zh-CN" sz="2400" b="1" kern="0" baseline="-25000" dirty="0" err="1">
                  <a:solidFill>
                    <a:srgbClr val="000000"/>
                  </a:solidFill>
                  <a:latin typeface="Times New Roman" panose="02020603050405020304" pitchFamily="18" charset="0"/>
                  <a:ea typeface="仿宋_GB2312" pitchFamily="49" charset="-122"/>
                  <a:sym typeface="Symbol" panose="05050102010706020507" pitchFamily="18" charset="2"/>
                </a:rPr>
                <a:t>kj</a:t>
              </a:r>
              <a:r>
                <a:rPr kumimoji="1" lang="en-US" altLang="zh-CN" sz="2400" b="1" kern="0" baseline="30000" dirty="0">
                  <a:solidFill>
                    <a:srgbClr val="000000"/>
                  </a:solidFill>
                  <a:latin typeface="Times New Roman" panose="02020603050405020304" pitchFamily="18" charset="0"/>
                  <a:ea typeface="仿宋_GB2312" pitchFamily="49" charset="-122"/>
                  <a:sym typeface="Symbol" panose="05050102010706020507" pitchFamily="18" charset="2"/>
                </a:rPr>
                <a:t>(2)</a:t>
              </a:r>
              <a:r>
                <a:rPr kumimoji="1" lang="en-US" altLang="zh-CN" sz="2400" b="1" kern="0" dirty="0">
                  <a:solidFill>
                    <a:srgbClr val="000000"/>
                  </a:solidFill>
                  <a:latin typeface="Times New Roman" panose="02020603050405020304" pitchFamily="18" charset="0"/>
                  <a:ea typeface="仿宋_GB2312" pitchFamily="49" charset="-122"/>
                  <a:sym typeface="Symbol" panose="05050102010706020507" pitchFamily="18" charset="2"/>
                </a:rPr>
                <a:t>(t)</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已知，</a:t>
              </a:r>
            </a:p>
            <a:p>
              <a:pPr fontAlgn="auto">
                <a:spcBef>
                  <a:spcPts val="0"/>
                </a:spcBef>
                <a:spcAft>
                  <a:spcPts val="0"/>
                </a:spcAft>
                <a:defRPr/>
              </a:pPr>
              <a:endPar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       （</a:t>
              </a:r>
              <a:r>
                <a:rPr kumimoji="1" lang="en-US" altLang="zh-CN" sz="2400" b="1" kern="0" dirty="0">
                  <a:solidFill>
                    <a:srgbClr val="000000"/>
                  </a:solidFill>
                  <a:latin typeface="Times New Roman" panose="02020603050405020304" pitchFamily="18" charset="0"/>
                  <a:ea typeface="仿宋_GB2312" pitchFamily="49" charset="-122"/>
                  <a:sym typeface="Symbol" panose="05050102010706020507" pitchFamily="18" charset="2"/>
                </a:rPr>
                <a:t>1</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）前向过程：对</a:t>
              </a:r>
              <a:r>
                <a:rPr kumimoji="1" lang="zh-CN" altLang="en-US" sz="2400" b="1" i="1" kern="0" dirty="0">
                  <a:solidFill>
                    <a:srgbClr val="000000"/>
                  </a:solidFill>
                  <a:latin typeface="Times New Roman" panose="02020603050405020304" pitchFamily="18" charset="0"/>
                  <a:ea typeface="仿宋_GB2312" pitchFamily="49" charset="-122"/>
                  <a:sym typeface="Symbol" panose="05050102010706020507" pitchFamily="18" charset="2"/>
                </a:rPr>
                <a:t> </a:t>
              </a:r>
              <a:r>
                <a:rPr kumimoji="1" lang="en-US" altLang="zh-CN" sz="2400" b="1" kern="0" dirty="0">
                  <a:solidFill>
                    <a:srgbClr val="000000"/>
                  </a:solidFill>
                  <a:latin typeface="Times New Roman" panose="02020603050405020304" pitchFamily="18" charset="0"/>
                  <a:ea typeface="仿宋_GB2312" pitchFamily="49" charset="-122"/>
                  <a:sym typeface="Symbol" panose="05050102010706020507" pitchFamily="18" charset="2"/>
                </a:rPr>
                <a:t>=1, 2, …, T</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，依次计算：</a:t>
              </a: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       （</a:t>
              </a:r>
              <a:r>
                <a:rPr kumimoji="1" lang="en-US" altLang="zh-CN" sz="2400" b="1" kern="0" dirty="0">
                  <a:solidFill>
                    <a:srgbClr val="000000"/>
                  </a:solidFill>
                  <a:latin typeface="Times New Roman" panose="02020603050405020304" pitchFamily="18" charset="0"/>
                  <a:ea typeface="仿宋_GB2312" pitchFamily="49" charset="-122"/>
                  <a:sym typeface="Symbol" panose="05050102010706020507" pitchFamily="18" charset="2"/>
                </a:rPr>
                <a:t>2</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）后向过程：利用公式</a:t>
              </a: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a:p>
              <a:pPr fontAlgn="auto">
                <a:spcBef>
                  <a:spcPts val="0"/>
                </a:spcBef>
                <a:spcAft>
                  <a:spcPts val="0"/>
                </a:spcAft>
                <a:defRPr/>
              </a:pP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对</a:t>
              </a:r>
              <a:r>
                <a:rPr kumimoji="1" lang="zh-CN" altLang="en-US" sz="2400" b="1" i="1" kern="0" dirty="0">
                  <a:solidFill>
                    <a:srgbClr val="000000"/>
                  </a:solidFill>
                  <a:latin typeface="Times New Roman" panose="02020603050405020304" pitchFamily="18" charset="0"/>
                  <a:ea typeface="仿宋_GB2312" pitchFamily="49" charset="-122"/>
                  <a:sym typeface="Symbol" panose="05050102010706020507" pitchFamily="18" charset="2"/>
                </a:rPr>
                <a:t> </a:t>
              </a:r>
              <a:r>
                <a:rPr kumimoji="1" lang="en-US" altLang="zh-CN" sz="2400" b="1" kern="0" dirty="0">
                  <a:solidFill>
                    <a:srgbClr val="000000"/>
                  </a:solidFill>
                  <a:latin typeface="Times New Roman" panose="02020603050405020304" pitchFamily="18" charset="0"/>
                  <a:ea typeface="仿宋_GB2312" pitchFamily="49" charset="-122"/>
                  <a:sym typeface="Symbol" panose="05050102010706020507" pitchFamily="18" charset="2"/>
                </a:rPr>
                <a:t>=1, 2, …, </a:t>
              </a:r>
              <a:r>
                <a:rPr kumimoji="1" lang="en-US" altLang="zh-CN" sz="2400" b="1" i="1" kern="0" dirty="0">
                  <a:solidFill>
                    <a:srgbClr val="000000"/>
                  </a:solidFill>
                  <a:latin typeface="Times New Roman" panose="02020603050405020304" pitchFamily="18" charset="0"/>
                  <a:ea typeface="仿宋_GB2312" pitchFamily="49" charset="-122"/>
                  <a:sym typeface="Symbol" panose="05050102010706020507" pitchFamily="18" charset="2"/>
                </a:rPr>
                <a:t>T</a:t>
              </a:r>
              <a:r>
                <a:rPr kumimoji="1" lang="zh-CN" altLang="en-US" sz="2400" b="1" kern="0" dirty="0">
                  <a:solidFill>
                    <a:srgbClr val="000000"/>
                  </a:solidFill>
                  <a:latin typeface="Times New Roman" panose="02020603050405020304" pitchFamily="18" charset="0"/>
                  <a:ea typeface="仿宋_GB2312" pitchFamily="49" charset="-122"/>
                  <a:sym typeface="Symbol" panose="05050102010706020507" pitchFamily="18" charset="2"/>
                </a:rPr>
                <a:t>，依次计算</a:t>
              </a:r>
              <a:endParaRPr kumimoji="1" lang="zh-CN" altLang="en-US" sz="2000" b="1" kern="0" dirty="0">
                <a:solidFill>
                  <a:srgbClr val="000000"/>
                </a:solidFill>
                <a:latin typeface="Times New Roman" panose="02020603050405020304" pitchFamily="18" charset="0"/>
                <a:ea typeface="仿宋_GB2312" pitchFamily="49" charset="-122"/>
                <a:sym typeface="Symbol" panose="05050102010706020507" pitchFamily="18" charset="2"/>
              </a:endParaRPr>
            </a:p>
          </p:txBody>
        </p:sp>
        <p:graphicFrame>
          <p:nvGraphicFramePr>
            <p:cNvPr id="48132" name="Object 4"/>
            <p:cNvGraphicFramePr>
              <a:graphicFrameLocks noChangeAspect="1"/>
            </p:cNvGraphicFramePr>
            <p:nvPr/>
          </p:nvGraphicFramePr>
          <p:xfrm>
            <a:off x="2169" y="1059"/>
            <a:ext cx="2018" cy="363"/>
          </p:xfrm>
          <a:graphic>
            <a:graphicData uri="http://schemas.openxmlformats.org/presentationml/2006/ole">
              <mc:AlternateContent xmlns:mc="http://schemas.openxmlformats.org/markup-compatibility/2006">
                <mc:Choice xmlns:v="urn:schemas-microsoft-com:vml" Requires="v">
                  <p:oleObj name="Equation" r:id="rId2" imgW="1007110" imgH="121285" progId="Equation.3">
                    <p:embed/>
                  </p:oleObj>
                </mc:Choice>
                <mc:Fallback>
                  <p:oleObj name="Equation" r:id="rId2" imgW="1007110" imgH="121285"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 y="1059"/>
                          <a:ext cx="2018" cy="363"/>
                        </a:xfrm>
                        <a:prstGeom prst="rect">
                          <a:avLst/>
                        </a:prstGeom>
                        <a:solidFill>
                          <a:srgbClr val="FFFF00">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3" name="Object 5"/>
            <p:cNvGraphicFramePr>
              <a:graphicFrameLocks noChangeAspect="1"/>
            </p:cNvGraphicFramePr>
            <p:nvPr/>
          </p:nvGraphicFramePr>
          <p:xfrm>
            <a:off x="2341" y="3436"/>
            <a:ext cx="1030" cy="331"/>
          </p:xfrm>
          <a:graphic>
            <a:graphicData uri="http://schemas.openxmlformats.org/presentationml/2006/ole">
              <mc:AlternateContent xmlns:mc="http://schemas.openxmlformats.org/markup-compatibility/2006">
                <mc:Choice xmlns:v="urn:schemas-microsoft-com:vml" Requires="v">
                  <p:oleObj name="Equation" r:id="rId4" imgW="497840" imgH="121285" progId="Equation.3">
                    <p:embed/>
                  </p:oleObj>
                </mc:Choice>
                <mc:Fallback>
                  <p:oleObj name="Equation" r:id="rId4" imgW="497840" imgH="12128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1" y="3436"/>
                          <a:ext cx="103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4" name="Object 6"/>
            <p:cNvGraphicFramePr>
              <a:graphicFrameLocks noChangeAspect="1"/>
            </p:cNvGraphicFramePr>
            <p:nvPr/>
          </p:nvGraphicFramePr>
          <p:xfrm>
            <a:off x="2213" y="1982"/>
            <a:ext cx="1813" cy="518"/>
          </p:xfrm>
          <a:graphic>
            <a:graphicData uri="http://schemas.openxmlformats.org/presentationml/2006/ole">
              <mc:AlternateContent xmlns:mc="http://schemas.openxmlformats.org/markup-compatibility/2006">
                <mc:Choice xmlns:v="urn:schemas-microsoft-com:vml" Requires="v">
                  <p:oleObj name="Equation" r:id="rId6" imgW="763905" imgH="254635" progId="Equation.3">
                    <p:embed/>
                  </p:oleObj>
                </mc:Choice>
                <mc:Fallback>
                  <p:oleObj name="Equation" r:id="rId6" imgW="763905" imgH="25463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13" y="1982"/>
                          <a:ext cx="181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5" name="Object 7"/>
            <p:cNvGraphicFramePr>
              <a:graphicFrameLocks noChangeAspect="1"/>
            </p:cNvGraphicFramePr>
            <p:nvPr/>
          </p:nvGraphicFramePr>
          <p:xfrm>
            <a:off x="2169" y="2556"/>
            <a:ext cx="2228" cy="506"/>
          </p:xfrm>
          <a:graphic>
            <a:graphicData uri="http://schemas.openxmlformats.org/presentationml/2006/ole">
              <mc:AlternateContent xmlns:mc="http://schemas.openxmlformats.org/markup-compatibility/2006">
                <mc:Choice xmlns:v="urn:schemas-microsoft-com:vml" Requires="v">
                  <p:oleObj name="Equation" r:id="rId8" imgW="995680" imgH="254635" progId="Equation.3">
                    <p:embed/>
                  </p:oleObj>
                </mc:Choice>
                <mc:Fallback>
                  <p:oleObj name="Equation" r:id="rId8" imgW="995680" imgH="254635"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9" y="2556"/>
                          <a:ext cx="2228" cy="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4" name="Group 2"/>
          <p:cNvGrpSpPr/>
          <p:nvPr/>
        </p:nvGrpSpPr>
        <p:grpSpPr bwMode="auto">
          <a:xfrm>
            <a:off x="611560" y="1412776"/>
            <a:ext cx="8447087" cy="4135438"/>
            <a:chOff x="624" y="1018"/>
            <a:chExt cx="4992" cy="2605"/>
          </a:xfrm>
        </p:grpSpPr>
        <p:sp>
          <p:nvSpPr>
            <p:cNvPr id="3" name="Text Box 3"/>
            <p:cNvSpPr txBox="1">
              <a:spLocks noChangeArrowheads="1"/>
            </p:cNvSpPr>
            <p:nvPr/>
          </p:nvSpPr>
          <p:spPr bwMode="auto">
            <a:xfrm>
              <a:off x="624" y="1018"/>
              <a:ext cx="4992" cy="260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p>
              <a:pPr>
                <a:defRPr/>
              </a:pPr>
              <a:r>
                <a:rPr kumimoji="1" lang="en-US" altLang="zh-CN" sz="2400" b="1" kern="0" dirty="0">
                  <a:solidFill>
                    <a:schemeClr val="accent2"/>
                  </a:solidFill>
                  <a:latin typeface="Times New Roman" panose="02020603050405020304" pitchFamily="18" charset="0"/>
                  <a:ea typeface="仿宋_GB2312" pitchFamily="49" charset="-122"/>
                  <a:sym typeface="Symbol" panose="05050102010706020507" pitchFamily="18" charset="2"/>
                </a:rPr>
                <a:t>Step 2 </a:t>
              </a:r>
              <a:r>
                <a:rPr kumimoji="1" lang="zh-CN" altLang="en-US" sz="2400" b="1" dirty="0">
                  <a:latin typeface="Times New Roman" panose="02020603050405020304" pitchFamily="18" charset="0"/>
                  <a:ea typeface="仿宋_GB2312" pitchFamily="49" charset="-122"/>
                  <a:sym typeface="Symbol" panose="05050102010706020507" pitchFamily="18" charset="2"/>
                </a:rPr>
                <a:t>设第</a:t>
              </a:r>
              <a:r>
                <a:rPr kumimoji="1" lang="en-US" altLang="zh-CN" sz="2400" b="1" dirty="0">
                  <a:latin typeface="Times New Roman" panose="02020603050405020304" pitchFamily="18" charset="0"/>
                  <a:ea typeface="仿宋_GB2312" pitchFamily="49" charset="-122"/>
                  <a:sym typeface="Symbol" panose="05050102010706020507" pitchFamily="18" charset="2"/>
                </a:rPr>
                <a:t>t</a:t>
              </a:r>
              <a:r>
                <a:rPr kumimoji="1" lang="zh-CN" altLang="en-US" sz="2400" b="1" dirty="0">
                  <a:latin typeface="Times New Roman" panose="02020603050405020304" pitchFamily="18" charset="0"/>
                  <a:ea typeface="仿宋_GB2312" pitchFamily="49" charset="-122"/>
                  <a:sym typeface="Symbol" panose="05050102010706020507" pitchFamily="18" charset="2"/>
                </a:rPr>
                <a:t>次迭代值</a:t>
              </a:r>
              <a:r>
                <a:rPr kumimoji="1" lang="en-US" altLang="zh-CN" sz="2400" b="1" i="1" dirty="0" err="1">
                  <a:latin typeface="Times New Roman" panose="02020603050405020304" pitchFamily="18" charset="0"/>
                  <a:ea typeface="仿宋_GB2312" pitchFamily="49" charset="-122"/>
                  <a:sym typeface="Symbol" panose="05050102010706020507" pitchFamily="18" charset="2"/>
                </a:rPr>
                <a:t>w</a:t>
              </a:r>
              <a:r>
                <a:rPr kumimoji="1" lang="en-US" altLang="zh-CN" sz="2400" b="1" baseline="-25000" dirty="0" err="1">
                  <a:latin typeface="Times New Roman" panose="02020603050405020304" pitchFamily="18" charset="0"/>
                  <a:ea typeface="仿宋_GB2312" pitchFamily="49" charset="-122"/>
                  <a:sym typeface="Symbol" panose="05050102010706020507" pitchFamily="18" charset="2"/>
                </a:rPr>
                <a:t>ji</a:t>
              </a:r>
              <a:r>
                <a:rPr kumimoji="1" lang="en-US" altLang="zh-CN" sz="2400" b="1" baseline="30000" dirty="0">
                  <a:latin typeface="Times New Roman" panose="02020603050405020304" pitchFamily="18" charset="0"/>
                  <a:ea typeface="仿宋_GB2312" pitchFamily="49" charset="-122"/>
                  <a:sym typeface="Symbol" panose="05050102010706020507" pitchFamily="18" charset="2"/>
                </a:rPr>
                <a:t>(1)</a:t>
              </a:r>
              <a:r>
                <a:rPr kumimoji="1" lang="en-US" altLang="zh-CN" sz="2400" b="1" dirty="0">
                  <a:latin typeface="Times New Roman" panose="02020603050405020304" pitchFamily="18" charset="0"/>
                  <a:ea typeface="仿宋_GB2312" pitchFamily="49" charset="-122"/>
                  <a:sym typeface="Symbol" panose="05050102010706020507" pitchFamily="18" charset="2"/>
                </a:rPr>
                <a:t>(t)</a:t>
              </a:r>
              <a:r>
                <a:rPr kumimoji="1" lang="zh-CN" altLang="en-US" sz="2400" b="1" dirty="0">
                  <a:latin typeface="Times New Roman" panose="02020603050405020304" pitchFamily="18" charset="0"/>
                  <a:ea typeface="仿宋_GB2312" pitchFamily="49" charset="-122"/>
                  <a:sym typeface="Symbol" panose="05050102010706020507" pitchFamily="18" charset="2"/>
                </a:rPr>
                <a:t>、 </a:t>
              </a:r>
              <a:r>
                <a:rPr kumimoji="1" lang="en-US" altLang="zh-CN" sz="2400" b="1" i="1" dirty="0" err="1">
                  <a:latin typeface="Times New Roman" panose="02020603050405020304" pitchFamily="18" charset="0"/>
                  <a:ea typeface="仿宋_GB2312" pitchFamily="49" charset="-122"/>
                  <a:sym typeface="Symbol" panose="05050102010706020507" pitchFamily="18" charset="2"/>
                </a:rPr>
                <a:t>w</a:t>
              </a:r>
              <a:r>
                <a:rPr kumimoji="1" lang="en-US" altLang="zh-CN" sz="2400" b="1" baseline="-25000" dirty="0" err="1">
                  <a:latin typeface="Times New Roman" panose="02020603050405020304" pitchFamily="18" charset="0"/>
                  <a:ea typeface="仿宋_GB2312" pitchFamily="49" charset="-122"/>
                  <a:sym typeface="Symbol" panose="05050102010706020507" pitchFamily="18" charset="2"/>
                </a:rPr>
                <a:t>kj</a:t>
              </a:r>
              <a:r>
                <a:rPr kumimoji="1" lang="en-US" altLang="zh-CN" sz="2400" b="1" baseline="30000" dirty="0">
                  <a:latin typeface="Times New Roman" panose="02020603050405020304" pitchFamily="18" charset="0"/>
                  <a:ea typeface="仿宋_GB2312" pitchFamily="49" charset="-122"/>
                  <a:sym typeface="Symbol" panose="05050102010706020507" pitchFamily="18" charset="2"/>
                </a:rPr>
                <a:t>(2)</a:t>
              </a:r>
              <a:r>
                <a:rPr kumimoji="1" lang="en-US" altLang="zh-CN" sz="2400" b="1" dirty="0">
                  <a:latin typeface="Times New Roman" panose="02020603050405020304" pitchFamily="18" charset="0"/>
                  <a:ea typeface="仿宋_GB2312" pitchFamily="49" charset="-122"/>
                  <a:sym typeface="Symbol" panose="05050102010706020507" pitchFamily="18" charset="2"/>
                </a:rPr>
                <a:t>(t)</a:t>
              </a:r>
              <a:r>
                <a:rPr kumimoji="1" lang="zh-CN" altLang="en-US" sz="2400" b="1" dirty="0">
                  <a:latin typeface="Times New Roman" panose="02020603050405020304" pitchFamily="18" charset="0"/>
                  <a:ea typeface="仿宋_GB2312" pitchFamily="49" charset="-122"/>
                  <a:sym typeface="Symbol" panose="05050102010706020507" pitchFamily="18" charset="2"/>
                </a:rPr>
                <a:t>已知，</a:t>
              </a:r>
            </a:p>
            <a:p>
              <a:pPr algn="ctr">
                <a:defRPr/>
              </a:pPr>
              <a:r>
                <a:rPr kumimoji="1" lang="en-US" altLang="zh-CN" sz="2400" b="1" dirty="0">
                  <a:latin typeface="Times New Roman" panose="02020603050405020304" pitchFamily="18" charset="0"/>
                  <a:ea typeface="仿宋_GB2312" pitchFamily="49" charset="-122"/>
                  <a:sym typeface="Symbol" panose="05050102010706020507" pitchFamily="18" charset="2"/>
                </a:rPr>
                <a:t>.</a:t>
              </a:r>
            </a:p>
            <a:p>
              <a:pPr algn="ctr">
                <a:defRPr/>
              </a:pPr>
              <a:r>
                <a:rPr kumimoji="1" lang="en-US" altLang="zh-CN" sz="2400" b="1" dirty="0">
                  <a:latin typeface="Times New Roman" panose="02020603050405020304" pitchFamily="18" charset="0"/>
                  <a:ea typeface="仿宋_GB2312" pitchFamily="49" charset="-122"/>
                  <a:sym typeface="Symbol" panose="05050102010706020507" pitchFamily="18" charset="2"/>
                </a:rPr>
                <a:t>.</a:t>
              </a:r>
            </a:p>
            <a:p>
              <a:pPr algn="ctr">
                <a:defRPr/>
              </a:pPr>
              <a:r>
                <a:rPr kumimoji="1" lang="en-US" altLang="zh-CN" sz="2400" b="1" dirty="0">
                  <a:latin typeface="Times New Roman" panose="02020603050405020304" pitchFamily="18" charset="0"/>
                  <a:ea typeface="仿宋_GB2312" pitchFamily="49" charset="-122"/>
                  <a:sym typeface="Symbol" panose="05050102010706020507" pitchFamily="18" charset="2"/>
                </a:rPr>
                <a:t>.</a:t>
              </a:r>
            </a:p>
            <a:p>
              <a:pPr>
                <a:defRPr/>
              </a:pPr>
              <a:r>
                <a:rPr kumimoji="1" lang="en-US" altLang="zh-CN" sz="2400" b="1" dirty="0">
                  <a:latin typeface="Times New Roman" panose="02020603050405020304" pitchFamily="18" charset="0"/>
                  <a:ea typeface="仿宋_GB2312" pitchFamily="49" charset="-122"/>
                  <a:sym typeface="Symbol" panose="05050102010706020507" pitchFamily="18" charset="2"/>
                </a:rPr>
                <a:t>       </a:t>
              </a:r>
              <a:r>
                <a:rPr kumimoji="1" lang="zh-CN" altLang="en-US" sz="2400" b="1" dirty="0">
                  <a:latin typeface="Times New Roman" panose="02020603050405020304" pitchFamily="18" charset="0"/>
                  <a:ea typeface="仿宋_GB2312" pitchFamily="49" charset="-122"/>
                  <a:sym typeface="Symbol" panose="05050102010706020507" pitchFamily="18" charset="2"/>
                </a:rPr>
                <a:t>（</a:t>
              </a:r>
              <a:r>
                <a:rPr kumimoji="1" lang="en-US" altLang="zh-CN" sz="2400" b="1" dirty="0">
                  <a:latin typeface="Times New Roman" panose="02020603050405020304" pitchFamily="18" charset="0"/>
                  <a:ea typeface="仿宋_GB2312" pitchFamily="49" charset="-122"/>
                  <a:sym typeface="Symbol" panose="05050102010706020507" pitchFamily="18" charset="2"/>
                </a:rPr>
                <a:t>3</a:t>
              </a:r>
              <a:r>
                <a:rPr kumimoji="1" lang="zh-CN" altLang="en-US" sz="2400" b="1" dirty="0">
                  <a:latin typeface="Times New Roman" panose="02020603050405020304" pitchFamily="18" charset="0"/>
                  <a:ea typeface="仿宋_GB2312" pitchFamily="49" charset="-122"/>
                  <a:sym typeface="Symbol" panose="05050102010706020507" pitchFamily="18" charset="2"/>
                </a:rPr>
                <a:t>）迭代过程：计算第</a:t>
              </a:r>
              <a:r>
                <a:rPr kumimoji="1" lang="en-US" altLang="zh-CN" sz="2400" b="1" i="1" dirty="0">
                  <a:latin typeface="Times New Roman" panose="02020603050405020304" pitchFamily="18" charset="0"/>
                  <a:ea typeface="仿宋_GB2312" pitchFamily="49" charset="-122"/>
                  <a:sym typeface="Symbol" panose="05050102010706020507" pitchFamily="18" charset="2"/>
                </a:rPr>
                <a:t>t</a:t>
              </a:r>
              <a:r>
                <a:rPr kumimoji="1" lang="en-US" altLang="zh-CN" sz="2400" b="1" dirty="0">
                  <a:latin typeface="Times New Roman" panose="02020603050405020304" pitchFamily="18" charset="0"/>
                  <a:ea typeface="仿宋_GB2312" pitchFamily="49" charset="-122"/>
                  <a:sym typeface="Symbol" panose="05050102010706020507" pitchFamily="18" charset="2"/>
                </a:rPr>
                <a:t> +1</a:t>
              </a:r>
              <a:r>
                <a:rPr kumimoji="1" lang="zh-CN" altLang="en-US" sz="2400" b="1" dirty="0">
                  <a:latin typeface="Times New Roman" panose="02020603050405020304" pitchFamily="18" charset="0"/>
                  <a:ea typeface="仿宋_GB2312" pitchFamily="49" charset="-122"/>
                  <a:sym typeface="Symbol" panose="05050102010706020507" pitchFamily="18" charset="2"/>
                </a:rPr>
                <a:t>次权重矩阵</a:t>
              </a: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r>
                <a:rPr kumimoji="1" lang="zh-CN" altLang="en-US" sz="2400" b="1" dirty="0">
                  <a:latin typeface="Times New Roman" panose="02020603050405020304" pitchFamily="18" charset="0"/>
                  <a:ea typeface="仿宋_GB2312" pitchFamily="49" charset="-122"/>
                  <a:sym typeface="Symbol" panose="05050102010706020507" pitchFamily="18" charset="2"/>
                </a:rPr>
                <a:t>       </a:t>
              </a:r>
            </a:p>
          </p:txBody>
        </p:sp>
        <p:graphicFrame>
          <p:nvGraphicFramePr>
            <p:cNvPr id="49156" name="Object 4"/>
            <p:cNvGraphicFramePr>
              <a:graphicFrameLocks noChangeAspect="1"/>
            </p:cNvGraphicFramePr>
            <p:nvPr/>
          </p:nvGraphicFramePr>
          <p:xfrm>
            <a:off x="1390" y="2321"/>
            <a:ext cx="2788" cy="1099"/>
          </p:xfrm>
          <a:graphic>
            <a:graphicData uri="http://schemas.openxmlformats.org/presentationml/2006/ole">
              <mc:AlternateContent xmlns:mc="http://schemas.openxmlformats.org/markup-compatibility/2006">
                <mc:Choice xmlns:v="urn:schemas-microsoft-com:vml" Requires="v">
                  <p:oleObj name="Equation" r:id="rId2" imgW="1557020" imgH="601980" progId="Equation.3">
                    <p:embed/>
                  </p:oleObj>
                </mc:Choice>
                <mc:Fallback>
                  <p:oleObj name="Equation" r:id="rId2" imgW="1557020" imgH="60198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0" y="2321"/>
                          <a:ext cx="2788" cy="1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611188" y="784225"/>
            <a:ext cx="8304212" cy="588486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36000" bIns="36000">
            <a:spAutoFit/>
          </a:bodyPr>
          <a:lstStyle/>
          <a:p>
            <a:pPr>
              <a:defRPr/>
            </a:pPr>
            <a:r>
              <a:rPr kumimoji="1" lang="en-US" altLang="zh-CN" sz="2400" b="1" u="sng"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sym typeface="Symbol" panose="05050102010706020507" pitchFamily="18" charset="2"/>
              </a:rPr>
              <a:t>STEP 3</a:t>
            </a:r>
            <a:r>
              <a:rPr kumimoji="1" lang="en-US" altLang="zh-CN" sz="2400" b="1" dirty="0">
                <a:solidFill>
                  <a:srgbClr val="FF0000"/>
                </a:solidFill>
                <a:latin typeface="Times New Roman" panose="02020603050405020304" pitchFamily="18" charset="0"/>
                <a:ea typeface="黑体" panose="02010609060101010101" pitchFamily="49" charset="-122"/>
                <a:sym typeface="Symbol" panose="05050102010706020507" pitchFamily="18" charset="2"/>
              </a:rPr>
              <a:t> </a:t>
            </a:r>
            <a:r>
              <a:rPr kumimoji="1" lang="zh-CN" altLang="en-US" sz="2400" b="1" dirty="0">
                <a:latin typeface="Times New Roman" panose="02020603050405020304" pitchFamily="18" charset="0"/>
                <a:ea typeface="仿宋_GB2312" pitchFamily="49" charset="-122"/>
                <a:sym typeface="Symbol" panose="05050102010706020507" pitchFamily="18" charset="2"/>
              </a:rPr>
              <a:t>由此得到序列</a:t>
            </a:r>
          </a:p>
          <a:p>
            <a:pPr>
              <a:defRPr/>
            </a:pPr>
            <a:endParaRPr kumimoji="1" lang="zh-CN" altLang="en-US" sz="1000" b="1" dirty="0">
              <a:latin typeface="Times New Roman" panose="02020603050405020304" pitchFamily="18" charset="0"/>
              <a:ea typeface="仿宋_GB2312" pitchFamily="49" charset="-122"/>
              <a:sym typeface="Symbol" panose="05050102010706020507" pitchFamily="18" charset="2"/>
            </a:endParaRPr>
          </a:p>
          <a:p>
            <a:pPr>
              <a:defRPr/>
            </a:pPr>
            <a:r>
              <a:rPr kumimoji="1" lang="zh-CN" altLang="en-US" sz="2400" b="1" dirty="0">
                <a:latin typeface="Times New Roman" panose="02020603050405020304" pitchFamily="18" charset="0"/>
                <a:ea typeface="仿宋_GB2312" pitchFamily="49" charset="-122"/>
                <a:sym typeface="Symbol" panose="05050102010706020507" pitchFamily="18" charset="2"/>
              </a:rPr>
              <a:t>       </a:t>
            </a: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r>
              <a:rPr kumimoji="1" lang="zh-CN" altLang="en-US" sz="2400" b="1" dirty="0">
                <a:latin typeface="Times New Roman" panose="02020603050405020304" pitchFamily="18" charset="0"/>
                <a:ea typeface="仿宋_GB2312" pitchFamily="49" charset="-122"/>
                <a:sym typeface="Symbol" panose="05050102010706020507" pitchFamily="18" charset="2"/>
              </a:rPr>
              <a:t>满足</a:t>
            </a: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2400" b="1" dirty="0">
              <a:latin typeface="Times New Roman" panose="02020603050405020304" pitchFamily="18" charset="0"/>
              <a:ea typeface="仿宋_GB2312" pitchFamily="49" charset="-122"/>
              <a:sym typeface="Symbol" panose="05050102010706020507" pitchFamily="18" charset="2"/>
            </a:endParaRPr>
          </a:p>
          <a:p>
            <a:pPr>
              <a:defRPr/>
            </a:pPr>
            <a:endParaRPr kumimoji="1" lang="zh-CN" altLang="en-US" sz="1200" b="1" dirty="0">
              <a:latin typeface="Times New Roman" panose="02020603050405020304" pitchFamily="18" charset="0"/>
              <a:ea typeface="仿宋_GB2312" pitchFamily="49" charset="-122"/>
              <a:sym typeface="Symbol" panose="05050102010706020507" pitchFamily="18" charset="2"/>
            </a:endParaRPr>
          </a:p>
          <a:p>
            <a:pPr>
              <a:defRPr/>
            </a:pPr>
            <a:r>
              <a:rPr kumimoji="1" lang="zh-CN" altLang="en-US" sz="2400" b="1" dirty="0">
                <a:latin typeface="Times New Roman" panose="02020603050405020304" pitchFamily="18" charset="0"/>
                <a:ea typeface="仿宋_GB2312" pitchFamily="49" charset="-122"/>
                <a:sym typeface="Symbol" panose="05050102010706020507" pitchFamily="18" charset="2"/>
              </a:rPr>
              <a:t>直至满足停机准则（满足某种优化准则，或者迭代次数）</a:t>
            </a:r>
          </a:p>
        </p:txBody>
      </p:sp>
      <p:graphicFrame>
        <p:nvGraphicFramePr>
          <p:cNvPr id="50179" name="Object 4"/>
          <p:cNvGraphicFramePr>
            <a:graphicFrameLocks noChangeAspect="1"/>
          </p:cNvGraphicFramePr>
          <p:nvPr/>
        </p:nvGraphicFramePr>
        <p:xfrm>
          <a:off x="2220913" y="1341438"/>
          <a:ext cx="4151312" cy="492125"/>
        </p:xfrm>
        <a:graphic>
          <a:graphicData uri="http://schemas.openxmlformats.org/presentationml/2006/ole">
            <mc:AlternateContent xmlns:mc="http://schemas.openxmlformats.org/markup-compatibility/2006">
              <mc:Choice xmlns:v="urn:schemas-microsoft-com:vml" Requires="v">
                <p:oleObj name="Equation" r:id="rId2" imgW="1308100" imgH="121285" progId="Equation.3">
                  <p:embed/>
                </p:oleObj>
              </mc:Choice>
              <mc:Fallback>
                <p:oleObj name="Equation" r:id="rId2" imgW="1308100" imgH="121285"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0913" y="1341438"/>
                        <a:ext cx="415131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80" name="Object 5"/>
          <p:cNvGraphicFramePr>
            <a:graphicFrameLocks noChangeAspect="1"/>
          </p:cNvGraphicFramePr>
          <p:nvPr/>
        </p:nvGraphicFramePr>
        <p:xfrm>
          <a:off x="2339975" y="2205038"/>
          <a:ext cx="3960813" cy="1804987"/>
        </p:xfrm>
        <a:graphic>
          <a:graphicData uri="http://schemas.openxmlformats.org/presentationml/2006/ole">
            <mc:AlternateContent xmlns:mc="http://schemas.openxmlformats.org/markup-compatibility/2006">
              <mc:Choice xmlns:v="urn:schemas-microsoft-com:vml" Requires="v">
                <p:oleObj name="Equation" r:id="rId4" imgW="1290320" imgH="619125" progId="Equation.3">
                  <p:embed/>
                </p:oleObj>
              </mc:Choice>
              <mc:Fallback>
                <p:oleObj name="Equation" r:id="rId4" imgW="1290320" imgH="61912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2205038"/>
                        <a:ext cx="3960813" cy="180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81" name="Object 6"/>
          <p:cNvGraphicFramePr>
            <a:graphicFrameLocks noChangeAspect="1"/>
          </p:cNvGraphicFramePr>
          <p:nvPr/>
        </p:nvGraphicFramePr>
        <p:xfrm>
          <a:off x="2232025" y="4171555"/>
          <a:ext cx="4679950" cy="1774825"/>
        </p:xfrm>
        <a:graphic>
          <a:graphicData uri="http://schemas.openxmlformats.org/presentationml/2006/ole">
            <mc:AlternateContent xmlns:mc="http://schemas.openxmlformats.org/markup-compatibility/2006">
              <mc:Choice xmlns:v="urn:schemas-microsoft-com:vml" Requires="v">
                <p:oleObj name="Equation" r:id="rId6" imgW="1557020" imgH="601980" progId="Equation.3">
                  <p:embed/>
                </p:oleObj>
              </mc:Choice>
              <mc:Fallback>
                <p:oleObj name="Equation" r:id="rId6" imgW="1557020" imgH="60198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32025" y="4171555"/>
                        <a:ext cx="4679950"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YxNzc3ZjU2YzdhODA3MjQ3YjYyZjJmNTJkZDRhNDI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282</TotalTime>
  <Words>4177</Words>
  <Application>Microsoft Office PowerPoint</Application>
  <PresentationFormat>全屏显示(4:3)</PresentationFormat>
  <Paragraphs>434</Paragraphs>
  <Slides>54</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54</vt:i4>
      </vt:variant>
    </vt:vector>
  </HeadingPairs>
  <TitlesOfParts>
    <vt:vector size="69" baseType="lpstr">
      <vt:lpstr>MS Mincho</vt:lpstr>
      <vt:lpstr>等线</vt:lpstr>
      <vt:lpstr>黑体</vt:lpstr>
      <vt:lpstr>宋体</vt:lpstr>
      <vt:lpstr>Arial</vt:lpstr>
      <vt:lpstr>Calibri</vt:lpstr>
      <vt:lpstr>Calibri Light</vt:lpstr>
      <vt:lpstr>Cambria Math</vt:lpstr>
      <vt:lpstr>Symbol</vt:lpstr>
      <vt:lpstr>Times New Roman</vt:lpstr>
      <vt:lpstr>Wingdings</vt:lpstr>
      <vt:lpstr>Office 主题​​</vt:lpstr>
      <vt:lpstr>Equation</vt:lpstr>
      <vt:lpstr>AutoCAD.Drawing.14</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Zhao Leon</dc:creator>
  <cp:lastModifiedBy>Wei Zhang</cp:lastModifiedBy>
  <cp:revision>109</cp:revision>
  <dcterms:created xsi:type="dcterms:W3CDTF">2020-11-25T07:37:00Z</dcterms:created>
  <dcterms:modified xsi:type="dcterms:W3CDTF">2025-11-17T08:37:44Z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B4E4D740F8644D008F5C832382E6D0C4</vt:lpwstr>
  </property>
  <property fmtid="{D5CDD505-2E9C-101B-9397-08002B2CF9AE}" pid="3" name="KSOProductBuildVer">
    <vt:lpwstr>2052-12.1.0.16120</vt:lpwstr>
  </property>
</Properties>
</file>