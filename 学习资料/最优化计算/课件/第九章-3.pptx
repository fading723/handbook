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66" r:id="rId3"/>
    <p:sldId id="472" r:id="rId4"/>
    <p:sldId id="288" r:id="rId5"/>
    <p:sldId id="262" r:id="rId6"/>
    <p:sldId id="263" r:id="rId7"/>
    <p:sldId id="292" r:id="rId8"/>
    <p:sldId id="477" r:id="rId9"/>
    <p:sldId id="277" r:id="rId10"/>
    <p:sldId id="475" r:id="rId11"/>
    <p:sldId id="476" r:id="rId12"/>
    <p:sldId id="304" r:id="rId13"/>
    <p:sldId id="478" r:id="rId14"/>
    <p:sldId id="468" r:id="rId15"/>
    <p:sldId id="479" r:id="rId16"/>
    <p:sldId id="473" r:id="rId17"/>
    <p:sldId id="474" r:id="rId18"/>
    <p:sldId id="480" r:id="rId19"/>
    <p:sldId id="481" r:id="rId20"/>
    <p:sldId id="482" r:id="rId21"/>
    <p:sldId id="483" r:id="rId22"/>
    <p:sldId id="484" r:id="rId23"/>
    <p:sldId id="485" r:id="rId24"/>
    <p:sldId id="486" r:id="rId25"/>
    <p:sldId id="487" r:id="rId26"/>
    <p:sldId id="488" r:id="rId27"/>
    <p:sldId id="490" r:id="rId28"/>
    <p:sldId id="491" r:id="rId29"/>
    <p:sldId id="492" r:id="rId30"/>
    <p:sldId id="260" r:id="rId31"/>
    <p:sldId id="493" r:id="rId32"/>
    <p:sldId id="494" r:id="rId33"/>
    <p:sldId id="495" r:id="rId34"/>
    <p:sldId id="496" r:id="rId35"/>
    <p:sldId id="497" r:id="rId36"/>
    <p:sldId id="498" r:id="rId37"/>
    <p:sldId id="499" r:id="rId38"/>
    <p:sldId id="500" r:id="rId39"/>
    <p:sldId id="501" r:id="rId40"/>
    <p:sldId id="502" r:id="rId41"/>
    <p:sldId id="503" r:id="rId42"/>
    <p:sldId id="268" r:id="rId43"/>
    <p:sldId id="504" r:id="rId44"/>
  </p:sldIdLst>
  <p:sldSz cx="12192000" cy="6858000"/>
  <p:notesSz cx="6858000" cy="9144000"/>
  <p:custDataLst>
    <p:tags r:id="rId48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90929"/>
  </p:normalViewPr>
  <p:slideViewPr>
    <p:cSldViewPr showGuides="1">
      <p:cViewPr varScale="1">
        <p:scale>
          <a:sx n="75" d="100"/>
          <a:sy n="75" d="100"/>
        </p:scale>
        <p:origin x="1018" y="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221FF-1C0D-4B5C-AF3A-4EC0C0B196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3108C-8B26-4FBE-B8F4-A920201BA9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66F85-540E-4898-9DA8-C22DC462E6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4F856-E345-450D-A860-CA06A2AF0A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72DB0-1666-4E85-BE53-FABBD5C046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CA912-827E-4C53-A979-9E162BD2E8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3F2A5-7339-4771-AB61-3FE248EB32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39905-30CF-4657-8626-5B6A1DEEDB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ABBE7-CA40-4DF2-B4D8-9588425AB0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84264-4273-489E-B862-67225D5C6A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29701-8533-44EC-BE13-7138066F2F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D22CC-8511-45A4-A3C0-B8E5D9254B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483DE-600A-4F34-8904-3C80197822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85A6E6E-C9BA-46BA-825C-B065167DB9B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60557" y="2276872"/>
            <a:ext cx="4519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/>
              <a:t>   </a:t>
            </a:r>
            <a:r>
              <a:rPr lang="zh-CN" altLang="en-US" sz="4400" b="1" dirty="0"/>
              <a:t>等式约束乘子法</a:t>
            </a:r>
            <a:endParaRPr lang="zh-CN" altLang="en-US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07468" y="1052736"/>
            <a:ext cx="9577064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乘子法是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Powell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Hestenes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针对等式约束优化问题同时独立提出的一种优化算法，后经</a:t>
            </a:r>
            <a:r>
              <a:rPr lang="en-US" altLang="zh-CN" sz="24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Rockfellar</a:t>
            </a:r>
            <a:r>
              <a:rPr lang="zh-CN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推广到求解不等式约束优化问题。其基本思想是从原问题的拉格朗日函数出发，再加上适当的罚项，将原问题转化为求解一系列无约束优化子问题。外点罚函数法中的罚参数趋于正无穷时，罚函数变得越来越病态，这种缺陷在乘子法中得以克服。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9956" name="Text Box 20"/>
              <p:cNvSpPr txBox="1">
                <a:spLocks noChangeArrowheads="1"/>
              </p:cNvSpPr>
              <p:nvPr/>
            </p:nvSpPr>
            <p:spPr bwMode="auto">
              <a:xfrm>
                <a:off x="1343472" y="4265133"/>
                <a:ext cx="8543650" cy="1890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ea typeface="黑体" panose="02010609060101010101" pitchFamily="49" charset="-122"/>
                  </a:rPr>
                  <a:t>罚函数：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400" b="1" dirty="0"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一般情况下</a:t>
                </a:r>
                <a:r>
                  <a:rPr lang="en-US" altLang="zh-CN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400" b="1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 b="1" baseline="30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  <a:r>
                  <a:rPr lang="zh-CN" altLang="en-US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不</a:t>
                </a:r>
                <a:r>
                  <a:rPr lang="zh-CN" altLang="en-US" sz="2400" b="1" dirty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是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en-US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对固定的</a:t>
                </a:r>
                <a:r>
                  <a:rPr lang="en-US" altLang="zh-CN" sz="2400" b="1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en-US" altLang="zh-CN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400" b="1" dirty="0">
                    <a:solidFill>
                      <a:srgbClr val="0000CC"/>
                    </a:solidFill>
                    <a:ea typeface="宋体" panose="02010600030101010101" pitchFamily="2" charset="-122"/>
                  </a:rPr>
                  <a:t>的最优解。</a:t>
                </a:r>
                <a:endParaRPr lang="zh-CN" altLang="en-US" sz="2400" b="1" dirty="0">
                  <a:solidFill>
                    <a:srgbClr val="0000CC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zh-CN" altLang="en-US" sz="2400" b="1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9956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4265133"/>
                <a:ext cx="8543650" cy="1890005"/>
              </a:xfrm>
              <a:prstGeom prst="rect">
                <a:avLst/>
              </a:prstGeom>
              <a:blipFill rotWithShape="1">
                <a:blip r:embed="rId1"/>
                <a:stretch>
                  <a:fillRect l="-5" t="-25" r="2" b="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767408" y="1412776"/>
                <a:ext cx="7784467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考虑只有等式约束的问题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func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b="0" dirty="0">
                    <a:solidFill>
                      <a:srgbClr val="000000"/>
                    </a:solidFill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/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的最优解。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/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/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/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412776"/>
                <a:ext cx="7784467" cy="2862322"/>
              </a:xfrm>
              <a:prstGeom prst="rect">
                <a:avLst/>
              </a:prstGeom>
              <a:blipFill rotWithShape="1">
                <a:blip r:embed="rId2"/>
                <a:stretch>
                  <a:fillRect l="-4" t="-19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462785" y="375939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一、基本原理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Text Box 17"/>
          <p:cNvSpPr txBox="1">
            <a:spLocks noChangeArrowheads="1"/>
          </p:cNvSpPr>
          <p:nvPr/>
        </p:nvSpPr>
        <p:spPr bwMode="auto">
          <a:xfrm>
            <a:off x="767408" y="3382648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ea typeface="黑体" panose="02010609060101010101" pitchFamily="49" charset="-122"/>
              </a:rPr>
              <a:t>回顾：</a:t>
            </a:r>
            <a:endParaRPr lang="zh-CN" altLang="en-US" sz="24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" name="Rectangle 7"/>
          <p:cNvSpPr>
            <a:spLocks noChangeArrowheads="1"/>
          </p:cNvSpPr>
          <p:nvPr/>
        </p:nvSpPr>
        <p:spPr bwMode="auto">
          <a:xfrm>
            <a:off x="1524000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65" name="Rectangle 8"/>
          <p:cNvSpPr>
            <a:spLocks noChangeArrowheads="1"/>
          </p:cNvSpPr>
          <p:nvPr/>
        </p:nvSpPr>
        <p:spPr bwMode="auto">
          <a:xfrm>
            <a:off x="1524000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66" name="Rectangle 9"/>
          <p:cNvSpPr>
            <a:spLocks noChangeArrowheads="1"/>
          </p:cNvSpPr>
          <p:nvPr/>
        </p:nvSpPr>
        <p:spPr bwMode="auto">
          <a:xfrm>
            <a:off x="1524000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67" name="Rectangle 10"/>
          <p:cNvSpPr>
            <a:spLocks noChangeArrowheads="1"/>
          </p:cNvSpPr>
          <p:nvPr/>
        </p:nvSpPr>
        <p:spPr bwMode="auto">
          <a:xfrm>
            <a:off x="1524000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69" name="Text Box 25"/>
              <p:cNvSpPr txBox="1">
                <a:spLocks noChangeArrowheads="1"/>
              </p:cNvSpPr>
              <p:nvPr/>
            </p:nvSpPr>
            <p:spPr bwMode="auto">
              <a:xfrm>
                <a:off x="1271464" y="844127"/>
                <a:ext cx="9974099" cy="4426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证明：若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的最优解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由一阶必要条件有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的最优解，满足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i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所以</a:t>
                </a:r>
                <a:endPara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矛盾。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因此，需要求解一系列的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，其</a:t>
                </a:r>
                <a:r>
                  <a:rPr lang="zh-CN" altLang="en-US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groupChr>
                      <m:groupChrPr>
                        <m:chr m:val="→"/>
                        <m:pos m:val="top"/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→∞ </m:t>
                        </m:r>
                      </m:e>
                    </m:groupChr>
                    <m:sSup>
                      <m:sSup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。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为了提高效率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对罚函数进行改进，使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是改进后的罚函数的最优解。</a:t>
                </a:r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16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1464" y="844127"/>
                <a:ext cx="9974099" cy="4426083"/>
              </a:xfrm>
              <a:prstGeom prst="rect">
                <a:avLst/>
              </a:prstGeom>
              <a:blipFill rotWithShape="1">
                <a:blip r:embed="rId1"/>
                <a:stretch>
                  <a:fillRect l="-2" t="-5" r="3" b="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bject 38"/>
          <p:cNvSpPr txBox="1"/>
          <p:nvPr/>
        </p:nvSpPr>
        <p:spPr bwMode="auto">
          <a:xfrm>
            <a:off x="3926894" y="3214688"/>
            <a:ext cx="1603375" cy="5334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endParaRPr lang="zh-CN" altLang="en-US" sz="23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8" name="Text Box 5"/>
          <p:cNvSpPr txBox="1">
            <a:spLocks noChangeArrowheads="1"/>
          </p:cNvSpPr>
          <p:nvPr/>
        </p:nvSpPr>
        <p:spPr bwMode="auto">
          <a:xfrm>
            <a:off x="1981200" y="228601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8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39416" y="488157"/>
                <a:ext cx="9793088" cy="6291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罚函数：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乘子罚函数：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结论：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的最优解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的驻点，</a:t>
                </a: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证明：若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的最优解，则由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KKT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条件知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这里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b="1" dirty="0">
                    <a:ea typeface="宋体" panose="02010600030101010101" pitchFamily="2" charset="-122"/>
                  </a:rPr>
                  <a:t>为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  <a:r>
                  <a:rPr lang="zh-CN" altLang="en-US" sz="2400" b="1" dirty="0">
                    <a:ea typeface="宋体" panose="02010600030101010101" pitchFamily="2" charset="-122"/>
                  </a:rPr>
                  <a:t>相应的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拉格朗日</a:t>
                </a:r>
                <a:r>
                  <a:rPr lang="zh-CN" altLang="en-US" sz="2400" b="1" dirty="0">
                    <a:ea typeface="宋体" panose="02010600030101010101" pitchFamily="2" charset="-122"/>
                  </a:rPr>
                  <a:t>乘子。因为</a:t>
                </a:r>
                <a:endParaRPr lang="zh-CN" altLang="en-US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sty m:val="p"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=0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spcBef>
                    <a:spcPct val="50000"/>
                  </a:spcBef>
                </a:pPr>
                <a:endPara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488157"/>
                <a:ext cx="9793088" cy="6291851"/>
              </a:xfrm>
              <a:prstGeom prst="rect">
                <a:avLst/>
              </a:prstGeom>
              <a:blipFill rotWithShape="1">
                <a:blip r:embed="rId1"/>
                <a:stretch>
                  <a:fillRect l="-6" t="-8" r="1" b="-2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3431704" y="6205356"/>
            <a:ext cx="295232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56"/>
          <p:cNvSpPr txBox="1">
            <a:spLocks noChangeArrowheads="1"/>
          </p:cNvSpPr>
          <p:nvPr/>
        </p:nvSpPr>
        <p:spPr bwMode="auto">
          <a:xfrm>
            <a:off x="4499720" y="6205356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Line 55"/>
          <p:cNvSpPr>
            <a:spLocks noChangeShapeType="1"/>
          </p:cNvSpPr>
          <p:nvPr/>
        </p:nvSpPr>
        <p:spPr bwMode="auto">
          <a:xfrm flipV="1">
            <a:off x="7833048" y="6179542"/>
            <a:ext cx="864096" cy="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56"/>
          <p:cNvSpPr txBox="1">
            <a:spLocks noChangeArrowheads="1"/>
          </p:cNvSpPr>
          <p:nvPr/>
        </p:nvSpPr>
        <p:spPr bwMode="auto">
          <a:xfrm>
            <a:off x="8074596" y="624322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1" name="Rectangle 7"/>
          <p:cNvSpPr>
            <a:spLocks noChangeArrowheads="1"/>
          </p:cNvSpPr>
          <p:nvPr/>
        </p:nvSpPr>
        <p:spPr bwMode="auto">
          <a:xfrm>
            <a:off x="818456" y="107488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8" name="Object 22"/>
              <p:cNvSpPr txBox="1"/>
              <p:nvPr/>
            </p:nvSpPr>
            <p:spPr bwMode="auto">
              <a:xfrm>
                <a:off x="6000057" y="1623641"/>
                <a:ext cx="2944813" cy="4572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不必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536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0057" y="1623641"/>
                <a:ext cx="2944813" cy="457200"/>
              </a:xfrm>
              <a:prstGeom prst="rect">
                <a:avLst/>
              </a:prstGeom>
              <a:blipFill rotWithShape="1">
                <a:blip r:embed="rId1"/>
                <a:stretch>
                  <a:fillRect l="-20" t="-127" r="9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85" name="Text Box 24"/>
          <p:cNvSpPr txBox="1">
            <a:spLocks noChangeArrowheads="1"/>
          </p:cNvSpPr>
          <p:nvPr/>
        </p:nvSpPr>
        <p:spPr bwMode="auto">
          <a:xfrm>
            <a:off x="1199456" y="1124744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2400" b="1" dirty="0"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ea typeface="宋体" panose="02010600030101010101" pitchFamily="2" charset="-122"/>
              </a:rPr>
              <a:t>的最优解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86" name="Text Box 25"/>
              <p:cNvSpPr txBox="1">
                <a:spLocks noChangeArrowheads="1"/>
              </p:cNvSpPr>
              <p:nvPr/>
            </p:nvSpPr>
            <p:spPr bwMode="auto">
              <a:xfrm>
                <a:off x="5212556" y="1067629"/>
                <a:ext cx="4953000" cy="573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的最优解</a:t>
                </a:r>
                <a:endPara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38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2556" y="1067629"/>
                <a:ext cx="4953000" cy="573106"/>
              </a:xfrm>
              <a:prstGeom prst="rect">
                <a:avLst/>
              </a:prstGeom>
              <a:blipFill rotWithShape="1">
                <a:blip r:embed="rId2"/>
                <a:stretch>
                  <a:fillRect l="-10" t="-5352" r="10" b="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87" name="Line 35"/>
          <p:cNvSpPr>
            <a:spLocks noChangeShapeType="1"/>
          </p:cNvSpPr>
          <p:nvPr/>
        </p:nvSpPr>
        <p:spPr bwMode="auto">
          <a:xfrm>
            <a:off x="3859960" y="1306103"/>
            <a:ext cx="1484459" cy="755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0" name="Object 36"/>
              <p:cNvSpPr txBox="1"/>
              <p:nvPr/>
            </p:nvSpPr>
            <p:spPr bwMode="auto">
              <a:xfrm>
                <a:off x="3775385" y="1467715"/>
                <a:ext cx="1800200" cy="5080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5370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5385" y="1467715"/>
                <a:ext cx="1800200" cy="508000"/>
              </a:xfrm>
              <a:prstGeom prst="rect">
                <a:avLst/>
              </a:prstGeom>
              <a:blipFill rotWithShape="1">
                <a:blip r:embed="rId3"/>
                <a:stretch>
                  <a:fillRect l="-17" t="-45" r="16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88" name="Line 37"/>
          <p:cNvSpPr>
            <a:spLocks noChangeShapeType="1"/>
          </p:cNvSpPr>
          <p:nvPr/>
        </p:nvSpPr>
        <p:spPr bwMode="auto">
          <a:xfrm flipH="1" flipV="1">
            <a:off x="3783760" y="1450186"/>
            <a:ext cx="1484459" cy="1587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124" name="Object 44"/>
              <p:cNvSpPr txBox="1"/>
              <p:nvPr/>
            </p:nvSpPr>
            <p:spPr bwMode="auto">
              <a:xfrm>
                <a:off x="4500053" y="4360190"/>
                <a:ext cx="2151063" cy="5000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groupChr>
                        <m:groupChrPr>
                          <m:chr m:val="→"/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→∞ </m:t>
                          </m:r>
                        </m:e>
                      </m:groupCh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6124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0053" y="4360190"/>
                <a:ext cx="2151063" cy="500063"/>
              </a:xfrm>
              <a:prstGeom prst="rect">
                <a:avLst/>
              </a:prstGeom>
              <a:blipFill rotWithShape="1">
                <a:blip r:embed="rId4"/>
                <a:stretch>
                  <a:fillRect l="-21" t="-56" r="6" b="-5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25" name="Text Box 45"/>
          <p:cNvSpPr txBox="1">
            <a:spLocks noChangeArrowheads="1"/>
          </p:cNvSpPr>
          <p:nvPr/>
        </p:nvSpPr>
        <p:spPr bwMode="auto">
          <a:xfrm>
            <a:off x="1543012" y="4365037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ea typeface="黑体" panose="02010609060101010101" pitchFamily="49" charset="-122"/>
              </a:rPr>
              <a:t>思路：</a:t>
            </a:r>
            <a:endParaRPr lang="zh-CN" altLang="en-US" sz="2400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46133" name="Line 53"/>
          <p:cNvSpPr>
            <a:spLocks noChangeShapeType="1"/>
          </p:cNvSpPr>
          <p:nvPr/>
        </p:nvSpPr>
        <p:spPr bwMode="auto">
          <a:xfrm flipV="1">
            <a:off x="5212556" y="3113104"/>
            <a:ext cx="1018681" cy="419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135" name="Text Box 55"/>
              <p:cNvSpPr txBox="1">
                <a:spLocks noChangeArrowheads="1"/>
              </p:cNvSpPr>
              <p:nvPr/>
            </p:nvSpPr>
            <p:spPr bwMode="auto">
              <a:xfrm>
                <a:off x="1599189" y="2894017"/>
                <a:ext cx="4107831" cy="573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求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的最优解</a:t>
                </a:r>
                <a:endPara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6135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9189" y="2894017"/>
                <a:ext cx="4107831" cy="573106"/>
              </a:xfrm>
              <a:prstGeom prst="rect">
                <a:avLst/>
              </a:prstGeom>
              <a:blipFill rotWithShape="1">
                <a:blip r:embed="rId5"/>
                <a:stretch>
                  <a:fillRect l="-6" t="-56" r="7" b="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37" name="Text Box 57"/>
              <p:cNvSpPr txBox="1">
                <a:spLocks noChangeArrowheads="1"/>
              </p:cNvSpPr>
              <p:nvPr/>
            </p:nvSpPr>
            <p:spPr bwMode="auto">
              <a:xfrm>
                <a:off x="6407526" y="2862731"/>
                <a:ext cx="3429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求问题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NP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400" b="1" dirty="0">
                    <a:ea typeface="宋体" panose="02010600030101010101" pitchFamily="2" charset="-122"/>
                  </a:rPr>
                  <a:t>的最优解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400" b="1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6137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7526" y="2862731"/>
                <a:ext cx="3429000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1" t="-33" r="11" b="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38" name="Text Box 58"/>
              <p:cNvSpPr txBox="1">
                <a:spLocks noChangeArrowheads="1"/>
              </p:cNvSpPr>
              <p:nvPr/>
            </p:nvSpPr>
            <p:spPr bwMode="auto">
              <a:xfrm>
                <a:off x="1487488" y="3662947"/>
                <a:ext cx="7086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baseline="30000" dirty="0">
                    <a:ea typeface="宋体" panose="02010600030101010101" pitchFamily="2" charset="-122"/>
                  </a:rPr>
                  <a:t> </a:t>
                </a:r>
                <a:r>
                  <a:rPr lang="zh-CN" altLang="en-US" sz="2400" b="1" dirty="0">
                    <a:solidFill>
                      <a:srgbClr val="CC0000"/>
                    </a:solidFill>
                    <a:ea typeface="黑体" panose="02010609060101010101" pitchFamily="49" charset="-122"/>
                  </a:rPr>
                  <a:t>问题：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Lagrange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乘子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如何求得？</a:t>
                </a:r>
                <a:endPara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6138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488" y="3662947"/>
                <a:ext cx="708660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" t="-6660" r="4" b="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39" name="Text Box 59"/>
          <p:cNvSpPr txBox="1">
            <a:spLocks noChangeArrowheads="1"/>
          </p:cNvSpPr>
          <p:nvPr/>
        </p:nvSpPr>
        <p:spPr bwMode="auto">
          <a:xfrm>
            <a:off x="2456756" y="4355059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baseline="30000" dirty="0"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用迭代法得到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71256" y="707611"/>
            <a:ext cx="1329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条件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199456" y="548680"/>
            <a:ext cx="1946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可以证明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8302" y="2268685"/>
            <a:ext cx="1946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启发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21904" y="116632"/>
                <a:ext cx="10548192" cy="7235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乘子罚函数</a:t>
                </a:r>
                <a:r>
                  <a:rPr lang="zh-CN" altLang="en-US" sz="2400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400" b="1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的修正公式</a:t>
                </a:r>
                <a:r>
                  <a:rPr lang="zh-CN" altLang="en-US" sz="2400" dirty="0"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给定一个足够大的正数</a:t>
                </a:r>
                <a:r>
                  <a:rPr lang="en-US" altLang="zh-CN" sz="2400" i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设已求得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，求解   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 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lim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lim>
                    </m:limLow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得最优解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，所以有</a:t>
                </a:r>
                <a:endPara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d>
                                <m:dPr>
                                  <m:ctrlP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)  −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400" b="0" dirty="0">
                    <a:solidFill>
                      <a:srgbClr val="000000"/>
                    </a:solidFill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04" y="116632"/>
                <a:ext cx="10548192" cy="7235699"/>
              </a:xfrm>
              <a:prstGeom prst="rect">
                <a:avLst/>
              </a:prstGeom>
              <a:blipFill rotWithShape="1">
                <a:blip r:embed="rId1"/>
                <a:stretch>
                  <a:fillRect l="-2" t="-6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82"/>
          <p:cNvGrpSpPr/>
          <p:nvPr/>
        </p:nvGrpSpPr>
        <p:grpSpPr bwMode="auto">
          <a:xfrm>
            <a:off x="238670" y="4150171"/>
            <a:ext cx="2282726" cy="1367060"/>
            <a:chOff x="288" y="2496"/>
            <a:chExt cx="1248" cy="1248"/>
          </a:xfrm>
        </p:grpSpPr>
        <p:sp>
          <p:nvSpPr>
            <p:cNvPr id="7" name="Rectangle 48"/>
            <p:cNvSpPr>
              <a:spLocks noChangeArrowheads="1"/>
            </p:cNvSpPr>
            <p:nvPr/>
          </p:nvSpPr>
          <p:spPr bwMode="auto">
            <a:xfrm>
              <a:off x="288" y="2496"/>
              <a:ext cx="1248" cy="1248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just">
                <a:defRPr/>
              </a:pPr>
              <a:endParaRPr 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bject 46"/>
                <p:cNvSpPr txBox="1"/>
                <p:nvPr/>
              </p:nvSpPr>
              <p:spPr bwMode="auto">
                <a:xfrm>
                  <a:off x="407" y="2545"/>
                  <a:ext cx="961" cy="344"/>
                </a:xfrm>
                <a:prstGeom prst="rect">
                  <a:avLst/>
                </a:prstGeom>
                <a:noFill/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groupChr>
                          <m:groupChrPr>
                            <m:chr m:val="→"/>
                            <m:pos m:val="top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→∞ </m:t>
                            </m:r>
                          </m:e>
                        </m:groupCh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8" name="Object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" y="2545"/>
                  <a:ext cx="961" cy="344"/>
                </a:xfrm>
                <a:prstGeom prst="rect">
                  <a:avLst/>
                </a:prstGeom>
                <a:blipFill rotWithShape="1">
                  <a:blip r:embed="rId2"/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Object 45"/>
                <p:cNvSpPr txBox="1"/>
                <p:nvPr/>
              </p:nvSpPr>
              <p:spPr bwMode="auto">
                <a:xfrm>
                  <a:off x="356" y="2929"/>
                  <a:ext cx="1016" cy="351"/>
                </a:xfrm>
                <a:prstGeom prst="rect">
                  <a:avLst/>
                </a:prstGeom>
                <a:noFill/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groupChr>
                          <m:groupChrPr>
                            <m:chr m:val="→"/>
                            <m:pos m:val="top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→∞ </m:t>
                            </m:r>
                          </m:e>
                        </m:groupCh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9" name="Object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6" y="2929"/>
                  <a:ext cx="1016" cy="351"/>
                </a:xfrm>
                <a:prstGeom prst="rect">
                  <a:avLst/>
                </a:prstGeom>
                <a:blipFill rotWithShape="1">
                  <a:blip r:embed="rId3"/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Line 50"/>
          <p:cNvSpPr>
            <a:spLocks noChangeShapeType="1"/>
          </p:cNvSpPr>
          <p:nvPr/>
        </p:nvSpPr>
        <p:spPr bwMode="auto">
          <a:xfrm>
            <a:off x="4257328" y="4556943"/>
            <a:ext cx="830560" cy="62070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54"/>
          <p:cNvSpPr>
            <a:spLocks noChangeShapeType="1"/>
          </p:cNvSpPr>
          <p:nvPr/>
        </p:nvSpPr>
        <p:spPr bwMode="auto">
          <a:xfrm>
            <a:off x="3647728" y="4556944"/>
            <a:ext cx="1066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2"/>
          <p:cNvSpPr>
            <a:spLocks noChangeShapeType="1"/>
          </p:cNvSpPr>
          <p:nvPr/>
        </p:nvSpPr>
        <p:spPr bwMode="auto">
          <a:xfrm>
            <a:off x="5574146" y="4520073"/>
            <a:ext cx="2209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3"/>
          <p:cNvSpPr>
            <a:spLocks noChangeShapeType="1"/>
          </p:cNvSpPr>
          <p:nvPr/>
        </p:nvSpPr>
        <p:spPr bwMode="auto">
          <a:xfrm>
            <a:off x="7936346" y="4520073"/>
            <a:ext cx="10668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5"/>
          <p:cNvSpPr>
            <a:spLocks noChangeShapeType="1"/>
          </p:cNvSpPr>
          <p:nvPr/>
        </p:nvSpPr>
        <p:spPr bwMode="auto">
          <a:xfrm flipH="1">
            <a:off x="7752184" y="4520072"/>
            <a:ext cx="565162" cy="62070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7"/>
          <p:cNvSpPr>
            <a:spLocks noChangeShapeType="1"/>
          </p:cNvSpPr>
          <p:nvPr/>
        </p:nvSpPr>
        <p:spPr bwMode="auto">
          <a:xfrm>
            <a:off x="6488546" y="4520072"/>
            <a:ext cx="255526" cy="620699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835025"/>
            <a:ext cx="9145264" cy="518795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乘子法与罚函数法最大的不同是，在乘子法中引进了乘子罚函数。乘子罚函数是在罚函数的基础上增加了拉格朗日乘子项，从而成为增广拉格朗日函数。因此乘子罚函数的性态既不同于拉格朗日函数，也不同于罚函数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199456" y="1013608"/>
                <a:ext cx="10081120" cy="5739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对于等式约束的问题：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fName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+mn-lt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400" dirty="0">
                  <a:latin typeface="+mn-lt"/>
                </a:endParaRPr>
              </a:p>
              <a:p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定义增广拉格朗日函数（乘子罚函数）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72009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𝜆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)=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)−</m:t>
                    </m:r>
                    <m:nary>
                      <m:naryPr>
                        <m:chr m:val="∑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  <a:cs typeface="MS Gothic" panose="020B0609070205080204" pitchFamily="49" charset="-128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</m:nary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sup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  <a:cs typeface="MS Gothic" panose="020B0609070205080204" pitchFamily="49" charset="-128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</a:rPr>
                  <a:t>	    </a:t>
                </a:r>
                <a:endParaRPr lang="en-US" altLang="zh-CN" sz="24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𝜆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为等式约束的拉格朗日乘子向量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𝜆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=(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zh-CN" altLang="zh-CN" sz="24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⋯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  <a:spcBef>
                    <a:spcPts val="3000"/>
                  </a:spcBef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𝜆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与普通拉格朗日函数的区别是增加了罚项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sup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，而与罚函数的区别是增加了乘子项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[−</m:t>
                    </m:r>
                    <m:nary>
                      <m:naryPr>
                        <m:chr m:val="∑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)]</m:t>
                        </m:r>
                      </m:e>
                    </m:nary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endParaRPr lang="zh-CN" altLang="en-US" sz="24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1013608"/>
                <a:ext cx="10081120" cy="5739905"/>
              </a:xfrm>
              <a:prstGeom prst="rect">
                <a:avLst/>
              </a:prstGeom>
              <a:blipFill rotWithShape="1">
                <a:blip r:embed="rId1"/>
                <a:stretch>
                  <a:fillRect l="-6" t="-3" r="4" b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91344" y="104487"/>
            <a:ext cx="29523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二、算法步骤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95400" y="332656"/>
                <a:ext cx="10585176" cy="6538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b="1" kern="100" dirty="0">
                    <a:solidFill>
                      <a:srgbClr val="0070C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乘子法</a:t>
                </a:r>
                <a:endParaRPr lang="en-US" altLang="zh-CN" sz="2400" b="1" kern="100" dirty="0">
                  <a:solidFill>
                    <a:srgbClr val="0070C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1.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，拉格朗日乘子向量的初始估计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，初始罚因子</a:t>
                </a:r>
                <a:r>
                  <a:rPr lang="en-US" altLang="zh-CN" sz="2400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M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，常数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</a:t>
                </a:r>
                <a:endParaRPr lang="en-US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𝛽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d>
                      <m:dPr>
                        <m:ctrlPr>
                          <a:rPr lang="en-US" altLang="zh-CN" sz="2400" b="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，允许误差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sz="240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；</m:t>
                    </m:r>
                  </m:oMath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2.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求解无约束问题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𝑚𝑖𝑛</m:t>
                        </m:r>
                      </m:fName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 </m:t>
                        </m:r>
                      </m:e>
                    </m:func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得到点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zh-CN" altLang="en-US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；</m:t>
                    </m:r>
                  </m:oMath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3.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ℎ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𝜀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，则停止计算，得到近似极小点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zh-CN" altLang="en-US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否则转步骤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4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；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4.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ℎ</m:t>
                                </m:r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ℎ</m:t>
                                </m:r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400" b="0" i="1" kern="10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𝛽</m:t>
                    </m:r>
                  </m:oMath>
                </a14:m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则令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，转步骤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5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；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否则，直接转步骤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5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；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5.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ℎ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    (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,…,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𝑚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，返回步骤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；</a:t>
                </a: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注：这里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ℎ</m:t>
                    </m:r>
                    <m:d>
                      <m:dPr>
                        <m:ctrlPr>
                          <a:rPr lang="en-US" altLang="zh-CN" sz="240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kern="10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400" b="0" i="1" kern="10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332656"/>
                <a:ext cx="10585176" cy="6538595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1344" y="115277"/>
                <a:ext cx="9427826" cy="826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b="1" kern="100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用乘子法求解下列问题：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.   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ℎ</m:t>
                      </m:r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b="1" kern="100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400" b="1" kern="100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构造增广拉格朗日函数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取罚因子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，用解析方法求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的极小点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836967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i="0" kern="1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zh-CN" altLang="zh-CN" sz="2400" kern="1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乘子更新</m:t>
                    </m:r>
                  </m:oMath>
                </a14:m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收敛到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原问题的最优解为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115277"/>
                <a:ext cx="9427826" cy="8262647"/>
              </a:xfrm>
              <a:prstGeom prst="rect">
                <a:avLst/>
              </a:prstGeom>
              <a:blipFill rotWithShape="1">
                <a:blip r:embed="rId1"/>
                <a:stretch>
                  <a:fillRect l="-2" t="-4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768408" y="116632"/>
                <a:ext cx="2088232" cy="4799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836967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，有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=1.5217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=1.6805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=1.7289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=1.7436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=1.7480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=1.7494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=1.7498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=1.7499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=1.7500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=1.7500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……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116632"/>
                <a:ext cx="2088232" cy="4799391"/>
              </a:xfrm>
              <a:prstGeom prst="rect">
                <a:avLst/>
              </a:prstGeom>
              <a:blipFill rotWithShape="1">
                <a:blip r:embed="rId2"/>
                <a:stretch>
                  <a:fillRect l="-10" t="-9" r="2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11424" y="260648"/>
                <a:ext cx="9937104" cy="5992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法二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：构造增广拉格朗日函数</a:t>
                </a:r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以下用解析方法求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的极小点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836967"/>
                    </a:solidFill>
                  </a:rPr>
                  <a:t>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乘子更新</a:t>
                </a:r>
                <a:r>
                  <a:rPr lang="en-US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易证，当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收敛到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kern="1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原问题的最优解为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zh-CN" altLang="en-US" sz="2400" i="1" kern="100"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 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可以看出，罚因子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大于某个阈值时算法都收敛。</a:t>
                </a:r>
                <a:endParaRPr lang="zh-CN" altLang="zh-CN" sz="2400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260648"/>
                <a:ext cx="9937104" cy="5992731"/>
              </a:xfrm>
              <a:prstGeom prst="rect">
                <a:avLst/>
              </a:prstGeom>
              <a:blipFill rotWithShape="1">
                <a:blip r:embed="rId1"/>
                <a:stretch>
                  <a:fillRect l="-2" t="-5" r="2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3392" y="548680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三、小结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7408" y="1268760"/>
            <a:ext cx="10945216" cy="168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在乘子法中，罚因子不必趋于无穷大，只要足够大，就可以通过极小化乘子罚函数，得到原来约束问题的局部最优解，故避免了罚函数法中的病态问题。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实践证明，乘子法优于罚函数法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乘子法已受到广大使用者的普遍欢迎。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78428" y="2276872"/>
            <a:ext cx="50834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/>
              <a:t>   </a:t>
            </a:r>
            <a:r>
              <a:rPr lang="zh-CN" altLang="en-US" sz="4400" b="1" dirty="0"/>
              <a:t>不等式约束乘子法</a:t>
            </a:r>
            <a:endParaRPr lang="zh-CN" altLang="en-US" sz="4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9336" y="144180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一、只有不等式约束的问题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26498" y="728955"/>
                <a:ext cx="11305256" cy="6087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考虑只有不等式约束的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优化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问题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266700" algn="just">
                  <a:lnSpc>
                    <a:spcPct val="13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𝑚𝑖𝑛</m:t>
                          </m:r>
                        </m:fName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 </m:t>
                          </m:r>
                        </m:e>
                      </m:func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0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 (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𝑗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,⋯,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𝑙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为应用关于等式约束问题的乘子法的结论，引入变量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，把问题化为只有等式约束的问题：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𝑚𝑖𝑛</m:t>
                          </m:r>
                        </m:fName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 </m:t>
                          </m:r>
                        </m:e>
                      </m:func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Sup>
                        <m:sSub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0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 (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𝑗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,⋯,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𝑙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于是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等式约束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乘子罚函数可定义为：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	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𝑦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𝛾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𝑀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)−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sup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)−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为拉格朗日乘子向量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=(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zh-CN" altLang="zh-CN" sz="24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⋯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b>
                    </m:sSub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98" y="728955"/>
                <a:ext cx="11305256" cy="6087500"/>
              </a:xfrm>
              <a:prstGeom prst="rect">
                <a:avLst/>
              </a:prstGeom>
              <a:blipFill rotWithShape="1">
                <a:blip r:embed="rId1"/>
                <a:stretch>
                  <a:fillRect l="-1" t="-10" r="4" b="-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95400" y="404664"/>
                <a:ext cx="10585176" cy="6166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𝜑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化为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126490" indent="-800100" algn="just">
                  <a:lnSpc>
                    <a:spcPct val="150000"/>
                  </a:lnSpc>
                </a:pPr>
                <a:r>
                  <a:rPr lang="en-US" altLang="zh-CN" sz="2200" kern="100" dirty="0">
                    <a:effectLst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𝜑</m:t>
                        </m:r>
                      </m:e>
                      <m:sub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zh-CN" sz="2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d>
                      <m:dPr>
                        <m:ctrlPr>
                          <a:rPr lang="zh-CN" altLang="zh-CN" sz="2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nary>
                      <m:naryPr>
                        <m:chr m:val="∑"/>
                        <m:ctrlPr>
                          <a:rPr lang="zh-CN" altLang="zh-CN" sz="2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)−</m:t>
                            </m:r>
                            <m:sSubSup>
                              <m:sSubSup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)+</m:t>
                            </m:r>
                            <m:f>
                              <m:f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)−</m:t>
                            </m:r>
                            <m:sSubSup>
                              <m:sSubSup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altLang="zh-CN" sz="2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zh-CN" sz="22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126490" indent="-800100" algn="just"/>
                <a:r>
                  <a:rPr lang="en-US" altLang="zh-CN" sz="2200" kern="100" dirty="0">
                    <a:effectLst/>
                    <a:ea typeface="宋体" panose="02010600030101010101" pitchFamily="2" charset="-122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)+</m:t>
                    </m:r>
                    <m:nary>
                      <m:naryPr>
                        <m:chr m:val="∑"/>
                        <m:ctrlPr>
                          <a:rPr lang="zh-CN" altLang="zh-CN" sz="2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2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[</m:t>
                            </m:r>
                            <m:sSubSup>
                              <m:sSubSup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</m:den>
                            </m:f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2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zh-CN" altLang="zh-CN" sz="22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2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sz="22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altLang="zh-CN" sz="22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  <m:r>
                                  <a:rPr lang="en-US" altLang="zh-CN" sz="22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altLang="zh-CN" sz="2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zh-CN" altLang="zh-CN" sz="22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)]=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  (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,⋯,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𝜑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取极小时，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的取值如下：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将上述两种情况统一为一个表达式，即有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				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func>
                      <m:func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fName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</m:e>
                    </m:func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,(</m:t>
                    </m:r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4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404664"/>
                <a:ext cx="10585176" cy="6166368"/>
              </a:xfrm>
              <a:prstGeom prst="rect">
                <a:avLst/>
              </a:prstGeom>
              <a:blipFill rotWithShape="1">
                <a:blip r:embed="rId1"/>
                <a:stretch>
                  <a:fillRect l="-1" t="-3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23392" y="790749"/>
                <a:ext cx="10945216" cy="4926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从而得不等式约束问题的乘子罚函数：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)+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𝑙</m:t>
                        </m:r>
                      </m:sup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{[</m:t>
                        </m:r>
                        <m:func>
                          <m:func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𝑚𝑎𝑥</m:t>
                            </m:r>
                          </m:fName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</m:e>
                        </m:func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zh-CN" altLang="en-US" sz="2400" i="1" kern="100">
                            <a:effectLst/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−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))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 kern="100">
                            <a:effectLst/>
                            <a:latin typeface="Cambria Math" panose="02040503050406030204" pitchFamily="18" charset="0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}</m:t>
                        </m:r>
                      </m:e>
                    </m:nary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因此，原问题即转化为求解乘子罚函数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𝛾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的无约束极小问题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在迭代过程中，与只有等式约束的问题类似，也是给定足够大的罚因子</a:t>
                </a:r>
                <a:r>
                  <a:rPr lang="en-US" altLang="zh-CN" sz="2400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M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，并给定不等式约束的拉格朗日乘子向量的初始估计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，然后通过修正第</a:t>
                </a:r>
                <a:r>
                  <a:rPr lang="en-US" altLang="zh-CN" sz="2400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次迭代中的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，得到第</a:t>
                </a:r>
                <a:r>
                  <a:rPr lang="en-US" altLang="zh-CN" sz="2400" i="1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+1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次迭代的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zh-CN" altLang="en-US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。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修正公式如下：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unc>
                      <m:func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𝑚𝑎𝑥</m:t>
                        </m:r>
                      </m:fName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</m:e>
                    </m:func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𝑀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      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,⋯,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    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	 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只有不等式约束问题的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乘子法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步骤与只有等式约束问题</a:t>
                </a: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的乘子法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相同。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790749"/>
                <a:ext cx="10945216" cy="4926029"/>
              </a:xfrm>
              <a:prstGeom prst="rect">
                <a:avLst/>
              </a:prstGeom>
              <a:blipFill rotWithShape="1">
                <a:blip r:embed="rId1"/>
                <a:stretch>
                  <a:fillRect l="-4" t="-4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1384" y="404664"/>
                <a:ext cx="11521280" cy="5927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b="1" kern="100" dirty="0"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例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用乘子法求解下列问题：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𝑓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    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0</m:t>
                      </m:r>
                    </m:oMath>
                  </m:oMathPara>
                </a14:m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zh-CN" altLang="en-US" sz="2400" b="1" kern="1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解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构造乘子罚函数，即有</a:t>
                </a:r>
                <a:endParaRPr lang="en-US" altLang="zh-CN" sz="24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𝜑</m:t>
                      </m:r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𝑚𝑎𝑥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𝑀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ea typeface="宋体" panose="02010600030101010101" pitchFamily="2" charset="-122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zh-CN" alt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0</m:t>
                                        </m:r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𝛾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𝑀</m:t>
                                        </m:r>
                                        <m:d>
                                          <m:dPr>
                                            <m:ctrlPr>
                                              <a:rPr lang="zh-CN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2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≤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ea typeface="宋体" panose="02010600030101010101" pitchFamily="2" charset="-12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𝜕𝜑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4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𝑀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𝜕𝜑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𝑀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404664"/>
                <a:ext cx="11521280" cy="5927648"/>
              </a:xfrm>
              <a:prstGeom prst="rect">
                <a:avLst/>
              </a:prstGeom>
              <a:blipFill rotWithShape="1">
                <a:blip r:embed="rId1"/>
                <a:stretch>
                  <a:fillRect l="-2" t="-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1384" y="332656"/>
                <a:ext cx="11161240" cy="5672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 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      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𝜕𝜑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𝜕𝜑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  <a:spcBef>
                    <a:spcPts val="2000"/>
                  </a:spcBef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的无约束极小点为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50000"/>
                  </a:lnSpc>
                  <a:spcBef>
                    <a:spcPts val="2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6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8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7</m:t>
                        </m:r>
                      </m:den>
                    </m:f>
                    <m:r>
                      <a:rPr lang="en-US" altLang="zh-CN" sz="24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 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5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8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                                                     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𝜑</m:t>
                      </m:r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𝜕𝜑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4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𝜕𝜑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=−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332656"/>
                <a:ext cx="11161240" cy="5672387"/>
              </a:xfrm>
              <a:prstGeom prst="rect">
                <a:avLst/>
              </a:prstGeom>
              <a:blipFill rotWithShape="1">
                <a:blip r:embed="rId1"/>
                <a:stretch>
                  <a:fillRect l="-2" t="-10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71364" y="-14655"/>
                <a:ext cx="11449272" cy="6944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令 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          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𝜕𝜑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𝜕𝜑</m:t>
                        </m:r>
                      </m:num>
                      <m:den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得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0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因该结果不满足原约束式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，故舍去。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假设给定罚因子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，拉格朗日乘子向量的初始估计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，根据前面计算结果，可得到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的无约束极小点为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23</m:t>
                              </m:r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23</m:t>
                              </m:r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再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由公式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修正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而得到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4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max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⁡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)]</m:t>
                    </m:r>
                  </m:oMath>
                </a14:m>
                <a:r>
                  <a:rPr lang="en-US" altLang="zh-CN" sz="2400" kern="1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≈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522</m:t>
                    </m:r>
                  </m:oMath>
                </a14:m>
                <a:endParaRPr lang="en-US" altLang="zh-CN" sz="2400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4" y="-14655"/>
                <a:ext cx="11449272" cy="6944978"/>
              </a:xfrm>
              <a:prstGeom prst="rect">
                <a:avLst/>
              </a:prstGeom>
              <a:blipFill rotWithShape="1">
                <a:blip r:embed="rId1"/>
                <a:stretch>
                  <a:fillRect l="-5" t="1" r="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1384" y="476672"/>
                <a:ext cx="10801200" cy="6126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    类似</a:t>
                </a: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可得到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的无约束极小点为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720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200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≈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682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𝜑</m:t>
                    </m:r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3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的无约束极小点：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741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235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  <a:spcAft>
                    <a:spcPts val="2000"/>
                  </a:spcAft>
                </a:pP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如此迭代下去，当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→∞</m:t>
                    </m:r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时，序列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收敛，得到原约束问题的最优结果：</a:t>
                </a:r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∗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75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𝑓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7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476672"/>
                <a:ext cx="10801200" cy="6126998"/>
              </a:xfrm>
              <a:prstGeom prst="rect">
                <a:avLst/>
              </a:prstGeom>
              <a:blipFill rotWithShape="1">
                <a:blip r:embed="rId1"/>
                <a:stretch>
                  <a:fillRect l="-2" t="-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35360" y="1317992"/>
                <a:ext cx="11377264" cy="333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55600"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对于既有等式约束又有不等式约束的问题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𝑚𝑖𝑛</m:t>
                          </m:r>
                        </m:fName>
                        <m:e>
                          <m: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MS Gothic" panose="020B0609070205080204" pitchFamily="49" charset="-128"/>
                              <a:cs typeface="MS Gothic" panose="020B0609070205080204" pitchFamily="49" charset="-128"/>
                            </a:rPr>
                            <m:t> </m:t>
                          </m:r>
                        </m:e>
                      </m:func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𝑠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     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MS Gothic" panose="020B0609070205080204" pitchFamily="49" charset="-128"/>
                              <a:cs typeface="MS Gothic" panose="020B0609070205080204" pitchFamily="49" charset="-128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0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 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𝑖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2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,⋯,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𝑚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br>
                  <a:rPr lang="en-US" altLang="zh-CN" sz="2400" i="1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</a:rPr>
                </a:br>
                <a:r>
                  <a:rPr lang="en-US" altLang="zh-CN" sz="2400" i="1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   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  (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𝑗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,⋯,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其乘子罚函数为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𝜑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𝜆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𝛾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𝑀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MS Gothic" panose="020B0609070205080204" pitchFamily="49" charset="-128"/>
                                  <a:cs typeface="MS Gothic" panose="020B0609070205080204" pitchFamily="49" charset="-128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</m:nary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MS Gothic" panose="020B0609070205080204" pitchFamily="49" charset="-128"/>
                                  <a:cs typeface="MS Gothic" panose="020B0609070205080204" pitchFamily="49" charset="-128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𝑙</m:t>
                          </m:r>
                        </m:sup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{[</m:t>
                          </m:r>
                          <m:func>
                            <m:func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𝑚𝑎𝑥</m:t>
                              </m:r>
                            </m:fName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m:t>−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𝑀</m:t>
                          </m:r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))</m:t>
                          </m:r>
                          <m:sSup>
                            <m:s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1317992"/>
                <a:ext cx="11377264" cy="3335144"/>
              </a:xfrm>
              <a:prstGeom prst="rect">
                <a:avLst/>
              </a:prstGeom>
              <a:blipFill rotWithShape="1">
                <a:blip r:embed="rId1"/>
                <a:stretch>
                  <a:fillRect l="-1" t="-1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23392" y="548680"/>
            <a:ext cx="819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二、同时含有等式约束与不等式约束的问题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23392" y="1340768"/>
                <a:ext cx="11017224" cy="341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在迭代过程中，与只有等式约束的问题类似，也是给定足够大的罚因子</a:t>
                </a:r>
                <a:r>
                  <a:rPr lang="en-US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，另外，还要给定等式约束的拉格朗日乘子向量的初始估计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和不等式约束的拉格朗日乘子向量的初始估计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，然后通过修正第</a:t>
                </a:r>
                <a:r>
                  <a:rPr lang="en-US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次迭代中的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，得到第</a:t>
                </a:r>
                <a:r>
                  <a:rPr lang="en-US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+1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次迭代中的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𝛾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𝑘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sup>
                    </m:sSup>
                    <m:r>
                      <a:rPr lang="zh-CN" altLang="en-US" sz="2400" i="1" kern="1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。</m:t>
                    </m:r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既有等式约束又有不等式约束问题的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乘子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法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算法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步骤与只有等式约束问题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的乘子法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相同</a:t>
                </a:r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340768"/>
                <a:ext cx="11017224" cy="3415294"/>
              </a:xfrm>
              <a:prstGeom prst="rect">
                <a:avLst/>
              </a:prstGeom>
              <a:blipFill rotWithShape="1">
                <a:blip r:embed="rId1"/>
                <a:stretch>
                  <a:fillRect l="-4" t="-8" r="4" b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3392" y="548680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三、小结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3392" y="1412776"/>
            <a:ext cx="1044116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乘子法是针对外点法的改进方法，由于外点法随着罚因子的增大，罚问题目标函数的海赛矩阵条件数会逐渐增大，从而导致在实际计算中，数值计算的稳定性也会变得越来越差，难以精确求解。乘子法在约束问题的拉格朗日函数中加入相应的惩罚，使得在求解无约束问题时，罚因子不必趋于无穷大就能求到约束问题的最优解，而且数值计算的稳定性也能得到很好的保证。</a:t>
            </a:r>
            <a:endParaRPr lang="zh-CN" altLang="en-US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35360" y="980728"/>
                <a:ext cx="11521280" cy="3518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1.</a:t>
                </a:r>
                <a:r>
                  <a:rPr lang="zh-CN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用乘子法求解下列问题：</a:t>
                </a:r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marL="228600"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indent="266700" algn="just"/>
                <a:r>
                  <a:rPr lang="zh-CN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的乘子罚函数为（）</a:t>
                </a:r>
                <a:endParaRPr lang="en-US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indent="266700" algn="just"/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fName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{[</m:t>
                    </m:r>
                    <m:func>
                      <m:func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𝑚𝑖𝑛</m:t>
                        </m:r>
                      </m:fName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fName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{[</m:t>
                    </m:r>
                    <m:func>
                      <m:func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fName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000" kern="100" dirty="0">
                    <a:effectLst/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fName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zh-CN" altLang="zh-CN" sz="20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fName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zh-CN" altLang="zh-CN" sz="2000" kern="100" dirty="0">
                  <a:effectLst/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980728"/>
                <a:ext cx="11521280" cy="3518079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35776" y="2636917"/>
            <a:ext cx="411226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交替方向乘子法</a:t>
            </a:r>
            <a:endParaRPr lang="zh-CN" altLang="en-US" sz="4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27701" y="1556792"/>
            <a:ext cx="9433048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400" kern="0" dirty="0">
                <a:solidFill>
                  <a:srgbClr val="64646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zh-CN" sz="2400" kern="0" dirty="0">
                <a:solidFill>
                  <a:srgbClr val="64646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交替方向乘子法</a:t>
            </a:r>
            <a:r>
              <a:rPr lang="zh-CN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Alternating Direction Method of Multipliers</a:t>
            </a:r>
            <a:r>
              <a:rPr lang="zh-CN" altLang="en-US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ADMM</a:t>
            </a:r>
            <a:r>
              <a:rPr lang="zh-CN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400" kern="0" dirty="0">
                <a:solidFill>
                  <a:srgbClr val="64646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设计于</a:t>
            </a:r>
            <a:r>
              <a:rPr lang="en-US" altLang="zh-CN" sz="2400" kern="0" dirty="0">
                <a:solidFill>
                  <a:srgbClr val="64646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1970</a:t>
            </a:r>
            <a:r>
              <a:rPr lang="zh-CN" altLang="en-US" sz="2400" kern="0" dirty="0">
                <a:solidFill>
                  <a:srgbClr val="64646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年代，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是一种求解具有可分离的凸优化问题的重要方法，由于处理速度快，收敛性能好，</a:t>
            </a:r>
            <a:r>
              <a:rPr lang="en-US" altLang="zh-CN" sz="2400" b="0" i="0" dirty="0">
                <a:solidFill>
                  <a:srgbClr val="4D4D4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ADMM</a:t>
            </a:r>
            <a:r>
              <a:rPr lang="zh-CN" altLang="en-US" sz="2400" b="0" i="0" dirty="0">
                <a:solidFill>
                  <a:srgbClr val="4D4D4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算法在统计学习、机器学习等领域有着广泛应用。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344" y="138128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一、</a:t>
            </a:r>
            <a:r>
              <a:rPr lang="zh-CN" altLang="en-US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问题模型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75310" y="908685"/>
                <a:ext cx="11353338" cy="4027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fontAlgn="auto">
                  <a:lnSpc>
                    <a:spcPct val="150000"/>
                  </a:lnSpc>
                  <a:spcBef>
                    <a:spcPts val="1600"/>
                  </a:spcBef>
                  <a:spcAft>
                    <a:spcPts val="1600"/>
                  </a:spcAft>
                </a:pPr>
                <a:r>
                  <a:rPr lang="en-US" altLang="zh-CN" sz="24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</a:t>
                </a:r>
                <a:r>
                  <a:rPr lang="zh-CN" altLang="zh-CN" sz="24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交替方向乘子法通常用于解决存在两个</a:t>
                </a:r>
                <a:r>
                  <a:rPr lang="zh-CN" altLang="en-US" sz="24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决策</a:t>
                </a:r>
                <a:r>
                  <a:rPr lang="zh-CN" altLang="zh-CN" sz="24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变量的只含等式约束的优化问题，其一般</a:t>
                </a:r>
                <a:r>
                  <a:rPr lang="zh-CN" altLang="en-US" sz="2400" kern="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形式为：</a:t>
                </a:r>
                <a:endParaRPr lang="zh-CN" altLang="en-US" sz="2400" kern="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 fontAlgn="auto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kern="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 kern="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 kern="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kern="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0" dirty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kern="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 fontAlgn="auto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  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𝐵𝑧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kern="100" dirty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CN" sz="2400" i="1" kern="10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 fontAlgn="auto">
                  <a:lnSpc>
                    <a:spcPct val="150000"/>
                  </a:lnSpc>
                  <a:spcBef>
                    <a:spcPts val="1600"/>
                  </a:spcBef>
                  <a:spcAft>
                    <a:spcPts val="1600"/>
                  </a:spcAft>
                </a:pPr>
                <a:r>
                  <a:rPr lang="zh-CN" altLang="zh-CN" sz="24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是决策变量，等式约束中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i="1" kern="100" dirty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2400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2400" kern="100" dirty="0"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都是凸函数。</a:t>
                </a:r>
                <a:endParaRPr lang="zh-CN" altLang="en-US" sz="2400" kern="10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" y="908685"/>
                <a:ext cx="11353338" cy="4027170"/>
              </a:xfrm>
              <a:prstGeom prst="rect">
                <a:avLst/>
              </a:prstGeom>
              <a:blipFill rotWithShape="1">
                <a:blip r:embed="rId1"/>
                <a:stretch>
                  <a:fillRect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75310" y="4945749"/>
            <a:ext cx="11665296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ts val="1680"/>
              </a:spcBef>
              <a:spcAft>
                <a:spcPts val="1680"/>
              </a:spcAft>
              <a:defRPr sz="2400" ker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/>
              <a:t>   </a:t>
            </a:r>
            <a:r>
              <a:rPr lang="zh-CN" altLang="en-US" b="1" dirty="0"/>
              <a:t>问题特点</a:t>
            </a:r>
            <a:r>
              <a:rPr lang="zh-CN" altLang="en-US" dirty="0"/>
              <a:t>：目标函数可以分成彼此分离的两块，但是变量被线性约束结合在一起．常见的一些无约束和带约束的优化问题都可以表示成这一形式。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67408" y="332656"/>
                <a:ext cx="11258550" cy="6016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kern="100" dirty="0"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问题形式举例</a:t>
                </a:r>
                <a:endParaRPr lang="zh-CN" altLang="zh-CN" sz="2400" kern="100" dirty="0">
                  <a:solidFill>
                    <a:schemeClr val="accent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auto">
                  <a:lnSpc>
                    <a:spcPct val="120000"/>
                  </a:lnSpc>
                </a:pP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fontAlgn="auto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可以分成两块的无约束优化问题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引入一个新的变量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，并令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，将问题转化为：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marL="342900" indent="-342900" fontAlgn="auto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带线性变换的无约束优化问题：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引入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一个新的变量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，则问题变为：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 fontAlgn="auto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332656"/>
                <a:ext cx="11258550" cy="6016647"/>
              </a:xfrm>
              <a:prstGeom prst="rect">
                <a:avLst/>
              </a:prstGeom>
              <a:blipFill rotWithShape="1">
                <a:blip r:embed="rId1"/>
                <a:stretch>
                  <a:fillRect l="-3" t="-9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344" y="138128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ADMM</a:t>
            </a:r>
            <a:r>
              <a:rPr lang="zh-CN" altLang="en-US" sz="32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算法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78911" y="2204864"/>
                <a:ext cx="11096625" cy="4422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3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交替方向乘子法的基本思路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: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乘子法里同时对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进行优化有时候比较困难，而固定一个变量求解关于另一个变量的极小化问题可能比较简单，因此考虑对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交替求极小。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fontAlgn="auto">
                  <a:lnSpc>
                    <a:spcPct val="13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其迭代格式为：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        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𝜏𝜌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为步长，通常取值于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。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11" y="2204864"/>
                <a:ext cx="11096625" cy="4422140"/>
              </a:xfrm>
              <a:prstGeom prst="rect">
                <a:avLst/>
              </a:prstGeom>
              <a:blipFill rotWithShape="1">
                <a:blip r:embed="rId1"/>
                <a:stretch>
                  <a:fillRect l="-4" t="-3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77215" y="981075"/>
                <a:ext cx="11080750" cy="1085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增广拉格朗日函数：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𝐵𝑧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15" y="981075"/>
                <a:ext cx="11080750" cy="10852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1815" y="908685"/>
                <a:ext cx="11206480" cy="2341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停止条件（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时）：检查当前两个残差是否充分小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 主残差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    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对偶残差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 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15" y="908685"/>
                <a:ext cx="11206480" cy="2341218"/>
              </a:xfrm>
              <a:prstGeom prst="rect">
                <a:avLst/>
              </a:prstGeom>
              <a:blipFill rotWithShape="1">
                <a:blip r:embed="rId1"/>
                <a:stretch>
                  <a:fillRect b="-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08927" y="548680"/>
                <a:ext cx="11574145" cy="4996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 有时为简化形式，令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，增广拉格朗日函数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𝜌𝜔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𝐵𝑧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𝜌𝜔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𝐴𝑥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𝐵𝑧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𝜌𝜔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𝐵𝑧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𝐵𝑧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𝜌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𝐵𝑧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即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𝐵𝑧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上面这个式子被称为是</a:t>
                </a:r>
                <a:r>
                  <a: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ADMM</a:t>
                </a:r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的缩放形式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7" y="548680"/>
                <a:ext cx="11574145" cy="4996240"/>
              </a:xfrm>
              <a:prstGeom prst="rect">
                <a:avLst/>
              </a:prstGeom>
              <a:blipFill rotWithShape="1">
                <a:blip r:embed="rId1"/>
                <a:stretch>
                  <a:fillRect l="-3" t="-1" r="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02285" y="981075"/>
                <a:ext cx="11186795" cy="4874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相应地，更新步骤变为：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𝐴𝑥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𝐵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        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𝐵𝑧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𝑠𝑡𝑒𝑝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    </m:t>
                      </m:r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 fontAlgn="auto">
                  <a:lnSpc>
                    <a:spcPct val="150000"/>
                  </a:lnSpc>
                </a:pP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 fontAlgn="auto">
                  <a:lnSpc>
                    <a:spcPct val="150000"/>
                  </a:lnSpc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注意到，此时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𝜏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𝐵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。即第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次迭代的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等于其初值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加上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倍的约束条件残差的累加和。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85" y="981075"/>
                <a:ext cx="11186795" cy="4874219"/>
              </a:xfrm>
              <a:prstGeom prst="rect">
                <a:avLst/>
              </a:prstGeom>
              <a:blipFill rotWithShape="1">
                <a:blip r:embed="rId1"/>
                <a:stretch>
                  <a:fillRect b="-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1497" y="980728"/>
                <a:ext cx="11089005" cy="5502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 考虑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Lasso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问题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重写为：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构造增广拉格朗日函数：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97" y="980728"/>
                <a:ext cx="11089005" cy="5502147"/>
              </a:xfrm>
              <a:prstGeom prst="rect">
                <a:avLst/>
              </a:prstGeom>
              <a:blipFill rotWithShape="1">
                <a:blip r:embed="rId1"/>
                <a:stretch>
                  <a:fillRect l="-3" t="-5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35360" y="272627"/>
            <a:ext cx="6094428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三、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ADMM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求解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Lasso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51815" y="405130"/>
                <a:ext cx="11178540" cy="306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更新步骤：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首先求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的更新值。由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可导，直接令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，有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15" y="405130"/>
                <a:ext cx="11178540" cy="30613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79425" y="405130"/>
                <a:ext cx="11079480" cy="4747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libri" panose="020F0502020204030204" pitchFamily="34" charset="0"/>
                  </a:rPr>
                  <a:t>然后求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的更新值。</a:t>
                </a:r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𝑎𝑟𝑔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𝑧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𝜆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             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f>
                                    <m:f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  <a:cs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den>
                                          </m:f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</m:t>
                    </m:r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最后一步用到软阈值公式，可参考文献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[1]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3.7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节。</a:t>
                </a:r>
                <a:endParaRPr lang="zh-CN" altLang="en-US" sz="2400" u="sng" dirty="0">
                  <a:latin typeface="宋体" panose="02010600030101010101" pitchFamily="2" charset="-122"/>
                  <a:ea typeface="宋体" panose="02010600030101010101" pitchFamily="2" charset="-122"/>
                  <a:cs typeface="Calibri" panose="020F050202020403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5" y="405130"/>
                <a:ext cx="11079480" cy="4747646"/>
              </a:xfrm>
              <a:prstGeom prst="rect">
                <a:avLst/>
              </a:prstGeom>
              <a:blipFill rotWithShape="1">
                <a:blip r:embed="rId1"/>
                <a:stretch>
                  <a:fillRect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07368" y="692696"/>
                <a:ext cx="11079480" cy="320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   综上，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Lasso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问题总的更新策略为：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                       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cs typeface="Cambria Math" panose="02040503050406030204" pitchFamily="18" charset="0"/>
                    <a:sym typeface="+mn-ea"/>
                  </a:rPr>
                  <a:t>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𝑝𝑟𝑜𝑥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                  </m:t>
                    </m:r>
                  </m:oMath>
                </a14:m>
                <a:endPara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              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ea typeface="宋体" panose="02010600030101010101" pitchFamily="2" charset="-122"/>
                    <a:cs typeface="Cambria Math" panose="02040503050406030204" pitchFamily="18" charset="0"/>
                  </a:rPr>
                  <a:t>此处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𝜏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取为</m:t>
                    </m:r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。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692696"/>
                <a:ext cx="11079480" cy="3201902"/>
              </a:xfrm>
              <a:prstGeom prst="rect">
                <a:avLst/>
              </a:prstGeom>
              <a:blipFill rotWithShape="1">
                <a:blip r:embed="rId1"/>
                <a:stretch>
                  <a:fillRect l="-3" t="-17" r="3" b="-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86422" y="1420533"/>
                <a:ext cx="11019155" cy="4016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考虑矩阵分离问题：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分别表示矩阵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范数和核范数。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      增广拉格朗日函数为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22" y="1420533"/>
                <a:ext cx="11019155" cy="4016933"/>
              </a:xfrm>
              <a:prstGeom prst="rect">
                <a:avLst/>
              </a:prstGeom>
              <a:blipFill rotWithShape="1">
                <a:blip r:embed="rId1"/>
                <a:stretch>
                  <a:fillRect l="-3" t="-1" r="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51384" y="404664"/>
            <a:ext cx="6094428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ADMM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求解矩阵分离问题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27990" y="621030"/>
                <a:ext cx="11335385" cy="5213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 对于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子问题，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                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                   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𝜌</m:t>
                                      </m:r>
                                    </m:den>
                                  </m:f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MS Mincho" panose="02020609040205080304" charset="-128"/>
                                              <a:cs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𝑈𝐷𝑖𝑎𝑔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𝑝𝑟𝑜𝑥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𝜌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∙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5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的所有非零奇异值构成的向量且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𝑈𝐷𝑖𝑎𝑔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的约化奇异值分解。</a:t>
                </a:r>
                <a:endParaRPr lang="zh-CN" altLang="en-US" sz="24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90" y="621030"/>
                <a:ext cx="11335385" cy="5213543"/>
              </a:xfrm>
              <a:prstGeom prst="rect">
                <a:avLst/>
              </a:prstGeom>
              <a:blipFill rotWithShape="1">
                <a:blip r:embed="rId1"/>
                <a:stretch>
                  <a:fillRect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78497" y="404664"/>
                <a:ext cx="10835005" cy="5426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  对于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子问题：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                    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𝜇</m:t>
                                  </m:r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𝜌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  <a:ea typeface="MS Mincho" panose="02020609040205080304" charset="-128"/>
                                                  <a:cs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                     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𝑝𝑟𝑜𝑥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∙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Cambria Math" panose="02040503050406030204" pitchFamily="18" charset="0"/>
                  </a:rPr>
                  <a:t>那么交替方向乘子法的迭代格式为：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𝑈𝐷𝑖𝑎𝑔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𝑝𝑟𝑜𝑥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𝜌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Cambria Math" panose="02040503050406030204" pitchFamily="18" charset="0"/>
                                        </a:rPr>
                                        <m:t>∙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𝑝𝑟𝑜𝑥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∙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𝜏𝜌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       </m:t>
                      </m:r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97" y="404664"/>
                <a:ext cx="10835005" cy="5426294"/>
              </a:xfrm>
              <a:prstGeom prst="rect">
                <a:avLst/>
              </a:prstGeom>
              <a:blipFill rotWithShape="1">
                <a:blip r:embed="rId1"/>
                <a:stretch>
                  <a:fillRect l="-3" t="-3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15480" y="6093296"/>
                <a:ext cx="7776864" cy="494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注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en-US" altLang="zh-CN" sz="2400" dirty="0">
                    <a:ea typeface="宋体" panose="02010600030101010101" pitchFamily="2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𝑝𝑟𝑜𝑥</m:t>
                        </m:r>
                      </m:e>
                      <m: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r>
                  <a:rPr lang="en-US" altLang="zh-CN" sz="2400" dirty="0">
                    <a:ea typeface="宋体" panose="02010600030101010101" pitchFamily="2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𝑝𝑟𝑜𝑥</m:t>
                        </m:r>
                      </m:e>
                      <m: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的定义见参考文献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[2]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6093296"/>
                <a:ext cx="7776864" cy="494559"/>
              </a:xfrm>
              <a:prstGeom prst="rect">
                <a:avLst/>
              </a:prstGeom>
              <a:blipFill rotWithShape="1">
                <a:blip r:embed="rId2"/>
                <a:stretch>
                  <a:fillRect l="-1" t="-95" r="1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3392" y="548680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五、小结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67408" y="1496299"/>
                <a:ext cx="10441160" cy="3613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kern="0" dirty="0">
                    <a:solidFill>
                      <a:srgbClr val="646464"/>
                    </a:solidFill>
                    <a:effectLst/>
                    <a:ea typeface="宋体" panose="02010600030101010101" pitchFamily="2" charset="-122"/>
                    <a:cs typeface="宋体" panose="02010600030101010101" pitchFamily="2" charset="-122"/>
                  </a:rPr>
                  <a:t>交替方向乘子法</a:t>
                </a:r>
                <a:r>
                  <a:rPr lang="zh-CN" altLang="zh-CN" sz="2400" kern="0" dirty="0">
                    <a:solidFill>
                      <a:srgbClr val="646464"/>
                    </a:solidFill>
                    <a:effectLst/>
                    <a:ea typeface="宋体" panose="02010600030101010101" pitchFamily="2" charset="-122"/>
                    <a:cs typeface="宋体" panose="02010600030101010101" pitchFamily="2" charset="-122"/>
                  </a:rPr>
                  <a:t>被广泛地应用在信号处理、图像处理、机器学习、工程计算等各个领域中，具有收敛速度快，收敛性能好的优势。</a:t>
                </a:r>
                <a:r>
                  <a:rPr lang="en-US" altLang="zh-CN" sz="2400" dirty="0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endParaRPr lang="en-US" altLang="zh-CN" sz="2400" dirty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可以推广到多块变量的情形</a:t>
                </a:r>
                <a:endParaRPr lang="en-US" altLang="zh-CN" sz="2400" dirty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i="1" dirty="0">
                  <a:solidFill>
                    <a:srgbClr val="333333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   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收敛性分析与更多的应用举例请参阅文献</a:t>
                </a:r>
                <a:r>
                  <a:rPr lang="en-US" altLang="zh-CN" sz="2400" dirty="0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[1]</a:t>
                </a:r>
                <a:r>
                  <a:rPr lang="zh-CN" altLang="en-US" sz="2400" dirty="0">
                    <a:solidFill>
                      <a:srgbClr val="333333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2400" dirty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496299"/>
                <a:ext cx="10441160" cy="3613150"/>
              </a:xfrm>
              <a:prstGeom prst="rect">
                <a:avLst/>
              </a:prstGeom>
              <a:blipFill rotWithShape="1">
                <a:blip r:embed="rId1"/>
                <a:stretch>
                  <a:fillRect l="-3" t="-7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4336232" y="4951089"/>
            <a:ext cx="144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3117032" y="4798689"/>
            <a:ext cx="1981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23392" y="1124744"/>
            <a:ext cx="10673715" cy="224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参考文献：</a:t>
            </a:r>
            <a:endParaRPr lang="en-US" altLang="zh-CN" sz="24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[1] </a:t>
            </a:r>
            <a:r>
              <a:rPr sz="2400" dirty="0">
                <a:sym typeface="+mn-ea"/>
              </a:rPr>
              <a:t>刘浩洋, 户将, 李勇锋，文再文，最优化：建模、算法与理论, 高</a:t>
            </a:r>
            <a:r>
              <a:rPr lang="zh-CN" altLang="en-US" sz="2400" dirty="0">
                <a:sym typeface="+mn-ea"/>
              </a:rPr>
              <a:t>等教育</a:t>
            </a:r>
            <a:r>
              <a:rPr sz="2400" dirty="0">
                <a:sym typeface="+mn-ea"/>
              </a:rPr>
              <a:t>出</a:t>
            </a:r>
            <a:endParaRPr lang="en-US" sz="2400" dirty="0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sym typeface="+mn-ea"/>
              </a:rPr>
              <a:t>       </a:t>
            </a:r>
            <a:r>
              <a:rPr sz="2400">
                <a:sym typeface="+mn-ea"/>
              </a:rPr>
              <a:t>版社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sz="2400" dirty="0">
                <a:sym typeface="+mn-ea"/>
              </a:rPr>
              <a:t>2020.</a:t>
            </a:r>
            <a:r>
              <a:rPr sz="2400" dirty="0">
                <a:sym typeface="+mn-ea"/>
              </a:rPr>
              <a:t> </a:t>
            </a:r>
            <a:endParaRPr sz="2400" dirty="0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[2] </a:t>
            </a:r>
            <a:r>
              <a:rPr sz="2400" dirty="0"/>
              <a:t>R. T. Rockafellar, Convex Analysis, Princeton University Press, 1970.</a:t>
            </a:r>
            <a:endParaRPr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k4YzFjZjIwYTQ3NTc4OWE3YjkyODNmODA1ZTVkMzEifQ==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13216</Words>
  <Application>WPS 演示</Application>
  <PresentationFormat>宽屏</PresentationFormat>
  <Paragraphs>367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Calibri Light</vt:lpstr>
      <vt:lpstr>黑体</vt:lpstr>
      <vt:lpstr>Cambria Math</vt:lpstr>
      <vt:lpstr>Times New Roman</vt:lpstr>
      <vt:lpstr>MS Gothic</vt:lpstr>
      <vt:lpstr>等线</vt:lpstr>
      <vt:lpstr>微软雅黑</vt:lpstr>
      <vt:lpstr>Arial Unicode MS</vt:lpstr>
      <vt:lpstr>等线 Light</vt:lpstr>
      <vt:lpstr>MS Mincho</vt:lpstr>
      <vt:lpstr>Yu Gothic UI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9.4 罚函数法</dc:title>
  <dc:creator>fujitsu</dc:creator>
  <cp:lastModifiedBy>小威</cp:lastModifiedBy>
  <cp:revision>78</cp:revision>
  <dcterms:created xsi:type="dcterms:W3CDTF">2007-12-01T23:15:00Z</dcterms:created>
  <dcterms:modified xsi:type="dcterms:W3CDTF">2025-12-06T10:42:07Z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E3B8C67231A34502976981482F178EE6_12</vt:lpwstr>
  </property>
  <property fmtid="{D5CDD505-2E9C-101B-9397-08002B2CF9AE}" pid="3" name="KSOProductBuildVer">
    <vt:lpwstr>2052-12.1.0.16120</vt:lpwstr>
  </property>
</Properties>
</file>