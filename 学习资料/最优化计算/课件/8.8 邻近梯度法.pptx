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466" r:id="rId2"/>
    <p:sldId id="487" r:id="rId3"/>
    <p:sldId id="473" r:id="rId4"/>
    <p:sldId id="501" r:id="rId5"/>
    <p:sldId id="504" r:id="rId6"/>
    <p:sldId id="484" r:id="rId7"/>
    <p:sldId id="300" r:id="rId8"/>
    <p:sldId id="480" r:id="rId9"/>
    <p:sldId id="469" r:id="rId10"/>
    <p:sldId id="470" r:id="rId11"/>
    <p:sldId id="500" r:id="rId12"/>
    <p:sldId id="505" r:id="rId13"/>
    <p:sldId id="502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5" autoAdjust="0"/>
  </p:normalViewPr>
  <p:slideViewPr>
    <p:cSldViewPr>
      <p:cViewPr varScale="1">
        <p:scale>
          <a:sx n="83" d="100"/>
          <a:sy n="83" d="100"/>
        </p:scale>
        <p:origin x="1327" y="69"/>
      </p:cViewPr>
      <p:guideLst>
        <p:guide orient="horz" pos="2170"/>
        <p:guide pos="2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9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/>
            </a:lvl1pPr>
          </a:lstStyle>
          <a:p>
            <a:fld id="{66D95784-E4C4-4937-932D-BD4D115224D5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/>
            </a:lvl1pPr>
          </a:lstStyle>
          <a:p>
            <a:fld id="{7FD04178-4544-4300-8252-62E52417C35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31726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69903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81432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58494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356510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963365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98973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2802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453712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36236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274834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3CD96-7739-4FBC-AF7E-9719B4DA3556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08FE1-0269-4DF7-963E-4D966F117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52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91198" y="2726829"/>
            <a:ext cx="230063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3300" b="1" dirty="0"/>
              <a:t>邻近梯度法</a:t>
            </a:r>
            <a:endParaRPr lang="zh-CN" altLang="en-US" sz="3300" b="1" dirty="0"/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CBA4CE-586A-2641-C7DF-1BEF948C3617}"/>
                  </a:ext>
                </a:extLst>
              </p:cNvPr>
              <p:cNvSpPr txBox="1"/>
              <p:nvPr/>
            </p:nvSpPr>
            <p:spPr>
              <a:xfrm>
                <a:off x="683568" y="1034735"/>
                <a:ext cx="7632848" cy="4341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00050"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一个凸函数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的邻近映射（或者邻近算子）表示如下：</a:t>
                </a:r>
              </a:p>
              <a:p>
                <a:pPr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𝑝𝑟𝑜𝑥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直观理解：求解一个距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不太远的点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，并使函数值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也相对较小。</a:t>
                </a: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为闭凸函数，则对任意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存在且唯一。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CBA4CE-586A-2641-C7DF-1BEF948C3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034735"/>
                <a:ext cx="7632848" cy="4341125"/>
              </a:xfrm>
              <a:prstGeom prst="rect">
                <a:avLst/>
              </a:prstGeom>
              <a:blipFill>
                <a:blip r:embed="rId2"/>
                <a:stretch>
                  <a:fillRect l="-1198" r="-5351" b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FA2130A-B997-E90E-9690-24CADDA0ADEF}"/>
              </a:ext>
            </a:extLst>
          </p:cNvPr>
          <p:cNvSpPr txBox="1"/>
          <p:nvPr/>
        </p:nvSpPr>
        <p:spPr>
          <a:xfrm>
            <a:off x="179512" y="332656"/>
            <a:ext cx="5689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zh-CN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一、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邻近算子</a:t>
            </a: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5449" y="188640"/>
            <a:ext cx="5154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zh-CN" altLang="en-US" sz="2400" kern="100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zh-CN" sz="2400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58829" y="580288"/>
                <a:ext cx="8826341" cy="5960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fontAlgn="auto">
                  <a:lnSpc>
                    <a:spcPct val="150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考虑</a:t>
                </a:r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无约束最优化问题</a:t>
                </a: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𝑚𝑖𝑛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: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: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是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连续可微函数。</a:t>
                </a:r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梯度法是解决该问题的最简单的方法之一，可以通过如下方式产生序列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2400" i="1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𝛻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是一个适当的步长。另一方面，梯度法的迭代过程可以等价地写成</a:t>
                </a: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, 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𝛻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9" y="580288"/>
                <a:ext cx="8826341" cy="5960093"/>
              </a:xfrm>
              <a:prstGeom prst="rect">
                <a:avLst/>
              </a:prstGeom>
              <a:blipFill>
                <a:blip r:embed="rId2"/>
                <a:stretch>
                  <a:fillRect l="-1036" r="-1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34077" y="764704"/>
                <a:ext cx="8675846" cy="5112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fontAlgn="auto">
                  <a:lnSpc>
                    <a:spcPct val="150000"/>
                  </a:lnSpc>
                </a:pP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考虑目标函数可以分为两个部分的无约束优化问题：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 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000" i="1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000" dirty="0">
                    <a:ea typeface="宋体" panose="02010600030101010101" pitchFamily="2" charset="-122"/>
                    <a:cs typeface="Cambria Math" panose="02040503050406030204" charset="0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是凸的，可微的，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𝑑𝑜𝑚𝑓</m:t>
                    </m:r>
                    <m:r>
                      <a:rPr lang="en-US" altLang="zh-CN" sz="20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；</m:t>
                    </m:r>
                    <m:r>
                      <a:rPr lang="en-US" altLang="zh-CN" sz="20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h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是闭的，凸的，不要求可微，但</a:t>
                </a:r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邻近算子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容易计算。</a:t>
                </a:r>
                <a:endParaRPr lang="zh-CN" altLang="en-US" sz="2000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采用相同的基本梯度思路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, </m:t>
                                  </m:r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𝛻</m:t>
                                  </m:r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  <a:p>
                <a:pPr fontAlgn="auto">
                  <a:lnSpc>
                    <a:spcPct val="13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在消去常数项之后，该步骤可以重写为</a:t>
                </a:r>
              </a:p>
              <a:p>
                <a:pPr fontAlgn="auto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charset="0"/>
                                          <a:ea typeface="宋体" panose="02010600030101010101" pitchFamily="2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a:rPr lang="en-US" altLang="zh-CN" sz="2000" i="1">
                                              <a:latin typeface="Cambria Math" panose="02040503050406030204" charset="0"/>
                                              <a:ea typeface="宋体" panose="02010600030101010101" pitchFamily="2" charset="-122"/>
                                              <a:cs typeface="Cambria Math" panose="02040503050406030204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latin typeface="Cambria Math" panose="02040503050406030204" charset="0"/>
                                                  <a:ea typeface="宋体" panose="02010600030101010101" pitchFamily="2" charset="-122"/>
                                                  <a:cs typeface="Cambria Math" panose="0204050305040603020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charset="0"/>
                                                  <a:ea typeface="宋体" panose="02010600030101010101" pitchFamily="2" charset="-122"/>
                                                  <a:cs typeface="Cambria Math" panose="02040503050406030204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000" i="1">
                                              <a:latin typeface="Cambria Math" panose="02040503050406030204" charset="0"/>
                                              <a:ea typeface="宋体" panose="02010600030101010101" pitchFamily="2" charset="-122"/>
                                              <a:cs typeface="Cambria Math" panose="02040503050406030204" charset="0"/>
                                            </a:rPr>
                                            <m:t>𝛻</m:t>
                                          </m:r>
                                          <m:r>
                                            <a:rPr lang="en-US" altLang="zh-CN" sz="2000" i="1">
                                              <a:latin typeface="Cambria Math" panose="02040503050406030204" charset="0"/>
                                              <a:ea typeface="宋体" panose="02010600030101010101" pitchFamily="2" charset="-122"/>
                                              <a:cs typeface="Cambria Math" panose="02040503050406030204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zh-CN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zh-CN" alt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alt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ea typeface="宋体" panose="02010600030101010101" pitchFamily="2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7" y="764704"/>
                <a:ext cx="8675846" cy="5112618"/>
              </a:xfrm>
              <a:prstGeom prst="rect">
                <a:avLst/>
              </a:prstGeom>
              <a:blipFill>
                <a:blip r:embed="rId2"/>
                <a:stretch>
                  <a:fillRect l="-702" r="-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34077" y="1196752"/>
                <a:ext cx="8675846" cy="4206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00050"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结合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邻近</a:t>
                </a:r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算子的定义</a:t>
                </a: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00050" algn="just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  </a:t>
                </a: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上式可写为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𝑝𝑟𝑜𝑥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𝛻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这就是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邻近梯度算法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是步长，它可以是常数也可以由线搜索来确定。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7" y="1196752"/>
                <a:ext cx="8675846" cy="4206664"/>
              </a:xfrm>
              <a:prstGeom prst="rect">
                <a:avLst/>
              </a:prstGeom>
              <a:blipFill>
                <a:blip r:embed="rId2"/>
                <a:stretch>
                  <a:fillRect l="-1053" r="-1053" b="-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4758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0747" y="764704"/>
                <a:ext cx="8622506" cy="4994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 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accent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加速邻近梯度法</a:t>
                </a:r>
              </a:p>
              <a:p>
                <a:pPr algn="just"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选择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𝑑𝑜𝑚h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</a:rPr>
                  <a:t>并且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𝑝𝑟𝑜𝑥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𝛻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ea typeface="宋体" panose="02010600030101010101" pitchFamily="2" charset="-122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ea typeface="宋体" panose="02010600030101010101" pitchFamily="2" charset="-122"/>
                                        <a:cs typeface="Cambria Math" panose="02040503050406030204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+2</m:t>
                        </m:r>
                      </m:den>
                    </m:f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可以是常数也可以由线搜索来确定。</a:t>
                </a: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加速邻近梯度法每步迭代的复杂度和基础的邻近梯度法一样。</a:t>
                </a: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该方法又称为含外推的邻近梯度法（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FISTA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charset="0"/>
                    <a:sym typeface="+mn-ea"/>
                  </a:rPr>
                  <a:t>）。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7" y="764704"/>
                <a:ext cx="8622506" cy="4994252"/>
              </a:xfrm>
              <a:prstGeom prst="rect">
                <a:avLst/>
              </a:prstGeom>
              <a:blipFill>
                <a:blip r:embed="rId2"/>
                <a:stretch>
                  <a:fillRect l="-1132" r="-4526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BC2ED0-2621-42DD-671F-5FE415662B0E}"/>
              </a:ext>
            </a:extLst>
          </p:cNvPr>
          <p:cNvSpPr txBox="1"/>
          <p:nvPr/>
        </p:nvSpPr>
        <p:spPr>
          <a:xfrm>
            <a:off x="395536" y="188640"/>
            <a:ext cx="5154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zh-CN" altLang="en-US" sz="2400" kern="100" dirty="0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例子</a:t>
            </a:r>
            <a:endParaRPr lang="zh-CN" altLang="zh-CN" sz="2400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EDF39A-7CAB-DEB9-CA19-021F4A82071B}"/>
                  </a:ext>
                </a:extLst>
              </p:cNvPr>
              <p:cNvSpPr txBox="1"/>
              <p:nvPr/>
            </p:nvSpPr>
            <p:spPr>
              <a:xfrm>
                <a:off x="611560" y="890718"/>
                <a:ext cx="7722858" cy="5488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b="1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问题描述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𝐴𝑥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为非负的正则化参数，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50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维的测量值，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50×100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维的测量矩阵，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100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维的未知稀疏向量且稀疏度为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50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维的测量噪声。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b="1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实验数据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42900" algn="l"/>
                  </a:tabLst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中的非零元素服从均值为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方差为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的高斯分布。</a:t>
                </a: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42900" algn="l"/>
                  </a:tabLst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中的元素服从均值为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方差为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的高斯分布。</a:t>
                </a: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42900" algn="l"/>
                  </a:tabLst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中的元素服从均值为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方差为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0.1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的高斯分布。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EDF39A-7CAB-DEB9-CA19-021F4A820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890718"/>
                <a:ext cx="7722858" cy="5488490"/>
              </a:xfrm>
              <a:prstGeom prst="rect">
                <a:avLst/>
              </a:prstGeom>
              <a:blipFill>
                <a:blip r:embed="rId2"/>
                <a:stretch>
                  <a:fillRect l="-1184" r="-1263" b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FA63587-6F07-6310-CC1E-D4336D947DCC}"/>
                  </a:ext>
                </a:extLst>
              </p:cNvPr>
              <p:cNvSpPr txBox="1"/>
              <p:nvPr/>
            </p:nvSpPr>
            <p:spPr>
              <a:xfrm>
                <a:off x="683568" y="692696"/>
                <a:ext cx="7920880" cy="4862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en-US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Lasso</a:t>
                </a:r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𝐴𝑥</m:t>
                                  </m:r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zh-CN" sz="20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邻近梯度法迭代过程：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0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zh-CN" sz="2000" i="1" kern="1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000" i="1" kern="10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zh-CN" altLang="zh-CN" sz="2000" i="1" kern="10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sz="2000" i="1" kern="100">
                                                      <a:latin typeface="Cambria Math" panose="02040503050406030204" pitchFamily="18" charset="0"/>
                                                      <a:ea typeface="宋体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altLang="zh-CN" sz="2000" i="1" kern="100">
                                                      <a:latin typeface="Cambria Math" panose="02040503050406030204" pitchFamily="18" charset="0"/>
                                                      <a:ea typeface="宋体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a:rPr lang="en-US" altLang="zh-CN" sz="2000" i="1" kern="10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000" i="1" kern="10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𝛻</m:t>
                                          </m:r>
                                          <m:r>
                                            <a:rPr lang="en-US" altLang="zh-CN" sz="2000" i="1" kern="10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zh-CN" altLang="zh-CN" sz="2000" i="1" kern="10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000" i="1" kern="10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000" i="1" kern="100">
                                                      <a:latin typeface="Cambria Math" panose="02040503050406030204" pitchFamily="18" charset="0"/>
                                                      <a:ea typeface="宋体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zh-CN" altLang="zh-CN" sz="2000" i="1" kern="10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CN" sz="2000" i="1" kern="100">
                                                          <a:latin typeface="Cambria Math" panose="02040503050406030204" pitchFamily="18" charset="0"/>
                                                          <a:ea typeface="宋体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altLang="zh-CN" sz="2000" i="1" kern="100">
                                                          <a:latin typeface="Cambria Math" panose="02040503050406030204" pitchFamily="18" charset="0"/>
                                                          <a:ea typeface="宋体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   =</m:t>
                      </m:r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𝑝𝑟𝑜𝑥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 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0    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&lt;−</m:t>
                              </m:r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zh-CN" altLang="zh-CN" sz="20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0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altLang="zh-CN" sz="20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zh-CN" altLang="zh-CN" sz="20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zh-CN" sz="20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zh-CN" sz="20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FA63587-6F07-6310-CC1E-D4336D94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692696"/>
                <a:ext cx="7920880" cy="4862741"/>
              </a:xfrm>
              <a:prstGeom prst="rect">
                <a:avLst/>
              </a:prstGeom>
              <a:blipFill>
                <a:blip r:embed="rId2"/>
                <a:stretch>
                  <a:fillRect l="-770" b="-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29562" y="1430778"/>
            <a:ext cx="774763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b="1" i="1" kern="0" dirty="0">
                <a:solidFill>
                  <a:schemeClr val="accent5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%% </a:t>
            </a:r>
            <a:r>
              <a:rPr lang="zh-CN" altLang="zh-CN" sz="2000" b="1" i="1" kern="0" dirty="0">
                <a:solidFill>
                  <a:schemeClr val="accent5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生成数据</a:t>
            </a:r>
            <a:endParaRPr lang="zh-CN" altLang="zh-CN" sz="2000" b="1" kern="100" dirty="0">
              <a:solidFill>
                <a:schemeClr val="accent5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lambda =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sparseness =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 = random(</a:t>
            </a:r>
            <a:r>
              <a:rPr lang="en-US" altLang="zh-CN" sz="2000" kern="0" dirty="0">
                <a:solidFill>
                  <a:srgbClr val="F1403C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'Normal'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生成均值为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，方差为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50*100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 = random(</a:t>
            </a:r>
            <a:r>
              <a:rPr lang="en-US" altLang="zh-CN" sz="2000" kern="0" dirty="0">
                <a:solidFill>
                  <a:srgbClr val="F1403C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'Normal'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生成均值为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，方差为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50*1</a:t>
            </a:r>
            <a:r>
              <a:rPr lang="zh-CN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=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zeros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 </a:t>
            </a:r>
            <a:r>
              <a:rPr lang="en-US" altLang="zh-CN" sz="2000" i="1" kern="0" dirty="0">
                <a:solidFill>
                  <a:srgbClr val="9999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%X = sparse(100,1)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index =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fix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rand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,sparseness) 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 err="1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2000" kern="0" dirty="0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:sparseness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x(index(</a:t>
            </a:r>
            <a:r>
              <a:rPr lang="en-US" altLang="zh-CN" sz="2000" kern="0" dirty="0" err="1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= </a:t>
            </a:r>
            <a:r>
              <a:rPr lang="en-US" altLang="zh-CN" sz="2000" kern="0" dirty="0" err="1">
                <a:solidFill>
                  <a:srgbClr val="056DE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randn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342900" algn="l"/>
                <a:tab pos="436245" algn="l"/>
                <a:tab pos="872490" algn="l"/>
                <a:tab pos="1308735" algn="l"/>
                <a:tab pos="1744980" algn="l"/>
                <a:tab pos="2181225" algn="l"/>
                <a:tab pos="2617470" algn="l"/>
                <a:tab pos="3053715" algn="l"/>
                <a:tab pos="3489960" algn="l"/>
                <a:tab pos="3926205" algn="l"/>
                <a:tab pos="4362450" algn="l"/>
                <a:tab pos="4798695" algn="l"/>
                <a:tab pos="5234940" algn="l"/>
                <a:tab pos="5671185" algn="l"/>
                <a:tab pos="6107430" algn="l"/>
                <a:tab pos="6543675" algn="l"/>
                <a:tab pos="6979920" algn="l"/>
              </a:tabLst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 = A</a:t>
            </a: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*x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e;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3170" y="1131376"/>
            <a:ext cx="7957661" cy="4659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b="1" kern="0" dirty="0">
                <a:solidFill>
                  <a:schemeClr val="accent5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%% 邻近点梯度法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 = 0.001;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xsize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size(x);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xk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zeros(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xsize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X_dis2real = [ ];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count = 1;</a:t>
            </a: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1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fr-FR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xk = xk - t*A'*(A*xk-b);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xk_new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= sign(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xk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).*max(abs(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xk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)-t*lambda,0);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3568" y="1316883"/>
            <a:ext cx="805053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2000" dirty="0">
                <a:sym typeface="+mn-ea"/>
              </a:rPr>
              <a:t>        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X_dis2real = [X_dis2real norm(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xk_new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- x)];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count = count + 1;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if norm(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xk_new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 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xk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 &lt; 1e-5 || count==3000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Xk = 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xk_new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break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else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Xk = </a:t>
            </a:r>
            <a:r>
              <a:rPr lang="en-US" altLang="zh-CN" sz="2000" kern="0" dirty="0" err="1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xk_new</a:t>
            </a: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end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end</a:t>
            </a:r>
            <a:endParaRPr lang="en-US" altLang="zh-CN" sz="2000" b="1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plot(X_dis2real,'LineWidth',1);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title('Distance');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kern="0" dirty="0">
                <a:solidFill>
                  <a:srgbClr val="121212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legend('distance to real', 'distance to opt');</a:t>
            </a:r>
            <a:endParaRPr lang="en-US" altLang="zh-CN" sz="2000" kern="0" dirty="0">
              <a:solidFill>
                <a:srgbClr val="121212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343DDA-E84E-BBBA-1A3E-BF97D04E2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77" y="1052736"/>
            <a:ext cx="7616845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69781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1972592"/>
            <a:ext cx="8157210" cy="332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于无约束凸优化问题，当目标函数可微时，可以采用梯度下降法求解；当目标函数不可微时，可以采用次梯度下降法求解；当目标函数中同时包含可微项与不可微项时，常采用邻近梯度下降法求解。上述三种梯度算法均属于离线批处理类型算法，在大规模的数据问题中，每次迭代都需要计算整个数据集梯度，因而需要较大的计算代价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存储空间。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5D0823-6B2C-DD6D-058B-F11956D2B951}"/>
              </a:ext>
            </a:extLst>
          </p:cNvPr>
          <p:cNvSpPr txBox="1"/>
          <p:nvPr/>
        </p:nvSpPr>
        <p:spPr>
          <a:xfrm>
            <a:off x="467544" y="1316233"/>
            <a:ext cx="5154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四、小结</a:t>
            </a: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604192"/>
      </p:ext>
    </p:extLst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RiZTljODZjNDMwNjU0MGFkZWEwZmE5ZmUxYjNmMzM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821</Words>
  <Application>Microsoft Office PowerPoint</Application>
  <PresentationFormat>全屏显示(4:3)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黑体</vt:lpstr>
      <vt:lpstr>宋体</vt:lpstr>
      <vt:lpstr>Arial</vt:lpstr>
      <vt:lpstr>Calibri</vt:lpstr>
      <vt:lpstr>Calibri Light</vt:lpstr>
      <vt:lpstr>Cambria Math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j2mv9-jyyq6-jm44k-qmyth-8rb2w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工程优化设计中的数学方法  硕士研究生课程</dc:title>
  <dc:creator>user</dc:creator>
  <cp:lastModifiedBy>le han</cp:lastModifiedBy>
  <cp:revision>425</cp:revision>
  <cp:lastPrinted>2013-10-29T09:29:00Z</cp:lastPrinted>
  <dcterms:created xsi:type="dcterms:W3CDTF">2006-08-18T03:57:00Z</dcterms:created>
  <dcterms:modified xsi:type="dcterms:W3CDTF">2024-11-13T05:52:24Z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87DEE007A96849BABE21DC2F6D4FCBEF</vt:lpwstr>
  </property>
  <property fmtid="{D5CDD505-2E9C-101B-9397-08002B2CF9AE}" pid="3" name="KSOProductBuildVer">
    <vt:lpwstr>2052-11.1.0.12156</vt:lpwstr>
  </property>
</Properties>
</file>