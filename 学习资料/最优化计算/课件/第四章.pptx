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343" r:id="rId2"/>
    <p:sldId id="257" r:id="rId3"/>
    <p:sldId id="276" r:id="rId4"/>
    <p:sldId id="297" r:id="rId5"/>
    <p:sldId id="299" r:id="rId6"/>
    <p:sldId id="262" r:id="rId7"/>
    <p:sldId id="264" r:id="rId8"/>
    <p:sldId id="265" r:id="rId9"/>
    <p:sldId id="266" r:id="rId10"/>
    <p:sldId id="290" r:id="rId11"/>
    <p:sldId id="269" r:id="rId12"/>
    <p:sldId id="270" r:id="rId13"/>
    <p:sldId id="344" r:id="rId14"/>
    <p:sldId id="468" r:id="rId15"/>
    <p:sldId id="469" r:id="rId16"/>
    <p:sldId id="275" r:id="rId17"/>
    <p:sldId id="471" r:id="rId18"/>
    <p:sldId id="277" r:id="rId19"/>
    <p:sldId id="340" r:id="rId20"/>
    <p:sldId id="337" r:id="rId21"/>
    <p:sldId id="338" r:id="rId22"/>
    <p:sldId id="341" r:id="rId23"/>
    <p:sldId id="320" r:id="rId24"/>
    <p:sldId id="321" r:id="rId25"/>
    <p:sldId id="322" r:id="rId26"/>
    <p:sldId id="323" r:id="rId27"/>
    <p:sldId id="324" r:id="rId28"/>
    <p:sldId id="354" r:id="rId29"/>
    <p:sldId id="325" r:id="rId30"/>
    <p:sldId id="326" r:id="rId31"/>
    <p:sldId id="470" r:id="rId32"/>
    <p:sldId id="473" r:id="rId33"/>
    <p:sldId id="474" r:id="rId34"/>
    <p:sldId id="475" r:id="rId35"/>
    <p:sldId id="476" r:id="rId36"/>
    <p:sldId id="350" r:id="rId37"/>
    <p:sldId id="477" r:id="rId38"/>
    <p:sldId id="478" r:id="rId39"/>
    <p:sldId id="293" r:id="rId40"/>
    <p:sldId id="294" r:id="rId41"/>
    <p:sldId id="292"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14" autoAdjust="0"/>
    <p:restoredTop sz="94660"/>
  </p:normalViewPr>
  <p:slideViewPr>
    <p:cSldViewPr snapToGrid="0">
      <p:cViewPr varScale="1">
        <p:scale>
          <a:sx n="86" d="100"/>
          <a:sy n="86" d="100"/>
        </p:scale>
        <p:origin x="20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376562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2234930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2722339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600050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6599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14358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225994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140412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2717985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2519386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4236701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a:extLst>
              <a:ext uri="{FF2B5EF4-FFF2-40B4-BE49-F238E27FC236}">
                <a16:creationId xmlns:a16="http://schemas.microsoft.com/office/drawing/2014/main" id="{3049E3DB-BBAA-41C6-8A64-1D2A7EE0F39B}"/>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6DCC9D4-1A79-4966-A45E-0DE13F7B98A4}"/>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DFEF7AA-AB55-4B70-8192-8C8E4831A9C1}"/>
              </a:ext>
            </a:extLst>
          </p:cNvPr>
          <p:cNvSpPr>
            <a:spLocks noGrp="1" noChangeArrowheads="1"/>
          </p:cNvSpPr>
          <p:nvPr>
            <p:ph type="sldNum" sz="quarter" idx="12"/>
          </p:nvPr>
        </p:nvSpPr>
        <p:spPr/>
        <p:txBody>
          <a:bodyPr/>
          <a:lstStyle>
            <a:lvl1pPr>
              <a:defRPr smtClean="0"/>
            </a:lvl1pPr>
          </a:lstStyle>
          <a:p>
            <a:pPr>
              <a:defRPr/>
            </a:pPr>
            <a:fld id="{A23B3EF2-85D9-455D-876C-EB1B9DC4DE14}" type="slidenum">
              <a:rPr lang="en-US" altLang="zh-CN"/>
              <a:pPr>
                <a:defRPr/>
              </a:pPr>
              <a:t>‹#›</a:t>
            </a:fld>
            <a:endParaRPr lang="en-US" altLang="zh-CN"/>
          </a:p>
        </p:txBody>
      </p:sp>
    </p:spTree>
    <p:extLst>
      <p:ext uri="{BB962C8B-B14F-4D97-AF65-F5344CB8AC3E}">
        <p14:creationId xmlns:p14="http://schemas.microsoft.com/office/powerpoint/2010/main" val="465789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16A2EE-29C2-4245-8EF4-E9CB7BDC56B9}" type="datetimeFigureOut">
              <a:rPr lang="zh-CN" altLang="en-US" smtClean="0"/>
              <a:t>2025/10/27</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F38F0B-3272-4C68-9C22-581B984BB2C4}" type="slidenum">
              <a:rPr lang="zh-CN" altLang="en-US" smtClean="0"/>
              <a:t>‹#›</a:t>
            </a:fld>
            <a:endParaRPr lang="zh-CN" altLang="en-US"/>
          </a:p>
        </p:txBody>
      </p:sp>
    </p:spTree>
    <p:extLst>
      <p:ext uri="{BB962C8B-B14F-4D97-AF65-F5344CB8AC3E}">
        <p14:creationId xmlns:p14="http://schemas.microsoft.com/office/powerpoint/2010/main" val="36859851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213.png"/></Relationships>
</file>

<file path=ppt/slides/_rels/slide1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0.png"/><Relationship Id="rId1" Type="http://schemas.openxmlformats.org/officeDocument/2006/relationships/slideLayout" Target="../slideLayouts/slideLayout12.xml"/><Relationship Id="rId4" Type="http://schemas.openxmlformats.org/officeDocument/2006/relationships/image" Target="../media/image112.png"/></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30.png"/></Relationships>
</file>

<file path=ppt/slides/_rels/slide19.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2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230.png"/></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250.png"/></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27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1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1.png"/><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00.png"/><Relationship Id="rId1" Type="http://schemas.openxmlformats.org/officeDocument/2006/relationships/slideLayout" Target="../slideLayouts/slideLayout12.xml"/><Relationship Id="rId4" Type="http://schemas.openxmlformats.org/officeDocument/2006/relationships/image" Target="../media/image120.png"/></Relationships>
</file>

<file path=ppt/slides/_rels/slide3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31.png"/><Relationship Id="rId1" Type="http://schemas.openxmlformats.org/officeDocument/2006/relationships/slideLayout" Target="../slideLayouts/slideLayout12.xml"/><Relationship Id="rId5" Type="http://schemas.openxmlformats.org/officeDocument/2006/relationships/image" Target="../media/image161.png"/><Relationship Id="rId4" Type="http://schemas.openxmlformats.org/officeDocument/2006/relationships/image" Target="../media/image151.png"/></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21.emf"/><Relationship Id="rId1" Type="http://schemas.openxmlformats.org/officeDocument/2006/relationships/slideLayout" Target="../slideLayouts/slideLayout12.xml"/><Relationship Id="rId6" Type="http://schemas.openxmlformats.org/officeDocument/2006/relationships/oleObject" Target="../embeddings/oleObject5.bin"/><Relationship Id="rId5" Type="http://schemas.openxmlformats.org/officeDocument/2006/relationships/image" Target="../media/image191.png"/><Relationship Id="rId4" Type="http://schemas.openxmlformats.org/officeDocument/2006/relationships/image" Target="../media/image181.png"/></Relationships>
</file>

<file path=ppt/slides/_rels/slide38.xml.rels><?xml version="1.0" encoding="UTF-8" standalone="yes"?>
<Relationships xmlns="http://schemas.openxmlformats.org/package/2006/relationships"><Relationship Id="rId3" Type="http://schemas.openxmlformats.org/officeDocument/2006/relationships/image" Target="../media/image201.png"/><Relationship Id="rId1" Type="http://schemas.openxmlformats.org/officeDocument/2006/relationships/slideLayout" Target="../slideLayouts/slideLayout12.xml"/><Relationship Id="rId6" Type="http://schemas.openxmlformats.org/officeDocument/2006/relationships/image" Target="../media/image212.png"/><Relationship Id="rId5" Type="http://schemas.openxmlformats.org/officeDocument/2006/relationships/image" Target="../media/image22.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5" Type="http://schemas.openxmlformats.org/officeDocument/2006/relationships/image" Target="../media/image240.png"/></Relationships>
</file>

<file path=ppt/slides/_rels/slide40.xml.rels><?xml version="1.0" encoding="UTF-8" standalone="yes"?>
<Relationships xmlns="http://schemas.openxmlformats.org/package/2006/relationships"><Relationship Id="rId3" Type="http://schemas.openxmlformats.org/officeDocument/2006/relationships/image" Target="../media/image24.emf"/><Relationship Id="rId7" Type="http://schemas.openxmlformats.org/officeDocument/2006/relationships/image" Target="../media/image22.emf"/><Relationship Id="rId2" Type="http://schemas.openxmlformats.org/officeDocument/2006/relationships/package" Target="../embeddings/Microsoft_Word_Document1.docx"/><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60.png"/></Relationships>
</file>

<file path=ppt/slides/_rels/slide4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package" Target="../embeddings/Microsoft_Word_Document2.docx"/><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96FF9A5-88E3-47F8-A3FB-4CBC5E65ACC8}"/>
              </a:ext>
            </a:extLst>
          </p:cNvPr>
          <p:cNvSpPr>
            <a:spLocks noGrp="1" noChangeArrowheads="1"/>
          </p:cNvSpPr>
          <p:nvPr>
            <p:ph type="ctrTitle"/>
          </p:nvPr>
        </p:nvSpPr>
        <p:spPr>
          <a:xfrm>
            <a:off x="2209800" y="2485025"/>
            <a:ext cx="7772400" cy="866775"/>
          </a:xfrm>
        </p:spPr>
        <p:txBody>
          <a:bodyPr/>
          <a:lstStyle/>
          <a:p>
            <a:pPr eaLnBrk="1" hangingPunct="1"/>
            <a:r>
              <a:rPr lang="zh-CN" altLang="en-US" sz="3600" dirty="0">
                <a:latin typeface="黑体" panose="02010609060101010101" pitchFamily="49" charset="-122"/>
                <a:ea typeface="黑体" panose="02010609060101010101" pitchFamily="49" charset="-122"/>
              </a:rPr>
              <a:t>第四章 灵敏度分析和参数线性规划</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F799992-C382-D092-CFEB-88B73AF60B67}"/>
                  </a:ext>
                </a:extLst>
              </p:cNvPr>
              <p:cNvSpPr txBox="1"/>
              <p:nvPr/>
            </p:nvSpPr>
            <p:spPr>
              <a:xfrm>
                <a:off x="875270" y="875881"/>
                <a:ext cx="10441460" cy="3346237"/>
              </a:xfrm>
              <a:prstGeom prst="rect">
                <a:avLst/>
              </a:prstGeom>
              <a:noFill/>
            </p:spPr>
            <p:txBody>
              <a:bodyPr wrap="square">
                <a:spAutoFit/>
              </a:bodyPr>
              <a:lstStyle/>
              <a:p>
                <a:pPr indent="608400" algn="just">
                  <a:lnSpc>
                    <a:spcPct val="150000"/>
                  </a:lnSpc>
                </a:pPr>
                <a:r>
                  <a:rPr lang="zh-CN" altLang="zh-CN" sz="2400" dirty="0">
                    <a:effectLst/>
                    <a:latin typeface="Times New Roman" panose="02020603050405020304" pitchFamily="18" charset="0"/>
                    <a:ea typeface="宋体" panose="02010600030101010101" pitchFamily="2" charset="-122"/>
                  </a:rPr>
                  <a:t>在前面讲述的线性规划问题中，我们都假定问题中的</a:t>
                </a:r>
                <a14:m>
                  <m:oMath xmlns:m="http://schemas.openxmlformats.org/officeDocument/2006/math">
                    <m:r>
                      <a:rPr lang="en-US" altLang="zh-CN" sz="2400" i="1" dirty="0" smtClean="0">
                        <a:effectLst/>
                        <a:latin typeface="Cambria Math" panose="02040503050406030204" pitchFamily="18" charset="0"/>
                        <a:ea typeface="宋体" panose="02010600030101010101" pitchFamily="2" charset="-122"/>
                      </a:rPr>
                      <m:t>𝐴</m:t>
                    </m:r>
                    <m:r>
                      <a:rPr lang="zh-CN" altLang="en-US" sz="2400" i="1" dirty="0">
                        <a:effectLst/>
                        <a:latin typeface="Cambria Math" panose="02040503050406030204" pitchFamily="18" charset="0"/>
                        <a:ea typeface="宋体" panose="02010600030101010101" pitchFamily="2" charset="-122"/>
                      </a:rPr>
                      <m:t>、</m:t>
                    </m:r>
                    <m:r>
                      <a:rPr lang="en-US" altLang="zh-CN" sz="2400" i="1" dirty="0">
                        <a:effectLst/>
                        <a:latin typeface="Cambria Math" panose="02040503050406030204" pitchFamily="18" charset="0"/>
                        <a:ea typeface="宋体" panose="02010600030101010101" pitchFamily="2" charset="-122"/>
                      </a:rPr>
                      <m:t>𝑏</m:t>
                    </m:r>
                    <m:r>
                      <a:rPr lang="zh-CN" altLang="en-US" sz="2400" i="1" dirty="0">
                        <a:effectLst/>
                        <a:latin typeface="Cambria Math" panose="02040503050406030204" pitchFamily="18" charset="0"/>
                        <a:ea typeface="宋体" panose="02010600030101010101" pitchFamily="2" charset="-122"/>
                      </a:rPr>
                      <m:t>、</m:t>
                    </m:r>
                    <m:r>
                      <a:rPr lang="en-US" altLang="zh-CN" sz="2400" i="1" dirty="0">
                        <a:effectLst/>
                        <a:latin typeface="Cambria Math" panose="02040503050406030204" pitchFamily="18" charset="0"/>
                        <a:ea typeface="宋体" panose="02010600030101010101" pitchFamily="2" charset="-122"/>
                      </a:rPr>
                      <m:t>𝑐</m:t>
                    </m:r>
                  </m:oMath>
                </a14:m>
                <a:r>
                  <a:rPr lang="zh-CN" altLang="zh-CN" sz="2400" dirty="0">
                    <a:effectLst/>
                    <a:latin typeface="Times New Roman" panose="02020603050405020304" pitchFamily="18" charset="0"/>
                    <a:ea typeface="宋体" panose="02010600030101010101" pitchFamily="2" charset="-122"/>
                  </a:rPr>
                  <a:t>是已知常数</a:t>
                </a:r>
                <a:r>
                  <a:rPr lang="zh-CN" altLang="en-US" sz="2400" dirty="0">
                    <a:latin typeface="Times New Roman" panose="02020603050405020304" pitchFamily="18" charset="0"/>
                    <a:ea typeface="宋体" panose="02010600030101010101" pitchFamily="2" charset="-122"/>
                    <a:cs typeface="Courier New" panose="02070309020205020404" pitchFamily="49" charset="0"/>
                  </a:rPr>
                  <a:t>。</a:t>
                </a:r>
                <a:r>
                  <a:rPr lang="zh-CN" altLang="zh-CN" sz="2400" dirty="0">
                    <a:effectLst/>
                    <a:latin typeface="Times New Roman" panose="02020603050405020304" pitchFamily="18" charset="0"/>
                    <a:ea typeface="宋体" panose="02010600030101010101" pitchFamily="2" charset="-122"/>
                  </a:rPr>
                  <a:t>但实际上这些数据有的是统计数据、有的是预测数字、有的是专家评估得到的数据，它们并非绝对精确</a:t>
                </a:r>
                <a:r>
                  <a:rPr lang="zh-CN" altLang="en-US" sz="2400" dirty="0">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也不是绝对不变的</a:t>
                </a:r>
                <a:r>
                  <a:rPr lang="zh-CN" altLang="en-US" sz="2400" dirty="0">
                    <a:effectLst/>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因此就会提出以下问题：</a:t>
                </a:r>
                <a:r>
                  <a:rPr lang="zh-CN" altLang="zh-CN" sz="2400" dirty="0">
                    <a:solidFill>
                      <a:srgbClr val="FF0000"/>
                    </a:solidFill>
                    <a:effectLst/>
                    <a:latin typeface="Times New Roman" panose="02020603050405020304" pitchFamily="18" charset="0"/>
                    <a:ea typeface="宋体" panose="02010600030101010101" pitchFamily="2" charset="-122"/>
                  </a:rPr>
                  <a:t>当这些参数中的一个或几个发生变化时，问题的最优解会有什么变化，或者，这些参数在一个多大范围内变化时，问题的最优解不变</a:t>
                </a:r>
                <a:r>
                  <a:rPr lang="zh-CN" altLang="en-US" sz="2400" dirty="0">
                    <a:solidFill>
                      <a:srgbClr val="FF0000"/>
                    </a:solidFill>
                    <a:effectLst/>
                    <a:latin typeface="Times New Roman" panose="02020603050405020304" pitchFamily="18" charset="0"/>
                    <a:ea typeface="宋体" panose="02010600030101010101" pitchFamily="2" charset="-122"/>
                  </a:rPr>
                  <a:t>。</a:t>
                </a:r>
                <a:r>
                  <a:rPr lang="zh-CN" altLang="zh-CN" sz="2400" dirty="0">
                    <a:solidFill>
                      <a:srgbClr val="FF0000"/>
                    </a:solidFill>
                    <a:effectLst/>
                    <a:latin typeface="Times New Roman" panose="02020603050405020304" pitchFamily="18" charset="0"/>
                    <a:ea typeface="宋体" panose="02010600030101010101" pitchFamily="2" charset="-122"/>
                  </a:rPr>
                  <a:t>这就是灵敏度分析要研究解决的问题</a:t>
                </a:r>
                <a:r>
                  <a:rPr lang="zh-CN" altLang="en-US" sz="2400" dirty="0">
                    <a:solidFill>
                      <a:srgbClr val="FF0000"/>
                    </a:solidFill>
                    <a:effectLst/>
                    <a:latin typeface="Times New Roman" panose="02020603050405020304" pitchFamily="18" charset="0"/>
                    <a:ea typeface="宋体" panose="02010600030101010101" pitchFamily="2" charset="-122"/>
                  </a:rPr>
                  <a:t>。</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5" name="文本框 4">
                <a:extLst>
                  <a:ext uri="{FF2B5EF4-FFF2-40B4-BE49-F238E27FC236}">
                    <a16:creationId xmlns:a16="http://schemas.microsoft.com/office/drawing/2014/main" id="{2F799992-C382-D092-CFEB-88B73AF60B67}"/>
                  </a:ext>
                </a:extLst>
              </p:cNvPr>
              <p:cNvSpPr txBox="1">
                <a:spLocks noRot="1" noChangeAspect="1" noMove="1" noResize="1" noEditPoints="1" noAdjustHandles="1" noChangeArrowheads="1" noChangeShapeType="1" noTextEdit="1"/>
              </p:cNvSpPr>
              <p:nvPr/>
            </p:nvSpPr>
            <p:spPr>
              <a:xfrm>
                <a:off x="875270" y="875881"/>
                <a:ext cx="10441460" cy="3346237"/>
              </a:xfrm>
              <a:prstGeom prst="rect">
                <a:avLst/>
              </a:prstGeom>
              <a:blipFill>
                <a:blip r:embed="rId2"/>
                <a:stretch>
                  <a:fillRect l="-935" r="-935" b="-2732"/>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A69728-F82D-CFD9-7EDB-5B5939E6E77B}"/>
                  </a:ext>
                </a:extLst>
              </p:cNvPr>
              <p:cNvSpPr txBox="1"/>
              <p:nvPr/>
            </p:nvSpPr>
            <p:spPr>
              <a:xfrm>
                <a:off x="856735" y="301605"/>
                <a:ext cx="10478530" cy="6254789"/>
              </a:xfrm>
              <a:prstGeom prst="rect">
                <a:avLst/>
              </a:prstGeom>
              <a:noFill/>
            </p:spPr>
            <p:txBody>
              <a:bodyPr wrap="square">
                <a:spAutoFit/>
              </a:bodyPr>
              <a:lstStyle/>
              <a:p>
                <a:pPr indent="609600">
                  <a:lnSpc>
                    <a:spcPct val="150000"/>
                  </a:lnSpc>
                  <a:spcBef>
                    <a:spcPts val="600"/>
                  </a:spcBef>
                  <a:spcAft>
                    <a:spcPts val="600"/>
                  </a:spcAft>
                </a:pPr>
                <a:r>
                  <a:rPr lang="zh-CN" altLang="en-US" sz="2400" b="1" dirty="0">
                    <a:solidFill>
                      <a:schemeClr val="accent1"/>
                    </a:solidFill>
                    <a:effectLst/>
                    <a:latin typeface="Times New Roman" panose="02020603050405020304" pitchFamily="18" charset="0"/>
                    <a:ea typeface="SimSun" panose="02010600030101010101" pitchFamily="2" charset="-122"/>
                  </a:rPr>
                  <a:t>灵敏度分析的</a:t>
                </a:r>
                <a:r>
                  <a:rPr lang="zh-CN" sz="2400" b="1" dirty="0">
                    <a:solidFill>
                      <a:schemeClr val="accent1"/>
                    </a:solidFill>
                    <a:effectLst/>
                    <a:latin typeface="Times New Roman" panose="02020603050405020304" pitchFamily="18" charset="0"/>
                    <a:ea typeface="SimSun" panose="02010600030101010101" pitchFamily="2" charset="-122"/>
                  </a:rPr>
                  <a:t>目的</a:t>
                </a:r>
                <a:endParaRPr lang="en-CN" sz="2400" b="1" dirty="0">
                  <a:solidFill>
                    <a:schemeClr val="accent1"/>
                  </a:solidFill>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en-US" altLang="zh-CN" sz="2400" dirty="0">
                    <a:effectLst/>
                    <a:latin typeface="Times New Roman" panose="02020603050405020304" pitchFamily="18" charset="0"/>
                    <a:ea typeface="SimSun" panose="02010600030101010101" pitchFamily="2" charset="-122"/>
                  </a:rPr>
                  <a:t>           </a:t>
                </a:r>
                <a:r>
                  <a:rPr lang="zh-CN" sz="2400" dirty="0">
                    <a:effectLst/>
                    <a:latin typeface="Times New Roman" panose="02020603050405020304" pitchFamily="18" charset="0"/>
                    <a:ea typeface="SimSun" panose="02010600030101010101" pitchFamily="2" charset="-122"/>
                  </a:rPr>
                  <a:t>分析</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𝑏</m:t>
                        </m:r>
                      </m:e>
                      <m:sub>
                        <m:r>
                          <a:rPr lang="en-US" sz="2400" i="1">
                            <a:effectLst/>
                            <a:latin typeface="Cambria Math" panose="02040503050406030204" pitchFamily="18" charset="0"/>
                            <a:ea typeface="SimSun" panose="02010600030101010101" pitchFamily="2" charset="-122"/>
                          </a:rPr>
                          <m:t>𝑖</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𝑗</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𝑎</m:t>
                        </m:r>
                      </m:e>
                      <m:sub>
                        <m:r>
                          <a:rPr lang="en-US" sz="2400" i="1">
                            <a:effectLst/>
                            <a:latin typeface="Cambria Math" panose="02040503050406030204" pitchFamily="18" charset="0"/>
                            <a:ea typeface="SimSun" panose="02010600030101010101" pitchFamily="2" charset="-122"/>
                          </a:rPr>
                          <m:t>𝑖𝑗</m:t>
                        </m:r>
                      </m:sub>
                    </m:sSub>
                  </m:oMath>
                </a14:m>
                <a:r>
                  <a:rPr lang="zh-CN" sz="2400" dirty="0">
                    <a:effectLst/>
                    <a:latin typeface="Times New Roman" panose="02020603050405020304" pitchFamily="18" charset="0"/>
                    <a:ea typeface="SimSun" panose="02010600030101010101" pitchFamily="2" charset="-122"/>
                  </a:rPr>
                  <a:t>变化对最优解的影响。</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altLang="en-US" sz="2400" b="1" dirty="0">
                    <a:solidFill>
                      <a:schemeClr val="accent1"/>
                    </a:solidFill>
                    <a:effectLst/>
                    <a:latin typeface="Times New Roman" panose="02020603050405020304" pitchFamily="18" charset="0"/>
                    <a:ea typeface="SimSun" panose="02010600030101010101" pitchFamily="2" charset="-122"/>
                  </a:rPr>
                  <a:t>灵敏度分析的</a:t>
                </a:r>
                <a:r>
                  <a:rPr lang="zh-CN" sz="2400" b="1" dirty="0">
                    <a:solidFill>
                      <a:schemeClr val="accent1"/>
                    </a:solidFill>
                    <a:effectLst/>
                    <a:latin typeface="Times New Roman" panose="02020603050405020304" pitchFamily="18" charset="0"/>
                    <a:ea typeface="SimSun" panose="02010600030101010101" pitchFamily="2" charset="-122"/>
                  </a:rPr>
                  <a:t>工具</a:t>
                </a:r>
                <a:endParaRPr lang="en-CN" sz="2400" b="1" dirty="0">
                  <a:solidFill>
                    <a:schemeClr val="accent1"/>
                  </a:solidFill>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en-US" altLang="zh-CN" sz="2400" dirty="0">
                    <a:effectLst/>
                    <a:latin typeface="Times New Roman" panose="02020603050405020304" pitchFamily="18" charset="0"/>
                    <a:ea typeface="SimSun" panose="02010600030101010101" pitchFamily="2" charset="-122"/>
                  </a:rPr>
                  <a:t>           </a:t>
                </a:r>
                <a:r>
                  <a:rPr lang="zh-CN" sz="2400" dirty="0">
                    <a:effectLst/>
                    <a:latin typeface="Times New Roman" panose="02020603050405020304" pitchFamily="18" charset="0"/>
                    <a:ea typeface="SimSun" panose="02010600030101010101" pitchFamily="2" charset="-122"/>
                  </a:rPr>
                  <a:t>最优性条件</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𝑁</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𝑁</m:t>
                          </m:r>
                        </m:sub>
                      </m:sSub>
                      <m:sSup>
                        <m:sSupPr>
                          <m:ctrlPr>
                            <a:rPr lang="en-CN" sz="2400" i="1">
                              <a:effectLst/>
                              <a:latin typeface="Cambria Math" panose="02040503050406030204" pitchFamily="18" charset="0"/>
                              <a:ea typeface="SimSun" panose="02010600030101010101" pitchFamily="2" charset="-122"/>
                            </a:rPr>
                          </m:ctrlPr>
                        </m:sSupPr>
                        <m:e>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𝑐</m:t>
                              </m:r>
                            </m:e>
                            <m:sub>
                              <m:r>
                                <a:rPr lang="en-US" altLang="zh-CN" sz="2400" i="1">
                                  <a:latin typeface="Cambria Math" panose="02040503050406030204" pitchFamily="18" charset="0"/>
                                  <a:ea typeface="SimSun" panose="02010600030101010101" pitchFamily="2" charset="-122"/>
                                </a:rPr>
                                <m:t>𝐵</m:t>
                              </m:r>
                            </m:sub>
                          </m:sSub>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𝑁</m:t>
                      </m:r>
                      <m:r>
                        <a:rPr lang="en-US" sz="2400" i="1">
                          <a:effectLst/>
                          <a:latin typeface="Cambria Math" panose="02040503050406030204" pitchFamily="18" charset="0"/>
                          <a:ea typeface="SimSun" panose="02010600030101010101" pitchFamily="2" charset="-122"/>
                        </a:rPr>
                        <m:t>≥0</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en-US" altLang="zh-CN" sz="2400" dirty="0">
                    <a:effectLst/>
                    <a:latin typeface="Times New Roman" panose="02020603050405020304" pitchFamily="18" charset="0"/>
                    <a:ea typeface="SimSun" panose="02010600030101010101" pitchFamily="2" charset="-122"/>
                  </a:rPr>
                  <a:t>           </a:t>
                </a:r>
                <a:r>
                  <a:rPr lang="zh-CN" sz="2400" dirty="0">
                    <a:effectLst/>
                    <a:latin typeface="Times New Roman" panose="02020603050405020304" pitchFamily="18" charset="0"/>
                    <a:ea typeface="SimSun" panose="02010600030101010101" pitchFamily="2" charset="-122"/>
                  </a:rPr>
                  <a:t>或</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𝑗</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𝑗</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𝐴</m:t>
                          </m:r>
                        </m:e>
                        <m:sub>
                          <m:r>
                            <a:rPr lang="en-US" sz="2400" i="1">
                              <a:effectLst/>
                              <a:latin typeface="Cambria Math" panose="02040503050406030204" pitchFamily="18" charset="0"/>
                              <a:ea typeface="SimSun" panose="02010600030101010101" pitchFamily="2" charset="-122"/>
                            </a:rPr>
                            <m:t>𝑗</m:t>
                          </m:r>
                        </m:sub>
                      </m:sSub>
                      <m:r>
                        <a:rPr lang="en-US" sz="2400" i="1">
                          <a:effectLst/>
                          <a:latin typeface="Cambria Math" panose="02040503050406030204" pitchFamily="18" charset="0"/>
                          <a:ea typeface="SimSun" panose="02010600030101010101" pitchFamily="2" charset="-122"/>
                        </a:rPr>
                        <m:t>≥0,</m:t>
                      </m:r>
                      <m:r>
                        <a:rPr lang="en-US" sz="2400" i="1">
                          <a:effectLst/>
                          <a:latin typeface="Cambria Math" panose="02040503050406030204" pitchFamily="18" charset="0"/>
                          <a:ea typeface="SimSun" panose="02010600030101010101" pitchFamily="2" charset="-122"/>
                        </a:rPr>
                        <m:t>𝑗</m:t>
                      </m:r>
                      <m:r>
                        <a:rPr lang="en-US" sz="2400" i="1">
                          <a:effectLst/>
                          <a:latin typeface="Cambria Math" panose="02040503050406030204" pitchFamily="18" charset="0"/>
                          <a:ea typeface="SimSun" panose="02010600030101010101" pitchFamily="2" charset="-122"/>
                        </a:rPr>
                        <m:t>=1,2,⋯,</m:t>
                      </m:r>
                      <m:r>
                        <a:rPr lang="en-US" sz="2400" i="1">
                          <a:effectLst/>
                          <a:latin typeface="Cambria Math" panose="02040503050406030204" pitchFamily="18" charset="0"/>
                          <a:ea typeface="SimSun" panose="02010600030101010101" pitchFamily="2" charset="-122"/>
                        </a:rPr>
                        <m:t>𝑛</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en-US" altLang="zh-CN" sz="2400" dirty="0">
                    <a:effectLst/>
                    <a:latin typeface="Times New Roman" panose="02020603050405020304" pitchFamily="18" charset="0"/>
                    <a:ea typeface="SimSun" panose="02010600030101010101" pitchFamily="2" charset="-122"/>
                  </a:rPr>
                  <a:t>           </a:t>
                </a:r>
                <a:r>
                  <a:rPr lang="zh-CN" sz="2400" dirty="0">
                    <a:effectLst/>
                    <a:latin typeface="Times New Roman" panose="02020603050405020304" pitchFamily="18" charset="0"/>
                    <a:ea typeface="SimSun" panose="02010600030101010101" pitchFamily="2" charset="-122"/>
                  </a:rPr>
                  <a:t>可行性条件</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𝐵</m:t>
                          </m:r>
                        </m:sub>
                      </m:sSub>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𝑏</m:t>
                      </m:r>
                      <m:r>
                        <a:rPr lang="en-US" sz="2400" i="1">
                          <a:effectLst/>
                          <a:latin typeface="Cambria Math" panose="02040503050406030204" pitchFamily="18" charset="0"/>
                          <a:ea typeface="SimSun" panose="02010600030101010101" pitchFamily="2" charset="-122"/>
                        </a:rPr>
                        <m:t>≥0</m:t>
                      </m:r>
                    </m:oMath>
                  </m:oMathPara>
                </a14:m>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C5A69728-F82D-CFD9-7EDB-5B5939E6E77B}"/>
                  </a:ext>
                </a:extLst>
              </p:cNvPr>
              <p:cNvSpPr txBox="1">
                <a:spLocks noRot="1" noChangeAspect="1" noMove="1" noResize="1" noEditPoints="1" noAdjustHandles="1" noChangeArrowheads="1" noChangeShapeType="1" noTextEdit="1"/>
              </p:cNvSpPr>
              <p:nvPr/>
            </p:nvSpPr>
            <p:spPr>
              <a:xfrm>
                <a:off x="856735" y="301605"/>
                <a:ext cx="10478530" cy="625478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C5F3AC2-6E46-6DFE-07FB-F82EF55D2025}"/>
                  </a:ext>
                </a:extLst>
              </p:cNvPr>
              <p:cNvSpPr/>
              <p:nvPr/>
            </p:nvSpPr>
            <p:spPr>
              <a:xfrm>
                <a:off x="9227842" y="115174"/>
                <a:ext cx="2845788" cy="2066976"/>
              </a:xfrm>
              <a:prstGeom prst="rect">
                <a:avLst/>
              </a:prstGeom>
              <a:ln>
                <a:solidFill>
                  <a:schemeClr val="accent2"/>
                </a:solidFill>
              </a:ln>
            </p:spPr>
            <p:txBody>
              <a:bodyPr wrap="square">
                <a:spAutoFit/>
              </a:bodyPr>
              <a:lstStyle/>
              <a:p>
                <a:r>
                  <a:rPr lang="zh-CN" altLang="en-US" sz="3200" b="1" dirty="0"/>
                  <a:t>标准型</a:t>
                </a:r>
                <a:r>
                  <a:rPr lang="en-US" altLang="zh-CN" sz="2800" dirty="0"/>
                  <a:t>               </a:t>
                </a:r>
              </a:p>
              <a:p>
                <a:r>
                  <a:rPr lang="en-US" altLang="zh-CN" sz="2800" dirty="0"/>
                  <a:t>  </a:t>
                </a:r>
                <a14:m>
                  <m:oMath xmlns:m="http://schemas.openxmlformats.org/officeDocument/2006/math">
                    <m:r>
                      <m:rPr>
                        <m:sty m:val="p"/>
                      </m:rPr>
                      <a:rPr lang="en-US" altLang="zh-CN" sz="2800" b="0" i="0" smtClean="0">
                        <a:latin typeface="Cambria Math"/>
                      </a:rPr>
                      <m:t>min</m:t>
                    </m:r>
                    <m:r>
                      <a:rPr lang="en-US" altLang="zh-CN" sz="2800" b="0" i="0" smtClean="0">
                        <a:latin typeface="Cambria Math"/>
                      </a:rPr>
                      <m:t>     </m:t>
                    </m:r>
                    <m:r>
                      <m:rPr>
                        <m:sty m:val="p"/>
                      </m:rPr>
                      <a:rPr lang="en-US" altLang="zh-CN" sz="2800" b="0" i="0" smtClean="0">
                        <a:latin typeface="Cambria Math"/>
                      </a:rPr>
                      <m:t>z</m:t>
                    </m:r>
                    <m:r>
                      <a:rPr lang="en-US" altLang="zh-CN" sz="2800" b="0" i="0" smtClean="0">
                        <a:latin typeface="Cambria Math"/>
                      </a:rPr>
                      <m:t>=</m:t>
                    </m:r>
                    <m:sSup>
                      <m:sSupPr>
                        <m:ctrlPr>
                          <a:rPr lang="en-US" altLang="zh-CN" sz="2800" b="0" i="1" smtClean="0">
                            <a:latin typeface="Cambria Math" panose="02040503050406030204" pitchFamily="18" charset="0"/>
                          </a:rPr>
                        </m:ctrlPr>
                      </m:sSupPr>
                      <m:e>
                        <m:r>
                          <a:rPr lang="en-US" altLang="zh-CN" sz="2800" b="0" i="1" smtClean="0">
                            <a:latin typeface="Cambria Math"/>
                          </a:rPr>
                          <m:t>𝑐</m:t>
                        </m:r>
                      </m:e>
                      <m:sup>
                        <m:r>
                          <a:rPr lang="en-US" altLang="zh-CN" sz="2800" b="0" i="1" smtClean="0">
                            <a:latin typeface="Cambria Math"/>
                          </a:rPr>
                          <m:t>𝑇</m:t>
                        </m:r>
                      </m:sup>
                    </m:sSup>
                    <m:r>
                      <a:rPr lang="en-US" altLang="zh-CN" sz="2800" b="0" i="1" smtClean="0">
                        <a:latin typeface="Cambria Math"/>
                      </a:rPr>
                      <m:t>𝑥</m:t>
                    </m:r>
                  </m:oMath>
                </a14:m>
                <a:endParaRPr lang="en-US" altLang="zh-CN" sz="2800" b="0" i="1" dirty="0">
                  <a:latin typeface="Cambria Math"/>
                </a:endParaRPr>
              </a:p>
              <a:p>
                <a:pPr/>
                <a14:m>
                  <m:oMathPara xmlns:m="http://schemas.openxmlformats.org/officeDocument/2006/math">
                    <m:oMathParaPr>
                      <m:jc m:val="left"/>
                    </m:oMathParaPr>
                    <m:oMath xmlns:m="http://schemas.openxmlformats.org/officeDocument/2006/math">
                      <m:m>
                        <m:mPr>
                          <m:mcs>
                            <m:mc>
                              <m:mcPr>
                                <m:count m:val="1"/>
                                <m:mcJc m:val="center"/>
                              </m:mcPr>
                            </m:mc>
                          </m:mcs>
                          <m:ctrlPr>
                            <a:rPr lang="en-US" altLang="zh-CN" sz="2800" b="0" i="1" smtClean="0">
                              <a:latin typeface="Cambria Math" panose="02040503050406030204" pitchFamily="18" charset="0"/>
                            </a:rPr>
                          </m:ctrlPr>
                        </m:mPr>
                        <m:mr>
                          <m:e>
                            <m:r>
                              <m:rPr>
                                <m:brk m:alnAt="7"/>
                              </m:rPr>
                              <a:rPr lang="en-US" altLang="zh-CN" sz="2800" b="0" i="0" smtClean="0">
                                <a:latin typeface="Cambria Math" panose="02040503050406030204" pitchFamily="18" charset="0"/>
                              </a:rPr>
                              <m:t> </m:t>
                            </m:r>
                            <m:r>
                              <a:rPr lang="en-US" altLang="zh-CN" sz="2800" b="0" i="0" smtClean="0">
                                <a:latin typeface="Cambria Math" panose="02040503050406030204" pitchFamily="18" charset="0"/>
                              </a:rPr>
                              <m:t>  </m:t>
                            </m:r>
                            <m:r>
                              <m:rPr>
                                <m:sty m:val="p"/>
                              </m:rPr>
                              <a:rPr lang="en-US" altLang="zh-CN" sz="2800">
                                <a:latin typeface="Cambria Math"/>
                              </a:rPr>
                              <m:t>s</m:t>
                            </m:r>
                            <m:r>
                              <a:rPr lang="en-US" altLang="zh-CN" sz="2800">
                                <a:latin typeface="Cambria Math"/>
                              </a:rPr>
                              <m:t>.</m:t>
                            </m:r>
                            <m:r>
                              <m:rPr>
                                <m:sty m:val="p"/>
                              </m:rPr>
                              <a:rPr lang="en-US" altLang="zh-CN" sz="2800">
                                <a:latin typeface="Cambria Math"/>
                              </a:rPr>
                              <m:t>t</m:t>
                            </m:r>
                            <m:r>
                              <a:rPr lang="en-US" altLang="zh-CN" sz="2800">
                                <a:latin typeface="Cambria Math"/>
                              </a:rPr>
                              <m:t>. </m:t>
                            </m:r>
                            <m:r>
                              <a:rPr lang="en-US" altLang="zh-CN" sz="2800" i="1">
                                <a:latin typeface="Cambria Math"/>
                              </a:rPr>
                              <m:t>    </m:t>
                            </m:r>
                            <m:r>
                              <a:rPr lang="en-US" altLang="zh-CN" sz="2800" i="1">
                                <a:latin typeface="Cambria Math"/>
                              </a:rPr>
                              <m:t>𝐴𝑥</m:t>
                            </m:r>
                            <m:r>
                              <a:rPr lang="en-US" altLang="zh-CN" sz="2800" i="1">
                                <a:latin typeface="Cambria Math"/>
                              </a:rPr>
                              <m:t>=</m:t>
                            </m:r>
                            <m:r>
                              <a:rPr lang="en-US" altLang="zh-CN" sz="2800" i="1">
                                <a:latin typeface="Cambria Math"/>
                              </a:rPr>
                              <m:t>𝑏</m:t>
                            </m:r>
                          </m:e>
                        </m:mr>
                        <m:mr>
                          <m:e>
                            <m:r>
                              <a:rPr lang="en-US" altLang="zh-CN" sz="2800" b="0" i="1" smtClean="0">
                                <a:latin typeface="Cambria Math"/>
                              </a:rPr>
                              <m:t>         </m:t>
                            </m:r>
                            <m:r>
                              <a:rPr lang="en-US" altLang="zh-CN" sz="2800" b="0" i="1" smtClean="0">
                                <a:latin typeface="Cambria Math"/>
                              </a:rPr>
                              <m:t>𝑥</m:t>
                            </m:r>
                            <m:r>
                              <a:rPr lang="en-US" altLang="zh-CN" sz="2800" b="0" i="1" smtClean="0">
                                <a:latin typeface="Cambria Math"/>
                                <a:ea typeface="Cambria Math"/>
                              </a:rPr>
                              <m:t>≥0</m:t>
                            </m:r>
                          </m:e>
                        </m:mr>
                      </m:m>
                    </m:oMath>
                  </m:oMathPara>
                </a14:m>
                <a:endParaRPr lang="en-US" altLang="zh-CN" sz="2800" b="0" dirty="0"/>
              </a:p>
              <a:p>
                <a:r>
                  <a:rPr lang="en-US" altLang="zh-CN" sz="2000" dirty="0"/>
                  <a:t>         </a:t>
                </a:r>
                <a:endParaRPr lang="zh-CN" altLang="zh-CN" sz="2000" dirty="0"/>
              </a:p>
            </p:txBody>
          </p:sp>
        </mc:Choice>
        <mc:Fallback xmlns="">
          <p:sp>
            <p:nvSpPr>
              <p:cNvPr id="2" name="矩形 1">
                <a:extLst>
                  <a:ext uri="{FF2B5EF4-FFF2-40B4-BE49-F238E27FC236}">
                    <a16:creationId xmlns:a16="http://schemas.microsoft.com/office/drawing/2014/main" id="{2C5F3AC2-6E46-6DFE-07FB-F82EF55D2025}"/>
                  </a:ext>
                </a:extLst>
              </p:cNvPr>
              <p:cNvSpPr>
                <a:spLocks noRot="1" noChangeAspect="1" noMove="1" noResize="1" noEditPoints="1" noAdjustHandles="1" noChangeArrowheads="1" noChangeShapeType="1" noTextEdit="1"/>
              </p:cNvSpPr>
              <p:nvPr/>
            </p:nvSpPr>
            <p:spPr>
              <a:xfrm>
                <a:off x="9227842" y="115174"/>
                <a:ext cx="2845788" cy="2066976"/>
              </a:xfrm>
              <a:prstGeom prst="rect">
                <a:avLst/>
              </a:prstGeom>
              <a:blipFill>
                <a:blip r:embed="rId3"/>
                <a:stretch>
                  <a:fillRect l="-5330" t="-3519"/>
                </a:stretch>
              </a:blipFill>
              <a:ln>
                <a:solidFill>
                  <a:schemeClr val="accent2"/>
                </a:solidFill>
              </a:ln>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FA5CA99-AF73-4042-4B44-4431FD4DBA10}"/>
              </a:ext>
            </a:extLst>
          </p:cNvPr>
          <p:cNvSpPr txBox="1"/>
          <p:nvPr/>
        </p:nvSpPr>
        <p:spPr>
          <a:xfrm>
            <a:off x="674909" y="354245"/>
            <a:ext cx="5000961" cy="584775"/>
          </a:xfrm>
          <a:prstGeom prst="rect">
            <a:avLst/>
          </a:prstGeom>
          <a:noFill/>
        </p:spPr>
        <p:txBody>
          <a:bodyPr wrap="square" rtlCol="0">
            <a:spAutoFit/>
          </a:bodyPr>
          <a:lstStyle/>
          <a:p>
            <a:r>
              <a:rPr lang="zh-CN" altLang="en-US" sz="3200" b="1" dirty="0">
                <a:latin typeface="+mn-ea"/>
                <a:cs typeface="Hubballi" panose="02000000000000000000" pitchFamily="2" charset="77"/>
              </a:rPr>
              <a:t>一、价值系数的变化</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BEE37E-641B-3BFC-A177-6623FC9316F3}"/>
                  </a:ext>
                </a:extLst>
              </p:cNvPr>
              <p:cNvSpPr txBox="1"/>
              <p:nvPr/>
            </p:nvSpPr>
            <p:spPr>
              <a:xfrm>
                <a:off x="674909" y="1363785"/>
                <a:ext cx="10965156" cy="4830681"/>
              </a:xfrm>
              <a:prstGeom prst="rect">
                <a:avLst/>
              </a:prstGeom>
              <a:noFill/>
            </p:spPr>
            <p:txBody>
              <a:bodyPr wrap="square">
                <a:spAutoFit/>
              </a:bodyPr>
              <a:lstStyle/>
              <a:p>
                <a:pPr indent="609600">
                  <a:lnSpc>
                    <a:spcPct val="150000"/>
                  </a:lnSpc>
                  <a:spcBef>
                    <a:spcPts val="600"/>
                  </a:spcBef>
                  <a:spcAft>
                    <a:spcPts val="600"/>
                  </a:spcAft>
                </a:pPr>
                <a:r>
                  <a:rPr lang="zh-CN" altLang="en-US" sz="2400" b="1" dirty="0">
                    <a:solidFill>
                      <a:schemeClr val="accent1"/>
                    </a:solidFill>
                    <a:latin typeface="+mn-ea"/>
                  </a:rPr>
                  <a:t>情形</a:t>
                </a:r>
                <a:r>
                  <a:rPr lang="en-CN" sz="2400" b="1" dirty="0">
                    <a:solidFill>
                      <a:schemeClr val="accent1"/>
                    </a:solidFill>
                    <a:latin typeface="+mn-ea"/>
                  </a:rPr>
                  <a:t>1</a:t>
                </a:r>
                <a:r>
                  <a:rPr lang="zh-CN" altLang="en-US" sz="2400" b="1" dirty="0">
                    <a:solidFill>
                      <a:schemeClr val="accent1"/>
                    </a:solidFill>
                    <a:latin typeface="+mn-ea"/>
                  </a:rPr>
                  <a:t>：非基变量价值系数</a:t>
                </a:r>
                <a14:m>
                  <m:oMath xmlns:m="http://schemas.openxmlformats.org/officeDocument/2006/math">
                    <m:sSub>
                      <m:sSubPr>
                        <m:ctrlPr>
                          <a:rPr lang="en-CN" sz="2400" b="1" i="1">
                            <a:solidFill>
                              <a:schemeClr val="accent1"/>
                            </a:solidFill>
                            <a:latin typeface="Cambria Math" panose="02040503050406030204" pitchFamily="18" charset="0"/>
                          </a:rPr>
                        </m:ctrlPr>
                      </m:sSubPr>
                      <m:e>
                        <m:r>
                          <a:rPr lang="en-CN" sz="2400" b="1" i="1" smtClean="0">
                            <a:solidFill>
                              <a:schemeClr val="accent1"/>
                            </a:solidFill>
                            <a:latin typeface="Cambria Math" panose="02040503050406030204" pitchFamily="18" charset="0"/>
                          </a:rPr>
                          <m:t>𝒄</m:t>
                        </m:r>
                      </m:e>
                      <m:sub>
                        <m:r>
                          <a:rPr lang="en-CN" sz="2400" b="1" i="1">
                            <a:solidFill>
                              <a:schemeClr val="accent1"/>
                            </a:solidFill>
                            <a:latin typeface="Cambria Math" panose="02040503050406030204" pitchFamily="18" charset="0"/>
                          </a:rPr>
                          <m:t>𝒌</m:t>
                        </m:r>
                      </m:sub>
                    </m:sSub>
                  </m:oMath>
                </a14:m>
                <a:r>
                  <a:rPr lang="zh-CN" altLang="en-US" sz="2400" b="1" dirty="0">
                    <a:solidFill>
                      <a:schemeClr val="accent1"/>
                    </a:solidFill>
                    <a:latin typeface="+mn-ea"/>
                  </a:rPr>
                  <a:t>的变化</a:t>
                </a:r>
                <a:endParaRPr lang="en-CN" sz="2400" b="1" dirty="0">
                  <a:solidFill>
                    <a:schemeClr val="accent1"/>
                  </a:solidFill>
                  <a:latin typeface="+mn-ea"/>
                </a:endParaRPr>
              </a:p>
              <a:p>
                <a:pPr indent="609600">
                  <a:lnSpc>
                    <a:spcPct val="150000"/>
                  </a:lnSpc>
                  <a:spcBef>
                    <a:spcPts val="600"/>
                  </a:spcBef>
                  <a:spcAft>
                    <a:spcPts val="600"/>
                  </a:spcAft>
                </a:pP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oMath>
                </a14:m>
                <a:r>
                  <a:rPr lang="zh-CN" altLang="en-US" sz="2400" dirty="0">
                    <a:latin typeface="+mn-ea"/>
                  </a:rPr>
                  <a:t>变化：</a:t>
                </a: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smtClean="0">
                        <a:latin typeface="Cambria Math" panose="02040503050406030204" pitchFamily="18" charset="0"/>
                        <a:ea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oMath>
                </a14:m>
                <a:endParaRPr lang="en-CN" sz="2400" dirty="0">
                  <a:latin typeface="+mn-ea"/>
                </a:endParaRPr>
              </a:p>
              <a:p>
                <a:pPr indent="609600">
                  <a:lnSpc>
                    <a:spcPct val="150000"/>
                  </a:lnSpc>
                  <a:spcBef>
                    <a:spcPts val="600"/>
                  </a:spcBef>
                  <a:spcAft>
                    <a:spcPts val="600"/>
                  </a:spcAft>
                </a:pPr>
                <a:r>
                  <a:rPr lang="zh-CN" altLang="en-US" sz="2400" dirty="0">
                    <a:latin typeface="+mn-ea"/>
                  </a:rPr>
                  <a:t>检验数变化： </a:t>
                </a: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𝜎</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𝐵</m:t>
                        </m:r>
                      </m:sub>
                    </m:sSub>
                    <m:sSup>
                      <m:sSupPr>
                        <m:ctrlPr>
                          <a:rPr lang="en-CN" sz="2400" i="1">
                            <a:latin typeface="Cambria Math" panose="02040503050406030204" pitchFamily="18" charset="0"/>
                          </a:rPr>
                        </m:ctrlPr>
                      </m:sSupPr>
                      <m:e>
                        <m:r>
                          <a:rPr lang="en-CN" sz="2400" i="1">
                            <a:latin typeface="Cambria Math" panose="02040503050406030204" pitchFamily="18" charset="0"/>
                          </a:rPr>
                          <m:t>𝐵</m:t>
                        </m:r>
                      </m:e>
                      <m:sup>
                        <m:r>
                          <a:rPr lang="en-CN" sz="2400" i="1">
                            <a:latin typeface="Cambria Math" panose="02040503050406030204" pitchFamily="18" charset="0"/>
                          </a:rPr>
                          <m:t>−1</m:t>
                        </m:r>
                      </m:sup>
                    </m:sSup>
                    <m:sSub>
                      <m:sSubPr>
                        <m:ctrlPr>
                          <a:rPr lang="en-CN" sz="2400" i="1">
                            <a:latin typeface="Cambria Math" panose="02040503050406030204" pitchFamily="18" charset="0"/>
                          </a:rPr>
                        </m:ctrlPr>
                      </m:sSubPr>
                      <m:e>
                        <m:r>
                          <a:rPr lang="en-CN" sz="2400" i="1">
                            <a:latin typeface="Cambria Math" panose="02040503050406030204" pitchFamily="18" charset="0"/>
                          </a:rPr>
                          <m:t>𝐴</m:t>
                        </m:r>
                      </m:e>
                      <m:sub>
                        <m:r>
                          <a:rPr lang="en-CN" sz="2400" i="1">
                            <a:latin typeface="Cambria Math" panose="02040503050406030204" pitchFamily="18" charset="0"/>
                          </a:rPr>
                          <m:t>𝑘</m:t>
                        </m:r>
                      </m:sub>
                    </m:sSub>
                  </m:oMath>
                </a14:m>
                <a:endParaRPr lang="en-CN" sz="2400" dirty="0">
                  <a:latin typeface="+mn-ea"/>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Sup>
                        <m:sSubSupPr>
                          <m:ctrlPr>
                            <a:rPr lang="en-CN" sz="2400" i="1">
                              <a:latin typeface="Cambria Math" panose="02040503050406030204" pitchFamily="18" charset="0"/>
                            </a:rPr>
                          </m:ctrlPr>
                        </m:sSubSupPr>
                        <m:e>
                          <m:r>
                            <a:rPr lang="en-CN" sz="2400" i="1">
                              <a:latin typeface="Cambria Math" panose="02040503050406030204" pitchFamily="18" charset="0"/>
                            </a:rPr>
                            <m:t>𝜎</m:t>
                          </m:r>
                        </m:e>
                        <m:sub>
                          <m:r>
                            <a:rPr lang="en-CN" sz="2400" i="1">
                              <a:latin typeface="Cambria Math" panose="02040503050406030204" pitchFamily="18" charset="0"/>
                            </a:rPr>
                            <m:t>𝑘</m:t>
                          </m:r>
                        </m:sub>
                        <m:sup>
                          <m:r>
                            <a:rPr lang="en-CN" sz="2400" i="1">
                              <a:latin typeface="Cambria Math" panose="02040503050406030204" pitchFamily="18" charset="0"/>
                            </a:rPr>
                            <m:t>′</m:t>
                          </m:r>
                        </m:sup>
                      </m:sSubSup>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𝐵</m:t>
                          </m:r>
                        </m:sub>
                      </m:sSub>
                      <m:sSup>
                        <m:sSupPr>
                          <m:ctrlPr>
                            <a:rPr lang="en-CN" sz="2400" i="1">
                              <a:latin typeface="Cambria Math" panose="02040503050406030204" pitchFamily="18" charset="0"/>
                            </a:rPr>
                          </m:ctrlPr>
                        </m:sSupPr>
                        <m:e>
                          <m:r>
                            <a:rPr lang="en-CN" sz="2400" i="1">
                              <a:latin typeface="Cambria Math" panose="02040503050406030204" pitchFamily="18" charset="0"/>
                            </a:rPr>
                            <m:t>𝐵</m:t>
                          </m:r>
                        </m:e>
                        <m:sup>
                          <m:r>
                            <a:rPr lang="en-CN" sz="2400" i="1">
                              <a:latin typeface="Cambria Math" panose="02040503050406030204" pitchFamily="18" charset="0"/>
                            </a:rPr>
                            <m:t>−1</m:t>
                          </m:r>
                        </m:sup>
                      </m:sSup>
                      <m:sSub>
                        <m:sSubPr>
                          <m:ctrlPr>
                            <a:rPr lang="en-CN" sz="2400" i="1">
                              <a:latin typeface="Cambria Math" panose="02040503050406030204" pitchFamily="18" charset="0"/>
                            </a:rPr>
                          </m:ctrlPr>
                        </m:sSubPr>
                        <m:e>
                          <m:r>
                            <a:rPr lang="en-CN" sz="2400" i="1">
                              <a:latin typeface="Cambria Math" panose="02040503050406030204" pitchFamily="18" charset="0"/>
                            </a:rPr>
                            <m:t>𝐴</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𝜎</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oMath>
                  </m:oMathPara>
                </a14:m>
                <a:endParaRPr lang="en-CN" sz="2400" dirty="0">
                  <a:latin typeface="+mn-ea"/>
                </a:endParaRPr>
              </a:p>
              <a:p>
                <a:pPr indent="609600">
                  <a:lnSpc>
                    <a:spcPct val="150000"/>
                  </a:lnSpc>
                  <a:spcBef>
                    <a:spcPts val="600"/>
                  </a:spcBef>
                  <a:spcAft>
                    <a:spcPts val="600"/>
                  </a:spcAft>
                </a:pPr>
                <a:r>
                  <a:rPr lang="zh-CN" altLang="en-US" sz="2400" dirty="0">
                    <a:latin typeface="+mn-ea"/>
                  </a:rPr>
                  <a:t>令</a:t>
                </a:r>
                <a14:m>
                  <m:oMath xmlns:m="http://schemas.openxmlformats.org/officeDocument/2006/math">
                    <m:sSubSup>
                      <m:sSubSupPr>
                        <m:ctrlPr>
                          <a:rPr lang="en-CN" sz="2400" i="1">
                            <a:latin typeface="Cambria Math" panose="02040503050406030204" pitchFamily="18" charset="0"/>
                          </a:rPr>
                        </m:ctrlPr>
                      </m:sSubSupPr>
                      <m:e>
                        <m:r>
                          <a:rPr lang="en-CN" sz="2400" i="1">
                            <a:latin typeface="Cambria Math" panose="02040503050406030204" pitchFamily="18" charset="0"/>
                          </a:rPr>
                          <m:t>𝜎</m:t>
                        </m:r>
                      </m:e>
                      <m:sub>
                        <m:r>
                          <a:rPr lang="en-CN" sz="2400" i="1">
                            <a:latin typeface="Cambria Math" panose="02040503050406030204" pitchFamily="18" charset="0"/>
                          </a:rPr>
                          <m:t>𝑘</m:t>
                        </m:r>
                      </m:sub>
                      <m:sup>
                        <m:r>
                          <a:rPr lang="en-CN" sz="2400" i="1">
                            <a:latin typeface="Cambria Math" panose="02040503050406030204" pitchFamily="18" charset="0"/>
                          </a:rPr>
                          <m:t>′</m:t>
                        </m:r>
                      </m:sup>
                    </m:sSubSup>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𝜎</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≥0⟹∆</m:t>
                    </m:r>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sSub>
                      <m:sSubPr>
                        <m:ctrlPr>
                          <a:rPr lang="en-CN" sz="2400" i="1">
                            <a:latin typeface="Cambria Math" panose="02040503050406030204" pitchFamily="18" charset="0"/>
                          </a:rPr>
                        </m:ctrlPr>
                      </m:sSubPr>
                      <m:e>
                        <m:r>
                          <a:rPr lang="en-CN" sz="2400" i="1">
                            <a:latin typeface="Cambria Math" panose="02040503050406030204" pitchFamily="18" charset="0"/>
                          </a:rPr>
                          <m:t>𝜎</m:t>
                        </m:r>
                      </m:e>
                      <m:sub>
                        <m:r>
                          <a:rPr lang="en-CN" sz="2400" i="1">
                            <a:latin typeface="Cambria Math" panose="02040503050406030204" pitchFamily="18" charset="0"/>
                          </a:rPr>
                          <m:t>𝑘</m:t>
                        </m:r>
                      </m:sub>
                    </m:sSub>
                  </m:oMath>
                </a14:m>
                <a:r>
                  <a:rPr lang="en-CN" sz="2400" dirty="0">
                    <a:latin typeface="+mn-ea"/>
                  </a:rPr>
                  <a:t>,</a:t>
                </a:r>
                <a:r>
                  <a:rPr lang="zh-CN" altLang="en-US" sz="2400" dirty="0">
                    <a:latin typeface="+mn-ea"/>
                  </a:rPr>
                  <a:t>此时最优解不变。</a:t>
                </a:r>
                <a:endParaRPr lang="en-CN" sz="2400" dirty="0">
                  <a:latin typeface="+mn-ea"/>
                </a:endParaRPr>
              </a:p>
              <a:p>
                <a:pPr indent="609600">
                  <a:lnSpc>
                    <a:spcPct val="150000"/>
                  </a:lnSpc>
                  <a:spcBef>
                    <a:spcPts val="600"/>
                  </a:spcBef>
                  <a:spcAft>
                    <a:spcPts val="600"/>
                  </a:spcAft>
                </a:pPr>
                <a:r>
                  <a:rPr lang="zh-CN" altLang="en-US" sz="2400" dirty="0">
                    <a:latin typeface="+mn-ea"/>
                  </a:rPr>
                  <a:t>否则，原最优基不再是最优了，以</a:t>
                </a:r>
                <a14:m>
                  <m:oMath xmlns:m="http://schemas.openxmlformats.org/officeDocument/2006/math">
                    <m:sSub>
                      <m:sSubPr>
                        <m:ctrlPr>
                          <a:rPr lang="en-CN" sz="2400" i="1">
                            <a:latin typeface="Cambria Math" panose="02040503050406030204" pitchFamily="18" charset="0"/>
                          </a:rPr>
                        </m:ctrlPr>
                      </m:sSubPr>
                      <m:e>
                        <m:r>
                          <a:rPr lang="en-US" sz="2400" i="1">
                            <a:latin typeface="Cambria Math" panose="02040503050406030204" pitchFamily="18" charset="0"/>
                          </a:rPr>
                          <m:t>𝑥</m:t>
                        </m:r>
                      </m:e>
                      <m:sub>
                        <m:r>
                          <a:rPr lang="en-CN" sz="2400" i="1">
                            <a:latin typeface="Cambria Math" panose="02040503050406030204" pitchFamily="18" charset="0"/>
                          </a:rPr>
                          <m:t>𝑘</m:t>
                        </m:r>
                      </m:sub>
                    </m:sSub>
                  </m:oMath>
                </a14:m>
                <a:r>
                  <a:rPr lang="zh-CN" altLang="en-US" sz="2400" dirty="0">
                    <a:latin typeface="+mn-ea"/>
                  </a:rPr>
                  <a:t>为换入变量，把最终单纯形表上的</a:t>
                </a: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𝜎</m:t>
                        </m:r>
                      </m:e>
                      <m:sub>
                        <m:r>
                          <a:rPr lang="en-CN" sz="2400" i="1">
                            <a:latin typeface="Cambria Math" panose="02040503050406030204" pitchFamily="18" charset="0"/>
                          </a:rPr>
                          <m:t>𝑘</m:t>
                        </m:r>
                      </m:sub>
                    </m:sSub>
                  </m:oMath>
                </a14:m>
                <a:r>
                  <a:rPr lang="zh-CN" altLang="en-US" sz="2400" dirty="0">
                    <a:latin typeface="+mn-ea"/>
                  </a:rPr>
                  <a:t>换成</a:t>
                </a:r>
                <a14:m>
                  <m:oMath xmlns:m="http://schemas.openxmlformats.org/officeDocument/2006/math">
                    <m:sSubSup>
                      <m:sSubSupPr>
                        <m:ctrlPr>
                          <a:rPr lang="en-CN" sz="2400" i="1">
                            <a:latin typeface="Cambria Math" panose="02040503050406030204" pitchFamily="18" charset="0"/>
                          </a:rPr>
                        </m:ctrlPr>
                      </m:sSubSupPr>
                      <m:e>
                        <m:r>
                          <a:rPr lang="en-CN" sz="2400" i="1">
                            <a:latin typeface="Cambria Math" panose="02040503050406030204" pitchFamily="18" charset="0"/>
                          </a:rPr>
                          <m:t>𝜎</m:t>
                        </m:r>
                      </m:e>
                      <m:sub>
                        <m:r>
                          <a:rPr lang="en-CN" sz="2400" i="1">
                            <a:latin typeface="Cambria Math" panose="02040503050406030204" pitchFamily="18" charset="0"/>
                          </a:rPr>
                          <m:t>𝑘</m:t>
                        </m:r>
                      </m:sub>
                      <m:sup>
                        <m:r>
                          <a:rPr lang="en-CN" sz="2400" i="1">
                            <a:latin typeface="Cambria Math" panose="02040503050406030204" pitchFamily="18" charset="0"/>
                          </a:rPr>
                          <m:t>′</m:t>
                        </m:r>
                      </m:sup>
                    </m:sSubSup>
                  </m:oMath>
                </a14:m>
                <a:r>
                  <a:rPr lang="zh-CN" altLang="en-US" sz="2400" dirty="0">
                    <a:latin typeface="+mn-ea"/>
                  </a:rPr>
                  <a:t>，</a:t>
                </a: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oMath>
                </a14:m>
                <a:r>
                  <a:rPr lang="zh-CN" altLang="en-US" sz="2400" dirty="0">
                    <a:latin typeface="+mn-ea"/>
                  </a:rPr>
                  <a:t>换成</a:t>
                </a:r>
                <a14:m>
                  <m:oMath xmlns:m="http://schemas.openxmlformats.org/officeDocument/2006/math">
                    <m:sSub>
                      <m:sSubPr>
                        <m:ctrlPr>
                          <a:rPr lang="en-CN" sz="2400" i="1">
                            <a:latin typeface="Cambria Math" panose="02040503050406030204" pitchFamily="18" charset="0"/>
                          </a:rPr>
                        </m:ctrlPr>
                      </m:sSubPr>
                      <m:e>
                        <m:r>
                          <a:rPr lang="en-CN" sz="2400" i="1">
                            <a:latin typeface="Cambria Math" panose="02040503050406030204" pitchFamily="18" charset="0"/>
                          </a:rPr>
                          <m:t>𝑐</m:t>
                        </m:r>
                      </m:e>
                      <m:sub>
                        <m:r>
                          <a:rPr lang="en-CN" sz="2400" i="1">
                            <a:latin typeface="Cambria Math" panose="02040503050406030204" pitchFamily="18" charset="0"/>
                          </a:rPr>
                          <m:t>𝑘</m:t>
                        </m:r>
                      </m:sub>
                    </m:sSub>
                    <m:r>
                      <a:rPr lang="en-CN" sz="2400" i="1">
                        <a:latin typeface="Cambria Math" panose="02040503050406030204" pitchFamily="18" charset="0"/>
                      </a:rPr>
                      <m:t>′</m:t>
                    </m:r>
                  </m:oMath>
                </a14:m>
                <a:r>
                  <a:rPr lang="zh-CN" altLang="en-US" sz="2400" dirty="0">
                    <a:latin typeface="+mn-ea"/>
                  </a:rPr>
                  <a:t>，继续用单纯形法求解。</a:t>
                </a:r>
                <a:endParaRPr lang="en-CN" sz="2400" dirty="0">
                  <a:latin typeface="+mn-ea"/>
                </a:endParaRPr>
              </a:p>
            </p:txBody>
          </p:sp>
        </mc:Choice>
        <mc:Fallback xmlns="">
          <p:sp>
            <p:nvSpPr>
              <p:cNvPr id="6" name="TextBox 5">
                <a:extLst>
                  <a:ext uri="{FF2B5EF4-FFF2-40B4-BE49-F238E27FC236}">
                    <a16:creationId xmlns:a16="http://schemas.microsoft.com/office/drawing/2014/main" id="{4BBEE37E-641B-3BFC-A177-6623FC9316F3}"/>
                  </a:ext>
                </a:extLst>
              </p:cNvPr>
              <p:cNvSpPr txBox="1">
                <a:spLocks noRot="1" noChangeAspect="1" noMove="1" noResize="1" noEditPoints="1" noAdjustHandles="1" noChangeArrowheads="1" noChangeShapeType="1" noTextEdit="1"/>
              </p:cNvSpPr>
              <p:nvPr/>
            </p:nvSpPr>
            <p:spPr>
              <a:xfrm>
                <a:off x="674909" y="1363785"/>
                <a:ext cx="10965156" cy="4830681"/>
              </a:xfrm>
              <a:prstGeom prst="rect">
                <a:avLst/>
              </a:prstGeom>
              <a:blipFill>
                <a:blip r:embed="rId2"/>
                <a:stretch>
                  <a:fillRect l="-890" b="-2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626F14A-1E75-7554-E5DE-E5894C7D2DDB}"/>
                  </a:ext>
                </a:extLst>
              </p:cNvPr>
              <p:cNvSpPr/>
              <p:nvPr/>
            </p:nvSpPr>
            <p:spPr>
              <a:xfrm>
                <a:off x="9227842" y="115174"/>
                <a:ext cx="2845788" cy="2066976"/>
              </a:xfrm>
              <a:prstGeom prst="rect">
                <a:avLst/>
              </a:prstGeom>
              <a:ln>
                <a:solidFill>
                  <a:schemeClr val="accent2"/>
                </a:solidFill>
              </a:ln>
            </p:spPr>
            <p:txBody>
              <a:bodyPr wrap="square">
                <a:spAutoFit/>
              </a:bodyPr>
              <a:lstStyle/>
              <a:p>
                <a:r>
                  <a:rPr lang="zh-CN" altLang="en-US" sz="3200" b="1" dirty="0"/>
                  <a:t>标准型</a:t>
                </a:r>
                <a:r>
                  <a:rPr lang="en-US" altLang="zh-CN" sz="2800" dirty="0"/>
                  <a:t>               </a:t>
                </a:r>
              </a:p>
              <a:p>
                <a:r>
                  <a:rPr lang="en-US" altLang="zh-CN" sz="2800" dirty="0"/>
                  <a:t>  </a:t>
                </a:r>
                <a14:m>
                  <m:oMath xmlns:m="http://schemas.openxmlformats.org/officeDocument/2006/math">
                    <m:r>
                      <m:rPr>
                        <m:sty m:val="p"/>
                      </m:rPr>
                      <a:rPr lang="en-US" altLang="zh-CN" sz="2800" b="0" i="0" smtClean="0">
                        <a:latin typeface="Cambria Math"/>
                      </a:rPr>
                      <m:t>min</m:t>
                    </m:r>
                    <m:r>
                      <a:rPr lang="en-US" altLang="zh-CN" sz="2800" b="0" i="0" smtClean="0">
                        <a:latin typeface="Cambria Math"/>
                      </a:rPr>
                      <m:t>     </m:t>
                    </m:r>
                    <m:r>
                      <m:rPr>
                        <m:sty m:val="p"/>
                      </m:rPr>
                      <a:rPr lang="en-US" altLang="zh-CN" sz="2800" b="0" i="0" smtClean="0">
                        <a:latin typeface="Cambria Math"/>
                      </a:rPr>
                      <m:t>z</m:t>
                    </m:r>
                    <m:r>
                      <a:rPr lang="en-US" altLang="zh-CN" sz="2800" b="0" i="0" smtClean="0">
                        <a:latin typeface="Cambria Math"/>
                      </a:rPr>
                      <m:t>=</m:t>
                    </m:r>
                    <m:sSup>
                      <m:sSupPr>
                        <m:ctrlPr>
                          <a:rPr lang="en-US" altLang="zh-CN" sz="2800" b="0" i="1" smtClean="0">
                            <a:latin typeface="Cambria Math" panose="02040503050406030204" pitchFamily="18" charset="0"/>
                          </a:rPr>
                        </m:ctrlPr>
                      </m:sSupPr>
                      <m:e>
                        <m:r>
                          <a:rPr lang="en-US" altLang="zh-CN" sz="2800" b="0" i="1" smtClean="0">
                            <a:latin typeface="Cambria Math"/>
                          </a:rPr>
                          <m:t>𝑐</m:t>
                        </m:r>
                      </m:e>
                      <m:sup>
                        <m:r>
                          <a:rPr lang="en-US" altLang="zh-CN" sz="2800" b="0" i="1" smtClean="0">
                            <a:latin typeface="Cambria Math"/>
                          </a:rPr>
                          <m:t>𝑇</m:t>
                        </m:r>
                      </m:sup>
                    </m:sSup>
                    <m:r>
                      <a:rPr lang="en-US" altLang="zh-CN" sz="2800" b="0" i="1" smtClean="0">
                        <a:latin typeface="Cambria Math"/>
                      </a:rPr>
                      <m:t>𝑥</m:t>
                    </m:r>
                  </m:oMath>
                </a14:m>
                <a:endParaRPr lang="en-US" altLang="zh-CN" sz="2800" b="0" i="1" dirty="0">
                  <a:latin typeface="Cambria Math"/>
                </a:endParaRPr>
              </a:p>
              <a:p>
                <a:pPr/>
                <a14:m>
                  <m:oMathPara xmlns:m="http://schemas.openxmlformats.org/officeDocument/2006/math">
                    <m:oMathParaPr>
                      <m:jc m:val="left"/>
                    </m:oMathParaPr>
                    <m:oMath xmlns:m="http://schemas.openxmlformats.org/officeDocument/2006/math">
                      <m:m>
                        <m:mPr>
                          <m:mcs>
                            <m:mc>
                              <m:mcPr>
                                <m:count m:val="1"/>
                                <m:mcJc m:val="center"/>
                              </m:mcPr>
                            </m:mc>
                          </m:mcs>
                          <m:ctrlPr>
                            <a:rPr lang="en-US" altLang="zh-CN" sz="2800" b="0" i="1" smtClean="0">
                              <a:latin typeface="Cambria Math" panose="02040503050406030204" pitchFamily="18" charset="0"/>
                            </a:rPr>
                          </m:ctrlPr>
                        </m:mPr>
                        <m:mr>
                          <m:e>
                            <m:r>
                              <m:rPr>
                                <m:brk m:alnAt="7"/>
                              </m:rPr>
                              <a:rPr lang="en-US" altLang="zh-CN" sz="2800" b="0" i="0" smtClean="0">
                                <a:latin typeface="Cambria Math" panose="02040503050406030204" pitchFamily="18" charset="0"/>
                              </a:rPr>
                              <m:t> </m:t>
                            </m:r>
                            <m:r>
                              <a:rPr lang="en-US" altLang="zh-CN" sz="2800" b="0" i="0" smtClean="0">
                                <a:latin typeface="Cambria Math" panose="02040503050406030204" pitchFamily="18" charset="0"/>
                              </a:rPr>
                              <m:t>  </m:t>
                            </m:r>
                            <m:r>
                              <m:rPr>
                                <m:sty m:val="p"/>
                              </m:rPr>
                              <a:rPr lang="en-US" altLang="zh-CN" sz="2800">
                                <a:latin typeface="Cambria Math"/>
                              </a:rPr>
                              <m:t>s</m:t>
                            </m:r>
                            <m:r>
                              <a:rPr lang="en-US" altLang="zh-CN" sz="2800">
                                <a:latin typeface="Cambria Math"/>
                              </a:rPr>
                              <m:t>.</m:t>
                            </m:r>
                            <m:r>
                              <m:rPr>
                                <m:sty m:val="p"/>
                              </m:rPr>
                              <a:rPr lang="en-US" altLang="zh-CN" sz="2800">
                                <a:latin typeface="Cambria Math"/>
                              </a:rPr>
                              <m:t>t</m:t>
                            </m:r>
                            <m:r>
                              <a:rPr lang="en-US" altLang="zh-CN" sz="2800">
                                <a:latin typeface="Cambria Math"/>
                              </a:rPr>
                              <m:t>. </m:t>
                            </m:r>
                            <m:r>
                              <a:rPr lang="en-US" altLang="zh-CN" sz="2800" i="1">
                                <a:latin typeface="Cambria Math"/>
                              </a:rPr>
                              <m:t>    </m:t>
                            </m:r>
                            <m:r>
                              <a:rPr lang="en-US" altLang="zh-CN" sz="2800" i="1">
                                <a:latin typeface="Cambria Math"/>
                              </a:rPr>
                              <m:t>𝐴𝑥</m:t>
                            </m:r>
                            <m:r>
                              <a:rPr lang="en-US" altLang="zh-CN" sz="2800" i="1">
                                <a:latin typeface="Cambria Math"/>
                              </a:rPr>
                              <m:t>=</m:t>
                            </m:r>
                            <m:r>
                              <a:rPr lang="en-US" altLang="zh-CN" sz="2800" i="1">
                                <a:latin typeface="Cambria Math"/>
                              </a:rPr>
                              <m:t>𝑏</m:t>
                            </m:r>
                          </m:e>
                        </m:mr>
                        <m:mr>
                          <m:e>
                            <m:r>
                              <a:rPr lang="en-US" altLang="zh-CN" sz="2800" b="0" i="1" smtClean="0">
                                <a:latin typeface="Cambria Math"/>
                              </a:rPr>
                              <m:t>         </m:t>
                            </m:r>
                            <m:r>
                              <a:rPr lang="en-US" altLang="zh-CN" sz="2800" b="0" i="1" smtClean="0">
                                <a:latin typeface="Cambria Math"/>
                              </a:rPr>
                              <m:t>𝑥</m:t>
                            </m:r>
                            <m:r>
                              <a:rPr lang="en-US" altLang="zh-CN" sz="2800" b="0" i="1" smtClean="0">
                                <a:latin typeface="Cambria Math"/>
                                <a:ea typeface="Cambria Math"/>
                              </a:rPr>
                              <m:t>≥0</m:t>
                            </m:r>
                          </m:e>
                        </m:mr>
                      </m:m>
                    </m:oMath>
                  </m:oMathPara>
                </a14:m>
                <a:endParaRPr lang="en-US" altLang="zh-CN" sz="2800" b="0" dirty="0"/>
              </a:p>
              <a:p>
                <a:r>
                  <a:rPr lang="en-US" altLang="zh-CN" sz="2000" dirty="0"/>
                  <a:t>         </a:t>
                </a:r>
                <a:endParaRPr lang="zh-CN" altLang="zh-CN" sz="2000" dirty="0"/>
              </a:p>
            </p:txBody>
          </p:sp>
        </mc:Choice>
        <mc:Fallback xmlns="">
          <p:sp>
            <p:nvSpPr>
              <p:cNvPr id="2" name="矩形 1">
                <a:extLst>
                  <a:ext uri="{FF2B5EF4-FFF2-40B4-BE49-F238E27FC236}">
                    <a16:creationId xmlns:a16="http://schemas.microsoft.com/office/drawing/2014/main" id="{0626F14A-1E75-7554-E5DE-E5894C7D2DDB}"/>
                  </a:ext>
                </a:extLst>
              </p:cNvPr>
              <p:cNvSpPr>
                <a:spLocks noRot="1" noChangeAspect="1" noMove="1" noResize="1" noEditPoints="1" noAdjustHandles="1" noChangeArrowheads="1" noChangeShapeType="1" noTextEdit="1"/>
              </p:cNvSpPr>
              <p:nvPr/>
            </p:nvSpPr>
            <p:spPr>
              <a:xfrm>
                <a:off x="9227842" y="115174"/>
                <a:ext cx="2845788" cy="2066976"/>
              </a:xfrm>
              <a:prstGeom prst="rect">
                <a:avLst/>
              </a:prstGeom>
              <a:blipFill>
                <a:blip r:embed="rId2"/>
                <a:stretch>
                  <a:fillRect l="-5330" t="-3519"/>
                </a:stretch>
              </a:blipFill>
              <a:ln>
                <a:solidFill>
                  <a:schemeClr val="accent2"/>
                </a:solidFill>
              </a:ln>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5169AE6-2AA5-4585-B741-97B47CCB399A}"/>
              </a:ext>
            </a:extLst>
          </p:cNvPr>
          <p:cNvSpPr txBox="1"/>
          <p:nvPr/>
        </p:nvSpPr>
        <p:spPr>
          <a:xfrm>
            <a:off x="8569142" y="1920047"/>
            <a:ext cx="2244586" cy="830997"/>
          </a:xfrm>
          <a:prstGeom prst="rect">
            <a:avLst/>
          </a:prstGeom>
          <a:noFill/>
        </p:spPr>
        <p:txBody>
          <a:bodyPr wrap="square" rtlCol="0">
            <a:spAutoFit/>
          </a:bodyPr>
          <a:lstStyle/>
          <a:p>
            <a:r>
              <a:rPr lang="zh-CN" altLang="en-US" sz="2400" dirty="0">
                <a:solidFill>
                  <a:srgbClr val="FF0000"/>
                </a:solidFill>
                <a:latin typeface="SimSong" panose="02020300000000000000" pitchFamily="18" charset="-122"/>
                <a:ea typeface="SimSong" panose="02020300000000000000" pitchFamily="18" charset="-122"/>
              </a:rPr>
              <a:t>可以推广到任意形式的增量</a:t>
            </a:r>
          </a:p>
        </p:txBody>
      </p:sp>
      <p:sp>
        <p:nvSpPr>
          <p:cNvPr id="3" name="箭头: 右 2">
            <a:extLst>
              <a:ext uri="{FF2B5EF4-FFF2-40B4-BE49-F238E27FC236}">
                <a16:creationId xmlns:a16="http://schemas.microsoft.com/office/drawing/2014/main" id="{8DF51696-7071-40A3-896C-E25C3415839B}"/>
              </a:ext>
            </a:extLst>
          </p:cNvPr>
          <p:cNvSpPr/>
          <p:nvPr/>
        </p:nvSpPr>
        <p:spPr>
          <a:xfrm>
            <a:off x="8164549" y="2084965"/>
            <a:ext cx="334841" cy="5011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831CD1F-2555-B32D-8043-2F9FB224FD6E}"/>
                  </a:ext>
                </a:extLst>
              </p:cNvPr>
              <p:cNvSpPr txBox="1"/>
              <p:nvPr/>
            </p:nvSpPr>
            <p:spPr>
              <a:xfrm>
                <a:off x="172940" y="64881"/>
                <a:ext cx="11281718" cy="6270114"/>
              </a:xfrm>
              <a:prstGeom prst="rect">
                <a:avLst/>
              </a:prstGeom>
              <a:noFill/>
            </p:spPr>
            <p:txBody>
              <a:bodyPr wrap="square">
                <a:spAutoFit/>
              </a:bodyPr>
              <a:lstStyle/>
              <a:p>
                <a:pPr indent="609600">
                  <a:lnSpc>
                    <a:spcPct val="150000"/>
                  </a:lnSpc>
                  <a:spcBef>
                    <a:spcPts val="600"/>
                  </a:spcBef>
                  <a:spcAft>
                    <a:spcPts val="600"/>
                  </a:spcAft>
                </a:pPr>
                <a:r>
                  <a:rPr lang="zh-CN" sz="2400" b="1" dirty="0">
                    <a:solidFill>
                      <a:schemeClr val="accent1"/>
                    </a:solidFill>
                    <a:latin typeface="+mn-ea"/>
                  </a:rPr>
                  <a:t>情形</a:t>
                </a:r>
                <a:r>
                  <a:rPr lang="en-CN" sz="2400" b="1" dirty="0">
                    <a:solidFill>
                      <a:schemeClr val="accent1"/>
                    </a:solidFill>
                    <a:latin typeface="+mn-ea"/>
                  </a:rPr>
                  <a:t>2</a:t>
                </a:r>
                <a:r>
                  <a:rPr lang="zh-CN" altLang="en-US" sz="2400" b="1" dirty="0">
                    <a:solidFill>
                      <a:schemeClr val="accent1"/>
                    </a:solidFill>
                    <a:latin typeface="+mn-ea"/>
                  </a:rPr>
                  <a:t>：</a:t>
                </a:r>
                <a:r>
                  <a:rPr lang="zh-CN" sz="2400" b="1" dirty="0">
                    <a:solidFill>
                      <a:schemeClr val="accent1"/>
                    </a:solidFill>
                    <a:latin typeface="+mn-ea"/>
                  </a:rPr>
                  <a:t>基变量价值系数</a:t>
                </a:r>
                <a14:m>
                  <m:oMath xmlns:m="http://schemas.openxmlformats.org/officeDocument/2006/math">
                    <m:sSub>
                      <m:sSubPr>
                        <m:ctrlPr>
                          <a:rPr lang="en-CN" sz="2400" b="1" i="1">
                            <a:solidFill>
                              <a:schemeClr val="accent1"/>
                            </a:solidFill>
                            <a:latin typeface="Cambria Math" panose="02040503050406030204" pitchFamily="18" charset="0"/>
                          </a:rPr>
                        </m:ctrlPr>
                      </m:sSubPr>
                      <m:e>
                        <m:r>
                          <a:rPr lang="en-CN" sz="2400" b="1">
                            <a:solidFill>
                              <a:schemeClr val="accent1"/>
                            </a:solidFill>
                            <a:latin typeface="Cambria Math" panose="02040503050406030204" pitchFamily="18" charset="0"/>
                          </a:rPr>
                          <m:t>𝑐</m:t>
                        </m:r>
                      </m:e>
                      <m:sub>
                        <m:r>
                          <a:rPr lang="en-CN" sz="2400" b="1">
                            <a:solidFill>
                              <a:schemeClr val="accent1"/>
                            </a:solidFill>
                            <a:latin typeface="Cambria Math" panose="02040503050406030204" pitchFamily="18" charset="0"/>
                          </a:rPr>
                          <m:t>𝑟</m:t>
                        </m:r>
                      </m:sub>
                    </m:sSub>
                  </m:oMath>
                </a14:m>
                <a:r>
                  <a:rPr lang="zh-CN" sz="2400" b="1" dirty="0">
                    <a:solidFill>
                      <a:schemeClr val="accent1"/>
                    </a:solidFill>
                    <a:latin typeface="+mn-ea"/>
                  </a:rPr>
                  <a:t>的变化</a:t>
                </a:r>
                <a:endParaRPr lang="en-CN" sz="2400" b="1" dirty="0">
                  <a:solidFill>
                    <a:schemeClr val="accent1"/>
                  </a:solidFill>
                  <a:latin typeface="+mn-ea"/>
                </a:endParaRPr>
              </a:p>
              <a:p>
                <a:pPr indent="609600">
                  <a:lnSpc>
                    <a:spcPct val="150000"/>
                  </a:lnSpc>
                </a:pPr>
                <a:r>
                  <a:rPr lang="zh-CN" sz="2400" dirty="0">
                    <a:effectLst/>
                    <a:latin typeface="Times New Roman" panose="02020603050405020304" pitchFamily="18" charset="0"/>
                    <a:ea typeface="SimSun" panose="02010600030101010101" pitchFamily="2" charset="-122"/>
                  </a:rPr>
                  <a:t>若</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oMath>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pPr>
                <a:r>
                  <a:rPr lang="zh-CN" sz="2400" dirty="0">
                    <a:effectLst/>
                    <a:latin typeface="Times New Roman" panose="02020603050405020304" pitchFamily="18" charset="0"/>
                    <a:ea typeface="SimSun" panose="02010600030101010101" pitchFamily="2" charset="-122"/>
                  </a:rPr>
                  <a:t>其中：</a:t>
                </a:r>
                <a:endParaRPr lang="en-US" altLang="zh-CN" sz="2400" dirty="0">
                  <a:effectLst/>
                  <a:latin typeface="Times New Roman" panose="02020603050405020304" pitchFamily="18" charset="0"/>
                  <a:ea typeface="SimSun" panose="02010600030101010101" pitchFamily="2" charset="-122"/>
                </a:endParaRPr>
              </a:p>
              <a:p>
                <a:pPr indent="609600">
                  <a:lnSpc>
                    <a:spcPct val="150000"/>
                  </a:lnSpc>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1</m:t>
                              </m:r>
                            </m:sub>
                          </m:sSub>
                          <m:r>
                            <a:rPr lang="en-CN" sz="2400" i="1">
                              <a:effectLst/>
                              <a:latin typeface="Cambria Math" panose="02040503050406030204" pitchFamily="18" charset="0"/>
                              <a:ea typeface="SimSun" panose="02010600030101010101" pitchFamily="2" charset="-122"/>
                            </a:rPr>
                            <m:t> </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2</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𝑟</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𝑚</m:t>
                              </m:r>
                            </m:sub>
                          </m:sSub>
                        </m:e>
                      </m:d>
                    </m:oMath>
                  </m:oMathPara>
                </a14:m>
                <a:endParaRPr lang="en-US" sz="2400" i="1" dirty="0">
                  <a:effectLst/>
                  <a:latin typeface="Cambria Math" panose="02040503050406030204" pitchFamily="18" charset="0"/>
                  <a:ea typeface="SimSun" panose="02010600030101010101" pitchFamily="2" charset="-122"/>
                </a:endParaRPr>
              </a:p>
              <a:p>
                <a:pPr>
                  <a:lnSpc>
                    <a:spcPct val="150000"/>
                  </a:lnSpc>
                </a:pPr>
                <a14:m>
                  <m:oMathPara xmlns:m="http://schemas.openxmlformats.org/officeDocument/2006/math">
                    <m:oMathParaPr>
                      <m:jc m:val="centerGroup"/>
                    </m:oMathParaPr>
                    <m:oMath xmlns:m="http://schemas.openxmlformats.org/officeDocument/2006/math">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=(0 0⋯∆</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𝑟</m:t>
                          </m:r>
                        </m:sub>
                      </m:sSub>
                      <m:r>
                        <a:rPr lang="en-CN" sz="2400" i="1">
                          <a:effectLst/>
                          <a:latin typeface="Cambria Math" panose="02040503050406030204" pitchFamily="18" charset="0"/>
                          <a:ea typeface="SimSun" panose="02010600030101010101" pitchFamily="2" charset="-122"/>
                        </a:rPr>
                        <m:t>⋯0)</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pPr>
                <a:r>
                  <a:rPr lang="en-CN" sz="2400" dirty="0">
                    <a:effectLst/>
                    <a:latin typeface="SimSun" panose="02010600030101010101" pitchFamily="2" charset="-122"/>
                    <a:ea typeface="Times New Roman" panose="02020603050405020304" pitchFamily="18" charset="0"/>
                  </a:rPr>
                  <a:t> </a:t>
                </a:r>
                <a:r>
                  <a:rPr lang="zh-CN" sz="2400" dirty="0">
                    <a:effectLst/>
                    <a:latin typeface="Times New Roman" panose="02020603050405020304" pitchFamily="18" charset="0"/>
                    <a:ea typeface="SimSun" panose="02010600030101010101" pitchFamily="2" charset="-122"/>
                  </a:rPr>
                  <a:t>则</a:t>
                </a:r>
                <a:r>
                  <a:rPr lang="zh-CN" altLang="en-US" sz="2400" dirty="0">
                    <a:latin typeface="Times New Roman" panose="02020603050405020304" pitchFamily="18" charset="0"/>
                    <a:ea typeface="SimSun" panose="02010600030101010101" pitchFamily="2" charset="-122"/>
                  </a:rPr>
                  <a:t>非基变量检验数</a:t>
                </a:r>
                <a:endParaRPr lang="en-US" altLang="zh-CN" sz="2400" dirty="0">
                  <a:effectLst/>
                  <a:latin typeface="Times New Roman" panose="02020603050405020304" pitchFamily="18" charset="0"/>
                  <a:ea typeface="SimSun" panose="02010600030101010101" pitchFamily="2" charset="-122"/>
                </a:endParaRPr>
              </a:p>
              <a:p>
                <a:pPr indent="609600">
                  <a:lnSpc>
                    <a:spcPct val="150000"/>
                  </a:lnSpc>
                </a:pPr>
                <a14:m>
                  <m:oMathPara xmlns:m="http://schemas.openxmlformats.org/officeDocument/2006/math">
                    <m:oMathParaPr>
                      <m:jc m:val="centerGroup"/>
                    </m:oMathParaPr>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up>
                          <m:r>
                            <a:rPr lang="en-CN" sz="2400" i="1">
                              <a:effectLst/>
                              <a:latin typeface="Cambria Math" panose="02040503050406030204" pitchFamily="18" charset="0"/>
                              <a:ea typeface="SimSun" panose="02010600030101010101" pitchFamily="2" charset="-122"/>
                            </a:rPr>
                            <m:t>′</m:t>
                          </m:r>
                        </m:sup>
                      </m:sSubSup>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e>
                      </m:d>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r>
                        <a:rPr lang="en-CN" sz="2400" i="1">
                          <a:effectLst/>
                          <a:latin typeface="Cambria Math" panose="02040503050406030204" pitchFamily="18" charset="0"/>
                          <a:ea typeface="SimSun" panose="02010600030101010101" pitchFamily="2" charset="-122"/>
                        </a:rPr>
                        <m:t>𝑁</m:t>
                      </m:r>
                    </m:oMath>
                  </m:oMathPara>
                </a14:m>
                <a:endParaRPr lang="en-US" sz="2400" i="1" dirty="0">
                  <a:effectLst/>
                  <a:latin typeface="Cambria Math" panose="02040503050406030204" pitchFamily="18" charset="0"/>
                  <a:ea typeface="SimSun" panose="02010600030101010101" pitchFamily="2" charset="-122"/>
                </a:endParaRPr>
              </a:p>
              <a:p>
                <a:pPr indent="609600">
                  <a:lnSpc>
                    <a:spcPct val="150000"/>
                  </a:lnSpc>
                </a:pPr>
                <a14:m>
                  <m:oMathPara xmlns:m="http://schemas.openxmlformats.org/officeDocument/2006/math">
                    <m:oMathParaPr>
                      <m:jc m:val="centerGroup"/>
                    </m:oMathParaPr>
                    <m:oMath xmlns:m="http://schemas.openxmlformats.org/officeDocument/2006/math">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r>
                        <a:rPr lang="en-CN" sz="2400" i="1">
                          <a:effectLst/>
                          <a:latin typeface="Cambria Math" panose="02040503050406030204" pitchFamily="18" charset="0"/>
                          <a:ea typeface="SimSun" panose="02010600030101010101" pitchFamily="2" charset="-122"/>
                        </a:rPr>
                        <m:t>𝑁</m:t>
                      </m:r>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r>
                        <a:rPr lang="en-CN" sz="2400" i="1">
                          <a:effectLst/>
                          <a:latin typeface="Cambria Math" panose="02040503050406030204" pitchFamily="18" charset="0"/>
                          <a:ea typeface="SimSun" panose="02010600030101010101" pitchFamily="2" charset="-122"/>
                        </a:rPr>
                        <m:t>𝑁</m:t>
                      </m:r>
                    </m:oMath>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m:t>
                          </m:r>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r>
                        <a:rPr lang="en-CN" sz="2400" i="1">
                          <a:effectLst/>
                          <a:latin typeface="Cambria Math" panose="02040503050406030204" pitchFamily="18" charset="0"/>
                          <a:ea typeface="SimSun" panose="02010600030101010101" pitchFamily="2" charset="-122"/>
                        </a:rPr>
                        <m:t>𝑁</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pPr>
                <a:r>
                  <a:rPr lang="zh-CN" sz="2400" dirty="0">
                    <a:effectLst/>
                    <a:latin typeface="Times New Roman" panose="02020603050405020304" pitchFamily="18" charset="0"/>
                    <a:ea typeface="SimSun" panose="02010600030101010101" pitchFamily="2" charset="-122"/>
                  </a:rPr>
                  <a:t>令</a:t>
                </a:r>
                <a14:m>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up>
                        <m:r>
                          <a:rPr lang="en-CN" sz="2400" i="1">
                            <a:effectLst/>
                            <a:latin typeface="Cambria Math" panose="02040503050406030204" pitchFamily="18" charset="0"/>
                            <a:ea typeface="SimSun" panose="02010600030101010101" pitchFamily="2" charset="-122"/>
                          </a:rPr>
                          <m:t>′</m:t>
                        </m:r>
                      </m:sup>
                    </m:sSubSup>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m:t>
                        </m:r>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r>
                      <a:rPr lang="en-CN" sz="2400" i="1">
                        <a:effectLst/>
                        <a:latin typeface="Cambria Math" panose="02040503050406030204" pitchFamily="18" charset="0"/>
                        <a:ea typeface="SimSun" panose="02010600030101010101" pitchFamily="2" charset="-122"/>
                      </a:rPr>
                      <m:t>𝑁</m:t>
                    </m:r>
                    <m:r>
                      <a:rPr lang="en-CN" sz="2400" i="1">
                        <a:effectLst/>
                        <a:latin typeface="Cambria Math" panose="02040503050406030204" pitchFamily="18" charset="0"/>
                        <a:ea typeface="SimSun" panose="02010600030101010101" pitchFamily="2" charset="-122"/>
                      </a:rPr>
                      <m:t>≥0</m:t>
                    </m:r>
                  </m:oMath>
                </a14:m>
                <a:r>
                  <a:rPr lang="zh-CN" sz="2400" dirty="0">
                    <a:effectLst/>
                    <a:latin typeface="Times New Roman" panose="02020603050405020304" pitchFamily="18" charset="0"/>
                    <a:ea typeface="SimSun" panose="02010600030101010101" pitchFamily="2" charset="-122"/>
                  </a:rPr>
                  <a:t>，求出</a:t>
                </a:r>
                <a14:m>
                  <m:oMath xmlns:m="http://schemas.openxmlformats.org/officeDocument/2006/math">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𝑟</m:t>
                        </m:r>
                      </m:sub>
                    </m:sSub>
                  </m:oMath>
                </a14:m>
                <a:r>
                  <a:rPr lang="zh-CN" sz="2400" dirty="0">
                    <a:effectLst/>
                    <a:latin typeface="Times New Roman" panose="02020603050405020304" pitchFamily="18" charset="0"/>
                    <a:ea typeface="SimSun" panose="02010600030101010101" pitchFamily="2" charset="-122"/>
                  </a:rPr>
                  <a:t>的变化范围，此时最优解不变。</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否则，把最终单纯形表上的</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oMath>
                </a14:m>
                <a:r>
                  <a:rPr lang="zh-CN" sz="2400" dirty="0">
                    <a:effectLst/>
                    <a:latin typeface="Times New Roman" panose="02020603050405020304" pitchFamily="18" charset="0"/>
                    <a:ea typeface="SimSun" panose="02010600030101010101" pitchFamily="2" charset="-122"/>
                  </a:rPr>
                  <a:t>换成</a:t>
                </a:r>
                <a14:m>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up>
                        <m:r>
                          <a:rPr lang="en-CN" sz="2400" i="1">
                            <a:effectLst/>
                            <a:latin typeface="Cambria Math" panose="02040503050406030204" pitchFamily="18" charset="0"/>
                            <a:ea typeface="SimSun" panose="02010600030101010101" pitchFamily="2" charset="-122"/>
                          </a:rPr>
                          <m:t>′</m:t>
                        </m:r>
                      </m:sup>
                    </m:sSubSup>
                  </m:oMath>
                </a14:m>
                <a:r>
                  <a:rPr lang="zh-CN" sz="2400" dirty="0">
                    <a:effectLst/>
                    <a:latin typeface="Times New Roman" panose="02020603050405020304" pitchFamily="18" charset="0"/>
                    <a:ea typeface="SimSun" panose="02010600030101010101" pitchFamily="2" charset="-122"/>
                  </a:rPr>
                  <a:t>，</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𝑟</m:t>
                        </m:r>
                      </m:sub>
                    </m:sSub>
                  </m:oMath>
                </a14:m>
                <a:r>
                  <a:rPr lang="zh-CN" sz="2400" dirty="0">
                    <a:effectLst/>
                    <a:latin typeface="Times New Roman" panose="02020603050405020304" pitchFamily="18" charset="0"/>
                    <a:ea typeface="SimSun" panose="02010600030101010101" pitchFamily="2" charset="-122"/>
                  </a:rPr>
                  <a:t>换成</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𝑟</m:t>
                        </m:r>
                      </m:sub>
                    </m:sSub>
                    <m:r>
                      <a:rPr lang="en-CN" sz="2400" i="1">
                        <a:effectLst/>
                        <a:latin typeface="Cambria Math" panose="02040503050406030204" pitchFamily="18" charset="0"/>
                        <a:ea typeface="SimSun" panose="02010600030101010101" pitchFamily="2" charset="-122"/>
                      </a:rPr>
                      <m:t>′</m:t>
                    </m:r>
                  </m:oMath>
                </a14:m>
                <a:r>
                  <a:rPr lang="zh-CN" sz="2400" dirty="0">
                    <a:effectLst/>
                    <a:latin typeface="Times New Roman" panose="02020603050405020304" pitchFamily="18" charset="0"/>
                    <a:ea typeface="SimSun" panose="02010600030101010101" pitchFamily="2" charset="-122"/>
                  </a:rPr>
                  <a:t>，继续用单纯形法求解。</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2831CD1F-2555-B32D-8043-2F9FB224FD6E}"/>
                  </a:ext>
                </a:extLst>
              </p:cNvPr>
              <p:cNvSpPr txBox="1">
                <a:spLocks noRot="1" noChangeAspect="1" noMove="1" noResize="1" noEditPoints="1" noAdjustHandles="1" noChangeArrowheads="1" noChangeShapeType="1" noTextEdit="1"/>
              </p:cNvSpPr>
              <p:nvPr/>
            </p:nvSpPr>
            <p:spPr>
              <a:xfrm>
                <a:off x="172940" y="64881"/>
                <a:ext cx="11281718" cy="6270114"/>
              </a:xfrm>
              <a:prstGeom prst="rect">
                <a:avLst/>
              </a:prstGeom>
              <a:blipFill>
                <a:blip r:embed="rId2"/>
                <a:stretch>
                  <a:fillRect b="-107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4F3F3A-9FA7-031E-C5B2-0EDA6887BFA9}"/>
                  </a:ext>
                </a:extLst>
              </p:cNvPr>
              <p:cNvSpPr txBox="1"/>
              <p:nvPr/>
            </p:nvSpPr>
            <p:spPr>
              <a:xfrm>
                <a:off x="63394" y="246321"/>
                <a:ext cx="6293808" cy="4571508"/>
              </a:xfrm>
              <a:prstGeom prst="rect">
                <a:avLst/>
              </a:prstGeom>
              <a:noFill/>
            </p:spPr>
            <p:txBody>
              <a:bodyPr wrap="square">
                <a:spAutoFit/>
              </a:bodyPr>
              <a:lstStyle/>
              <a:p>
                <a:pPr indent="621665">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例</a:t>
                </a:r>
                <a:r>
                  <a:rPr lang="en-US" altLang="zh-CN" sz="2400" dirty="0">
                    <a:effectLst/>
                    <a:latin typeface="Times New Roman" panose="02020603050405020304" pitchFamily="18" charset="0"/>
                    <a:ea typeface="SimSun" panose="02010600030101010101" pitchFamily="2" charset="-122"/>
                  </a:rPr>
                  <a:t>1</a:t>
                </a:r>
                <a:r>
                  <a:rPr lang="zh-CN" sz="2400" dirty="0">
                    <a:effectLst/>
                    <a:latin typeface="Times New Roman" panose="02020603050405020304" pitchFamily="18" charset="0"/>
                    <a:ea typeface="SimSun" panose="02010600030101010101" pitchFamily="2" charset="-122"/>
                  </a:rPr>
                  <a:t> 已知线性规划问题的标准形式为：</a:t>
                </a:r>
                <a:endParaRPr lang="en-CN" sz="2400" dirty="0">
                  <a:effectLst/>
                  <a:latin typeface="Times New Roman" panose="02020603050405020304" pitchFamily="18" charset="0"/>
                  <a:ea typeface="Times New Roman" panose="020206030504050203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func>
                        <m:funcPr>
                          <m:ctrlPr>
                            <a:rPr lang="en-US" sz="2400" b="0" i="1" smtClean="0">
                              <a:effectLst/>
                              <a:latin typeface="Cambria Math" panose="02040503050406030204" pitchFamily="18" charset="0"/>
                              <a:ea typeface="SimSun" panose="02010600030101010101" pitchFamily="2" charset="-122"/>
                            </a:rPr>
                          </m:ctrlPr>
                        </m:funcPr>
                        <m:fName>
                          <m:r>
                            <m:rPr>
                              <m:sty m:val="p"/>
                            </m:rPr>
                            <a:rPr lang="en-US" sz="2400" i="0">
                              <a:effectLst/>
                              <a:latin typeface="Cambria Math" panose="02040503050406030204" pitchFamily="18" charset="0"/>
                              <a:ea typeface="SimSun" panose="02010600030101010101" pitchFamily="2" charset="-122"/>
                            </a:rPr>
                            <m:t>min</m:t>
                          </m:r>
                        </m:fName>
                        <m:e>
                          <m:r>
                            <a:rPr lang="en-US" altLang="zh-CN" sz="2400" i="1">
                              <a:latin typeface="Cambria Math" panose="02040503050406030204" pitchFamily="18" charset="0"/>
                              <a:ea typeface="SimSun" panose="02010600030101010101" pitchFamily="2" charset="-122"/>
                            </a:rPr>
                            <m:t>𝑧</m:t>
                          </m:r>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1</m:t>
                              </m:r>
                            </m:sub>
                          </m:sSub>
                          <m:r>
                            <a:rPr lang="en-US" altLang="zh-CN" sz="2400" i="1">
                              <a:latin typeface="Cambria Math" panose="02040503050406030204" pitchFamily="18" charset="0"/>
                              <a:ea typeface="SimSun" panose="02010600030101010101" pitchFamily="2" charset="-122"/>
                            </a:rPr>
                            <m:t>−2</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2</m:t>
                              </m:r>
                            </m:sub>
                          </m:sSub>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3</m:t>
                              </m:r>
                            </m:sub>
                          </m:sSub>
                          <m:r>
                            <a:rPr lang="en-US" altLang="zh-CN" sz="2400" i="1">
                              <a:latin typeface="Cambria Math" panose="02040503050406030204" pitchFamily="18" charset="0"/>
                              <a:ea typeface="SimSun" panose="02010600030101010101" pitchFamily="2" charset="-122"/>
                            </a:rPr>
                            <m:t>+0∙</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4</m:t>
                              </m:r>
                            </m:sub>
                          </m:sSub>
                          <m:r>
                            <a:rPr lang="en-US" altLang="zh-CN" sz="2400" i="1">
                              <a:latin typeface="Cambria Math" panose="02040503050406030204" pitchFamily="18" charset="0"/>
                              <a:ea typeface="SimSun" panose="02010600030101010101" pitchFamily="2" charset="-122"/>
                            </a:rPr>
                            <m:t>+0∙</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5</m:t>
                              </m:r>
                            </m:sub>
                          </m:sSub>
                        </m:e>
                      </m:func>
                    </m:oMath>
                    <m:oMath xmlns:m="http://schemas.openxmlformats.org/officeDocument/2006/math">
                      <m:r>
                        <a:rPr lang="en-US" sz="2400" i="1">
                          <a:effectLst/>
                          <a:latin typeface="Cambria Math" panose="02040503050406030204" pitchFamily="18" charset="0"/>
                          <a:ea typeface="SimSun" panose="02010600030101010101" pitchFamily="2" charset="-122"/>
                        </a:rPr>
                        <m:t>𝑠</m:t>
                      </m:r>
                      <m:r>
                        <a:rPr lang="en-US" sz="2400" i="1">
                          <a:effectLst/>
                          <a:latin typeface="Cambria Math" panose="02040503050406030204" pitchFamily="18" charset="0"/>
                          <a:ea typeface="SimSun" panose="02010600030101010101" pitchFamily="2" charset="-122"/>
                        </a:rPr>
                        <m:t>.</m:t>
                      </m:r>
                      <m:r>
                        <a:rPr lang="en-US" sz="2400" i="1">
                          <a:effectLst/>
                          <a:latin typeface="Cambria Math" panose="02040503050406030204" pitchFamily="18" charset="0"/>
                          <a:ea typeface="SimSun" panose="02010600030101010101" pitchFamily="2" charset="-122"/>
                        </a:rPr>
                        <m:t>𝑡</m:t>
                      </m:r>
                      <m:r>
                        <a:rPr lang="en-US" sz="2400" i="1">
                          <a:effectLst/>
                          <a:latin typeface="Cambria Math" panose="02040503050406030204" pitchFamily="18" charset="0"/>
                          <a:ea typeface="SimSun" panose="02010600030101010101" pitchFamily="2" charset="-122"/>
                        </a:rPr>
                        <m:t>.</m:t>
                      </m:r>
                      <m:d>
                        <m:dPr>
                          <m:begChr m:val="{"/>
                          <m:endChr m:val=""/>
                          <m:ctrlPr>
                            <a:rPr lang="en-CN" sz="2400" i="1">
                              <a:effectLst/>
                              <a:latin typeface="Cambria Math" panose="02040503050406030204" pitchFamily="18" charset="0"/>
                              <a:ea typeface="SimSun" panose="02010600030101010101" pitchFamily="2" charset="-122"/>
                            </a:rPr>
                          </m:ctrlPr>
                        </m:dPr>
                        <m:e>
                          <m:eqArr>
                            <m:eqArrPr>
                              <m:ctrlPr>
                                <a:rPr lang="en-CN" sz="2400" i="1">
                                  <a:effectLst/>
                                  <a:latin typeface="Cambria Math" panose="02040503050406030204" pitchFamily="18" charset="0"/>
                                  <a:ea typeface="SimSun" panose="02010600030101010101" pitchFamily="2" charset="-122"/>
                                </a:rPr>
                              </m:ctrlPr>
                            </m:eqArrPr>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2</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3</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4</m:t>
                                  </m:r>
                                </m:sub>
                              </m:sSub>
                              <m:r>
                                <a:rPr lang="en-US" sz="2400" i="1">
                                  <a:effectLst/>
                                  <a:latin typeface="Cambria Math" panose="02040503050406030204" pitchFamily="18" charset="0"/>
                                  <a:ea typeface="SimSun" panose="02010600030101010101" pitchFamily="2" charset="-122"/>
                                </a:rPr>
                                <m:t>=6</m:t>
                              </m:r>
                            </m:e>
                            <m:e>
                              <m:r>
                                <a:rPr lang="en-US" sz="2400" i="1">
                                  <a:effectLst/>
                                  <a:latin typeface="Cambria Math" panose="02040503050406030204" pitchFamily="18" charset="0"/>
                                  <a:ea typeface="SimSun" panose="02010600030101010101" pitchFamily="2" charset="-122"/>
                                </a:rPr>
                                <m:t>2</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2</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5</m:t>
                                  </m:r>
                                </m:sub>
                              </m:sSub>
                              <m:r>
                                <a:rPr lang="en-US" sz="2400" i="1">
                                  <a:effectLst/>
                                  <a:latin typeface="Cambria Math" panose="02040503050406030204" pitchFamily="18" charset="0"/>
                                  <a:ea typeface="SimSun" panose="02010600030101010101" pitchFamily="2" charset="-122"/>
                                </a:rPr>
                                <m:t>=</m:t>
                              </m:r>
                              <m:r>
                                <a:rPr lang="en-US" sz="2400" b="0" i="1" smtClean="0">
                                  <a:effectLst/>
                                  <a:latin typeface="Cambria Math" panose="02040503050406030204" pitchFamily="18" charset="0"/>
                                  <a:ea typeface="SimSun" panose="02010600030101010101" pitchFamily="2" charset="-122"/>
                                </a:rPr>
                                <m:t>4</m:t>
                              </m:r>
                            </m:e>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𝑖</m:t>
                                  </m:r>
                                </m:sub>
                              </m:sSub>
                              <m:r>
                                <a:rPr lang="en-US" sz="2400" i="1">
                                  <a:effectLst/>
                                  <a:latin typeface="Cambria Math" panose="02040503050406030204" pitchFamily="18" charset="0"/>
                                  <a:ea typeface="SimSun" panose="02010600030101010101" pitchFamily="2" charset="-122"/>
                                </a:rPr>
                                <m:t>≥0,</m:t>
                              </m:r>
                              <m:r>
                                <a:rPr lang="en-US" sz="2400" i="1">
                                  <a:effectLst/>
                                  <a:latin typeface="Cambria Math" panose="02040503050406030204" pitchFamily="18" charset="0"/>
                                  <a:ea typeface="SimSun" panose="02010600030101010101" pitchFamily="2" charset="-122"/>
                                </a:rPr>
                                <m:t>𝑖</m:t>
                              </m:r>
                              <m:r>
                                <a:rPr lang="en-US" sz="2400" i="1">
                                  <a:effectLst/>
                                  <a:latin typeface="Cambria Math" panose="02040503050406030204" pitchFamily="18" charset="0"/>
                                  <a:ea typeface="SimSun" panose="02010600030101010101" pitchFamily="2" charset="-122"/>
                                </a:rPr>
                                <m:t>=1,2,⋯,5</m:t>
                              </m:r>
                            </m:e>
                          </m:eqArr>
                        </m:e>
                      </m:d>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其最优单纯形表见表</a:t>
                </a:r>
                <a:r>
                  <a:rPr lang="en-US" sz="2400" dirty="0">
                    <a:effectLst/>
                    <a:latin typeface="SimSun" panose="02010600030101010101" pitchFamily="2" charset="-122"/>
                    <a:ea typeface="Times New Roman" panose="02020603050405020304" pitchFamily="18" charset="0"/>
                  </a:rPr>
                  <a:t>1</a:t>
                </a:r>
                <a:r>
                  <a:rPr lang="zh-CN" sz="2400" dirty="0">
                    <a:effectLst/>
                    <a:latin typeface="Times New Roman" panose="02020603050405020304" pitchFamily="18" charset="0"/>
                    <a:ea typeface="SimSun" panose="02010600030101010101" pitchFamily="2" charset="-122"/>
                  </a:rPr>
                  <a:t>。问（</a:t>
                </a:r>
                <a:r>
                  <a:rPr lang="en-US" sz="2400" dirty="0">
                    <a:effectLst/>
                    <a:latin typeface="SimSun" panose="02010600030101010101" pitchFamily="2" charset="-122"/>
                    <a:ea typeface="Times New Roman" panose="02020603050405020304" pitchFamily="18" charset="0"/>
                  </a:rPr>
                  <a:t>1</a:t>
                </a:r>
                <a:r>
                  <a:rPr lang="zh-CN" sz="2400" dirty="0">
                    <a:effectLst/>
                    <a:latin typeface="Times New Roman" panose="02020603050405020304" pitchFamily="18" charset="0"/>
                    <a:ea typeface="SimSun" panose="02010600030101010101" pitchFamily="2" charset="-122"/>
                  </a:rPr>
                  <a:t>）当</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由</a:t>
                </a:r>
                <a:r>
                  <a:rPr lang="en-US" sz="2400" dirty="0">
                    <a:effectLst/>
                    <a:latin typeface="SimSun" panose="02010600030101010101" pitchFamily="2" charset="-122"/>
                    <a:ea typeface="Times New Roman" panose="02020603050405020304" pitchFamily="18" charset="0"/>
                  </a:rPr>
                  <a:t>1</a:t>
                </a:r>
                <a:r>
                  <a:rPr lang="zh-CN" sz="2400" dirty="0">
                    <a:effectLst/>
                    <a:latin typeface="Times New Roman" panose="02020603050405020304" pitchFamily="18" charset="0"/>
                    <a:ea typeface="SimSun" panose="02010600030101010101" pitchFamily="2" charset="-122"/>
                  </a:rPr>
                  <a:t>变成</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=−4</m:t>
                    </m:r>
                  </m:oMath>
                </a14:m>
                <a:r>
                  <a:rPr lang="zh-CN" sz="2400" dirty="0">
                    <a:effectLst/>
                    <a:latin typeface="Times New Roman" panose="02020603050405020304" pitchFamily="18" charset="0"/>
                    <a:ea typeface="SimSun" panose="02010600030101010101" pitchFamily="2" charset="-122"/>
                  </a:rPr>
                  <a:t>时，求新问题的最优解。（</a:t>
                </a:r>
                <a:r>
                  <a:rPr lang="en-US" sz="2400" dirty="0">
                    <a:effectLst/>
                    <a:latin typeface="SimSun" panose="02010600030101010101" pitchFamily="2" charset="-122"/>
                    <a:ea typeface="Times New Roman" panose="02020603050405020304" pitchFamily="18" charset="0"/>
                  </a:rPr>
                  <a:t>2</a:t>
                </a:r>
                <a:r>
                  <a:rPr lang="zh-CN" sz="2400" dirty="0">
                    <a:effectLst/>
                    <a:latin typeface="Times New Roman" panose="02020603050405020304" pitchFamily="18" charset="0"/>
                    <a:ea typeface="SimSun" panose="02010600030101010101" pitchFamily="2" charset="-122"/>
                  </a:rPr>
                  <a:t>）讨论</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5</m:t>
                        </m:r>
                      </m:sub>
                    </m:sSub>
                  </m:oMath>
                </a14:m>
                <a:r>
                  <a:rPr lang="zh-CN" sz="2400" dirty="0">
                    <a:effectLst/>
                    <a:latin typeface="Times New Roman" panose="02020603050405020304" pitchFamily="18" charset="0"/>
                    <a:ea typeface="SimSun" panose="02010600030101010101" pitchFamily="2" charset="-122"/>
                  </a:rPr>
                  <a:t>在什么范围内变化时，原有的最优解仍是最优解。</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3C4F3F3A-9FA7-031E-C5B2-0EDA6887BFA9}"/>
                  </a:ext>
                </a:extLst>
              </p:cNvPr>
              <p:cNvSpPr txBox="1">
                <a:spLocks noRot="1" noChangeAspect="1" noMove="1" noResize="1" noEditPoints="1" noAdjustHandles="1" noChangeArrowheads="1" noChangeShapeType="1" noTextEdit="1"/>
              </p:cNvSpPr>
              <p:nvPr/>
            </p:nvSpPr>
            <p:spPr>
              <a:xfrm>
                <a:off x="63394" y="246321"/>
                <a:ext cx="6293808" cy="4571508"/>
              </a:xfrm>
              <a:prstGeom prst="rect">
                <a:avLst/>
              </a:prstGeom>
              <a:blipFill>
                <a:blip r:embed="rId2"/>
                <a:stretch>
                  <a:fillRect l="-1452" b="-17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BAFCAF5-535D-160D-9AC7-BDBD15713BF4}"/>
                  </a:ext>
                </a:extLst>
              </p:cNvPr>
              <p:cNvGraphicFramePr>
                <a:graphicFrameLocks noGrp="1"/>
              </p:cNvGraphicFramePr>
              <p:nvPr>
                <p:extLst>
                  <p:ext uri="{D42A27DB-BD31-4B8C-83A1-F6EECF244321}">
                    <p14:modId xmlns:p14="http://schemas.microsoft.com/office/powerpoint/2010/main" val="3414911990"/>
                  </p:ext>
                </p:extLst>
              </p:nvPr>
            </p:nvGraphicFramePr>
            <p:xfrm>
              <a:off x="6285468" y="3150973"/>
              <a:ext cx="5616144" cy="3460706"/>
            </p:xfrm>
            <a:graphic>
              <a:graphicData uri="http://schemas.openxmlformats.org/drawingml/2006/table">
                <a:tbl>
                  <a:tblPr firstRow="1" firstCol="1" bandRow="1"/>
                  <a:tblGrid>
                    <a:gridCol w="702018">
                      <a:extLst>
                        <a:ext uri="{9D8B030D-6E8A-4147-A177-3AD203B41FA5}">
                          <a16:colId xmlns:a16="http://schemas.microsoft.com/office/drawing/2014/main" val="1921290952"/>
                        </a:ext>
                      </a:extLst>
                    </a:gridCol>
                    <a:gridCol w="702018">
                      <a:extLst>
                        <a:ext uri="{9D8B030D-6E8A-4147-A177-3AD203B41FA5}">
                          <a16:colId xmlns:a16="http://schemas.microsoft.com/office/drawing/2014/main" val="827998290"/>
                        </a:ext>
                      </a:extLst>
                    </a:gridCol>
                    <a:gridCol w="702018">
                      <a:extLst>
                        <a:ext uri="{9D8B030D-6E8A-4147-A177-3AD203B41FA5}">
                          <a16:colId xmlns:a16="http://schemas.microsoft.com/office/drawing/2014/main" val="3590109705"/>
                        </a:ext>
                      </a:extLst>
                    </a:gridCol>
                    <a:gridCol w="702018">
                      <a:extLst>
                        <a:ext uri="{9D8B030D-6E8A-4147-A177-3AD203B41FA5}">
                          <a16:colId xmlns:a16="http://schemas.microsoft.com/office/drawing/2014/main" val="547053482"/>
                        </a:ext>
                      </a:extLst>
                    </a:gridCol>
                    <a:gridCol w="702018">
                      <a:extLst>
                        <a:ext uri="{9D8B030D-6E8A-4147-A177-3AD203B41FA5}">
                          <a16:colId xmlns:a16="http://schemas.microsoft.com/office/drawing/2014/main" val="3016134898"/>
                        </a:ext>
                      </a:extLst>
                    </a:gridCol>
                    <a:gridCol w="702018">
                      <a:extLst>
                        <a:ext uri="{9D8B030D-6E8A-4147-A177-3AD203B41FA5}">
                          <a16:colId xmlns:a16="http://schemas.microsoft.com/office/drawing/2014/main" val="2950406472"/>
                        </a:ext>
                      </a:extLst>
                    </a:gridCol>
                    <a:gridCol w="702018">
                      <a:extLst>
                        <a:ext uri="{9D8B030D-6E8A-4147-A177-3AD203B41FA5}">
                          <a16:colId xmlns:a16="http://schemas.microsoft.com/office/drawing/2014/main" val="1998197908"/>
                        </a:ext>
                      </a:extLst>
                    </a:gridCol>
                    <a:gridCol w="702018">
                      <a:extLst>
                        <a:ext uri="{9D8B030D-6E8A-4147-A177-3AD203B41FA5}">
                          <a16:colId xmlns:a16="http://schemas.microsoft.com/office/drawing/2014/main" val="2409998787"/>
                        </a:ext>
                      </a:extLst>
                    </a:gridCol>
                  </a:tblGrid>
                  <a:tr h="717996">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𝑗</m:t>
                                    </m:r>
                                  </m:sub>
                                </m:sSub>
                                <m:r>
                                  <a:rPr lang="en-CN" sz="2400" i="1">
                                    <a:effectLst/>
                                    <a:latin typeface="Cambria Math" panose="02040503050406030204" pitchFamily="18" charset="0"/>
                                    <a:ea typeface="SimSun" panose="02010600030101010101" pitchFamily="2" charset="-122"/>
                                  </a:rPr>
                                  <m:t>→</m:t>
                                </m:r>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0917723"/>
                      </a:ext>
                    </a:extLst>
                  </a:tr>
                  <a:tr h="683582">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𝑏</m:t>
                                    </m:r>
                                  </m:e>
                                </m:acc>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1</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3</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4</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5</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57345"/>
                      </a:ext>
                    </a:extLst>
                  </a:tr>
                  <a:tr h="670566">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6</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750908"/>
                      </a:ext>
                    </a:extLst>
                  </a:tr>
                  <a:tr h="670566">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5</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7766861"/>
                      </a:ext>
                    </a:extLst>
                  </a:tr>
                  <a:tr h="717996">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𝑗</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187297"/>
                      </a:ext>
                    </a:extLst>
                  </a:tr>
                </a:tbl>
              </a:graphicData>
            </a:graphic>
          </p:graphicFrame>
        </mc:Choice>
        <mc:Fallback xmlns="">
          <p:graphicFrame>
            <p:nvGraphicFramePr>
              <p:cNvPr id="8" name="Table 7">
                <a:extLst>
                  <a:ext uri="{FF2B5EF4-FFF2-40B4-BE49-F238E27FC236}">
                    <a16:creationId xmlns:a16="http://schemas.microsoft.com/office/drawing/2014/main" id="{FBAFCAF5-535D-160D-9AC7-BDBD15713BF4}"/>
                  </a:ext>
                </a:extLst>
              </p:cNvPr>
              <p:cNvGraphicFramePr>
                <a:graphicFrameLocks noGrp="1"/>
              </p:cNvGraphicFramePr>
              <p:nvPr>
                <p:extLst>
                  <p:ext uri="{D42A27DB-BD31-4B8C-83A1-F6EECF244321}">
                    <p14:modId xmlns:p14="http://schemas.microsoft.com/office/powerpoint/2010/main" val="3414911990"/>
                  </p:ext>
                </p:extLst>
              </p:nvPr>
            </p:nvGraphicFramePr>
            <p:xfrm>
              <a:off x="6285468" y="3150973"/>
              <a:ext cx="5616144" cy="3460706"/>
            </p:xfrm>
            <a:graphic>
              <a:graphicData uri="http://schemas.openxmlformats.org/drawingml/2006/table">
                <a:tbl>
                  <a:tblPr firstRow="1" firstCol="1" bandRow="1"/>
                  <a:tblGrid>
                    <a:gridCol w="702018">
                      <a:extLst>
                        <a:ext uri="{9D8B030D-6E8A-4147-A177-3AD203B41FA5}">
                          <a16:colId xmlns:a16="http://schemas.microsoft.com/office/drawing/2014/main" val="1921290952"/>
                        </a:ext>
                      </a:extLst>
                    </a:gridCol>
                    <a:gridCol w="702018">
                      <a:extLst>
                        <a:ext uri="{9D8B030D-6E8A-4147-A177-3AD203B41FA5}">
                          <a16:colId xmlns:a16="http://schemas.microsoft.com/office/drawing/2014/main" val="827998290"/>
                        </a:ext>
                      </a:extLst>
                    </a:gridCol>
                    <a:gridCol w="702018">
                      <a:extLst>
                        <a:ext uri="{9D8B030D-6E8A-4147-A177-3AD203B41FA5}">
                          <a16:colId xmlns:a16="http://schemas.microsoft.com/office/drawing/2014/main" val="3590109705"/>
                        </a:ext>
                      </a:extLst>
                    </a:gridCol>
                    <a:gridCol w="702018">
                      <a:extLst>
                        <a:ext uri="{9D8B030D-6E8A-4147-A177-3AD203B41FA5}">
                          <a16:colId xmlns:a16="http://schemas.microsoft.com/office/drawing/2014/main" val="547053482"/>
                        </a:ext>
                      </a:extLst>
                    </a:gridCol>
                    <a:gridCol w="702018">
                      <a:extLst>
                        <a:ext uri="{9D8B030D-6E8A-4147-A177-3AD203B41FA5}">
                          <a16:colId xmlns:a16="http://schemas.microsoft.com/office/drawing/2014/main" val="3016134898"/>
                        </a:ext>
                      </a:extLst>
                    </a:gridCol>
                    <a:gridCol w="702018">
                      <a:extLst>
                        <a:ext uri="{9D8B030D-6E8A-4147-A177-3AD203B41FA5}">
                          <a16:colId xmlns:a16="http://schemas.microsoft.com/office/drawing/2014/main" val="2950406472"/>
                        </a:ext>
                      </a:extLst>
                    </a:gridCol>
                    <a:gridCol w="702018">
                      <a:extLst>
                        <a:ext uri="{9D8B030D-6E8A-4147-A177-3AD203B41FA5}">
                          <a16:colId xmlns:a16="http://schemas.microsoft.com/office/drawing/2014/main" val="1998197908"/>
                        </a:ext>
                      </a:extLst>
                    </a:gridCol>
                    <a:gridCol w="702018">
                      <a:extLst>
                        <a:ext uri="{9D8B030D-6E8A-4147-A177-3AD203B41FA5}">
                          <a16:colId xmlns:a16="http://schemas.microsoft.com/office/drawing/2014/main" val="2409998787"/>
                        </a:ext>
                      </a:extLst>
                    </a:gridCol>
                  </a:tblGrid>
                  <a:tr h="717996">
                    <a:tc gridSpan="3">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1754" r="-166467" b="-385965"/>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0917723"/>
                      </a:ext>
                    </a:extLst>
                  </a:tr>
                  <a:tr h="683582">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107407" r="-694643" b="-307407"/>
                          </a:stretch>
                        </a:blip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8214" t="-107407" r="-496429" b="-307407"/>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03636" t="-107407" r="-405455" b="-307407"/>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6429" t="-107407" r="-298214" b="-307407"/>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05455" t="-107407" r="-203636" b="-307407"/>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94643" t="-107407" r="-100000" b="-307407"/>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07273" t="-107407" r="-1818" b="-307407"/>
                          </a:stretch>
                        </a:blipFill>
                      </a:tcPr>
                    </a:tc>
                    <a:extLst>
                      <a:ext uri="{0D108BD9-81ED-4DB2-BD59-A6C34878D82A}">
                        <a16:rowId xmlns:a16="http://schemas.microsoft.com/office/drawing/2014/main" val="111457345"/>
                      </a:ext>
                    </a:extLst>
                  </a:tr>
                  <a:tr h="670566">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1818" t="-215385" r="-607273" b="-219231"/>
                          </a:stretch>
                        </a:blip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6</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750908"/>
                      </a:ext>
                    </a:extLst>
                  </a:tr>
                  <a:tr h="670566">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1818" t="-309434" r="-607273" b="-115094"/>
                          </a:stretch>
                        </a:blip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7766861"/>
                      </a:ext>
                    </a:extLst>
                  </a:tr>
                  <a:tr h="717996">
                    <a:tc gridSpan="3">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380702" r="-166467" b="-7018"/>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187297"/>
                      </a:ext>
                    </a:extLst>
                  </a:tr>
                </a:tbl>
              </a:graphicData>
            </a:graphic>
          </p:graphicFrame>
        </mc:Fallback>
      </mc:AlternateContent>
      <p:sp>
        <p:nvSpPr>
          <p:cNvPr id="3" name="文本框 2">
            <a:extLst>
              <a:ext uri="{FF2B5EF4-FFF2-40B4-BE49-F238E27FC236}">
                <a16:creationId xmlns:a16="http://schemas.microsoft.com/office/drawing/2014/main" id="{46883358-D3A1-517A-38F9-E248C814A19B}"/>
              </a:ext>
            </a:extLst>
          </p:cNvPr>
          <p:cNvSpPr txBox="1"/>
          <p:nvPr/>
        </p:nvSpPr>
        <p:spPr>
          <a:xfrm>
            <a:off x="8338351" y="2678382"/>
            <a:ext cx="6094520" cy="46166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表</a:t>
            </a:r>
            <a:r>
              <a:rPr lang="en-US" altLang="zh-CN" sz="2400" dirty="0">
                <a:effectLst/>
                <a:latin typeface="SimSun" panose="02010600030101010101" pitchFamily="2" charset="-122"/>
                <a:ea typeface="Times New Roman" panose="02020603050405020304" pitchFamily="18" charset="0"/>
              </a:rPr>
              <a:t>1</a:t>
            </a:r>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E7B8E7F-3147-D1A5-CA28-68A47869CAC8}"/>
                  </a:ext>
                </a:extLst>
              </p:cNvPr>
              <p:cNvSpPr txBox="1"/>
              <p:nvPr/>
            </p:nvSpPr>
            <p:spPr>
              <a:xfrm>
                <a:off x="818454" y="636761"/>
                <a:ext cx="10358531" cy="2238241"/>
              </a:xfrm>
              <a:prstGeom prst="rect">
                <a:avLst/>
              </a:prstGeom>
              <a:noFill/>
            </p:spPr>
            <p:txBody>
              <a:bodyPr wrap="square">
                <a:spAutoFit/>
              </a:bodyPr>
              <a:lstStyle/>
              <a:p>
                <a:pPr indent="609600" algn="just">
                  <a:lnSpc>
                    <a:spcPct val="150000"/>
                  </a:lnSpc>
                  <a:spcBef>
                    <a:spcPts val="600"/>
                  </a:spcBef>
                  <a:spcAft>
                    <a:spcPts val="600"/>
                  </a:spcAft>
                </a:pPr>
                <a:r>
                  <a:rPr lang="zh-CN" sz="2400" b="1" dirty="0">
                    <a:effectLst/>
                    <a:latin typeface="Times New Roman" panose="02020603050405020304" pitchFamily="18" charset="0"/>
                    <a:ea typeface="SimSun" panose="02010600030101010101" pitchFamily="2" charset="-122"/>
                  </a:rPr>
                  <a:t>解</a:t>
                </a:r>
                <a:r>
                  <a:rPr lang="zh-CN" altLang="en-US" sz="2400" b="1" dirty="0">
                    <a:effectLst/>
                    <a:latin typeface="Times New Roman" panose="02020603050405020304" pitchFamily="18" charset="0"/>
                    <a:ea typeface="SimSun" panose="02010600030101010101" pitchFamily="2" charset="-122"/>
                  </a:rPr>
                  <a:t>：</a:t>
                </a:r>
                <a:r>
                  <a:rPr lang="zh-CN" sz="2400" dirty="0">
                    <a:effectLst/>
                    <a:latin typeface="Times New Roman" panose="02020603050405020304" pitchFamily="18" charset="0"/>
                    <a:ea typeface="SimSun" panose="02010600030101010101" pitchFamily="2" charset="-122"/>
                  </a:rPr>
                  <a:t>（</a:t>
                </a:r>
                <a:r>
                  <a:rPr lang="en-CN" sz="2400" dirty="0">
                    <a:effectLst/>
                    <a:latin typeface="SimSun" panose="02010600030101010101" pitchFamily="2" charset="-122"/>
                    <a:ea typeface="Times New Roman" panose="02020603050405020304" pitchFamily="18" charset="0"/>
                  </a:rPr>
                  <a:t>1</a:t>
                </a:r>
                <a:r>
                  <a:rPr lang="zh-CN" sz="2400" dirty="0">
                    <a:effectLst/>
                    <a:latin typeface="SimSun" panose="02010600030101010101" pitchFamily="2" charset="-122"/>
                    <a:ea typeface="Times New Roman" panose="02020603050405020304" pitchFamily="18" charset="0"/>
                  </a:rPr>
                  <a:t>）由表</a:t>
                </a:r>
                <a:r>
                  <a:rPr lang="en-CN" sz="2400" dirty="0">
                    <a:effectLst/>
                    <a:latin typeface="SimSun" panose="02010600030101010101" pitchFamily="2" charset="-122"/>
                    <a:ea typeface="Times New Roman" panose="02020603050405020304" pitchFamily="18" charset="0"/>
                  </a:rPr>
                  <a:t>1</a:t>
                </a:r>
                <a:r>
                  <a:rPr lang="zh-CN" sz="2400" dirty="0">
                    <a:effectLst/>
                    <a:latin typeface="SimSun" panose="02010600030101010101" pitchFamily="2" charset="-122"/>
                    <a:ea typeface="Times New Roman" panose="02020603050405020304" pitchFamily="18" charset="0"/>
                  </a:rPr>
                  <a:t>知，</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是非基变量</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的系数</a:t>
                </a:r>
                <a:r>
                  <a:rPr lang="zh-CN" altLang="en-US" sz="2400" dirty="0">
                    <a:effectLst/>
                    <a:latin typeface="Times New Roman" panose="02020603050405020304" pitchFamily="18" charset="0"/>
                    <a:ea typeface="SimSun" panose="02010600030101010101" pitchFamily="2" charset="-122"/>
                  </a:rPr>
                  <a:t>，当其发生改变时</a:t>
                </a:r>
                <a:r>
                  <a:rPr lang="zh-CN" altLang="zh-CN" sz="2400" dirty="0">
                    <a:latin typeface="Times New Roman" panose="02020603050405020304" pitchFamily="18" charset="0"/>
                    <a:ea typeface="SimSun" panose="02010600030101010101" pitchFamily="2" charset="-122"/>
                  </a:rPr>
                  <a:t>受影响的只是</a:t>
                </a:r>
                <a14:m>
                  <m:oMath xmlns:m="http://schemas.openxmlformats.org/officeDocument/2006/math">
                    <m:sSub>
                      <m:sSubPr>
                        <m:ctrlPr>
                          <a:rPr lang="en-CN" altLang="zh-CN" sz="2400" i="1">
                            <a:latin typeface="Cambria Math" panose="02040503050406030204" pitchFamily="18" charset="0"/>
                            <a:ea typeface="SimSun" panose="02010600030101010101" pitchFamily="2" charset="-122"/>
                          </a:rPr>
                        </m:ctrlPr>
                      </m:sSubPr>
                      <m:e>
                        <m:r>
                          <a:rPr lang="en-CN" altLang="zh-CN" sz="2400" i="1">
                            <a:latin typeface="Cambria Math" panose="02040503050406030204" pitchFamily="18" charset="0"/>
                            <a:ea typeface="SimSun" panose="02010600030101010101" pitchFamily="2" charset="-122"/>
                          </a:rPr>
                          <m:t>𝑥</m:t>
                        </m:r>
                      </m:e>
                      <m:sub>
                        <m:r>
                          <a:rPr lang="en-CN" altLang="zh-CN" sz="2400" i="1">
                            <a:latin typeface="Cambria Math" panose="02040503050406030204" pitchFamily="18" charset="0"/>
                            <a:ea typeface="SimSun" panose="02010600030101010101" pitchFamily="2" charset="-122"/>
                          </a:rPr>
                          <m:t>1</m:t>
                        </m:r>
                      </m:sub>
                    </m:sSub>
                  </m:oMath>
                </a14:m>
                <a:r>
                  <a:rPr lang="zh-CN" altLang="zh-CN" sz="2400" dirty="0">
                    <a:latin typeface="Times New Roman" panose="02020603050405020304" pitchFamily="18" charset="0"/>
                    <a:ea typeface="SimSun" panose="02010600030101010101" pitchFamily="2" charset="-122"/>
                  </a:rPr>
                  <a:t>自己的检验数</a:t>
                </a:r>
                <a:r>
                  <a:rPr lang="zh-CN" sz="2400" dirty="0">
                    <a:effectLst/>
                    <a:latin typeface="Times New Roman" panose="02020603050405020304" pitchFamily="18" charset="0"/>
                    <a:ea typeface="SimSun" panose="02010600030101010101" pitchFamily="2" charset="-122"/>
                  </a:rPr>
                  <a:t>。当</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由</a:t>
                </a:r>
                <a:r>
                  <a:rPr lang="en-US" altLang="zh-CN" sz="2400" dirty="0">
                    <a:effectLst/>
                    <a:latin typeface="Times New Roman" panose="02020603050405020304" pitchFamily="18" charset="0"/>
                    <a:ea typeface="SimSun" panose="02010600030101010101" pitchFamily="2" charset="-122"/>
                  </a:rPr>
                  <a:t>1</a:t>
                </a:r>
                <a:r>
                  <a:rPr lang="zh-CN" sz="2400" dirty="0">
                    <a:effectLst/>
                    <a:latin typeface="Times New Roman" panose="02020603050405020304" pitchFamily="18" charset="0"/>
                    <a:ea typeface="SimSun" panose="02010600030101010101" pitchFamily="2" charset="-122"/>
                  </a:rPr>
                  <a:t>变为</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=−4</m:t>
                    </m:r>
                  </m:oMath>
                </a14:m>
                <a:r>
                  <a:rPr lang="zh-CN" sz="2400" dirty="0">
                    <a:effectLst/>
                    <a:latin typeface="Times New Roman" panose="02020603050405020304" pitchFamily="18" charset="0"/>
                    <a:ea typeface="SimSun" panose="02010600030101010101" pitchFamily="2" charset="-122"/>
                  </a:rPr>
                  <a:t>时，</a:t>
                </a:r>
                <a:r>
                  <a:rPr lang="en-US" altLang="zh-CN" sz="2400" dirty="0">
                    <a:ea typeface="SimSun" panose="02010600030101010101" pitchFamily="2" charset="-122"/>
                  </a:rPr>
                  <a:t> </a:t>
                </a:r>
                <a14:m>
                  <m:oMath xmlns:m="http://schemas.openxmlformats.org/officeDocument/2006/math">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𝑐</m:t>
                        </m:r>
                      </m:e>
                      <m:sub>
                        <m:r>
                          <a:rPr lang="en-US" altLang="zh-CN" sz="2400" i="1">
                            <a:latin typeface="Cambria Math" panose="02040503050406030204" pitchFamily="18" charset="0"/>
                            <a:ea typeface="SimSun" panose="02010600030101010101" pitchFamily="2" charset="-122"/>
                          </a:rPr>
                          <m:t>1</m:t>
                        </m:r>
                      </m:sub>
                    </m:sSub>
                    <m:r>
                      <a:rPr lang="en-US" altLang="zh-CN" sz="2400" i="1">
                        <a:latin typeface="Cambria Math" panose="02040503050406030204" pitchFamily="18" charset="0"/>
                        <a:ea typeface="SimSun" panose="02010600030101010101" pitchFamily="2" charset="-122"/>
                      </a:rPr>
                      <m:t>=−5</m:t>
                    </m:r>
                  </m:oMath>
                </a14:m>
                <a:r>
                  <a:rPr lang="zh-CN" altLang="en-US" sz="2400" dirty="0">
                    <a:effectLst/>
                    <a:latin typeface="Times New Roman" panose="02020603050405020304" pitchFamily="18" charset="0"/>
                    <a:ea typeface="SimSun" panose="02010600030101010101" pitchFamily="2" charset="-122"/>
                  </a:rPr>
                  <a:t>，</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=3</m:t>
                    </m:r>
                    <m:r>
                      <a:rPr lang="zh-CN" altLang="en-US" sz="2400" i="1">
                        <a:latin typeface="Cambria Math" panose="02040503050406030204" pitchFamily="18" charset="0"/>
                        <a:ea typeface="SimSun" panose="02010600030101010101" pitchFamily="2" charset="-122"/>
                      </a:rPr>
                      <m:t>，</m:t>
                    </m:r>
                    <m:sSubSup>
                      <m:sSubSupPr>
                        <m:ctrlPr>
                          <a:rPr lang="en-CN" sz="2400" i="1">
                            <a:effectLst/>
                            <a:latin typeface="Cambria Math" panose="02040503050406030204" pitchFamily="18" charset="0"/>
                            <a:ea typeface="SimSun" panose="02010600030101010101" pitchFamily="2" charset="-122"/>
                          </a:rPr>
                        </m:ctrlPr>
                      </m:sSubSup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1</m:t>
                        </m:r>
                      </m:sub>
                      <m:sup>
                        <m:r>
                          <a:rPr lang="en-CN" sz="2400" i="1">
                            <a:effectLst/>
                            <a:latin typeface="Cambria Math" panose="02040503050406030204" pitchFamily="18" charset="0"/>
                            <a:ea typeface="SimSun" panose="02010600030101010101" pitchFamily="2" charset="-122"/>
                          </a:rPr>
                          <m:t>′</m:t>
                        </m:r>
                      </m:sup>
                    </m:sSubSup>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=3−5=−2</m:t>
                    </m:r>
                    <m:r>
                      <a:rPr lang="en-US" sz="2400" b="0" i="1" smtClean="0">
                        <a:effectLst/>
                        <a:latin typeface="Cambria Math" panose="02040503050406030204" pitchFamily="18" charset="0"/>
                        <a:ea typeface="SimSun" panose="02010600030101010101" pitchFamily="2" charset="-122"/>
                      </a:rPr>
                      <m:t>&lt;0</m:t>
                    </m:r>
                  </m:oMath>
                </a14:m>
                <a:r>
                  <a:rPr lang="zh-CN" altLang="en-US" sz="2400" dirty="0">
                    <a:effectLst/>
                    <a:latin typeface="Times New Roman" panose="02020603050405020304" pitchFamily="18" charset="0"/>
                    <a:ea typeface="SimSun" panose="02010600030101010101" pitchFamily="2" charset="-122"/>
                  </a:rPr>
                  <a:t>，所以最优解改变</a:t>
                </a:r>
                <a:r>
                  <a:rPr lang="zh-CN" sz="2400" dirty="0">
                    <a:effectLst/>
                    <a:latin typeface="Times New Roman" panose="02020603050405020304" pitchFamily="18" charset="0"/>
                    <a:ea typeface="SimSun" panose="02010600030101010101" pitchFamily="2" charset="-122"/>
                  </a:rPr>
                  <a:t>。用</a:t>
                </a:r>
                <a14:m>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1</m:t>
                        </m:r>
                      </m:sub>
                      <m:sup>
                        <m:r>
                          <a:rPr lang="en-CN" sz="2400" i="1">
                            <a:effectLst/>
                            <a:latin typeface="Cambria Math" panose="02040503050406030204" pitchFamily="18" charset="0"/>
                            <a:ea typeface="SimSun" panose="02010600030101010101" pitchFamily="2" charset="-122"/>
                          </a:rPr>
                          <m:t>′</m:t>
                        </m:r>
                      </m:sup>
                    </m:sSubSup>
                  </m:oMath>
                </a14:m>
                <a:r>
                  <a:rPr lang="zh-CN" sz="2400" dirty="0">
                    <a:effectLst/>
                    <a:latin typeface="Times New Roman" panose="02020603050405020304" pitchFamily="18" charset="0"/>
                    <a:ea typeface="SimSun" panose="02010600030101010101" pitchFamily="2" charset="-122"/>
                  </a:rPr>
                  <a:t>和</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1</m:t>
                        </m:r>
                      </m:sub>
                    </m:sSub>
                    <m:r>
                      <a:rPr lang="en-CN" sz="2400" i="1">
                        <a:effectLst/>
                        <a:latin typeface="Cambria Math" panose="02040503050406030204" pitchFamily="18" charset="0"/>
                        <a:ea typeface="SimSun" panose="02010600030101010101" pitchFamily="2" charset="-122"/>
                      </a:rPr>
                      <m:t>′</m:t>
                    </m:r>
                  </m:oMath>
                </a14:m>
                <a:r>
                  <a:rPr lang="zh-CN" sz="2400" dirty="0">
                    <a:effectLst/>
                    <a:latin typeface="Times New Roman" panose="02020603050405020304" pitchFamily="18" charset="0"/>
                    <a:ea typeface="SimSun" panose="02010600030101010101" pitchFamily="2" charset="-122"/>
                  </a:rPr>
                  <a:t>分别替换表</a:t>
                </a:r>
                <a:r>
                  <a:rPr lang="en-CN" sz="2400" dirty="0">
                    <a:effectLst/>
                    <a:latin typeface="SimSun" panose="02010600030101010101" pitchFamily="2" charset="-122"/>
                    <a:ea typeface="Times New Roman" panose="02020603050405020304" pitchFamily="18" charset="0"/>
                  </a:rPr>
                  <a:t>1</a:t>
                </a:r>
                <a:r>
                  <a:rPr lang="zh-CN" sz="2400" dirty="0">
                    <a:effectLst/>
                    <a:latin typeface="SimSun" panose="02010600030101010101" pitchFamily="2" charset="-122"/>
                    <a:ea typeface="Times New Roman" panose="02020603050405020304" pitchFamily="18" charset="0"/>
                  </a:rPr>
                  <a:t>中的</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和</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1</m:t>
                        </m:r>
                      </m:sub>
                    </m:sSub>
                  </m:oMath>
                </a14:m>
                <a:r>
                  <a:rPr lang="zh-CN" sz="2400" dirty="0">
                    <a:effectLst/>
                    <a:latin typeface="Times New Roman" panose="02020603050405020304" pitchFamily="18" charset="0"/>
                    <a:ea typeface="SimSun" panose="02010600030101010101" pitchFamily="2" charset="-122"/>
                  </a:rPr>
                  <a:t>，重新迭代，可得到新问题的最优解，见表</a:t>
                </a:r>
                <a:r>
                  <a:rPr lang="en-CN" sz="2400" dirty="0">
                    <a:effectLst/>
                    <a:latin typeface="SimSun" panose="02010600030101010101" pitchFamily="2" charset="-122"/>
                    <a:ea typeface="Times New Roman" panose="02020603050405020304" pitchFamily="18" charset="0"/>
                  </a:rPr>
                  <a:t>2</a:t>
                </a:r>
                <a:r>
                  <a:rPr lang="zh-CN" sz="2400" dirty="0">
                    <a:effectLst/>
                    <a:latin typeface="Times New Roman" panose="02020603050405020304" pitchFamily="18" charset="0"/>
                    <a:ea typeface="SimSun" panose="02010600030101010101" pitchFamily="2" charset="-122"/>
                  </a:rPr>
                  <a:t>。</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E7B8E7F-3147-D1A5-CA28-68A47869CAC8}"/>
                  </a:ext>
                </a:extLst>
              </p:cNvPr>
              <p:cNvSpPr txBox="1">
                <a:spLocks noRot="1" noChangeAspect="1" noMove="1" noResize="1" noEditPoints="1" noAdjustHandles="1" noChangeArrowheads="1" noChangeShapeType="1" noTextEdit="1"/>
              </p:cNvSpPr>
              <p:nvPr/>
            </p:nvSpPr>
            <p:spPr>
              <a:xfrm>
                <a:off x="818454" y="636761"/>
                <a:ext cx="10358531" cy="2238241"/>
              </a:xfrm>
              <a:prstGeom prst="rect">
                <a:avLst/>
              </a:prstGeom>
              <a:blipFill>
                <a:blip r:embed="rId2"/>
                <a:stretch>
                  <a:fillRect l="-883" r="-942" b="-4348"/>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5377F1EA-DDAA-E51A-E3B6-4D5E3E16DD45}"/>
                  </a:ext>
                </a:extLst>
              </p:cNvPr>
              <p:cNvGraphicFramePr>
                <a:graphicFrameLocks noGrp="1"/>
              </p:cNvGraphicFramePr>
              <p:nvPr>
                <p:extLst>
                  <p:ext uri="{D42A27DB-BD31-4B8C-83A1-F6EECF244321}">
                    <p14:modId xmlns:p14="http://schemas.microsoft.com/office/powerpoint/2010/main" val="3491864050"/>
                  </p:ext>
                </p:extLst>
              </p:nvPr>
            </p:nvGraphicFramePr>
            <p:xfrm>
              <a:off x="1999733" y="626913"/>
              <a:ext cx="8192531" cy="5143437"/>
            </p:xfrm>
            <a:graphic>
              <a:graphicData uri="http://schemas.openxmlformats.org/drawingml/2006/table">
                <a:tbl>
                  <a:tblPr firstRow="1" firstCol="1" bandRow="1"/>
                  <a:tblGrid>
                    <a:gridCol w="1029991">
                      <a:extLst>
                        <a:ext uri="{9D8B030D-6E8A-4147-A177-3AD203B41FA5}">
                          <a16:colId xmlns:a16="http://schemas.microsoft.com/office/drawing/2014/main" val="338609151"/>
                        </a:ext>
                      </a:extLst>
                    </a:gridCol>
                    <a:gridCol w="1024066">
                      <a:extLst>
                        <a:ext uri="{9D8B030D-6E8A-4147-A177-3AD203B41FA5}">
                          <a16:colId xmlns:a16="http://schemas.microsoft.com/office/drawing/2014/main" val="3939531426"/>
                        </a:ext>
                      </a:extLst>
                    </a:gridCol>
                    <a:gridCol w="1023079">
                      <a:extLst>
                        <a:ext uri="{9D8B030D-6E8A-4147-A177-3AD203B41FA5}">
                          <a16:colId xmlns:a16="http://schemas.microsoft.com/office/drawing/2014/main" val="3066601966"/>
                        </a:ext>
                      </a:extLst>
                    </a:gridCol>
                    <a:gridCol w="1023079">
                      <a:extLst>
                        <a:ext uri="{9D8B030D-6E8A-4147-A177-3AD203B41FA5}">
                          <a16:colId xmlns:a16="http://schemas.microsoft.com/office/drawing/2014/main" val="3651371459"/>
                        </a:ext>
                      </a:extLst>
                    </a:gridCol>
                    <a:gridCol w="1023079">
                      <a:extLst>
                        <a:ext uri="{9D8B030D-6E8A-4147-A177-3AD203B41FA5}">
                          <a16:colId xmlns:a16="http://schemas.microsoft.com/office/drawing/2014/main" val="1386791226"/>
                        </a:ext>
                      </a:extLst>
                    </a:gridCol>
                    <a:gridCol w="1023079">
                      <a:extLst>
                        <a:ext uri="{9D8B030D-6E8A-4147-A177-3AD203B41FA5}">
                          <a16:colId xmlns:a16="http://schemas.microsoft.com/office/drawing/2014/main" val="278838905"/>
                        </a:ext>
                      </a:extLst>
                    </a:gridCol>
                    <a:gridCol w="1023079">
                      <a:extLst>
                        <a:ext uri="{9D8B030D-6E8A-4147-A177-3AD203B41FA5}">
                          <a16:colId xmlns:a16="http://schemas.microsoft.com/office/drawing/2014/main" val="2071447889"/>
                        </a:ext>
                      </a:extLst>
                    </a:gridCol>
                    <a:gridCol w="1023079">
                      <a:extLst>
                        <a:ext uri="{9D8B030D-6E8A-4147-A177-3AD203B41FA5}">
                          <a16:colId xmlns:a16="http://schemas.microsoft.com/office/drawing/2014/main" val="3395289033"/>
                        </a:ext>
                      </a:extLst>
                    </a:gridCol>
                  </a:tblGrid>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𝑗</m:t>
                                    </m:r>
                                  </m:sub>
                                </m:sSub>
                                <m:r>
                                  <a:rPr lang="en-CN" sz="2400" i="1">
                                    <a:effectLst/>
                                    <a:latin typeface="Cambria Math" panose="02040503050406030204" pitchFamily="18" charset="0"/>
                                    <a:ea typeface="SimSun" panose="02010600030101010101" pitchFamily="2" charset="-122"/>
                                  </a:rPr>
                                  <m:t>→</m:t>
                                </m:r>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b="1" dirty="0">
                              <a:solidFill>
                                <a:srgbClr val="FF0000"/>
                              </a:solidFill>
                              <a:effectLst/>
                              <a:latin typeface="SimSun" panose="02010600030101010101" pitchFamily="2" charset="-122"/>
                              <a:ea typeface="Times New Roman" panose="02020603050405020304" pitchFamily="18" charset="0"/>
                            </a:rPr>
                            <a:t>-4</a:t>
                          </a:r>
                          <a:endParaRPr lang="en-CN" sz="24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-2</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419796"/>
                      </a:ext>
                    </a:extLst>
                  </a:tr>
                  <a:tr h="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𝑏</m:t>
                                    </m:r>
                                  </m:e>
                                </m:acc>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1</m:t>
                                    </m:r>
                                  </m:sub>
                                </m:sSub>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3</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4</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5</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5436307"/>
                      </a:ext>
                    </a:extLst>
                  </a:tr>
                  <a:tr h="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6</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1017721"/>
                      </a:ext>
                    </a:extLst>
                  </a:tr>
                  <a:tr h="0">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smtClean="0">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US" sz="2400" b="0" i="1" smtClean="0">
                                        <a:effectLst/>
                                        <a:latin typeface="Cambria Math" panose="02040503050406030204" pitchFamily="18" charset="0"/>
                                        <a:ea typeface="SimSun" panose="02010600030101010101" pitchFamily="2" charset="-122"/>
                                      </a:rPr>
                                      <m:t>5</m:t>
                                    </m:r>
                                  </m:sub>
                                </m:sSub>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7518308"/>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𝑗</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b="1" dirty="0">
                              <a:solidFill>
                                <a:srgbClr val="FF0000"/>
                              </a:solidFill>
                              <a:effectLst/>
                              <a:latin typeface="SimSun" panose="02010600030101010101" pitchFamily="2" charset="-122"/>
                              <a:ea typeface="Times New Roman" panose="02020603050405020304" pitchFamily="18" charset="0"/>
                            </a:rPr>
                            <a:t>-2</a:t>
                          </a:r>
                          <a:endParaRPr lang="en-CN" sz="24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273699"/>
                      </a:ext>
                    </a:extLst>
                  </a:tr>
                  <a:tr h="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8</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2</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2</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−1</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1750760"/>
                      </a:ext>
                    </a:extLst>
                  </a:tr>
                  <a:tr h="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-4</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1</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10</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1</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1</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1</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5112415"/>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𝑗</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5</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8</m:t>
                                    </m:r>
                                  </m:num>
                                  <m:den>
                                    <m:r>
                                      <a:rPr lang="en-US" sz="2400" i="1">
                                        <a:effectLst/>
                                        <a:latin typeface="Cambria Math" panose="02040503050406030204" pitchFamily="18" charset="0"/>
                                        <a:ea typeface="SimSun" panose="02010600030101010101" pitchFamily="2" charset="-122"/>
                                      </a:rPr>
                                      <m:t>3</m:t>
                                    </m:r>
                                  </m:den>
                                </m:f>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2400" i="1">
                                        <a:effectLst/>
                                        <a:latin typeface="Cambria Math" panose="02040503050406030204" pitchFamily="18" charset="0"/>
                                        <a:ea typeface="SimSun" panose="02010600030101010101" pitchFamily="2" charset="-122"/>
                                      </a:rPr>
                                    </m:ctrlPr>
                                  </m:fPr>
                                  <m:num>
                                    <m:r>
                                      <a:rPr lang="en-US" sz="2400" i="1">
                                        <a:effectLst/>
                                        <a:latin typeface="Cambria Math" panose="02040503050406030204" pitchFamily="18" charset="0"/>
                                        <a:ea typeface="SimSun" panose="02010600030101010101" pitchFamily="2" charset="-122"/>
                                      </a:rPr>
                                      <m:t>2</m:t>
                                    </m:r>
                                  </m:num>
                                  <m:den>
                                    <m:r>
                                      <a:rPr lang="en-US" sz="2400" i="1">
                                        <a:effectLst/>
                                        <a:latin typeface="Cambria Math" panose="02040503050406030204" pitchFamily="18" charset="0"/>
                                        <a:ea typeface="SimSun" panose="02010600030101010101" pitchFamily="2" charset="-122"/>
                                      </a:rPr>
                                      <m:t>3</m:t>
                                    </m:r>
                                  </m:den>
                                </m:f>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9028776"/>
                      </a:ext>
                    </a:extLst>
                  </a:tr>
                </a:tbl>
              </a:graphicData>
            </a:graphic>
          </p:graphicFrame>
        </mc:Choice>
        <mc:Fallback xmlns="">
          <p:graphicFrame>
            <p:nvGraphicFramePr>
              <p:cNvPr id="7" name="Table 6">
                <a:extLst>
                  <a:ext uri="{FF2B5EF4-FFF2-40B4-BE49-F238E27FC236}">
                    <a16:creationId xmlns:a16="http://schemas.microsoft.com/office/drawing/2014/main" id="{5377F1EA-DDAA-E51A-E3B6-4D5E3E16DD45}"/>
                  </a:ext>
                </a:extLst>
              </p:cNvPr>
              <p:cNvGraphicFramePr>
                <a:graphicFrameLocks noGrp="1"/>
              </p:cNvGraphicFramePr>
              <p:nvPr>
                <p:extLst>
                  <p:ext uri="{D42A27DB-BD31-4B8C-83A1-F6EECF244321}">
                    <p14:modId xmlns:p14="http://schemas.microsoft.com/office/powerpoint/2010/main" val="3491864050"/>
                  </p:ext>
                </p:extLst>
              </p:nvPr>
            </p:nvGraphicFramePr>
            <p:xfrm>
              <a:off x="1999733" y="626913"/>
              <a:ext cx="8192531" cy="5143437"/>
            </p:xfrm>
            <a:graphic>
              <a:graphicData uri="http://schemas.openxmlformats.org/drawingml/2006/table">
                <a:tbl>
                  <a:tblPr firstRow="1" firstCol="1" bandRow="1"/>
                  <a:tblGrid>
                    <a:gridCol w="1029991">
                      <a:extLst>
                        <a:ext uri="{9D8B030D-6E8A-4147-A177-3AD203B41FA5}">
                          <a16:colId xmlns:a16="http://schemas.microsoft.com/office/drawing/2014/main" val="338609151"/>
                        </a:ext>
                      </a:extLst>
                    </a:gridCol>
                    <a:gridCol w="1024066">
                      <a:extLst>
                        <a:ext uri="{9D8B030D-6E8A-4147-A177-3AD203B41FA5}">
                          <a16:colId xmlns:a16="http://schemas.microsoft.com/office/drawing/2014/main" val="3939531426"/>
                        </a:ext>
                      </a:extLst>
                    </a:gridCol>
                    <a:gridCol w="1023079">
                      <a:extLst>
                        <a:ext uri="{9D8B030D-6E8A-4147-A177-3AD203B41FA5}">
                          <a16:colId xmlns:a16="http://schemas.microsoft.com/office/drawing/2014/main" val="3066601966"/>
                        </a:ext>
                      </a:extLst>
                    </a:gridCol>
                    <a:gridCol w="1023079">
                      <a:extLst>
                        <a:ext uri="{9D8B030D-6E8A-4147-A177-3AD203B41FA5}">
                          <a16:colId xmlns:a16="http://schemas.microsoft.com/office/drawing/2014/main" val="3651371459"/>
                        </a:ext>
                      </a:extLst>
                    </a:gridCol>
                    <a:gridCol w="1023079">
                      <a:extLst>
                        <a:ext uri="{9D8B030D-6E8A-4147-A177-3AD203B41FA5}">
                          <a16:colId xmlns:a16="http://schemas.microsoft.com/office/drawing/2014/main" val="1386791226"/>
                        </a:ext>
                      </a:extLst>
                    </a:gridCol>
                    <a:gridCol w="1023079">
                      <a:extLst>
                        <a:ext uri="{9D8B030D-6E8A-4147-A177-3AD203B41FA5}">
                          <a16:colId xmlns:a16="http://schemas.microsoft.com/office/drawing/2014/main" val="278838905"/>
                        </a:ext>
                      </a:extLst>
                    </a:gridCol>
                    <a:gridCol w="1023079">
                      <a:extLst>
                        <a:ext uri="{9D8B030D-6E8A-4147-A177-3AD203B41FA5}">
                          <a16:colId xmlns:a16="http://schemas.microsoft.com/office/drawing/2014/main" val="2071447889"/>
                        </a:ext>
                      </a:extLst>
                    </a:gridCol>
                    <a:gridCol w="1023079">
                      <a:extLst>
                        <a:ext uri="{9D8B030D-6E8A-4147-A177-3AD203B41FA5}">
                          <a16:colId xmlns:a16="http://schemas.microsoft.com/office/drawing/2014/main" val="3395289033"/>
                        </a:ext>
                      </a:extLst>
                    </a:gridCol>
                  </a:tblGrid>
                  <a:tr h="66903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96" t="-909" r="-166733" b="-679091"/>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b="1" dirty="0">
                              <a:solidFill>
                                <a:srgbClr val="FF0000"/>
                              </a:solidFill>
                              <a:effectLst/>
                              <a:latin typeface="SimSun" panose="02010600030101010101" pitchFamily="2" charset="-122"/>
                              <a:ea typeface="Times New Roman" panose="02020603050405020304" pitchFamily="18" charset="0"/>
                            </a:rPr>
                            <a:t>-4</a:t>
                          </a:r>
                          <a:endParaRPr lang="en-CN" sz="24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-2</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419796"/>
                      </a:ext>
                    </a:extLst>
                  </a:tr>
                  <a:tr h="636969">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183" t="-105714" r="-697041" b="-611429"/>
                          </a:stretch>
                        </a:blip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01786" t="-105714" r="-501190" b="-61142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01786" t="-105714" r="-401190" b="-61142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04192" t="-105714" r="-303593" b="-61142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01190" t="-105714" r="-201786" b="-61142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1190" t="-105714" r="-101786" b="-61142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1190" t="-105714" r="-1786" b="-611429"/>
                          </a:stretch>
                        </a:blipFill>
                      </a:tcPr>
                    </a:tc>
                    <a:extLst>
                      <a:ext uri="{0D108BD9-81ED-4DB2-BD59-A6C34878D82A}">
                        <a16:rowId xmlns:a16="http://schemas.microsoft.com/office/drawing/2014/main" val="1015436307"/>
                      </a:ext>
                    </a:extLst>
                  </a:tr>
                  <a:tr h="62484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786" t="-211765" r="-601190" b="-529412"/>
                          </a:stretch>
                        </a:blip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6</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1017721"/>
                      </a:ext>
                    </a:extLst>
                  </a:tr>
                  <a:tr h="624840">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786" t="-308738" r="-601190" b="-424272"/>
                          </a:stretch>
                        </a:blip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7518308"/>
                      </a:ext>
                    </a:extLst>
                  </a:tr>
                  <a:tr h="66903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96" t="-382727" r="-166733" b="-297273"/>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b="1" dirty="0">
                              <a:solidFill>
                                <a:srgbClr val="FF0000"/>
                              </a:solidFill>
                              <a:effectLst/>
                              <a:latin typeface="SimSun" panose="02010600030101010101" pitchFamily="2" charset="-122"/>
                              <a:ea typeface="Times New Roman" panose="02020603050405020304" pitchFamily="18" charset="0"/>
                            </a:rPr>
                            <a:t>-2</a:t>
                          </a:r>
                          <a:endParaRPr lang="en-CN" sz="24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273699"/>
                      </a:ext>
                    </a:extLst>
                  </a:tr>
                  <a:tr h="62484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786" t="-520588" r="-601190" b="-22058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01786" t="-520588" r="-501190" b="-220588"/>
                          </a:stretch>
                        </a:blip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01190" t="-520588" r="-201786" b="-22058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1190" t="-520588" r="-101786" b="-22058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1190" t="-520588" r="-1786" b="-220588"/>
                          </a:stretch>
                        </a:blipFill>
                      </a:tcPr>
                    </a:tc>
                    <a:extLst>
                      <a:ext uri="{0D108BD9-81ED-4DB2-BD59-A6C34878D82A}">
                        <a16:rowId xmlns:a16="http://schemas.microsoft.com/office/drawing/2014/main" val="3371750760"/>
                      </a:ext>
                    </a:extLst>
                  </a:tr>
                  <a:tr h="62484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-4</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786" t="-614563" r="-601190" b="-11844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01786" t="-614563" r="-501190" b="-118447"/>
                          </a:stretch>
                        </a:blip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01190" t="-614563" r="-201786" b="-11844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1190" t="-614563" r="-101786" b="-11844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1190" t="-614563" r="-1786" b="-118447"/>
                          </a:stretch>
                        </a:blipFill>
                      </a:tcPr>
                    </a:tc>
                    <a:extLst>
                      <a:ext uri="{0D108BD9-81ED-4DB2-BD59-A6C34878D82A}">
                        <a16:rowId xmlns:a16="http://schemas.microsoft.com/office/drawing/2014/main" val="3735112415"/>
                      </a:ext>
                    </a:extLst>
                  </a:tr>
                  <a:tr h="66903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96" t="-669091" r="-166733" b="-10909"/>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01190" t="-669091" r="-201786" b="-1090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1190" t="-669091" r="-101786" b="-1090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1190" t="-669091" r="-1786" b="-10909"/>
                          </a:stretch>
                        </a:blipFill>
                      </a:tcPr>
                    </a:tc>
                    <a:extLst>
                      <a:ext uri="{0D108BD9-81ED-4DB2-BD59-A6C34878D82A}">
                        <a16:rowId xmlns:a16="http://schemas.microsoft.com/office/drawing/2014/main" val="4229028776"/>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EDB677C-EE33-C334-4D31-48180E0B0B20}"/>
                  </a:ext>
                </a:extLst>
              </p:cNvPr>
              <p:cNvSpPr txBox="1"/>
              <p:nvPr/>
            </p:nvSpPr>
            <p:spPr>
              <a:xfrm>
                <a:off x="726987" y="5984704"/>
                <a:ext cx="10738022" cy="594458"/>
              </a:xfrm>
              <a:prstGeom prst="rect">
                <a:avLst/>
              </a:prstGeom>
              <a:noFill/>
            </p:spPr>
            <p:txBody>
              <a:bodyPr wrap="square">
                <a:spAutoFit/>
              </a:bodyPr>
              <a:lstStyle/>
              <a:p>
                <a:pPr indent="609600">
                  <a:lnSpc>
                    <a:spcPct val="150000"/>
                  </a:lnSpc>
                  <a:spcBef>
                    <a:spcPts val="600"/>
                  </a:spcBef>
                  <a:spcAft>
                    <a:spcPts val="600"/>
                  </a:spcAft>
                </a:pPr>
                <a:r>
                  <a:rPr lang="zh-CN" sz="2400" dirty="0">
                    <a:effectLst/>
                    <a:latin typeface="+mn-ea"/>
                  </a:rPr>
                  <a:t>因此，当</a:t>
                </a:r>
                <a14:m>
                  <m:oMath xmlns:m="http://schemas.openxmlformats.org/officeDocument/2006/math">
                    <m:sSub>
                      <m:sSubPr>
                        <m:ctrlPr>
                          <a:rPr lang="en-CN"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1</m:t>
                        </m:r>
                      </m:sub>
                    </m:sSub>
                  </m:oMath>
                </a14:m>
                <a:r>
                  <a:rPr lang="zh-CN" sz="2400" dirty="0">
                    <a:effectLst/>
                    <a:latin typeface="+mn-ea"/>
                  </a:rPr>
                  <a:t>由</a:t>
                </a:r>
                <a:r>
                  <a:rPr lang="en-CN" sz="2400" dirty="0">
                    <a:effectLst/>
                    <a:latin typeface="+mn-ea"/>
                  </a:rPr>
                  <a:t>1</a:t>
                </a:r>
                <a:r>
                  <a:rPr lang="zh-CN" sz="2400" dirty="0">
                    <a:effectLst/>
                    <a:latin typeface="+mn-ea"/>
                  </a:rPr>
                  <a:t>变为</a:t>
                </a:r>
                <a:r>
                  <a:rPr lang="en-CN" sz="2400" dirty="0">
                    <a:effectLst/>
                    <a:latin typeface="+mn-ea"/>
                    <a:cs typeface="Cambria Math" panose="02040503050406030204" pitchFamily="18" charset="0"/>
                  </a:rPr>
                  <a:t>−</a:t>
                </a:r>
                <a:r>
                  <a:rPr lang="en-CN" sz="2400" dirty="0">
                    <a:effectLst/>
                    <a:latin typeface="+mn-ea"/>
                  </a:rPr>
                  <a:t>4</a:t>
                </a:r>
                <a:r>
                  <a:rPr lang="zh-CN" sz="2400" dirty="0">
                    <a:effectLst/>
                    <a:latin typeface="+mn-ea"/>
                  </a:rPr>
                  <a:t>时，新问题的最优解为</a:t>
                </a:r>
                <a14:m>
                  <m:oMath xmlns:m="http://schemas.openxmlformats.org/officeDocument/2006/math">
                    <m:sSup>
                      <m:sSupPr>
                        <m:ctrlPr>
                          <a:rPr lang="en-CN" sz="2400" i="1">
                            <a:effectLst/>
                            <a:latin typeface="Cambria Math" panose="02040503050406030204" pitchFamily="18" charset="0"/>
                          </a:rPr>
                        </m:ctrlPr>
                      </m:sSupPr>
                      <m:e>
                        <m:acc>
                          <m:accPr>
                            <m:chr m:val="̂"/>
                            <m:ctrlPr>
                              <a:rPr lang="en-CN" sz="2400" i="1">
                                <a:effectLst/>
                                <a:latin typeface="Cambria Math" panose="02040503050406030204" pitchFamily="18" charset="0"/>
                              </a:rPr>
                            </m:ctrlPr>
                          </m:accPr>
                          <m:e>
                            <m:r>
                              <a:rPr lang="en-CN" sz="2400" i="1">
                                <a:effectLst/>
                                <a:latin typeface="Cambria Math" panose="02040503050406030204" pitchFamily="18" charset="0"/>
                              </a:rPr>
                              <m:t>𝑥</m:t>
                            </m:r>
                          </m:e>
                        </m:acc>
                      </m:e>
                      <m:sup>
                        <m:r>
                          <a:rPr lang="en-CN" sz="2400" i="1">
                            <a:effectLst/>
                            <a:latin typeface="Cambria Math" panose="02040503050406030204" pitchFamily="18" charset="0"/>
                          </a:rPr>
                          <m:t>∗</m:t>
                        </m:r>
                      </m:sup>
                    </m:sSup>
                    <m:r>
                      <a:rPr lang="en-CN" sz="2400" i="1">
                        <a:effectLst/>
                        <a:latin typeface="Cambria Math" panose="02040503050406030204" pitchFamily="18" charset="0"/>
                      </a:rPr>
                      <m:t>=</m:t>
                    </m:r>
                    <m:sSup>
                      <m:sSupPr>
                        <m:ctrlPr>
                          <a:rPr lang="en-CN" sz="2400" i="1">
                            <a:effectLst/>
                            <a:latin typeface="Cambria Math" panose="02040503050406030204" pitchFamily="18" charset="0"/>
                          </a:rPr>
                        </m:ctrlPr>
                      </m:sSupPr>
                      <m:e>
                        <m:r>
                          <a:rPr lang="en-CN" sz="2400" i="1">
                            <a:effectLst/>
                            <a:latin typeface="Cambria Math" panose="02040503050406030204" pitchFamily="18" charset="0"/>
                          </a:rPr>
                          <m:t>(</m:t>
                        </m:r>
                        <m:f>
                          <m:fPr>
                            <m:type m:val="lin"/>
                            <m:ctrlPr>
                              <a:rPr lang="en-CN" sz="2400" i="1">
                                <a:effectLst/>
                                <a:latin typeface="Cambria Math" panose="02040503050406030204" pitchFamily="18" charset="0"/>
                              </a:rPr>
                            </m:ctrlPr>
                          </m:fPr>
                          <m:num>
                            <m:r>
                              <a:rPr lang="en-US" sz="2400" i="1">
                                <a:effectLst/>
                                <a:latin typeface="Cambria Math" panose="02040503050406030204" pitchFamily="18" charset="0"/>
                              </a:rPr>
                              <m:t>10</m:t>
                            </m:r>
                          </m:num>
                          <m:den>
                            <m:r>
                              <a:rPr lang="en-US" sz="2400" i="1">
                                <a:effectLst/>
                                <a:latin typeface="Cambria Math" panose="02040503050406030204" pitchFamily="18" charset="0"/>
                              </a:rPr>
                              <m:t>3</m:t>
                            </m:r>
                          </m:den>
                        </m:f>
                        <m:r>
                          <a:rPr lang="en-CN" sz="2400" i="1">
                            <a:effectLst/>
                            <a:latin typeface="Cambria Math" panose="02040503050406030204" pitchFamily="18" charset="0"/>
                          </a:rPr>
                          <m:t>,</m:t>
                        </m:r>
                        <m:f>
                          <m:fPr>
                            <m:type m:val="lin"/>
                            <m:ctrlPr>
                              <a:rPr lang="en-CN" sz="2400" i="1">
                                <a:effectLst/>
                                <a:latin typeface="Cambria Math" panose="02040503050406030204" pitchFamily="18" charset="0"/>
                              </a:rPr>
                            </m:ctrlPr>
                          </m:fPr>
                          <m:num>
                            <m:r>
                              <a:rPr lang="en-US" sz="2400" i="1">
                                <a:effectLst/>
                                <a:latin typeface="Cambria Math" panose="02040503050406030204" pitchFamily="18" charset="0"/>
                              </a:rPr>
                              <m:t>8</m:t>
                            </m:r>
                          </m:num>
                          <m:den>
                            <m:r>
                              <a:rPr lang="en-US" sz="2400" i="1">
                                <a:effectLst/>
                                <a:latin typeface="Cambria Math" panose="02040503050406030204" pitchFamily="18" charset="0"/>
                              </a:rPr>
                              <m:t>3</m:t>
                            </m:r>
                          </m:den>
                        </m:f>
                        <m:r>
                          <a:rPr lang="en-CN" sz="2400" i="1">
                            <a:effectLst/>
                            <a:latin typeface="Cambria Math" panose="02040503050406030204" pitchFamily="18" charset="0"/>
                          </a:rPr>
                          <m:t>,0,0,0)</m:t>
                        </m:r>
                      </m:e>
                      <m:sup>
                        <m:r>
                          <a:rPr lang="en-CN" sz="2400" i="1">
                            <a:effectLst/>
                            <a:latin typeface="Cambria Math" panose="02040503050406030204" pitchFamily="18" charset="0"/>
                          </a:rPr>
                          <m:t>𝑇</m:t>
                        </m:r>
                      </m:sup>
                    </m:sSup>
                  </m:oMath>
                </a14:m>
                <a:r>
                  <a:rPr lang="zh-CN" sz="2400" dirty="0">
                    <a:effectLst/>
                    <a:latin typeface="+mn-ea"/>
                  </a:rPr>
                  <a:t>。</a:t>
                </a:r>
                <a:endParaRPr lang="en-CN" sz="2400" dirty="0">
                  <a:effectLst/>
                  <a:latin typeface="+mn-ea"/>
                </a:endParaRPr>
              </a:p>
            </p:txBody>
          </p:sp>
        </mc:Choice>
        <mc:Fallback xmlns="">
          <p:sp>
            <p:nvSpPr>
              <p:cNvPr id="10" name="TextBox 9">
                <a:extLst>
                  <a:ext uri="{FF2B5EF4-FFF2-40B4-BE49-F238E27FC236}">
                    <a16:creationId xmlns:a16="http://schemas.microsoft.com/office/drawing/2014/main" id="{FEDB677C-EE33-C334-4D31-48180E0B0B20}"/>
                  </a:ext>
                </a:extLst>
              </p:cNvPr>
              <p:cNvSpPr txBox="1">
                <a:spLocks noRot="1" noChangeAspect="1" noMove="1" noResize="1" noEditPoints="1" noAdjustHandles="1" noChangeArrowheads="1" noChangeShapeType="1" noTextEdit="1"/>
              </p:cNvSpPr>
              <p:nvPr/>
            </p:nvSpPr>
            <p:spPr>
              <a:xfrm>
                <a:off x="726987" y="5984704"/>
                <a:ext cx="10738022" cy="594458"/>
              </a:xfrm>
              <a:prstGeom prst="rect">
                <a:avLst/>
              </a:prstGeom>
              <a:blipFill>
                <a:blip r:embed="rId3"/>
                <a:stretch>
                  <a:fillRect t="-75258" b="-15051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CD243526-ABF3-2364-7224-27E1160D93D7}"/>
              </a:ext>
            </a:extLst>
          </p:cNvPr>
          <p:cNvSpPr txBox="1"/>
          <p:nvPr/>
        </p:nvSpPr>
        <p:spPr>
          <a:xfrm>
            <a:off x="5539164" y="165248"/>
            <a:ext cx="959290" cy="46166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表</a:t>
            </a:r>
            <a:r>
              <a:rPr lang="en-US" altLang="zh-CN" sz="2400" dirty="0">
                <a:effectLst/>
                <a:latin typeface="Times New Roman" panose="02020603050405020304" pitchFamily="18" charset="0"/>
                <a:ea typeface="SimSun" panose="02010600030101010101" pitchFamily="2" charset="-122"/>
              </a:rPr>
              <a:t>2</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1CF5818-E626-E23D-75D0-6D47AC4268FC}"/>
                  </a:ext>
                </a:extLst>
              </p:cNvPr>
              <p:cNvSpPr txBox="1"/>
              <p:nvPr/>
            </p:nvSpPr>
            <p:spPr>
              <a:xfrm>
                <a:off x="518984" y="2977586"/>
                <a:ext cx="9897763" cy="3657861"/>
              </a:xfrm>
              <a:prstGeom prst="rect">
                <a:avLst/>
              </a:prstGeom>
              <a:noFill/>
            </p:spPr>
            <p:txBody>
              <a:bodyPr wrap="square">
                <a:spAutoFit/>
              </a:bodyPr>
              <a:lstStyle/>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a:t>
                </a:r>
                <a:r>
                  <a:rPr lang="en-CN" sz="2400" dirty="0">
                    <a:effectLst/>
                    <a:latin typeface="SimSun" panose="02010600030101010101" pitchFamily="2" charset="-122"/>
                    <a:ea typeface="Times New Roman" panose="02020603050405020304" pitchFamily="18" charset="0"/>
                  </a:rPr>
                  <a:t>2</a:t>
                </a:r>
                <a:r>
                  <a:rPr lang="zh-CN" sz="2400" dirty="0">
                    <a:effectLst/>
                    <a:latin typeface="SimSun" panose="02010600030101010101" pitchFamily="2" charset="-122"/>
                    <a:ea typeface="Times New Roman" panose="02020603050405020304" pitchFamily="18" charset="0"/>
                  </a:rPr>
                  <a:t>）</a:t>
                </a:r>
                <a14:m>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𝑐</m:t>
                        </m:r>
                      </m:e>
                      <m:sub>
                        <m:r>
                          <a:rPr lang="en-US" sz="2400" i="1">
                            <a:effectLst/>
                            <a:latin typeface="Cambria Math" panose="02040503050406030204" pitchFamily="18" charset="0"/>
                            <a:ea typeface="SimSun" panose="02010600030101010101" pitchFamily="2" charset="-122"/>
                          </a:rPr>
                          <m:t>5</m:t>
                        </m:r>
                      </m:sub>
                    </m:sSub>
                  </m:oMath>
                </a14:m>
                <a:r>
                  <a:rPr lang="zh-CN" sz="2400" dirty="0">
                    <a:effectLst/>
                    <a:latin typeface="Times New Roman" panose="02020603050405020304" pitchFamily="18" charset="0"/>
                    <a:ea typeface="SimSun" panose="02010600030101010101" pitchFamily="2" charset="-122"/>
                  </a:rPr>
                  <a:t>是基变量</a:t>
                </a:r>
                <a14:m>
                  <m:oMath xmlns:m="http://schemas.openxmlformats.org/officeDocument/2006/math">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5</m:t>
                        </m:r>
                      </m:sub>
                    </m:sSub>
                  </m:oMath>
                </a14:m>
                <a:r>
                  <a:rPr lang="zh-CN" sz="2400" dirty="0">
                    <a:effectLst/>
                    <a:latin typeface="Times New Roman" panose="02020603050405020304" pitchFamily="18" charset="0"/>
                    <a:ea typeface="SimSun" panose="02010600030101010101" pitchFamily="2" charset="-122"/>
                  </a:rPr>
                  <a:t>的系数</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m>
                            <m:mPr>
                              <m:mcs>
                                <m:mc>
                                  <m:mcPr>
                                    <m:count m:val="2"/>
                                    <m:mcJc m:val="center"/>
                                  </m:mcPr>
                                </m:mc>
                              </m:mcs>
                              <m:ctrlPr>
                                <a:rPr lang="en-CN" sz="2400" i="1">
                                  <a:effectLst/>
                                  <a:latin typeface="Cambria Math" panose="02040503050406030204" pitchFamily="18" charset="0"/>
                                  <a:ea typeface="SimSun" panose="02010600030101010101" pitchFamily="2" charset="-122"/>
                                </a:rPr>
                              </m:ctrlPr>
                            </m:mPr>
                            <m:mr>
                              <m:e>
                                <m:r>
                                  <a:rPr lang="en-CN" sz="2400" i="1">
                                    <a:effectLst/>
                                    <a:latin typeface="Cambria Math" panose="02040503050406030204" pitchFamily="18" charset="0"/>
                                    <a:ea typeface="SimSun" panose="02010600030101010101" pitchFamily="2" charset="-122"/>
                                  </a:rPr>
                                  <m:t>0</m:t>
                                </m:r>
                              </m:e>
                              <m:e>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e>
                            </m:mr>
                          </m:m>
                        </m:e>
                      </m:d>
                    </m:oMath>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1</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3</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4</m:t>
                                    </m:r>
                                  </m:sub>
                                </m:sSub>
                              </m:e>
                            </m:mr>
                          </m:m>
                        </m:e>
                      </m:d>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r>
                                  <a:rPr lang="en-CN" sz="2400" i="1">
                                    <a:effectLst/>
                                    <a:latin typeface="Cambria Math" panose="02040503050406030204" pitchFamily="18" charset="0"/>
                                    <a:ea typeface="SimSun" panose="02010600030101010101" pitchFamily="2" charset="-122"/>
                                  </a:rPr>
                                  <m:t>3</m:t>
                                </m:r>
                              </m:e>
                              <m:e>
                                <m:r>
                                  <a:rPr lang="en-CN" sz="2400" i="1">
                                    <a:effectLst/>
                                    <a:latin typeface="Cambria Math" panose="02040503050406030204" pitchFamily="18" charset="0"/>
                                    <a:ea typeface="SimSun" panose="02010600030101010101" pitchFamily="2" charset="-122"/>
                                  </a:rPr>
                                  <m:t>1</m:t>
                                </m:r>
                              </m:e>
                              <m:e>
                                <m:r>
                                  <a:rPr lang="en-CN" sz="2400" i="1">
                                    <a:effectLst/>
                                    <a:latin typeface="Cambria Math" panose="02040503050406030204" pitchFamily="18" charset="0"/>
                                    <a:ea typeface="SimSun" panose="02010600030101010101" pitchFamily="2" charset="-122"/>
                                  </a:rPr>
                                  <m:t>2</m:t>
                                </m:r>
                              </m:e>
                            </m:mr>
                          </m:m>
                        </m:e>
                      </m:d>
                    </m:oMath>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up>
                          <m:r>
                            <a:rPr lang="en-CN" sz="2400" i="1">
                              <a:effectLst/>
                              <a:latin typeface="Cambria Math" panose="02040503050406030204" pitchFamily="18" charset="0"/>
                              <a:ea typeface="SimSun" panose="02010600030101010101" pitchFamily="2" charset="-122"/>
                            </a:rPr>
                            <m:t>′</m:t>
                          </m:r>
                        </m:sup>
                      </m:sSubSup>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m:t>
                          </m:r>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sSup>
                        <m:sSupPr>
                          <m:ctrlPr>
                            <a:rPr lang="en-CN" sz="2400" i="1">
                              <a:effectLst/>
                              <a:latin typeface="Cambria Math" panose="02040503050406030204" pitchFamily="18" charset="0"/>
                              <a:ea typeface="SimSun" panose="02010600030101010101" pitchFamily="2" charset="-122"/>
                            </a:rPr>
                          </m:ctrlPr>
                        </m:sSupPr>
                        <m:e>
                          <m:r>
                            <a:rPr lang="en-CN" sz="2400" i="1">
                              <a:effectLst/>
                              <a:latin typeface="Cambria Math" panose="02040503050406030204" pitchFamily="18" charset="0"/>
                              <a:ea typeface="SimSun" panose="02010600030101010101" pitchFamily="2" charset="-122"/>
                            </a:rPr>
                            <m:t>𝐵</m:t>
                          </m:r>
                        </m:e>
                        <m:sup>
                          <m:r>
                            <a:rPr lang="en-CN" sz="2400" i="1">
                              <a:effectLst/>
                              <a:latin typeface="Cambria Math" panose="02040503050406030204" pitchFamily="18" charset="0"/>
                              <a:ea typeface="SimSun" panose="02010600030101010101" pitchFamily="2" charset="-122"/>
                            </a:rPr>
                            <m:t>−1</m:t>
                          </m:r>
                        </m:sup>
                      </m:sSup>
                      <m:d>
                        <m:dPr>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𝐴</m:t>
                                    </m:r>
                                  </m:e>
                                  <m:sub>
                                    <m:r>
                                      <a:rPr lang="en-CN" sz="2400" i="1">
                                        <a:effectLst/>
                                        <a:latin typeface="Cambria Math" panose="02040503050406030204" pitchFamily="18" charset="0"/>
                                        <a:ea typeface="SimSun" panose="02010600030101010101" pitchFamily="2" charset="-122"/>
                                      </a:rPr>
                                      <m:t>1</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𝐴</m:t>
                                    </m:r>
                                  </m:e>
                                  <m:sub>
                                    <m:r>
                                      <a:rPr lang="en-CN" sz="2400" i="1">
                                        <a:effectLst/>
                                        <a:latin typeface="Cambria Math" panose="02040503050406030204" pitchFamily="18" charset="0"/>
                                        <a:ea typeface="SimSun" panose="02010600030101010101" pitchFamily="2" charset="-122"/>
                                      </a:rPr>
                                      <m:t>3</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𝐴</m:t>
                                    </m:r>
                                  </m:e>
                                  <m:sub>
                                    <m:r>
                                      <a:rPr lang="en-CN" sz="2400" i="1">
                                        <a:effectLst/>
                                        <a:latin typeface="Cambria Math" panose="02040503050406030204" pitchFamily="18" charset="0"/>
                                        <a:ea typeface="SimSun" panose="02010600030101010101" pitchFamily="2" charset="-122"/>
                                      </a:rPr>
                                      <m:t>4</m:t>
                                    </m:r>
                                  </m:sub>
                                </m:sSub>
                              </m:e>
                            </m:mr>
                          </m:m>
                        </m:e>
                      </m:d>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m:t>
                          </m:r>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Sub>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d>
                        <m:dPr>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sSub>
                                  <m:sSubPr>
                                    <m:ctrlPr>
                                      <a:rPr lang="en-CN" sz="2400" i="1">
                                        <a:effectLst/>
                                        <a:latin typeface="Cambria Math" panose="02040503050406030204" pitchFamily="18" charset="0"/>
                                        <a:ea typeface="SimSun" panose="02010600030101010101" pitchFamily="2" charset="-122"/>
                                      </a:rPr>
                                    </m:ctrlPr>
                                  </m:sSubPr>
                                  <m:e>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𝐴</m:t>
                                        </m:r>
                                      </m:e>
                                    </m:acc>
                                  </m:e>
                                  <m:sub>
                                    <m:r>
                                      <a:rPr lang="en-CN" sz="2400" i="1">
                                        <a:effectLst/>
                                        <a:latin typeface="Cambria Math" panose="02040503050406030204" pitchFamily="18" charset="0"/>
                                        <a:ea typeface="SimSun" panose="02010600030101010101" pitchFamily="2" charset="-122"/>
                                      </a:rPr>
                                      <m:t>1</m:t>
                                    </m:r>
                                  </m:sub>
                                </m:sSub>
                              </m:e>
                              <m:e>
                                <m:sSub>
                                  <m:sSubPr>
                                    <m:ctrlPr>
                                      <a:rPr lang="en-CN" sz="2400" i="1">
                                        <a:effectLst/>
                                        <a:latin typeface="Cambria Math" panose="02040503050406030204" pitchFamily="18" charset="0"/>
                                        <a:ea typeface="SimSun" panose="02010600030101010101" pitchFamily="2" charset="-122"/>
                                      </a:rPr>
                                    </m:ctrlPr>
                                  </m:sSubPr>
                                  <m:e>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𝐴</m:t>
                                        </m:r>
                                      </m:e>
                                    </m:acc>
                                  </m:e>
                                  <m:sub>
                                    <m:r>
                                      <a:rPr lang="en-CN" sz="2400" i="1">
                                        <a:effectLst/>
                                        <a:latin typeface="Cambria Math" panose="02040503050406030204" pitchFamily="18" charset="0"/>
                                        <a:ea typeface="SimSun" panose="02010600030101010101" pitchFamily="2" charset="-122"/>
                                      </a:rPr>
                                      <m:t>3</m:t>
                                    </m:r>
                                  </m:sub>
                                </m:sSub>
                              </m:e>
                              <m:e>
                                <m:sSub>
                                  <m:sSubPr>
                                    <m:ctrlPr>
                                      <a:rPr lang="en-CN" sz="2400" i="1">
                                        <a:effectLst/>
                                        <a:latin typeface="Cambria Math" panose="02040503050406030204" pitchFamily="18" charset="0"/>
                                        <a:ea typeface="SimSun" panose="02010600030101010101" pitchFamily="2" charset="-122"/>
                                      </a:rPr>
                                    </m:ctrlPr>
                                  </m:sSubPr>
                                  <m:e>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𝐴</m:t>
                                        </m:r>
                                      </m:e>
                                    </m:acc>
                                  </m:e>
                                  <m:sub>
                                    <m:r>
                                      <a:rPr lang="en-CN" sz="2400" i="1">
                                        <a:effectLst/>
                                        <a:latin typeface="Cambria Math" panose="02040503050406030204" pitchFamily="18" charset="0"/>
                                        <a:ea typeface="SimSun" panose="02010600030101010101" pitchFamily="2" charset="-122"/>
                                      </a:rPr>
                                      <m:t>4</m:t>
                                    </m:r>
                                  </m:sub>
                                </m:sSub>
                              </m:e>
                            </m:mr>
                          </m:m>
                        </m:e>
                      </m:d>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Sup>
                        <m:sSubSupPr>
                          <m:ctrlPr>
                            <a:rPr lang="en-CN" sz="2400" i="1">
                              <a:effectLst/>
                              <a:latin typeface="Cambria Math" panose="02040503050406030204" pitchFamily="18" charset="0"/>
                              <a:ea typeface="SimSun" panose="02010600030101010101" pitchFamily="2" charset="-122"/>
                            </a:rPr>
                          </m:ctrlPr>
                        </m:sSubSupPr>
                        <m:e>
                          <m:r>
                            <a:rPr lang="en-CN" sz="2400" i="1">
                              <a:effectLst/>
                              <a:latin typeface="Cambria Math" panose="02040503050406030204" pitchFamily="18" charset="0"/>
                              <a:ea typeface="SimSun" panose="02010600030101010101" pitchFamily="2" charset="-122"/>
                            </a:rPr>
                            <m:t>𝜎</m:t>
                          </m:r>
                        </m:e>
                        <m:sub>
                          <m:r>
                            <a:rPr lang="en-CN" sz="2400" i="1">
                              <a:effectLst/>
                              <a:latin typeface="Cambria Math" panose="02040503050406030204" pitchFamily="18" charset="0"/>
                              <a:ea typeface="SimSun" panose="02010600030101010101" pitchFamily="2" charset="-122"/>
                            </a:rPr>
                            <m:t>𝑁</m:t>
                          </m:r>
                        </m:sub>
                        <m:sup>
                          <m:r>
                            <a:rPr lang="en-CN" sz="2400" i="1">
                              <a:effectLst/>
                              <a:latin typeface="Cambria Math" panose="02040503050406030204" pitchFamily="18" charset="0"/>
                              <a:ea typeface="SimSun" panose="02010600030101010101" pitchFamily="2" charset="-122"/>
                            </a:rPr>
                            <m:t>′</m:t>
                          </m:r>
                        </m:sup>
                      </m:sSubSup>
                      <m:r>
                        <a:rPr lang="en-CN"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r>
                                  <a:rPr lang="en-CN" sz="2400" i="1">
                                    <a:effectLst/>
                                    <a:latin typeface="Cambria Math" panose="02040503050406030204" pitchFamily="18" charset="0"/>
                                    <a:ea typeface="SimSun" panose="02010600030101010101" pitchFamily="2" charset="-122"/>
                                  </a:rPr>
                                  <m:t>3−3∆</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1−∆</m:t>
                                    </m:r>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e>
                              <m:e>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2−∆</m:t>
                                    </m:r>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e>
                            </m:mr>
                          </m:m>
                        </m:e>
                      </m:d>
                      <m:r>
                        <a:rPr lang="en-CN" sz="2400" i="1">
                          <a:effectLst/>
                          <a:latin typeface="Cambria Math" panose="02040503050406030204" pitchFamily="18" charset="0"/>
                          <a:ea typeface="SimSun" panose="02010600030101010101" pitchFamily="2" charset="-122"/>
                        </a:rPr>
                        <m:t>≥0⟹∆</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r>
                        <a:rPr lang="en-CN" sz="2400" i="1">
                          <a:effectLst/>
                          <a:latin typeface="Cambria Math" panose="02040503050406030204" pitchFamily="18" charset="0"/>
                          <a:ea typeface="SimSun" panose="02010600030101010101" pitchFamily="2" charset="-122"/>
                        </a:rPr>
                        <m:t>≤1</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即</a:t>
                </a:r>
                <a14:m>
                  <m:oMath xmlns:m="http://schemas.openxmlformats.org/officeDocument/2006/math">
                    <m:r>
                      <a:rPr lang="en-CN"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5</m:t>
                        </m:r>
                      </m:sub>
                    </m:sSub>
                    <m:r>
                      <a:rPr lang="en-CN" sz="2400" i="1">
                        <a:effectLst/>
                        <a:latin typeface="Cambria Math" panose="02040503050406030204" pitchFamily="18" charset="0"/>
                        <a:ea typeface="SimSun" panose="02010600030101010101" pitchFamily="2" charset="-122"/>
                      </a:rPr>
                      <m:t>≤1</m:t>
                    </m:r>
                  </m:oMath>
                </a14:m>
                <a:r>
                  <a:rPr lang="zh-CN" sz="2400" dirty="0">
                    <a:effectLst/>
                    <a:latin typeface="Times New Roman" panose="02020603050405020304" pitchFamily="18" charset="0"/>
                    <a:ea typeface="SimSun" panose="02010600030101010101" pitchFamily="2" charset="-122"/>
                  </a:rPr>
                  <a:t>时最优解不变。</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11CF5818-E626-E23D-75D0-6D47AC4268FC}"/>
                  </a:ext>
                </a:extLst>
              </p:cNvPr>
              <p:cNvSpPr txBox="1">
                <a:spLocks noRot="1" noChangeAspect="1" noMove="1" noResize="1" noEditPoints="1" noAdjustHandles="1" noChangeArrowheads="1" noChangeShapeType="1" noTextEdit="1"/>
              </p:cNvSpPr>
              <p:nvPr/>
            </p:nvSpPr>
            <p:spPr>
              <a:xfrm>
                <a:off x="518984" y="2977586"/>
                <a:ext cx="9897763" cy="3657861"/>
              </a:xfrm>
              <a:prstGeom prst="rect">
                <a:avLst/>
              </a:prstGeom>
              <a:blipFill>
                <a:blip r:embed="rId2"/>
                <a:stretch>
                  <a:fillRect b="-2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0C9565D7-6013-CE3A-2DBA-3428DB782880}"/>
                  </a:ext>
                </a:extLst>
              </p:cNvPr>
              <p:cNvGraphicFramePr>
                <a:graphicFrameLocks noGrp="1"/>
              </p:cNvGraphicFramePr>
              <p:nvPr>
                <p:extLst>
                  <p:ext uri="{D42A27DB-BD31-4B8C-83A1-F6EECF244321}">
                    <p14:modId xmlns:p14="http://schemas.microsoft.com/office/powerpoint/2010/main" val="2040719244"/>
                  </p:ext>
                </p:extLst>
              </p:nvPr>
            </p:nvGraphicFramePr>
            <p:xfrm>
              <a:off x="6196914" y="853822"/>
              <a:ext cx="5267960" cy="3224721"/>
            </p:xfrm>
            <a:graphic>
              <a:graphicData uri="http://schemas.openxmlformats.org/drawingml/2006/table">
                <a:tbl>
                  <a:tblPr firstRow="1" firstCol="1" bandRow="1"/>
                  <a:tblGrid>
                    <a:gridCol w="658495">
                      <a:extLst>
                        <a:ext uri="{9D8B030D-6E8A-4147-A177-3AD203B41FA5}">
                          <a16:colId xmlns:a16="http://schemas.microsoft.com/office/drawing/2014/main" val="3021778238"/>
                        </a:ext>
                      </a:extLst>
                    </a:gridCol>
                    <a:gridCol w="658495">
                      <a:extLst>
                        <a:ext uri="{9D8B030D-6E8A-4147-A177-3AD203B41FA5}">
                          <a16:colId xmlns:a16="http://schemas.microsoft.com/office/drawing/2014/main" val="2594829370"/>
                        </a:ext>
                      </a:extLst>
                    </a:gridCol>
                    <a:gridCol w="658495">
                      <a:extLst>
                        <a:ext uri="{9D8B030D-6E8A-4147-A177-3AD203B41FA5}">
                          <a16:colId xmlns:a16="http://schemas.microsoft.com/office/drawing/2014/main" val="2520491097"/>
                        </a:ext>
                      </a:extLst>
                    </a:gridCol>
                    <a:gridCol w="658495">
                      <a:extLst>
                        <a:ext uri="{9D8B030D-6E8A-4147-A177-3AD203B41FA5}">
                          <a16:colId xmlns:a16="http://schemas.microsoft.com/office/drawing/2014/main" val="3530455821"/>
                        </a:ext>
                      </a:extLst>
                    </a:gridCol>
                    <a:gridCol w="658495">
                      <a:extLst>
                        <a:ext uri="{9D8B030D-6E8A-4147-A177-3AD203B41FA5}">
                          <a16:colId xmlns:a16="http://schemas.microsoft.com/office/drawing/2014/main" val="255811077"/>
                        </a:ext>
                      </a:extLst>
                    </a:gridCol>
                    <a:gridCol w="658495">
                      <a:extLst>
                        <a:ext uri="{9D8B030D-6E8A-4147-A177-3AD203B41FA5}">
                          <a16:colId xmlns:a16="http://schemas.microsoft.com/office/drawing/2014/main" val="987222735"/>
                        </a:ext>
                      </a:extLst>
                    </a:gridCol>
                    <a:gridCol w="658495">
                      <a:extLst>
                        <a:ext uri="{9D8B030D-6E8A-4147-A177-3AD203B41FA5}">
                          <a16:colId xmlns:a16="http://schemas.microsoft.com/office/drawing/2014/main" val="1829314783"/>
                        </a:ext>
                      </a:extLst>
                    </a:gridCol>
                    <a:gridCol w="658495">
                      <a:extLst>
                        <a:ext uri="{9D8B030D-6E8A-4147-A177-3AD203B41FA5}">
                          <a16:colId xmlns:a16="http://schemas.microsoft.com/office/drawing/2014/main" val="3388058144"/>
                        </a:ext>
                      </a:extLst>
                    </a:gridCol>
                  </a:tblGrid>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𝑗</m:t>
                                    </m:r>
                                  </m:sub>
                                </m:sSub>
                                <m:r>
                                  <a:rPr lang="en-CN" sz="2400" i="1">
                                    <a:effectLst/>
                                    <a:latin typeface="Cambria Math" panose="02040503050406030204" pitchFamily="18" charset="0"/>
                                    <a:ea typeface="SimSun" panose="02010600030101010101" pitchFamily="2" charset="-122"/>
                                  </a:rPr>
                                  <m:t>→</m:t>
                                </m:r>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-2</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6775296"/>
                      </a:ext>
                    </a:extLst>
                  </a:tr>
                  <a:tr h="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𝑐</m:t>
                                    </m:r>
                                  </m:e>
                                  <m:sub>
                                    <m:r>
                                      <a:rPr lang="en-CN" sz="2400" i="1">
                                        <a:effectLst/>
                                        <a:latin typeface="Cambria Math" panose="02040503050406030204" pitchFamily="18" charset="0"/>
                                        <a:ea typeface="SimSun" panose="02010600030101010101" pitchFamily="2" charset="-122"/>
                                      </a:rPr>
                                      <m:t>𝐵</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𝑏</m:t>
                                    </m:r>
                                  </m:e>
                                </m:acc>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1</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3</m:t>
                                    </m:r>
                                  </m:sub>
                                </m:sSub>
                              </m:oMath>
                            </m:oMathPara>
                          </a14:m>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4</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5</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3625349"/>
                      </a:ext>
                    </a:extLst>
                  </a:tr>
                  <a:tr h="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2</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6</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4510656"/>
                      </a:ext>
                    </a:extLst>
                  </a:tr>
                  <a:tr h="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CN" sz="2400" i="1">
                                        <a:effectLst/>
                                        <a:latin typeface="Cambria Math" panose="02040503050406030204" pitchFamily="18" charset="0"/>
                                        <a:ea typeface="SimSun" panose="02010600030101010101" pitchFamily="2" charset="-122"/>
                                      </a:rPr>
                                      <m:t>𝑥</m:t>
                                    </m:r>
                                  </m:e>
                                  <m:sub>
                                    <m:r>
                                      <a:rPr lang="en-CN" sz="2400" i="1">
                                        <a:effectLst/>
                                        <a:latin typeface="Cambria Math" panose="02040503050406030204" pitchFamily="18" charset="0"/>
                                        <a:ea typeface="SimSun" panose="02010600030101010101" pitchFamily="2" charset="-122"/>
                                      </a:rPr>
                                      <m:t>5</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7008491"/>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𝜎</m:t>
                                    </m:r>
                                  </m:e>
                                  <m:sub>
                                    <m:r>
                                      <a:rPr lang="en-US" sz="2400" i="1">
                                        <a:effectLst/>
                                        <a:latin typeface="Cambria Math" panose="02040503050406030204" pitchFamily="18" charset="0"/>
                                        <a:ea typeface="SimSun" panose="02010600030101010101" pitchFamily="2" charset="-122"/>
                                      </a:rPr>
                                      <m:t>𝑗</m:t>
                                    </m:r>
                                  </m:sub>
                                </m:sSub>
                              </m:oMath>
                            </m:oMathPara>
                          </a14:m>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4422311"/>
                      </a:ext>
                    </a:extLst>
                  </a:tr>
                </a:tbl>
              </a:graphicData>
            </a:graphic>
          </p:graphicFrame>
        </mc:Choice>
        <mc:Fallback xmlns="">
          <p:graphicFrame>
            <p:nvGraphicFramePr>
              <p:cNvPr id="16" name="Table 15">
                <a:extLst>
                  <a:ext uri="{FF2B5EF4-FFF2-40B4-BE49-F238E27FC236}">
                    <a16:creationId xmlns:a16="http://schemas.microsoft.com/office/drawing/2014/main" id="{0C9565D7-6013-CE3A-2DBA-3428DB782880}"/>
                  </a:ext>
                </a:extLst>
              </p:cNvPr>
              <p:cNvGraphicFramePr>
                <a:graphicFrameLocks noGrp="1"/>
              </p:cNvGraphicFramePr>
              <p:nvPr>
                <p:extLst>
                  <p:ext uri="{D42A27DB-BD31-4B8C-83A1-F6EECF244321}">
                    <p14:modId xmlns:p14="http://schemas.microsoft.com/office/powerpoint/2010/main" val="2040719244"/>
                  </p:ext>
                </p:extLst>
              </p:nvPr>
            </p:nvGraphicFramePr>
            <p:xfrm>
              <a:off x="6196914" y="853822"/>
              <a:ext cx="5267960" cy="3224721"/>
            </p:xfrm>
            <a:graphic>
              <a:graphicData uri="http://schemas.openxmlformats.org/drawingml/2006/table">
                <a:tbl>
                  <a:tblPr firstRow="1" firstCol="1" bandRow="1"/>
                  <a:tblGrid>
                    <a:gridCol w="658495">
                      <a:extLst>
                        <a:ext uri="{9D8B030D-6E8A-4147-A177-3AD203B41FA5}">
                          <a16:colId xmlns:a16="http://schemas.microsoft.com/office/drawing/2014/main" val="3021778238"/>
                        </a:ext>
                      </a:extLst>
                    </a:gridCol>
                    <a:gridCol w="658495">
                      <a:extLst>
                        <a:ext uri="{9D8B030D-6E8A-4147-A177-3AD203B41FA5}">
                          <a16:colId xmlns:a16="http://schemas.microsoft.com/office/drawing/2014/main" val="2594829370"/>
                        </a:ext>
                      </a:extLst>
                    </a:gridCol>
                    <a:gridCol w="658495">
                      <a:extLst>
                        <a:ext uri="{9D8B030D-6E8A-4147-A177-3AD203B41FA5}">
                          <a16:colId xmlns:a16="http://schemas.microsoft.com/office/drawing/2014/main" val="2520491097"/>
                        </a:ext>
                      </a:extLst>
                    </a:gridCol>
                    <a:gridCol w="658495">
                      <a:extLst>
                        <a:ext uri="{9D8B030D-6E8A-4147-A177-3AD203B41FA5}">
                          <a16:colId xmlns:a16="http://schemas.microsoft.com/office/drawing/2014/main" val="3530455821"/>
                        </a:ext>
                      </a:extLst>
                    </a:gridCol>
                    <a:gridCol w="658495">
                      <a:extLst>
                        <a:ext uri="{9D8B030D-6E8A-4147-A177-3AD203B41FA5}">
                          <a16:colId xmlns:a16="http://schemas.microsoft.com/office/drawing/2014/main" val="255811077"/>
                        </a:ext>
                      </a:extLst>
                    </a:gridCol>
                    <a:gridCol w="658495">
                      <a:extLst>
                        <a:ext uri="{9D8B030D-6E8A-4147-A177-3AD203B41FA5}">
                          <a16:colId xmlns:a16="http://schemas.microsoft.com/office/drawing/2014/main" val="987222735"/>
                        </a:ext>
                      </a:extLst>
                    </a:gridCol>
                    <a:gridCol w="658495">
                      <a:extLst>
                        <a:ext uri="{9D8B030D-6E8A-4147-A177-3AD203B41FA5}">
                          <a16:colId xmlns:a16="http://schemas.microsoft.com/office/drawing/2014/main" val="1829314783"/>
                        </a:ext>
                      </a:extLst>
                    </a:gridCol>
                    <a:gridCol w="658495">
                      <a:extLst>
                        <a:ext uri="{9D8B030D-6E8A-4147-A177-3AD203B41FA5}">
                          <a16:colId xmlns:a16="http://schemas.microsoft.com/office/drawing/2014/main" val="3388058144"/>
                        </a:ext>
                      </a:extLst>
                    </a:gridCol>
                  </a:tblGrid>
                  <a:tr h="669036">
                    <a:tc gridSpan="3">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1887" r="-167308" b="-390566"/>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-2</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6775296"/>
                      </a:ext>
                    </a:extLst>
                  </a:tr>
                  <a:tr h="636969">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108000" r="-701923" b="-314000"/>
                          </a:stretch>
                        </a:blipFill>
                      </a:tcPr>
                    </a:tc>
                    <a:tc>
                      <a:txBody>
                        <a:bodyPr/>
                        <a:lstStyle/>
                        <a:p>
                          <a:pPr algn="ctr">
                            <a:lnSpc>
                              <a:spcPct val="150000"/>
                            </a:lnSpc>
                            <a:spcBef>
                              <a:spcPts val="600"/>
                            </a:spcBef>
                            <a:spcAft>
                              <a:spcPts val="600"/>
                            </a:spcAft>
                          </a:pPr>
                          <a:r>
                            <a:rPr lang="zh-CN" sz="2400">
                              <a:effectLst/>
                              <a:latin typeface="Times New Roman" panose="02020603050405020304" pitchFamily="18" charset="0"/>
                              <a:ea typeface="SimSun" panose="02010600030101010101" pitchFamily="2" charset="-122"/>
                            </a:rPr>
                            <a:t>基</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0000" t="-108000" r="-501923" b="-314000"/>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00000" t="-108000" r="-401923" b="-314000"/>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0000" t="-108000" r="-301923" b="-314000"/>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00000" t="-108000" r="-201923" b="-314000"/>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00000" t="-108000" r="-101923" b="-314000"/>
                          </a:stretch>
                        </a:blip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00000" t="-108000" r="-1923" b="-314000"/>
                          </a:stretch>
                        </a:blipFill>
                      </a:tcPr>
                    </a:tc>
                    <a:extLst>
                      <a:ext uri="{0D108BD9-81ED-4DB2-BD59-A6C34878D82A}">
                        <a16:rowId xmlns:a16="http://schemas.microsoft.com/office/drawing/2014/main" val="883625349"/>
                      </a:ext>
                    </a:extLst>
                  </a:tr>
                  <a:tr h="62484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000" t="-208000" r="-601923" b="-214000"/>
                          </a:stretch>
                        </a:blip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6</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4510656"/>
                      </a:ext>
                    </a:extLst>
                  </a:tr>
                  <a:tr h="624840">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000" t="-314286" r="-601923" b="-118367"/>
                          </a:stretch>
                        </a:blip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1</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7008491"/>
                      </a:ext>
                    </a:extLst>
                  </a:tr>
                  <a:tr h="669036">
                    <a:tc gridSpan="3">
                      <a:txBody>
                        <a:bodyPr/>
                        <a:lstStyle/>
                        <a:p>
                          <a:endParaRPr lang="en-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383019" r="-167308" b="-9434"/>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3</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0</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1</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SimSun" panose="02010600030101010101" pitchFamily="2" charset="-122"/>
                              <a:ea typeface="Times New Roman" panose="02020603050405020304" pitchFamily="18" charset="0"/>
                            </a:rPr>
                            <a:t>2</a:t>
                          </a:r>
                          <a:endParaRPr lang="en-CN"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SimSun" panose="02010600030101010101" pitchFamily="2" charset="-122"/>
                              <a:ea typeface="Times New Roman" panose="02020603050405020304" pitchFamily="18" charset="0"/>
                            </a:rPr>
                            <a:t>0</a:t>
                          </a:r>
                          <a:endParaRPr lang="en-CN"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4422311"/>
                      </a:ext>
                    </a:extLst>
                  </a:tr>
                </a:tbl>
              </a:graphicData>
            </a:graphic>
          </p:graphicFrame>
        </mc:Fallback>
      </mc:AlternateContent>
      <p:sp>
        <p:nvSpPr>
          <p:cNvPr id="2" name="文本框 1">
            <a:extLst>
              <a:ext uri="{FF2B5EF4-FFF2-40B4-BE49-F238E27FC236}">
                <a16:creationId xmlns:a16="http://schemas.microsoft.com/office/drawing/2014/main" id="{C432CF26-467E-0D88-D340-E0BCE2BC4F09}"/>
              </a:ext>
            </a:extLst>
          </p:cNvPr>
          <p:cNvSpPr txBox="1"/>
          <p:nvPr/>
        </p:nvSpPr>
        <p:spPr>
          <a:xfrm>
            <a:off x="8311191" y="392157"/>
            <a:ext cx="6094520" cy="46166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表</a:t>
            </a:r>
            <a:r>
              <a:rPr lang="en-US" altLang="zh-CN" sz="2400" dirty="0">
                <a:effectLst/>
                <a:latin typeface="SimSun" panose="02010600030101010101" pitchFamily="2" charset="-122"/>
                <a:ea typeface="Times New Roman" panose="02020603050405020304" pitchFamily="18" charset="0"/>
              </a:rPr>
              <a:t>1</a:t>
            </a: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1BCCC33-E1B6-434E-A2A9-CF54920FFB0B}"/>
              </a:ext>
            </a:extLst>
          </p:cNvPr>
          <p:cNvSpPr/>
          <p:nvPr/>
        </p:nvSpPr>
        <p:spPr>
          <a:xfrm>
            <a:off x="1910862" y="3928191"/>
            <a:ext cx="8423030" cy="2571907"/>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5370083D-24E4-4505-AA8F-D7E7332C1A0F}"/>
              </a:ext>
            </a:extLst>
          </p:cNvPr>
          <p:cNvSpPr txBox="1"/>
          <p:nvPr/>
        </p:nvSpPr>
        <p:spPr>
          <a:xfrm>
            <a:off x="9112512" y="472693"/>
            <a:ext cx="2161682" cy="830997"/>
          </a:xfrm>
          <a:prstGeom prst="rect">
            <a:avLst/>
          </a:prstGeom>
          <a:noFill/>
        </p:spPr>
        <p:txBody>
          <a:bodyPr wrap="square" rtlCol="0">
            <a:spAutoFit/>
          </a:bodyPr>
          <a:lstStyle/>
          <a:p>
            <a:r>
              <a:rPr lang="zh-CN" altLang="en-US" sz="2400" dirty="0">
                <a:solidFill>
                  <a:srgbClr val="FF0000"/>
                </a:solidFill>
              </a:rPr>
              <a:t>可以推广到任意形式的增量</a:t>
            </a:r>
          </a:p>
        </p:txBody>
      </p:sp>
      <p:sp>
        <p:nvSpPr>
          <p:cNvPr id="9" name="箭头: 右 8">
            <a:extLst>
              <a:ext uri="{FF2B5EF4-FFF2-40B4-BE49-F238E27FC236}">
                <a16:creationId xmlns:a16="http://schemas.microsoft.com/office/drawing/2014/main" id="{FF4ED81F-6E87-49FB-9441-4401AEA72896}"/>
              </a:ext>
            </a:extLst>
          </p:cNvPr>
          <p:cNvSpPr/>
          <p:nvPr/>
        </p:nvSpPr>
        <p:spPr>
          <a:xfrm>
            <a:off x="8632339" y="625684"/>
            <a:ext cx="334841" cy="501162"/>
          </a:xfrm>
          <a:prstGeom prst="rightArrow">
            <a:avLst>
              <a:gd name="adj1" fmla="val 50000"/>
              <a:gd name="adj2" fmla="val 463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FC75682-D2D8-0285-F85D-C4949820EAA1}"/>
                  </a:ext>
                </a:extLst>
              </p:cNvPr>
              <p:cNvSpPr txBox="1"/>
              <p:nvPr/>
            </p:nvSpPr>
            <p:spPr>
              <a:xfrm>
                <a:off x="504478" y="477419"/>
                <a:ext cx="3592371" cy="584775"/>
              </a:xfrm>
              <a:prstGeom prst="rect">
                <a:avLst/>
              </a:prstGeom>
              <a:noFill/>
            </p:spPr>
            <p:txBody>
              <a:bodyPr wrap="square" rtlCol="0">
                <a:spAutoFit/>
              </a:bodyPr>
              <a:lstStyle/>
              <a:p>
                <a:r>
                  <a:rPr lang="zh-CN" altLang="en-US" sz="3200" b="1" dirty="0">
                    <a:latin typeface="Heiti TC Light" panose="02000000000000000000" pitchFamily="2" charset="-128"/>
                    <a:ea typeface="Heiti TC Light" panose="02000000000000000000" pitchFamily="2" charset="-128"/>
                  </a:rPr>
                  <a:t>二、参数</a:t>
                </a:r>
                <a14:m>
                  <m:oMath xmlns:m="http://schemas.openxmlformats.org/officeDocument/2006/math">
                    <m:r>
                      <a:rPr lang="en-US" altLang="zh-CN" sz="3200" b="1" i="1" dirty="0" smtClean="0">
                        <a:latin typeface="Cambria Math" panose="02040503050406030204" pitchFamily="18" charset="0"/>
                        <a:ea typeface="HEITI TC LIGHT" panose="02000000000000000000" pitchFamily="2" charset="-128"/>
                      </a:rPr>
                      <m:t>𝒃</m:t>
                    </m:r>
                  </m:oMath>
                </a14:m>
                <a:r>
                  <a:rPr lang="zh-CN" altLang="en-US" sz="3200" b="1" dirty="0">
                    <a:latin typeface="Heiti TC Light" panose="02000000000000000000" pitchFamily="2" charset="-128"/>
                    <a:ea typeface="Heiti TC Light" panose="02000000000000000000" pitchFamily="2" charset="-128"/>
                  </a:rPr>
                  <a:t>的变化</a:t>
                </a:r>
              </a:p>
            </p:txBody>
          </p:sp>
        </mc:Choice>
        <mc:Fallback xmlns="">
          <p:sp>
            <p:nvSpPr>
              <p:cNvPr id="3" name="文本框 2">
                <a:extLst>
                  <a:ext uri="{FF2B5EF4-FFF2-40B4-BE49-F238E27FC236}">
                    <a16:creationId xmlns:a16="http://schemas.microsoft.com/office/drawing/2014/main" id="{0FC75682-D2D8-0285-F85D-C4949820EAA1}"/>
                  </a:ext>
                </a:extLst>
              </p:cNvPr>
              <p:cNvSpPr txBox="1">
                <a:spLocks noRot="1" noChangeAspect="1" noMove="1" noResize="1" noEditPoints="1" noAdjustHandles="1" noChangeArrowheads="1" noChangeShapeType="1" noTextEdit="1"/>
              </p:cNvSpPr>
              <p:nvPr/>
            </p:nvSpPr>
            <p:spPr>
              <a:xfrm>
                <a:off x="504478" y="477419"/>
                <a:ext cx="3592371" cy="584775"/>
              </a:xfrm>
              <a:prstGeom prst="rect">
                <a:avLst/>
              </a:prstGeom>
              <a:blipFill>
                <a:blip r:embed="rId2"/>
                <a:stretch>
                  <a:fillRect l="-4414" t="-15625" b="-34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583D74-E141-F9FC-231D-706775F7C311}"/>
                  </a:ext>
                </a:extLst>
              </p:cNvPr>
              <p:cNvSpPr txBox="1"/>
              <p:nvPr/>
            </p:nvSpPr>
            <p:spPr>
              <a:xfrm>
                <a:off x="2461615" y="620167"/>
                <a:ext cx="6098058" cy="8309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sz="2400" i="1" smtClean="0">
                              <a:solidFill>
                                <a:srgbClr val="836967"/>
                              </a:solidFill>
                              <a:latin typeface="Cambria Math" panose="02040503050406030204" pitchFamily="18" charset="0"/>
                            </a:rPr>
                          </m:ctrlPr>
                        </m:sSubPr>
                        <m:e>
                          <m:r>
                            <a:rPr lang="en-CN" sz="2400" i="1">
                              <a:latin typeface="Cambria Math" panose="02040503050406030204" pitchFamily="18" charset="0"/>
                            </a:rPr>
                            <m:t>𝑏</m:t>
                          </m:r>
                        </m:e>
                        <m:sub>
                          <m:r>
                            <a:rPr lang="en-CN" sz="2400" i="1">
                              <a:latin typeface="Cambria Math" panose="02040503050406030204" pitchFamily="18" charset="0"/>
                            </a:rPr>
                            <m:t>𝑖</m:t>
                          </m:r>
                        </m:sub>
                      </m:sSub>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𝑏</m:t>
                          </m:r>
                        </m:e>
                        <m:sub>
                          <m:r>
                            <a:rPr lang="en-CN" sz="2400" i="1">
                              <a:latin typeface="Cambria Math" panose="02040503050406030204" pitchFamily="18" charset="0"/>
                            </a:rPr>
                            <m:t>𝑖</m:t>
                          </m:r>
                        </m:sub>
                      </m:sSub>
                      <m:r>
                        <a:rPr lang="en-CN" sz="2400" i="0">
                          <a:latin typeface="Cambria Math" panose="02040503050406030204" pitchFamily="18" charset="0"/>
                        </a:rPr>
                        <m:t>+</m:t>
                      </m:r>
                      <m:r>
                        <m:rPr>
                          <m:sty m:val="p"/>
                        </m:rPr>
                        <a:rPr lang="en-CN" sz="2400" i="0">
                          <a:latin typeface="Cambria Math" panose="02040503050406030204" pitchFamily="18" charset="0"/>
                        </a:rPr>
                        <m:t>Δ</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𝑏</m:t>
                          </m:r>
                        </m:e>
                        <m:sub>
                          <m:r>
                            <a:rPr lang="en-CN" sz="2400" i="1">
                              <a:latin typeface="Cambria Math" panose="02040503050406030204" pitchFamily="18" charset="0"/>
                            </a:rPr>
                            <m:t>𝑖</m:t>
                          </m:r>
                        </m:sub>
                      </m:sSub>
                    </m:oMath>
                  </m:oMathPara>
                </a14:m>
                <a:endParaRPr lang="en-US"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CN" sz="2400" i="1">
                          <a:latin typeface="Cambria Math" panose="02040503050406030204" pitchFamily="18" charset="0"/>
                        </a:rPr>
                        <m:t>𝑏</m:t>
                      </m:r>
                      <m:r>
                        <a:rPr lang="en-CN" sz="2400" i="0">
                          <a:latin typeface="Cambria Math" panose="02040503050406030204" pitchFamily="18" charset="0"/>
                        </a:rPr>
                        <m:t>→</m:t>
                      </m:r>
                      <m:r>
                        <a:rPr lang="en-CN" sz="2400" i="1">
                          <a:latin typeface="Cambria Math" panose="02040503050406030204" pitchFamily="18" charset="0"/>
                        </a:rPr>
                        <m:t>𝑏</m:t>
                      </m:r>
                      <m:r>
                        <a:rPr lang="en-CN" sz="2400" i="0">
                          <a:latin typeface="Cambria Math" panose="02040503050406030204" pitchFamily="18" charset="0"/>
                        </a:rPr>
                        <m:t>+ </m:t>
                      </m:r>
                      <m:r>
                        <m:rPr>
                          <m:sty m:val="p"/>
                        </m:rPr>
                        <a:rPr lang="en-CN" sz="2400" i="0">
                          <a:latin typeface="Cambria Math" panose="02040503050406030204" pitchFamily="18" charset="0"/>
                        </a:rPr>
                        <m:t>Δ</m:t>
                      </m:r>
                      <m:r>
                        <a:rPr lang="en-CN" sz="2400" i="1">
                          <a:latin typeface="Cambria Math" panose="02040503050406030204" pitchFamily="18" charset="0"/>
                        </a:rPr>
                        <m:t>𝑏</m:t>
                      </m:r>
                    </m:oMath>
                  </m:oMathPara>
                </a14:m>
                <a:endParaRPr lang="en-CN" sz="2400" dirty="0"/>
              </a:p>
            </p:txBody>
          </p:sp>
        </mc:Choice>
        <mc:Fallback xmlns="">
          <p:sp>
            <p:nvSpPr>
              <p:cNvPr id="7" name="TextBox 6">
                <a:extLst>
                  <a:ext uri="{FF2B5EF4-FFF2-40B4-BE49-F238E27FC236}">
                    <a16:creationId xmlns:a16="http://schemas.microsoft.com/office/drawing/2014/main" id="{62583D74-E141-F9FC-231D-706775F7C311}"/>
                  </a:ext>
                </a:extLst>
              </p:cNvPr>
              <p:cNvSpPr txBox="1">
                <a:spLocks noRot="1" noChangeAspect="1" noMove="1" noResize="1" noEditPoints="1" noAdjustHandles="1" noChangeArrowheads="1" noChangeShapeType="1" noTextEdit="1"/>
              </p:cNvSpPr>
              <p:nvPr/>
            </p:nvSpPr>
            <p:spPr>
              <a:xfrm>
                <a:off x="2461615" y="620167"/>
                <a:ext cx="6098058" cy="8309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2F0D112-CEA8-E6D6-6D4A-8E31ED8F6294}"/>
                  </a:ext>
                </a:extLst>
              </p:cNvPr>
              <p:cNvSpPr txBox="1"/>
              <p:nvPr/>
            </p:nvSpPr>
            <p:spPr>
              <a:xfrm>
                <a:off x="2051401" y="1451164"/>
                <a:ext cx="8141952" cy="1992020"/>
              </a:xfrm>
              <a:prstGeom prst="rect">
                <a:avLst/>
              </a:prstGeom>
              <a:noFill/>
            </p:spPr>
            <p:txBody>
              <a:bodyPr wrap="square">
                <a:spAutoFit/>
              </a:bodyPr>
              <a:lstStyle/>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2400" i="1" smtClean="0">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𝐵</m:t>
                          </m:r>
                        </m:sub>
                      </m:sSub>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𝑏</m:t>
                      </m:r>
                      <m:r>
                        <a:rPr lang="en-CN"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d>
                        <m:dPr>
                          <m:ctrlPr>
                            <a:rPr lang="en-CN" sz="2400" i="1">
                              <a:effectLst/>
                              <a:latin typeface="Cambria Math" panose="02040503050406030204" pitchFamily="18" charset="0"/>
                              <a:ea typeface="SimSun" panose="02010600030101010101" pitchFamily="2" charset="-122"/>
                            </a:rPr>
                          </m:ctrlPr>
                        </m:dPr>
                        <m:e>
                          <m:r>
                            <a:rPr lang="en-CN" sz="2400" i="1">
                              <a:effectLst/>
                              <a:latin typeface="Cambria Math" panose="02040503050406030204" pitchFamily="18" charset="0"/>
                              <a:ea typeface="Heiti TC Medium" pitchFamily="2" charset="-128"/>
                            </a:rPr>
                            <m:t>𝑏</m:t>
                          </m:r>
                          <m:r>
                            <a:rPr lang="en-CN" sz="2400" i="1">
                              <a:effectLst/>
                              <a:latin typeface="Cambria Math" panose="02040503050406030204" pitchFamily="18" charset="0"/>
                              <a:ea typeface="Heiti TC Medium" pitchFamily="2" charset="-128"/>
                            </a:rPr>
                            <m:t>+</m:t>
                          </m:r>
                          <m:r>
                            <a:rPr lang="en-CN" sz="2400">
                              <a:effectLst/>
                              <a:latin typeface="Cambria Math" panose="02040503050406030204" pitchFamily="18" charset="0"/>
                              <a:ea typeface="Heiti TC Medium" pitchFamily="2" charset="-128"/>
                            </a:rPr>
                            <m:t> </m:t>
                          </m:r>
                          <m:r>
                            <m:rPr>
                              <m:sty m:val="p"/>
                            </m:rPr>
                            <a:rPr lang="en-CN" sz="2400">
                              <a:effectLst/>
                              <a:latin typeface="Cambria Math" panose="02040503050406030204" pitchFamily="18" charset="0"/>
                              <a:ea typeface="Heiti TC Medium" pitchFamily="2" charset="-128"/>
                            </a:rPr>
                            <m:t>Δ</m:t>
                          </m:r>
                          <m:r>
                            <a:rPr lang="en-CN" sz="2400" i="1">
                              <a:effectLst/>
                              <a:latin typeface="Cambria Math" panose="02040503050406030204" pitchFamily="18" charset="0"/>
                              <a:ea typeface="Heiti TC Medium" pitchFamily="2" charset="-128"/>
                            </a:rPr>
                            <m:t>𝑏</m:t>
                          </m:r>
                        </m:e>
                      </m:d>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𝑏</m:t>
                      </m:r>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m:rPr>
                          <m:sty m:val="p"/>
                        </m:rPr>
                        <a:rPr lang="en-CN" sz="2400">
                          <a:effectLst/>
                          <a:latin typeface="Cambria Math" panose="02040503050406030204" pitchFamily="18" charset="0"/>
                          <a:ea typeface="Heiti TC Medium" pitchFamily="2" charset="-128"/>
                        </a:rPr>
                        <m:t>Δ</m:t>
                      </m:r>
                      <m:r>
                        <a:rPr lang="en-CN" sz="2400" i="1">
                          <a:effectLst/>
                          <a:latin typeface="Cambria Math" panose="02040503050406030204" pitchFamily="18" charset="0"/>
                          <a:ea typeface="Heiti TC Medium" pitchFamily="2" charset="-128"/>
                        </a:rPr>
                        <m:t>𝑏</m:t>
                      </m:r>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由</a:t>
                </a:r>
                <a14:m>
                  <m:oMath xmlns:m="http://schemas.openxmlformats.org/officeDocument/2006/math">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𝑏</m:t>
                    </m:r>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m:rPr>
                        <m:sty m:val="p"/>
                      </m:rPr>
                      <a:rPr lang="en-CN" sz="2400">
                        <a:effectLst/>
                        <a:latin typeface="Cambria Math" panose="02040503050406030204" pitchFamily="18" charset="0"/>
                        <a:ea typeface="Heiti TC Medium" pitchFamily="2" charset="-128"/>
                      </a:rPr>
                      <m:t>Δ</m:t>
                    </m:r>
                    <m:r>
                      <a:rPr lang="en-CN" sz="2400" i="1">
                        <a:effectLst/>
                        <a:latin typeface="Cambria Math" panose="02040503050406030204" pitchFamily="18" charset="0"/>
                        <a:ea typeface="Heiti TC Medium" pitchFamily="2" charset="-128"/>
                      </a:rPr>
                      <m:t>𝑏</m:t>
                    </m:r>
                    <m:r>
                      <a:rPr lang="en-CN" sz="2400" i="1">
                        <a:effectLst/>
                        <a:latin typeface="Cambria Math" panose="02040503050406030204" pitchFamily="18" charset="0"/>
                        <a:ea typeface="Heiti TC Medium" pitchFamily="2" charset="-128"/>
                      </a:rPr>
                      <m:t>≥0</m:t>
                    </m:r>
                  </m:oMath>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求出</a:t>
                </a:r>
                <a14:m>
                  <m:oMath xmlns:m="http://schemas.openxmlformats.org/officeDocument/2006/math">
                    <m:r>
                      <m:rPr>
                        <m:sty m:val="p"/>
                      </m:rPr>
                      <a:rPr lang="en-CN" sz="2400">
                        <a:effectLst/>
                        <a:latin typeface="Cambria Math" panose="02040503050406030204" pitchFamily="18" charset="0"/>
                        <a:ea typeface="Heiti TC Medium" pitchFamily="2" charset="-128"/>
                      </a:rPr>
                      <m:t>Δ</m:t>
                    </m:r>
                    <m:sSub>
                      <m:sSubPr>
                        <m:ctrlPr>
                          <a:rPr lang="en-CN" sz="2400" i="1">
                            <a:effectLst/>
                            <a:latin typeface="Cambria Math" panose="02040503050406030204" pitchFamily="18" charset="0"/>
                            <a:ea typeface="Heiti TC Medium" pitchFamily="2" charset="-128"/>
                          </a:rPr>
                        </m:ctrlPr>
                      </m:sSubPr>
                      <m:e>
                        <m:r>
                          <a:rPr lang="en-CN" sz="2400" i="1">
                            <a:effectLst/>
                            <a:latin typeface="Cambria Math" panose="02040503050406030204" pitchFamily="18" charset="0"/>
                            <a:ea typeface="Heiti TC Medium" pitchFamily="2" charset="-128"/>
                          </a:rPr>
                          <m:t>𝑏</m:t>
                        </m:r>
                      </m:e>
                      <m:sub>
                        <m:r>
                          <a:rPr lang="en-CN" sz="2400" i="1">
                            <a:effectLst/>
                            <a:latin typeface="Cambria Math" panose="02040503050406030204" pitchFamily="18" charset="0"/>
                            <a:ea typeface="Heiti TC Medium" pitchFamily="2" charset="-128"/>
                          </a:rPr>
                          <m:t>𝑖</m:t>
                        </m:r>
                      </m:sub>
                    </m:sSub>
                  </m:oMath>
                </a14:m>
                <a:r>
                  <a:rPr lang="zh-CN" sz="2400" dirty="0">
                    <a:effectLst/>
                    <a:latin typeface="Times New Roman" panose="02020603050405020304" pitchFamily="18" charset="0"/>
                    <a:ea typeface="SimSun" panose="02010600030101010101" pitchFamily="2" charset="-122"/>
                  </a:rPr>
                  <a:t>的变化范围，保持问题的最优性不变。</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82F0D112-CEA8-E6D6-6D4A-8E31ED8F6294}"/>
                  </a:ext>
                </a:extLst>
              </p:cNvPr>
              <p:cNvSpPr txBox="1">
                <a:spLocks noRot="1" noChangeAspect="1" noMove="1" noResize="1" noEditPoints="1" noAdjustHandles="1" noChangeArrowheads="1" noChangeShapeType="1" noTextEdit="1"/>
              </p:cNvSpPr>
              <p:nvPr/>
            </p:nvSpPr>
            <p:spPr>
              <a:xfrm>
                <a:off x="2051401" y="1451164"/>
                <a:ext cx="8141952" cy="1992020"/>
              </a:xfrm>
              <a:prstGeom prst="rect">
                <a:avLst/>
              </a:prstGeom>
              <a:blipFill>
                <a:blip r:embed="rId4"/>
                <a:stretch>
                  <a:fillRect b="-506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F87E874-72E8-E56C-6E06-F2B870F14A33}"/>
                  </a:ext>
                </a:extLst>
              </p:cNvPr>
              <p:cNvSpPr txBox="1"/>
              <p:nvPr/>
            </p:nvSpPr>
            <p:spPr>
              <a:xfrm>
                <a:off x="2051401" y="4070940"/>
                <a:ext cx="8141952" cy="2238241"/>
              </a:xfrm>
              <a:prstGeom prst="rect">
                <a:avLst/>
              </a:prstGeom>
              <a:noFill/>
            </p:spPr>
            <p:txBody>
              <a:bodyPr wrap="square">
                <a:spAutoFit/>
              </a:bodyPr>
              <a:lstStyle/>
              <a:p>
                <a:pPr indent="609600" algn="just">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如果</a:t>
                </a:r>
                <a14:m>
                  <m:oMath xmlns:m="http://schemas.openxmlformats.org/officeDocument/2006/math">
                    <m:r>
                      <m:rPr>
                        <m:sty m:val="p"/>
                      </m:rPr>
                      <a:rPr lang="en-CN" sz="2400">
                        <a:effectLst/>
                        <a:latin typeface="Cambria Math" panose="02040503050406030204" pitchFamily="18" charset="0"/>
                        <a:ea typeface="Heiti TC Medium" pitchFamily="2" charset="-128"/>
                      </a:rPr>
                      <m:t>Δ</m:t>
                    </m:r>
                    <m:sSub>
                      <m:sSubPr>
                        <m:ctrlPr>
                          <a:rPr lang="en-CN" sz="2400" i="1">
                            <a:effectLst/>
                            <a:latin typeface="Cambria Math" panose="02040503050406030204" pitchFamily="18" charset="0"/>
                            <a:ea typeface="Heiti TC Medium" pitchFamily="2" charset="-128"/>
                          </a:rPr>
                        </m:ctrlPr>
                      </m:sSubPr>
                      <m:e>
                        <m:r>
                          <a:rPr lang="en-CN" sz="2400" i="1">
                            <a:effectLst/>
                            <a:latin typeface="Cambria Math" panose="02040503050406030204" pitchFamily="18" charset="0"/>
                            <a:ea typeface="Heiti TC Medium" pitchFamily="2" charset="-128"/>
                          </a:rPr>
                          <m:t>𝑏</m:t>
                        </m:r>
                      </m:e>
                      <m:sub>
                        <m:r>
                          <a:rPr lang="en-CN" sz="2400" i="1">
                            <a:effectLst/>
                            <a:latin typeface="Cambria Math" panose="02040503050406030204" pitchFamily="18" charset="0"/>
                            <a:ea typeface="Heiti TC Medium" pitchFamily="2" charset="-128"/>
                          </a:rPr>
                          <m:t>𝑖</m:t>
                        </m:r>
                      </m:sub>
                    </m:sSub>
                  </m:oMath>
                </a14:m>
                <a:r>
                  <a:rPr lang="zh-CN" sz="2400" dirty="0">
                    <a:effectLst/>
                    <a:latin typeface="Times New Roman" panose="02020603050405020304" pitchFamily="18" charset="0"/>
                    <a:ea typeface="SimSun" panose="02010600030101010101" pitchFamily="2" charset="-122"/>
                  </a:rPr>
                  <a:t>超过上述范围，则新得到的解为不可行解。但由于</a:t>
                </a:r>
                <a14:m>
                  <m:oMath xmlns:m="http://schemas.openxmlformats.org/officeDocument/2006/math">
                    <m:sSub>
                      <m:sSubPr>
                        <m:ctrlPr>
                          <a:rPr lang="en-CN" sz="2400" i="1">
                            <a:effectLst/>
                            <a:latin typeface="Cambria Math" panose="02040503050406030204" pitchFamily="18" charset="0"/>
                            <a:ea typeface="Heiti TC Medium" pitchFamily="2" charset="-128"/>
                          </a:rPr>
                        </m:ctrlPr>
                      </m:sSubPr>
                      <m:e>
                        <m:r>
                          <a:rPr lang="en-CN" sz="2400" i="1">
                            <a:effectLst/>
                            <a:latin typeface="Cambria Math" panose="02040503050406030204" pitchFamily="18" charset="0"/>
                            <a:ea typeface="Heiti TC Medium" pitchFamily="2" charset="-128"/>
                          </a:rPr>
                          <m:t>𝑏</m:t>
                        </m:r>
                      </m:e>
                      <m:sub>
                        <m:r>
                          <a:rPr lang="en-CN" sz="2400" i="1">
                            <a:effectLst/>
                            <a:latin typeface="Cambria Math" panose="02040503050406030204" pitchFamily="18" charset="0"/>
                            <a:ea typeface="Heiti TC Medium" pitchFamily="2" charset="-128"/>
                          </a:rPr>
                          <m:t>𝑖</m:t>
                        </m:r>
                      </m:sub>
                    </m:sSub>
                  </m:oMath>
                </a14:m>
                <a:r>
                  <a:rPr lang="zh-CN" sz="2400" dirty="0">
                    <a:effectLst/>
                    <a:latin typeface="Times New Roman" panose="02020603050405020304" pitchFamily="18" charset="0"/>
                    <a:ea typeface="SimSun" panose="02010600030101010101" pitchFamily="2" charset="-122"/>
                  </a:rPr>
                  <a:t>的变化不影响检验数，故仍保持所有的检验数</a:t>
                </a:r>
                <a14:m>
                  <m:oMath xmlns:m="http://schemas.openxmlformats.org/officeDocument/2006/math">
                    <m:r>
                      <a:rPr lang="en-US" sz="2400" i="1">
                        <a:effectLst/>
                        <a:latin typeface="Cambria Math" panose="02040503050406030204" pitchFamily="18" charset="0"/>
                        <a:ea typeface="SimSun" panose="02010600030101010101" pitchFamily="2" charset="-122"/>
                      </a:rPr>
                      <m:t>≥0</m:t>
                    </m:r>
                  </m:oMath>
                </a14:m>
                <a:r>
                  <a:rPr lang="zh-CN" sz="2400" dirty="0">
                    <a:effectLst/>
                    <a:latin typeface="Times New Roman" panose="02020603050405020304" pitchFamily="18" charset="0"/>
                    <a:ea typeface="SimSun" panose="02010600030101010101" pitchFamily="2" charset="-122"/>
                  </a:rPr>
                  <a:t>，即满足对偶可行性。这时，可在原最终单纯形表的基础上，换上改变后的</a:t>
                </a:r>
                <a14:m>
                  <m:oMath xmlns:m="http://schemas.openxmlformats.org/officeDocument/2006/math">
                    <m:sSub>
                      <m:sSubPr>
                        <m:ctrlPr>
                          <a:rPr lang="en-CN" sz="2400" i="1">
                            <a:effectLst/>
                            <a:latin typeface="Cambria Math" panose="02040503050406030204" pitchFamily="18" charset="0"/>
                            <a:ea typeface="Heiti TC Medium" pitchFamily="2" charset="-128"/>
                          </a:rPr>
                        </m:ctrlPr>
                      </m:sSubPr>
                      <m:e>
                        <m:r>
                          <a:rPr lang="en-CN" sz="2400" i="1">
                            <a:effectLst/>
                            <a:latin typeface="Cambria Math" panose="02040503050406030204" pitchFamily="18" charset="0"/>
                            <a:ea typeface="Heiti TC Medium" pitchFamily="2" charset="-128"/>
                          </a:rPr>
                          <m:t>𝑏</m:t>
                        </m:r>
                      </m:e>
                      <m:sub>
                        <m:r>
                          <a:rPr lang="en-CN" sz="2400" i="1">
                            <a:effectLst/>
                            <a:latin typeface="Cambria Math" panose="02040503050406030204" pitchFamily="18" charset="0"/>
                            <a:ea typeface="Heiti TC Medium" pitchFamily="2" charset="-128"/>
                          </a:rPr>
                          <m:t>𝑖</m:t>
                        </m:r>
                      </m:sub>
                    </m:sSub>
                    <m:r>
                      <a:rPr lang="en-US" sz="2400" i="1">
                        <a:effectLst/>
                        <a:latin typeface="Cambria Math" panose="02040503050406030204" pitchFamily="18" charset="0"/>
                        <a:ea typeface="Heiti TC Medium" pitchFamily="2" charset="-128"/>
                      </a:rPr>
                      <m:t>′</m:t>
                    </m:r>
                  </m:oMath>
                </a14:m>
                <a:r>
                  <a:rPr lang="zh-CN" sz="2400" dirty="0">
                    <a:effectLst/>
                    <a:latin typeface="Times New Roman" panose="02020603050405020304" pitchFamily="18" charset="0"/>
                    <a:ea typeface="SimSun" panose="02010600030101010101" pitchFamily="2" charset="-122"/>
                  </a:rPr>
                  <a:t>，用对偶单纯形法继续迭代求出新的最优解。</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5F87E874-72E8-E56C-6E06-F2B870F14A33}"/>
                  </a:ext>
                </a:extLst>
              </p:cNvPr>
              <p:cNvSpPr txBox="1">
                <a:spLocks noRot="1" noChangeAspect="1" noMove="1" noResize="1" noEditPoints="1" noAdjustHandles="1" noChangeArrowheads="1" noChangeShapeType="1" noTextEdit="1"/>
              </p:cNvSpPr>
              <p:nvPr/>
            </p:nvSpPr>
            <p:spPr>
              <a:xfrm>
                <a:off x="2051401" y="4070940"/>
                <a:ext cx="8141952" cy="2238241"/>
              </a:xfrm>
              <a:prstGeom prst="rect">
                <a:avLst/>
              </a:prstGeom>
              <a:blipFill>
                <a:blip r:embed="rId5"/>
                <a:stretch>
                  <a:fillRect l="-1199" r="-4869" b="-463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0165E9B9-370B-4704-AB23-814CE563FFBD}"/>
              </a:ext>
            </a:extLst>
          </p:cNvPr>
          <p:cNvSpPr/>
          <p:nvPr/>
        </p:nvSpPr>
        <p:spPr>
          <a:xfrm>
            <a:off x="7747686" y="4685334"/>
            <a:ext cx="2779280" cy="144361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a:extLst>
              <a:ext uri="{FF2B5EF4-FFF2-40B4-BE49-F238E27FC236}">
                <a16:creationId xmlns:a16="http://schemas.microsoft.com/office/drawing/2014/main" id="{452FDE41-2CB4-4D94-8CDB-910FBC535027}"/>
              </a:ext>
            </a:extLst>
          </p:cNvPr>
          <p:cNvSpPr/>
          <p:nvPr/>
        </p:nvSpPr>
        <p:spPr>
          <a:xfrm>
            <a:off x="6597161" y="1168679"/>
            <a:ext cx="1867218" cy="1125416"/>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9F3643-C99F-B1E1-28BE-E8AE66C277FA}"/>
                  </a:ext>
                </a:extLst>
              </p:cNvPr>
              <p:cNvSpPr txBox="1"/>
              <p:nvPr/>
            </p:nvSpPr>
            <p:spPr>
              <a:xfrm>
                <a:off x="719091" y="33775"/>
                <a:ext cx="10045268" cy="3395225"/>
              </a:xfrm>
              <a:prstGeom prst="rect">
                <a:avLst/>
              </a:prstGeom>
              <a:noFill/>
            </p:spPr>
            <p:txBody>
              <a:bodyPr wrap="square">
                <a:spAutoFit/>
              </a:bodyPr>
              <a:lstStyle/>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例</a:t>
                </a:r>
                <a:r>
                  <a:rPr lang="en-US" sz="2400" dirty="0">
                    <a:effectLst/>
                    <a:latin typeface="SimSun" panose="02010600030101010101" pitchFamily="2" charset="-122"/>
                    <a:ea typeface="Times New Roman" panose="02020603050405020304" pitchFamily="18" charset="0"/>
                  </a:rPr>
                  <a:t>2 </a:t>
                </a:r>
                <a:r>
                  <a:rPr lang="zh-CN" sz="2400" dirty="0">
                    <a:effectLst/>
                    <a:latin typeface="Times New Roman" panose="02020603050405020304" pitchFamily="18" charset="0"/>
                    <a:ea typeface="SimSun" panose="02010600030101010101" pitchFamily="2" charset="-122"/>
                  </a:rPr>
                  <a:t>已知线性规划问题及其最优单纯形表（见表</a:t>
                </a:r>
                <a:r>
                  <a:rPr lang="en-US" sz="2400" dirty="0">
                    <a:effectLst/>
                    <a:latin typeface="SimSun" panose="02010600030101010101" pitchFamily="2" charset="-122"/>
                    <a:ea typeface="Times New Roman" panose="02020603050405020304" pitchFamily="18" charset="0"/>
                  </a:rPr>
                  <a:t>3</a:t>
                </a:r>
                <a:r>
                  <a:rPr lang="zh-CN" sz="2400" dirty="0">
                    <a:effectLst/>
                    <a:latin typeface="Times New Roman" panose="02020603050405020304" pitchFamily="18" charset="0"/>
                    <a:ea typeface="SimSun" panose="02010600030101010101" pitchFamily="2" charset="-122"/>
                  </a:rPr>
                  <a:t>）</a:t>
                </a:r>
                <a:endParaRPr lang="en-CN" sz="2400" dirty="0">
                  <a:effectLst/>
                  <a:latin typeface="Times New Roman" panose="02020603050405020304" pitchFamily="18" charset="0"/>
                  <a:ea typeface="Times New Roman" panose="02020603050405020304" pitchFamily="18" charset="0"/>
                </a:endParaRPr>
              </a:p>
              <a:p>
                <a:pPr indent="609600">
                  <a:spcBef>
                    <a:spcPts val="600"/>
                  </a:spcBef>
                  <a:spcAft>
                    <a:spcPts val="600"/>
                  </a:spcAft>
                </a:pPr>
                <a14:m>
                  <m:oMathPara xmlns:m="http://schemas.openxmlformats.org/officeDocument/2006/math">
                    <m:oMathParaPr>
                      <m:jc m:val="centerGroup"/>
                    </m:oMathParaPr>
                    <m:oMath xmlns:m="http://schemas.openxmlformats.org/officeDocument/2006/math">
                      <m:func>
                        <m:funcPr>
                          <m:ctrlPr>
                            <a:rPr lang="en-US" sz="2400" b="0" i="1" smtClean="0">
                              <a:effectLst/>
                              <a:latin typeface="Cambria Math" panose="02040503050406030204" pitchFamily="18" charset="0"/>
                              <a:ea typeface="SimSun" panose="02010600030101010101" pitchFamily="2" charset="-122"/>
                            </a:rPr>
                          </m:ctrlPr>
                        </m:funcPr>
                        <m:fName>
                          <m:r>
                            <m:rPr>
                              <m:sty m:val="p"/>
                            </m:rPr>
                            <a:rPr lang="en-US" sz="2400" i="0">
                              <a:effectLst/>
                              <a:latin typeface="Cambria Math" panose="02040503050406030204" pitchFamily="18" charset="0"/>
                              <a:ea typeface="SimSun" panose="02010600030101010101" pitchFamily="2" charset="-122"/>
                            </a:rPr>
                            <m:t>min</m:t>
                          </m:r>
                        </m:fName>
                        <m:e>
                          <m:r>
                            <a:rPr lang="en-US" altLang="zh-CN" sz="2400" i="1">
                              <a:latin typeface="Cambria Math" panose="02040503050406030204" pitchFamily="18" charset="0"/>
                              <a:ea typeface="SimSun" panose="02010600030101010101" pitchFamily="2" charset="-122"/>
                            </a:rPr>
                            <m:t>𝑧</m:t>
                          </m:r>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1</m:t>
                              </m:r>
                            </m:sub>
                          </m:sSub>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2</m:t>
                              </m:r>
                            </m:sub>
                          </m:sSub>
                          <m:r>
                            <a:rPr lang="en-US" altLang="zh-CN" sz="2400" i="1">
                              <a:latin typeface="Cambria Math" panose="02040503050406030204" pitchFamily="18" charset="0"/>
                              <a:ea typeface="SimSun" panose="02010600030101010101" pitchFamily="2" charset="-122"/>
                            </a:rPr>
                            <m:t>−4</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3</m:t>
                              </m:r>
                            </m:sub>
                          </m:sSub>
                        </m:e>
                      </m:func>
                    </m:oMath>
                    <m:oMath xmlns:m="http://schemas.openxmlformats.org/officeDocument/2006/math">
                      <m:r>
                        <a:rPr lang="en-US" sz="2400" i="1">
                          <a:effectLst/>
                          <a:latin typeface="Cambria Math" panose="02040503050406030204" pitchFamily="18" charset="0"/>
                          <a:ea typeface="SimSun" panose="02010600030101010101" pitchFamily="2" charset="-122"/>
                        </a:rPr>
                        <m:t>𝑠</m:t>
                      </m:r>
                      <m:r>
                        <a:rPr lang="en-US" sz="2400" i="1">
                          <a:effectLst/>
                          <a:latin typeface="Cambria Math" panose="02040503050406030204" pitchFamily="18" charset="0"/>
                          <a:ea typeface="SimSun" panose="02010600030101010101" pitchFamily="2" charset="-122"/>
                        </a:rPr>
                        <m:t>.</m:t>
                      </m:r>
                      <m:r>
                        <a:rPr lang="en-US" sz="2400" i="1">
                          <a:effectLst/>
                          <a:latin typeface="Cambria Math" panose="02040503050406030204" pitchFamily="18" charset="0"/>
                          <a:ea typeface="SimSun" panose="02010600030101010101" pitchFamily="2" charset="-122"/>
                        </a:rPr>
                        <m:t>𝑡</m:t>
                      </m:r>
                      <m:r>
                        <a:rPr lang="en-US" sz="2400" i="1">
                          <a:effectLst/>
                          <a:latin typeface="Cambria Math" panose="02040503050406030204" pitchFamily="18" charset="0"/>
                          <a:ea typeface="SimSun" panose="02010600030101010101" pitchFamily="2" charset="-122"/>
                        </a:rPr>
                        <m:t>.</m:t>
                      </m:r>
                      <m:d>
                        <m:dPr>
                          <m:begChr m:val="{"/>
                          <m:endChr m:val=""/>
                          <m:ctrlPr>
                            <a:rPr lang="en-CN" sz="2400" i="1">
                              <a:effectLst/>
                              <a:latin typeface="Cambria Math" panose="02040503050406030204" pitchFamily="18" charset="0"/>
                              <a:ea typeface="SimSun" panose="02010600030101010101" pitchFamily="2" charset="-122"/>
                            </a:rPr>
                          </m:ctrlPr>
                        </m:dPr>
                        <m:e>
                          <m:r>
                            <a:rPr lang="en-US" sz="2400" i="1">
                              <a:effectLst/>
                              <a:latin typeface="Cambria Math" panose="02040503050406030204" pitchFamily="18" charset="0"/>
                              <a:ea typeface="SimSun" panose="02010600030101010101" pitchFamily="2" charset="-122"/>
                            </a:rPr>
                            <m:t> </m:t>
                          </m:r>
                          <m:eqArr>
                            <m:eqArrPr>
                              <m:ctrlPr>
                                <a:rPr lang="en-CN" sz="2400" i="1">
                                  <a:effectLst/>
                                  <a:latin typeface="Cambria Math" panose="02040503050406030204" pitchFamily="18" charset="0"/>
                                  <a:ea typeface="SimSun" panose="02010600030101010101" pitchFamily="2" charset="-122"/>
                                </a:rPr>
                              </m:ctrlPr>
                            </m:eqArrPr>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2</m:t>
                                  </m:r>
                                </m:sub>
                              </m:sSub>
                              <m:r>
                                <a:rPr lang="en-US" sz="2400" i="1">
                                  <a:effectLst/>
                                  <a:latin typeface="Cambria Math" panose="02040503050406030204" pitchFamily="18" charset="0"/>
                                  <a:ea typeface="SimSun" panose="02010600030101010101" pitchFamily="2" charset="-122"/>
                                </a:rPr>
                                <m:t>+2</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3</m:t>
                                  </m:r>
                                </m:sub>
                              </m:sSub>
                              <m:r>
                                <a:rPr lang="en-US" sz="2400" b="0" i="1" smtClean="0">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4</m:t>
                                  </m:r>
                                </m:sub>
                              </m:sSub>
                              <m:r>
                                <a:rPr lang="en-US" sz="2400" b="0" i="1" smtClean="0">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=9</m:t>
                              </m:r>
                            </m:e>
                            <m:e>
                              <m:r>
                                <a:rPr lang="en-US" sz="2400" i="1">
                                  <a:effectLst/>
                                  <a:latin typeface="Cambria Math" panose="02040503050406030204" pitchFamily="18" charset="0"/>
                                  <a:ea typeface="SimSun" panose="02010600030101010101" pitchFamily="2" charset="-122"/>
                                </a:rPr>
                                <m:t>        </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2</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3</m:t>
                                  </m:r>
                                </m:sub>
                              </m:sSub>
                              <m:r>
                                <a:rPr lang="en-US" sz="2400" i="1">
                                  <a:effectLst/>
                                  <a:latin typeface="Cambria Math" panose="02040503050406030204" pitchFamily="18" charset="0"/>
                                  <a:ea typeface="SimSun" panose="02010600030101010101" pitchFamily="2" charset="-122"/>
                                </a:rPr>
                                <m:t>            </m:t>
                              </m:r>
                              <m:r>
                                <a:rPr lang="en-US" sz="2400" b="0" i="1" smtClean="0">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5</m:t>
                                  </m:r>
                                </m:sub>
                              </m:sSub>
                              <m:r>
                                <a:rPr lang="en-US" sz="2400" b="0" i="1" smtClean="0">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=2</m:t>
                              </m:r>
                            </m:e>
                            <m:e>
                              <m:r>
                                <a:rPr lang="en-US" sz="2400" i="1">
                                  <a:effectLst/>
                                  <a:latin typeface="Cambria Math" panose="02040503050406030204" pitchFamily="18" charset="0"/>
                                  <a:ea typeface="SimSun" panose="02010600030101010101" pitchFamily="2" charset="-122"/>
                                </a:rPr>
                                <m:t>             −</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1</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2</m:t>
                                  </m:r>
                                </m:sub>
                              </m:sSub>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3</m:t>
                                  </m:r>
                                </m:sub>
                              </m:sSub>
                              <m:r>
                                <a:rPr lang="en-US" sz="2400" i="1">
                                  <a:effectLst/>
                                  <a:latin typeface="Cambria Math" panose="02040503050406030204" pitchFamily="18" charset="0"/>
                                  <a:ea typeface="SimSun" panose="02010600030101010101" pitchFamily="2" charset="-122"/>
                                </a:rPr>
                                <m:t>                   </m:t>
                              </m:r>
                              <m:r>
                                <a:rPr lang="en-US" sz="2400" b="0" i="1" smtClean="0">
                                  <a:effectLst/>
                                  <a:latin typeface="Cambria Math" panose="02040503050406030204" pitchFamily="18" charset="0"/>
                                  <a:ea typeface="SimSun" panose="02010600030101010101" pitchFamily="2" charset="-122"/>
                                </a:rPr>
                                <m:t> </m:t>
                              </m:r>
                              <m:r>
                                <a:rPr lang="en-US" sz="2400" i="1">
                                  <a:effectLst/>
                                  <a:latin typeface="Cambria Math" panose="02040503050406030204" pitchFamily="18" charset="0"/>
                                  <a:ea typeface="SimSun" panose="02010600030101010101" pitchFamily="2" charset="-122"/>
                                </a:rPr>
                                <m:t>+</m:t>
                              </m:r>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𝑥</m:t>
                                  </m:r>
                                </m:e>
                                <m:sub>
                                  <m:r>
                                    <a:rPr lang="en-US" sz="2400" i="1">
                                      <a:effectLst/>
                                      <a:latin typeface="Cambria Math" panose="02040503050406030204" pitchFamily="18" charset="0"/>
                                      <a:ea typeface="SimSun" panose="02010600030101010101" pitchFamily="2" charset="-122"/>
                                    </a:rPr>
                                    <m:t>6</m:t>
                                  </m:r>
                                </m:sub>
                              </m:sSub>
                              <m:r>
                                <a:rPr lang="en-US" sz="2400" i="1">
                                  <a:effectLst/>
                                  <a:latin typeface="Cambria Math" panose="02040503050406030204" pitchFamily="18" charset="0"/>
                                  <a:ea typeface="SimSun" panose="02010600030101010101" pitchFamily="2" charset="-122"/>
                                </a:rPr>
                                <m:t>=4</m:t>
                              </m:r>
                            </m:e>
                            <m:e>
                              <m:sSub>
                                <m:sSubPr>
                                  <m:ctrlPr>
                                    <a:rPr lang="en-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sz="2400" i="1">
                                      <a:effectLst/>
                                      <a:latin typeface="Cambria Math" panose="02040503050406030204" pitchFamily="18" charset="0"/>
                                      <a:ea typeface="Cambria Math" panose="02040503050406030204" pitchFamily="18" charset="0"/>
                                      <a:cs typeface="Cambria Math" panose="02040503050406030204" pitchFamily="18" charset="0"/>
                                    </a:rPr>
                                    <m:t>𝑗</m:t>
                                  </m:r>
                                </m:sub>
                              </m:sSub>
                              <m:r>
                                <a:rPr lang="en-US" sz="2400" i="1">
                                  <a:effectLst/>
                                  <a:latin typeface="Cambria Math" panose="02040503050406030204" pitchFamily="18" charset="0"/>
                                  <a:ea typeface="Cambria Math" panose="02040503050406030204" pitchFamily="18" charset="0"/>
                                  <a:cs typeface="Cambria Math" panose="02040503050406030204" pitchFamily="18" charset="0"/>
                                </a:rPr>
                                <m:t>≥0,</m:t>
                              </m:r>
                              <m:r>
                                <a:rPr lang="en-US" sz="2400" i="1">
                                  <a:effectLst/>
                                  <a:latin typeface="Cambria Math" panose="02040503050406030204" pitchFamily="18" charset="0"/>
                                  <a:ea typeface="Cambria Math" panose="02040503050406030204" pitchFamily="18" charset="0"/>
                                  <a:cs typeface="Cambria Math" panose="02040503050406030204" pitchFamily="18" charset="0"/>
                                </a:rPr>
                                <m:t>𝑗</m:t>
                              </m:r>
                              <m:r>
                                <a:rPr lang="en-US" sz="2400" i="1">
                                  <a:effectLst/>
                                  <a:latin typeface="Cambria Math" panose="02040503050406030204" pitchFamily="18" charset="0"/>
                                  <a:ea typeface="Cambria Math" panose="02040503050406030204" pitchFamily="18" charset="0"/>
                                  <a:cs typeface="Cambria Math" panose="02040503050406030204" pitchFamily="18" charset="0"/>
                                </a:rPr>
                                <m:t>=1,2,⋯,6</m:t>
                              </m:r>
                            </m:e>
                          </m:eqArr>
                        </m:e>
                      </m:d>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若右端列向量</a:t>
                </a:r>
                <a14:m>
                  <m:oMath xmlns:m="http://schemas.openxmlformats.org/officeDocument/2006/math">
                    <m:r>
                      <a:rPr lang="en-US" sz="2400" i="1">
                        <a:effectLst/>
                        <a:latin typeface="Cambria Math" panose="02040503050406030204" pitchFamily="18" charset="0"/>
                        <a:ea typeface="SimSun" panose="02010600030101010101" pitchFamily="2" charset="-122"/>
                      </a:rPr>
                      <m:t>𝑏</m:t>
                    </m:r>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(9,2,4)</m:t>
                        </m:r>
                      </m:e>
                      <m:sup>
                        <m:r>
                          <a:rPr lang="en-US" sz="2400" i="1">
                            <a:effectLst/>
                            <a:latin typeface="Cambria Math" panose="02040503050406030204" pitchFamily="18" charset="0"/>
                            <a:ea typeface="SimSun" panose="02010600030101010101" pitchFamily="2" charset="-122"/>
                          </a:rPr>
                          <m:t>𝑇</m:t>
                        </m:r>
                      </m:sup>
                    </m:sSup>
                  </m:oMath>
                </a14:m>
                <a:r>
                  <a:rPr lang="zh-CN" sz="2400" dirty="0">
                    <a:effectLst/>
                    <a:latin typeface="Times New Roman" panose="02020603050405020304" pitchFamily="18" charset="0"/>
                    <a:ea typeface="SimSun" panose="02010600030101010101" pitchFamily="2" charset="-122"/>
                  </a:rPr>
                  <a:t>变化为</a:t>
                </a:r>
                <a14:m>
                  <m:oMath xmlns:m="http://schemas.openxmlformats.org/officeDocument/2006/math">
                    <m:r>
                      <a:rPr lang="en-US" sz="2400" i="1">
                        <a:effectLst/>
                        <a:latin typeface="Cambria Math" panose="02040503050406030204" pitchFamily="18" charset="0"/>
                        <a:ea typeface="SimSun" panose="02010600030101010101" pitchFamily="2" charset="-122"/>
                      </a:rPr>
                      <m:t>𝑏</m:t>
                    </m:r>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(3,2,3)</m:t>
                        </m:r>
                      </m:e>
                      <m:sup>
                        <m:r>
                          <a:rPr lang="en-US" sz="2400" i="1">
                            <a:effectLst/>
                            <a:latin typeface="Cambria Math" panose="02040503050406030204" pitchFamily="18" charset="0"/>
                            <a:ea typeface="SimSun" panose="02010600030101010101" pitchFamily="2" charset="-122"/>
                          </a:rPr>
                          <m:t>𝑇</m:t>
                        </m:r>
                      </m:sup>
                    </m:sSup>
                  </m:oMath>
                </a14:m>
                <a:r>
                  <a:rPr lang="zh-CN" sz="2400" dirty="0">
                    <a:effectLst/>
                    <a:latin typeface="Times New Roman" panose="02020603050405020304" pitchFamily="18" charset="0"/>
                    <a:ea typeface="SimSun" panose="02010600030101010101" pitchFamily="2" charset="-122"/>
                  </a:rPr>
                  <a:t>，求新问题的最优解。</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039F3643-C99F-B1E1-28BE-E8AE66C277FA}"/>
                  </a:ext>
                </a:extLst>
              </p:cNvPr>
              <p:cNvSpPr txBox="1">
                <a:spLocks noRot="1" noChangeAspect="1" noMove="1" noResize="1" noEditPoints="1" noAdjustHandles="1" noChangeArrowheads="1" noChangeShapeType="1" noTextEdit="1"/>
              </p:cNvSpPr>
              <p:nvPr/>
            </p:nvSpPr>
            <p:spPr>
              <a:xfrm>
                <a:off x="719091" y="33775"/>
                <a:ext cx="10045268" cy="3395225"/>
              </a:xfrm>
              <a:prstGeom prst="rect">
                <a:avLst/>
              </a:prstGeom>
              <a:blipFill>
                <a:blip r:embed="rId2"/>
                <a:stretch>
                  <a:fillRect b="-25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7D485C8C-0AA1-70CA-96EF-9C1CDCA8E7E6}"/>
                  </a:ext>
                </a:extLst>
              </p:cNvPr>
              <p:cNvGraphicFramePr>
                <a:graphicFrameLocks noGrp="1"/>
              </p:cNvGraphicFramePr>
              <p:nvPr>
                <p:extLst>
                  <p:ext uri="{D42A27DB-BD31-4B8C-83A1-F6EECF244321}">
                    <p14:modId xmlns:p14="http://schemas.microsoft.com/office/powerpoint/2010/main" val="525668232"/>
                  </p:ext>
                </p:extLst>
              </p:nvPr>
            </p:nvGraphicFramePr>
            <p:xfrm>
              <a:off x="2013159" y="3651802"/>
              <a:ext cx="8513807" cy="3001455"/>
            </p:xfrm>
            <a:graphic>
              <a:graphicData uri="http://schemas.openxmlformats.org/drawingml/2006/table">
                <a:tbl>
                  <a:tblPr firstRow="1" firstCol="1" bandRow="1"/>
                  <a:tblGrid>
                    <a:gridCol w="956469">
                      <a:extLst>
                        <a:ext uri="{9D8B030D-6E8A-4147-A177-3AD203B41FA5}">
                          <a16:colId xmlns:a16="http://schemas.microsoft.com/office/drawing/2014/main" val="2673772826"/>
                        </a:ext>
                      </a:extLst>
                    </a:gridCol>
                    <a:gridCol w="956469">
                      <a:extLst>
                        <a:ext uri="{9D8B030D-6E8A-4147-A177-3AD203B41FA5}">
                          <a16:colId xmlns:a16="http://schemas.microsoft.com/office/drawing/2014/main" val="2617236624"/>
                        </a:ext>
                      </a:extLst>
                    </a:gridCol>
                    <a:gridCol w="956469">
                      <a:extLst>
                        <a:ext uri="{9D8B030D-6E8A-4147-A177-3AD203B41FA5}">
                          <a16:colId xmlns:a16="http://schemas.microsoft.com/office/drawing/2014/main" val="4150211959"/>
                        </a:ext>
                      </a:extLst>
                    </a:gridCol>
                    <a:gridCol w="953390">
                      <a:extLst>
                        <a:ext uri="{9D8B030D-6E8A-4147-A177-3AD203B41FA5}">
                          <a16:colId xmlns:a16="http://schemas.microsoft.com/office/drawing/2014/main" val="3570847064"/>
                        </a:ext>
                      </a:extLst>
                    </a:gridCol>
                    <a:gridCol w="954417">
                      <a:extLst>
                        <a:ext uri="{9D8B030D-6E8A-4147-A177-3AD203B41FA5}">
                          <a16:colId xmlns:a16="http://schemas.microsoft.com/office/drawing/2014/main" val="956899930"/>
                        </a:ext>
                      </a:extLst>
                    </a:gridCol>
                    <a:gridCol w="954417">
                      <a:extLst>
                        <a:ext uri="{9D8B030D-6E8A-4147-A177-3AD203B41FA5}">
                          <a16:colId xmlns:a16="http://schemas.microsoft.com/office/drawing/2014/main" val="2151239723"/>
                        </a:ext>
                      </a:extLst>
                    </a:gridCol>
                    <a:gridCol w="954417">
                      <a:extLst>
                        <a:ext uri="{9D8B030D-6E8A-4147-A177-3AD203B41FA5}">
                          <a16:colId xmlns:a16="http://schemas.microsoft.com/office/drawing/2014/main" val="834012947"/>
                        </a:ext>
                      </a:extLst>
                    </a:gridCol>
                    <a:gridCol w="954417">
                      <a:extLst>
                        <a:ext uri="{9D8B030D-6E8A-4147-A177-3AD203B41FA5}">
                          <a16:colId xmlns:a16="http://schemas.microsoft.com/office/drawing/2014/main" val="3963573122"/>
                        </a:ext>
                      </a:extLst>
                    </a:gridCol>
                    <a:gridCol w="873342">
                      <a:extLst>
                        <a:ext uri="{9D8B030D-6E8A-4147-A177-3AD203B41FA5}">
                          <a16:colId xmlns:a16="http://schemas.microsoft.com/office/drawing/2014/main" val="2042648462"/>
                        </a:ext>
                      </a:extLst>
                    </a:gridCol>
                  </a:tblGrid>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solidFill>
                                <a:schemeClr val="tx1"/>
                              </a:solidFill>
                              <a:effectLst/>
                              <a:latin typeface="SimSun" panose="02010600030101010101" pitchFamily="2" charset="-122"/>
                              <a:ea typeface="Times New Roman" panose="02020603050405020304" pitchFamily="18" charset="0"/>
                            </a:rPr>
                            <a:t>-4</a:t>
                          </a:r>
                          <a:endParaRPr lang="en-CN"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SimSun" panose="02010600030101010101" pitchFamily="2" charset="-122"/>
                            </a:rPr>
                            <a:t>基</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6</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SimSun" panose="02010600030101010101" pitchFamily="2" charset="-122"/>
                                  </a:rPr>
                                  <m:t>−</m:t>
                                </m:r>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13</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9" name="Table 8">
                <a:extLst>
                  <a:ext uri="{FF2B5EF4-FFF2-40B4-BE49-F238E27FC236}">
                    <a16:creationId xmlns:a16="http://schemas.microsoft.com/office/drawing/2014/main" id="{7D485C8C-0AA1-70CA-96EF-9C1CDCA8E7E6}"/>
                  </a:ext>
                </a:extLst>
              </p:cNvPr>
              <p:cNvGraphicFramePr>
                <a:graphicFrameLocks noGrp="1"/>
              </p:cNvGraphicFramePr>
              <p:nvPr>
                <p:extLst>
                  <p:ext uri="{D42A27DB-BD31-4B8C-83A1-F6EECF244321}">
                    <p14:modId xmlns:p14="http://schemas.microsoft.com/office/powerpoint/2010/main" val="525668232"/>
                  </p:ext>
                </p:extLst>
              </p:nvPr>
            </p:nvGraphicFramePr>
            <p:xfrm>
              <a:off x="2013159" y="3651802"/>
              <a:ext cx="8513807" cy="3001455"/>
            </p:xfrm>
            <a:graphic>
              <a:graphicData uri="http://schemas.openxmlformats.org/drawingml/2006/table">
                <a:tbl>
                  <a:tblPr firstRow="1" firstCol="1" bandRow="1"/>
                  <a:tblGrid>
                    <a:gridCol w="956469">
                      <a:extLst>
                        <a:ext uri="{9D8B030D-6E8A-4147-A177-3AD203B41FA5}">
                          <a16:colId xmlns:a16="http://schemas.microsoft.com/office/drawing/2014/main" val="2673772826"/>
                        </a:ext>
                      </a:extLst>
                    </a:gridCol>
                    <a:gridCol w="956469">
                      <a:extLst>
                        <a:ext uri="{9D8B030D-6E8A-4147-A177-3AD203B41FA5}">
                          <a16:colId xmlns:a16="http://schemas.microsoft.com/office/drawing/2014/main" val="2617236624"/>
                        </a:ext>
                      </a:extLst>
                    </a:gridCol>
                    <a:gridCol w="956469">
                      <a:extLst>
                        <a:ext uri="{9D8B030D-6E8A-4147-A177-3AD203B41FA5}">
                          <a16:colId xmlns:a16="http://schemas.microsoft.com/office/drawing/2014/main" val="4150211959"/>
                        </a:ext>
                      </a:extLst>
                    </a:gridCol>
                    <a:gridCol w="953390">
                      <a:extLst>
                        <a:ext uri="{9D8B030D-6E8A-4147-A177-3AD203B41FA5}">
                          <a16:colId xmlns:a16="http://schemas.microsoft.com/office/drawing/2014/main" val="3570847064"/>
                        </a:ext>
                      </a:extLst>
                    </a:gridCol>
                    <a:gridCol w="954417">
                      <a:extLst>
                        <a:ext uri="{9D8B030D-6E8A-4147-A177-3AD203B41FA5}">
                          <a16:colId xmlns:a16="http://schemas.microsoft.com/office/drawing/2014/main" val="956899930"/>
                        </a:ext>
                      </a:extLst>
                    </a:gridCol>
                    <a:gridCol w="954417">
                      <a:extLst>
                        <a:ext uri="{9D8B030D-6E8A-4147-A177-3AD203B41FA5}">
                          <a16:colId xmlns:a16="http://schemas.microsoft.com/office/drawing/2014/main" val="2151239723"/>
                        </a:ext>
                      </a:extLst>
                    </a:gridCol>
                    <a:gridCol w="954417">
                      <a:extLst>
                        <a:ext uri="{9D8B030D-6E8A-4147-A177-3AD203B41FA5}">
                          <a16:colId xmlns:a16="http://schemas.microsoft.com/office/drawing/2014/main" val="834012947"/>
                        </a:ext>
                      </a:extLst>
                    </a:gridCol>
                    <a:gridCol w="954417">
                      <a:extLst>
                        <a:ext uri="{9D8B030D-6E8A-4147-A177-3AD203B41FA5}">
                          <a16:colId xmlns:a16="http://schemas.microsoft.com/office/drawing/2014/main" val="3963573122"/>
                        </a:ext>
                      </a:extLst>
                    </a:gridCol>
                    <a:gridCol w="873342">
                      <a:extLst>
                        <a:ext uri="{9D8B030D-6E8A-4147-A177-3AD203B41FA5}">
                          <a16:colId xmlns:a16="http://schemas.microsoft.com/office/drawing/2014/main" val="2042648462"/>
                        </a:ext>
                      </a:extLst>
                    </a:gridCol>
                  </a:tblGrid>
                  <a:tr h="520827">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2" t="-1163" r="-197028" b="-482558"/>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solidFill>
                                <a:schemeClr val="tx1"/>
                              </a:solidFill>
                              <a:effectLst/>
                              <a:latin typeface="SimSun" panose="02010600030101010101" pitchFamily="2" charset="-122"/>
                              <a:ea typeface="Times New Roman" panose="02020603050405020304" pitchFamily="18" charset="0"/>
                            </a:rPr>
                            <a:t>-4</a:t>
                          </a:r>
                          <a:endParaRPr lang="en-CN"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496761">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37" t="-107407" r="-791083" b="-412346"/>
                          </a:stretch>
                        </a:blip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SimSun" panose="02010600030101010101" pitchFamily="2" charset="-122"/>
                            </a:rPr>
                            <a:t>基</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0637" t="-107407" r="-591083"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02564" t="-107407" r="-494872"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0000" t="-107407" r="-391720"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03205" t="-107407" r="-294231"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99363" t="-107407" r="-192357"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99363" t="-107407" r="-92357" b="-41234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7622" t="-107407" r="-1399" b="-412346"/>
                          </a:stretch>
                        </a:blipFill>
                      </a:tcPr>
                    </a:tc>
                    <a:extLst>
                      <a:ext uri="{0D108BD9-81ED-4DB2-BD59-A6C34878D82A}">
                        <a16:rowId xmlns:a16="http://schemas.microsoft.com/office/drawing/2014/main" val="996163856"/>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637" t="-210000" r="-691083" b="-31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0637" t="-210000" r="-591083"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0000" t="-210000" r="-391720"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99363" t="-210000" r="-192357"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7622" t="-210000" r="-1399" b="-317500"/>
                          </a:stretch>
                        </a:blipFill>
                      </a:tcPr>
                    </a:tc>
                    <a:extLst>
                      <a:ext uri="{0D108BD9-81ED-4DB2-BD59-A6C34878D82A}">
                        <a16:rowId xmlns:a16="http://schemas.microsoft.com/office/drawing/2014/main" val="1216391595"/>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637" t="-310000" r="-691083" b="-2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637" t="-410000" r="-691083" b="-11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0637" t="-410000" r="-591083"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0000" t="-410000" r="-391720"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99363" t="-410000" r="-192357"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7622" t="-410000" r="-1399" b="-117500"/>
                          </a:stretch>
                        </a:blipFill>
                      </a:tcPr>
                    </a:tc>
                    <a:extLst>
                      <a:ext uri="{0D108BD9-81ED-4DB2-BD59-A6C34878D82A}">
                        <a16:rowId xmlns:a16="http://schemas.microsoft.com/office/drawing/2014/main" val="3247636125"/>
                      </a:ext>
                    </a:extLst>
                  </a:tr>
                  <a:tr h="520827">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2" t="-474419" r="-197028" b="-9302"/>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
        <p:nvSpPr>
          <p:cNvPr id="5" name="文本框 4">
            <a:extLst>
              <a:ext uri="{FF2B5EF4-FFF2-40B4-BE49-F238E27FC236}">
                <a16:creationId xmlns:a16="http://schemas.microsoft.com/office/drawing/2014/main" id="{5661687A-1F3B-A305-97C8-BF96B8C5830D}"/>
              </a:ext>
            </a:extLst>
          </p:cNvPr>
          <p:cNvSpPr txBox="1"/>
          <p:nvPr/>
        </p:nvSpPr>
        <p:spPr>
          <a:xfrm>
            <a:off x="5568519" y="3293475"/>
            <a:ext cx="6094520" cy="46166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表</a:t>
            </a:r>
            <a:r>
              <a:rPr lang="en-US" altLang="zh-CN" sz="2400" dirty="0">
                <a:effectLst/>
                <a:latin typeface="SimSun" panose="02010600030101010101" pitchFamily="2" charset="-122"/>
                <a:ea typeface="Times New Roman" panose="02020603050405020304" pitchFamily="18" charset="0"/>
              </a:rPr>
              <a:t>3</a:t>
            </a: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48C760-1D48-EAE8-D6C1-7F8557AC1C46}"/>
                  </a:ext>
                </a:extLst>
              </p:cNvPr>
              <p:cNvSpPr txBox="1"/>
              <p:nvPr/>
            </p:nvSpPr>
            <p:spPr>
              <a:xfrm>
                <a:off x="185351" y="636950"/>
                <a:ext cx="11821297" cy="4940455"/>
              </a:xfrm>
              <a:prstGeom prst="rect">
                <a:avLst/>
              </a:prstGeom>
              <a:noFill/>
            </p:spPr>
            <p:txBody>
              <a:bodyPr wrap="square">
                <a:spAutoFit/>
              </a:bodyPr>
              <a:lstStyle/>
              <a:p>
                <a:pPr indent="621665">
                  <a:lnSpc>
                    <a:spcPct val="150000"/>
                  </a:lnSpc>
                  <a:spcBef>
                    <a:spcPts val="600"/>
                  </a:spcBef>
                  <a:spcAft>
                    <a:spcPts val="600"/>
                  </a:spcAft>
                </a:pPr>
                <a:r>
                  <a:rPr lang="zh-CN" sz="2400" b="1" dirty="0">
                    <a:effectLst/>
                    <a:latin typeface="Times New Roman" panose="02020603050405020304" pitchFamily="18" charset="0"/>
                    <a:ea typeface="SimSun" panose="02010600030101010101" pitchFamily="2" charset="-122"/>
                  </a:rPr>
                  <a:t>解</a:t>
                </a:r>
                <a:r>
                  <a:rPr lang="zh-CN" sz="2400" dirty="0">
                    <a:effectLst/>
                    <a:latin typeface="Times New Roman" panose="02020603050405020304" pitchFamily="18" charset="0"/>
                    <a:ea typeface="SimSun" panose="02010600030101010101" pitchFamily="2" charset="-122"/>
                  </a:rPr>
                  <a:t> 从单纯形表</a:t>
                </a:r>
                <a:r>
                  <a:rPr lang="en-US" sz="2400" dirty="0">
                    <a:effectLst/>
                    <a:latin typeface="SimSun" panose="02010600030101010101" pitchFamily="2" charset="-122"/>
                    <a:ea typeface="Times New Roman" panose="02020603050405020304" pitchFamily="18" charset="0"/>
                  </a:rPr>
                  <a:t>3</a:t>
                </a:r>
                <a:r>
                  <a:rPr lang="zh-CN" sz="2400" dirty="0">
                    <a:effectLst/>
                    <a:latin typeface="Times New Roman" panose="02020603050405020304" pitchFamily="18" charset="0"/>
                    <a:ea typeface="SimSun" panose="02010600030101010101" pitchFamily="2" charset="-122"/>
                  </a:rPr>
                  <a:t>知，最优基</a:t>
                </a:r>
                <a14:m>
                  <m:oMath xmlns:m="http://schemas.openxmlformats.org/officeDocument/2006/math">
                    <m:r>
                      <a:rPr lang="en-US" sz="2400" i="1">
                        <a:effectLst/>
                        <a:latin typeface="Cambria Math" panose="02040503050406030204" pitchFamily="18" charset="0"/>
                        <a:ea typeface="SimSun" panose="02010600030101010101" pitchFamily="2" charset="-122"/>
                      </a:rPr>
                      <m:t>𝐵</m:t>
                    </m:r>
                    <m:r>
                      <a:rPr lang="en-US" sz="2400" i="1">
                        <a:effectLst/>
                        <a:latin typeface="Cambria Math" panose="02040503050406030204" pitchFamily="18" charset="0"/>
                        <a:ea typeface="SimSun" panose="02010600030101010101" pitchFamily="2" charset="-122"/>
                      </a:rPr>
                      <m:t>=</m:t>
                    </m:r>
                    <m:d>
                      <m:dPr>
                        <m:begChr m:val="["/>
                        <m:endChr m:val="]"/>
                        <m:ctrlPr>
                          <a:rPr lang="en-CN" sz="2400" i="1">
                            <a:effectLst/>
                            <a:latin typeface="Cambria Math" panose="02040503050406030204" pitchFamily="18" charset="0"/>
                            <a:ea typeface="SimSun" panose="02010600030101010101" pitchFamily="2" charset="-122"/>
                          </a:rPr>
                        </m:ctrlPr>
                      </m:dPr>
                      <m:e>
                        <m:m>
                          <m:mPr>
                            <m:mcs>
                              <m:mc>
                                <m:mcPr>
                                  <m:count m:val="3"/>
                                  <m:mcJc m:val="center"/>
                                </m:mcPr>
                              </m:mc>
                            </m:mcs>
                            <m:ctrlPr>
                              <a:rPr lang="en-CN" sz="2400" i="1">
                                <a:effectLst/>
                                <a:latin typeface="Cambria Math" panose="02040503050406030204" pitchFamily="18" charset="0"/>
                                <a:ea typeface="SimSun" panose="02010600030101010101" pitchFamily="2" charset="-122"/>
                              </a:rPr>
                            </m:ctrlPr>
                          </m:mPr>
                          <m:mr>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𝐴</m:t>
                                  </m:r>
                                </m:e>
                                <m:sub>
                                  <m:r>
                                    <a:rPr lang="en-US" sz="2400" i="1">
                                      <a:effectLst/>
                                      <a:latin typeface="Cambria Math" panose="02040503050406030204" pitchFamily="18" charset="0"/>
                                      <a:ea typeface="SimSun" panose="02010600030101010101" pitchFamily="2" charset="-122"/>
                                    </a:rPr>
                                    <m:t>1</m:t>
                                  </m:r>
                                </m:sub>
                              </m:sSub>
                            </m:e>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𝐴</m:t>
                                  </m:r>
                                </m:e>
                                <m:sub>
                                  <m:r>
                                    <a:rPr lang="en-US" sz="2400" i="1">
                                      <a:effectLst/>
                                      <a:latin typeface="Cambria Math" panose="02040503050406030204" pitchFamily="18" charset="0"/>
                                      <a:ea typeface="SimSun" panose="02010600030101010101" pitchFamily="2" charset="-122"/>
                                    </a:rPr>
                                    <m:t>5</m:t>
                                  </m:r>
                                </m:sub>
                              </m:sSub>
                            </m:e>
                            <m:e>
                              <m:sSub>
                                <m:sSubPr>
                                  <m:ctrlPr>
                                    <a:rPr lang="en-CN"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𝐴</m:t>
                                  </m:r>
                                </m:e>
                                <m:sub>
                                  <m:r>
                                    <a:rPr lang="en-US" sz="2400" i="1">
                                      <a:effectLst/>
                                      <a:latin typeface="Cambria Math" panose="02040503050406030204" pitchFamily="18" charset="0"/>
                                      <a:ea typeface="SimSun" panose="02010600030101010101" pitchFamily="2" charset="-122"/>
                                    </a:rPr>
                                    <m:t>3</m:t>
                                  </m:r>
                                </m:sub>
                              </m:sSub>
                            </m:e>
                          </m:mr>
                        </m:m>
                      </m:e>
                    </m:d>
                  </m:oMath>
                </a14:m>
                <a:r>
                  <a:rPr lang="zh-CN" sz="2400" dirty="0">
                    <a:effectLst/>
                    <a:latin typeface="Times New Roman" panose="02020603050405020304" pitchFamily="18" charset="0"/>
                    <a:ea typeface="SimSun" panose="02010600030101010101" pitchFamily="2" charset="-122"/>
                  </a:rPr>
                  <a:t>的逆</a:t>
                </a:r>
                <a14:m>
                  <m:oMath xmlns:m="http://schemas.openxmlformats.org/officeDocument/2006/math">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r>
                      <a:rPr lang="en-US" sz="2400" i="1">
                        <a:effectLst/>
                        <a:latin typeface="Cambria Math" panose="02040503050406030204" pitchFamily="18" charset="0"/>
                        <a:ea typeface="SimSun" panose="02010600030101010101" pitchFamily="2" charset="-122"/>
                      </a:rPr>
                      <m:t>=</m:t>
                    </m:r>
                    <m:d>
                      <m:dPr>
                        <m:ctrlPr>
                          <a:rPr lang="en-US" altLang="zh-CN" sz="2400" i="1" smtClean="0">
                            <a:effectLst/>
                            <a:latin typeface="Cambria Math" panose="02040503050406030204" pitchFamily="18" charset="0"/>
                            <a:ea typeface="SimSun" panose="02010600030101010101" pitchFamily="2" charset="-122"/>
                          </a:rPr>
                        </m:ctrlPr>
                      </m:dPr>
                      <m:e>
                        <m:m>
                          <m:mPr>
                            <m:mcs>
                              <m:mc>
                                <m:mcPr>
                                  <m:count m:val="3"/>
                                  <m:mcJc m:val="center"/>
                                </m:mcPr>
                              </m:mc>
                            </m:mcs>
                            <m:ctrlPr>
                              <a:rPr lang="en-CN" altLang="zh-CN" sz="2400" i="1">
                                <a:latin typeface="Cambria Math" panose="02040503050406030204" pitchFamily="18" charset="0"/>
                                <a:ea typeface="SimSun" panose="02010600030101010101" pitchFamily="2" charset="-122"/>
                              </a:rPr>
                            </m:ctrlPr>
                          </m:mP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−2</m:t>
                                  </m:r>
                                </m:num>
                                <m:den>
                                  <m:r>
                                    <a:rPr lang="en-US" altLang="zh-CN" sz="2400" i="1">
                                      <a:latin typeface="Cambria Math" panose="02040503050406030204" pitchFamily="18" charset="0"/>
                                      <a:ea typeface="SimSun" panose="02010600030101010101" pitchFamily="2" charset="-122"/>
                                    </a:rPr>
                                    <m:t>3</m:t>
                                  </m:r>
                                </m:den>
                              </m:f>
                            </m:e>
                          </m:mr>
                          <m:mr>
                            <m:e>
                              <m:r>
                                <a:rPr lang="en-US" altLang="zh-CN" sz="2400" i="1">
                                  <a:latin typeface="Cambria Math" panose="02040503050406030204" pitchFamily="18" charset="0"/>
                                  <a:ea typeface="SimSun" panose="02010600030101010101" pitchFamily="2" charset="-122"/>
                                </a:rPr>
                                <m:t>0</m:t>
                              </m:r>
                            </m:e>
                            <m:e>
                              <m:r>
                                <a:rPr lang="en-US" altLang="zh-CN" sz="2400" i="1">
                                  <a:latin typeface="Cambria Math" panose="02040503050406030204" pitchFamily="18" charset="0"/>
                                  <a:ea typeface="SimSun" panose="02010600030101010101" pitchFamily="2" charset="-122"/>
                                </a:rPr>
                                <m:t>1</m:t>
                              </m:r>
                            </m:e>
                            <m:e>
                              <m:r>
                                <a:rPr lang="en-US" altLang="zh-CN" sz="2400" i="1">
                                  <a:latin typeface="Cambria Math" panose="02040503050406030204" pitchFamily="18" charset="0"/>
                                  <a:ea typeface="SimSun" panose="02010600030101010101" pitchFamily="2" charset="-122"/>
                                </a:rPr>
                                <m:t>1</m:t>
                              </m:r>
                            </m:e>
                          </m:m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mr>
                        </m:m>
                      </m:e>
                    </m:d>
                  </m:oMath>
                </a14:m>
                <a:r>
                  <a:rPr lang="zh-CN" sz="2400" dirty="0">
                    <a:effectLst/>
                    <a:latin typeface="Times New Roman" panose="02020603050405020304" pitchFamily="18" charset="0"/>
                    <a:ea typeface="SimSun" panose="02010600030101010101" pitchFamily="2" charset="-122"/>
                  </a:rPr>
                  <a:t>。</a:t>
                </a:r>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en-CN" sz="2400" i="1">
                              <a:effectLst/>
                              <a:latin typeface="Cambria Math" panose="02040503050406030204" pitchFamily="18" charset="0"/>
                              <a:ea typeface="SimSun" panose="02010600030101010101" pitchFamily="2" charset="-122"/>
                            </a:rPr>
                          </m:ctrlPr>
                        </m:sSupPr>
                        <m:e>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𝑏</m:t>
                              </m:r>
                            </m:e>
                          </m:acc>
                        </m:e>
                        <m:sup>
                          <m:r>
                            <a:rPr lang="en-US" sz="2400" i="1">
                              <a:effectLst/>
                              <a:latin typeface="Cambria Math" panose="02040503050406030204" pitchFamily="18" charset="0"/>
                              <a:ea typeface="SimSun" panose="02010600030101010101" pitchFamily="2" charset="-122"/>
                            </a:rPr>
                            <m:t>′</m:t>
                          </m:r>
                        </m:sup>
                      </m:sSup>
                      <m:r>
                        <a:rPr lang="en-US" sz="2400" i="1">
                          <a:effectLst/>
                          <a:latin typeface="Cambria Math" panose="02040503050406030204" pitchFamily="18" charset="0"/>
                          <a:ea typeface="SimSun" panose="02010600030101010101" pitchFamily="2" charset="-122"/>
                        </a:rPr>
                        <m:t>=</m:t>
                      </m:r>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𝐵</m:t>
                          </m:r>
                        </m:e>
                        <m:sup>
                          <m:r>
                            <a:rPr lang="en-US" sz="2400" i="1">
                              <a:effectLst/>
                              <a:latin typeface="Cambria Math" panose="02040503050406030204" pitchFamily="18" charset="0"/>
                              <a:ea typeface="SimSun" panose="02010600030101010101" pitchFamily="2" charset="-122"/>
                            </a:rPr>
                            <m:t>−1</m:t>
                          </m:r>
                        </m:sup>
                      </m:sSup>
                      <m:sSup>
                        <m:sSupPr>
                          <m:ctrlPr>
                            <a:rPr lang="en-CN" sz="2400" i="1">
                              <a:effectLst/>
                              <a:latin typeface="Cambria Math" panose="02040503050406030204" pitchFamily="18" charset="0"/>
                              <a:ea typeface="SimSun" panose="02010600030101010101" pitchFamily="2" charset="-122"/>
                            </a:rPr>
                          </m:ctrlPr>
                        </m:sSupPr>
                        <m:e>
                          <m:r>
                            <a:rPr lang="en-US" sz="2400" i="1">
                              <a:effectLst/>
                              <a:latin typeface="Cambria Math" panose="02040503050406030204" pitchFamily="18" charset="0"/>
                              <a:ea typeface="SimSun" panose="02010600030101010101" pitchFamily="2" charset="-122"/>
                            </a:rPr>
                            <m:t>𝑏</m:t>
                          </m:r>
                        </m:e>
                        <m:sup>
                          <m:r>
                            <a:rPr lang="en-US" sz="2400" i="1">
                              <a:effectLst/>
                              <a:latin typeface="Cambria Math" panose="02040503050406030204" pitchFamily="18" charset="0"/>
                              <a:ea typeface="SimSun" panose="02010600030101010101" pitchFamily="2" charset="-122"/>
                            </a:rPr>
                            <m:t>′</m:t>
                          </m:r>
                        </m:sup>
                      </m:sSup>
                      <m:r>
                        <a:rPr lang="en-US" sz="2400" i="1">
                          <a:effectLst/>
                          <a:latin typeface="Cambria Math" panose="02040503050406030204" pitchFamily="18" charset="0"/>
                          <a:ea typeface="SimSun" panose="02010600030101010101" pitchFamily="2" charset="-122"/>
                        </a:rPr>
                        <m:t>=</m:t>
                      </m:r>
                      <m:d>
                        <m:dPr>
                          <m:ctrlPr>
                            <a:rPr lang="en-US" altLang="zh-CN" sz="2400" i="1">
                              <a:latin typeface="Cambria Math" panose="02040503050406030204" pitchFamily="18" charset="0"/>
                              <a:ea typeface="SimSun" panose="02010600030101010101" pitchFamily="2" charset="-122"/>
                            </a:rPr>
                          </m:ctrlPr>
                        </m:dPr>
                        <m:e>
                          <m:m>
                            <m:mPr>
                              <m:mcs>
                                <m:mc>
                                  <m:mcPr>
                                    <m:count m:val="3"/>
                                    <m:mcJc m:val="center"/>
                                  </m:mcPr>
                                </m:mc>
                              </m:mcs>
                              <m:ctrlPr>
                                <a:rPr lang="en-CN" altLang="zh-CN" sz="2400" i="1">
                                  <a:latin typeface="Cambria Math" panose="02040503050406030204" pitchFamily="18" charset="0"/>
                                  <a:ea typeface="SimSun" panose="02010600030101010101" pitchFamily="2" charset="-122"/>
                                </a:rPr>
                              </m:ctrlPr>
                            </m:mP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−2</m:t>
                                    </m:r>
                                  </m:num>
                                  <m:den>
                                    <m:r>
                                      <a:rPr lang="en-US" altLang="zh-CN" sz="2400" i="1">
                                        <a:latin typeface="Cambria Math" panose="02040503050406030204" pitchFamily="18" charset="0"/>
                                        <a:ea typeface="SimSun" panose="02010600030101010101" pitchFamily="2" charset="-122"/>
                                      </a:rPr>
                                      <m:t>3</m:t>
                                    </m:r>
                                  </m:den>
                                </m:f>
                              </m:e>
                            </m:mr>
                            <m:mr>
                              <m:e>
                                <m:r>
                                  <a:rPr lang="en-US" altLang="zh-CN" sz="2400" i="1">
                                    <a:latin typeface="Cambria Math" panose="02040503050406030204" pitchFamily="18" charset="0"/>
                                    <a:ea typeface="SimSun" panose="02010600030101010101" pitchFamily="2" charset="-122"/>
                                  </a:rPr>
                                  <m:t>0</m:t>
                                </m:r>
                              </m:e>
                              <m:e>
                                <m:r>
                                  <a:rPr lang="en-US" altLang="zh-CN" sz="2400" i="1">
                                    <a:latin typeface="Cambria Math" panose="02040503050406030204" pitchFamily="18" charset="0"/>
                                    <a:ea typeface="SimSun" panose="02010600030101010101" pitchFamily="2" charset="-122"/>
                                  </a:rPr>
                                  <m:t>1</m:t>
                                </m:r>
                              </m:e>
                              <m:e>
                                <m:r>
                                  <a:rPr lang="en-US" altLang="zh-CN" sz="2400" i="1">
                                    <a:latin typeface="Cambria Math" panose="02040503050406030204" pitchFamily="18" charset="0"/>
                                    <a:ea typeface="SimSun" panose="02010600030101010101" pitchFamily="2" charset="-122"/>
                                  </a:rPr>
                                  <m:t>1</m:t>
                                </m:r>
                              </m:e>
                            </m:m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mr>
                          </m:m>
                        </m:e>
                      </m:d>
                      <m:d>
                        <m:dPr>
                          <m:ctrlPr>
                            <a:rPr lang="en-CN" sz="2400" i="1">
                              <a:effectLst/>
                              <a:latin typeface="Cambria Math" panose="02040503050406030204" pitchFamily="18" charset="0"/>
                              <a:ea typeface="SimSun" panose="02010600030101010101" pitchFamily="2" charset="-122"/>
                            </a:rPr>
                          </m:ctrlPr>
                        </m:dPr>
                        <m:e>
                          <m:m>
                            <m:mPr>
                              <m:mcs>
                                <m:mc>
                                  <m:mcPr>
                                    <m:count m:val="1"/>
                                    <m:mcJc m:val="center"/>
                                  </m:mcPr>
                                </m:mc>
                              </m:mcs>
                              <m:ctrlPr>
                                <a:rPr lang="en-CN" sz="2400" i="1">
                                  <a:effectLst/>
                                  <a:latin typeface="Cambria Math" panose="02040503050406030204" pitchFamily="18" charset="0"/>
                                  <a:ea typeface="SimSun" panose="02010600030101010101" pitchFamily="2" charset="-122"/>
                                </a:rPr>
                              </m:ctrlPr>
                            </m:mPr>
                            <m:mr>
                              <m:e>
                                <m:r>
                                  <a:rPr lang="en-US" sz="2400" i="1">
                                    <a:effectLst/>
                                    <a:latin typeface="Cambria Math" panose="02040503050406030204" pitchFamily="18" charset="0"/>
                                    <a:ea typeface="SimSun" panose="02010600030101010101" pitchFamily="2" charset="-122"/>
                                  </a:rPr>
                                  <m:t>3</m:t>
                                </m:r>
                              </m:e>
                            </m:mr>
                            <m:mr>
                              <m:e>
                                <m:r>
                                  <a:rPr lang="en-US" sz="2400" i="1">
                                    <a:effectLst/>
                                    <a:latin typeface="Cambria Math" panose="02040503050406030204" pitchFamily="18" charset="0"/>
                                    <a:ea typeface="SimSun" panose="02010600030101010101" pitchFamily="2" charset="-122"/>
                                  </a:rPr>
                                  <m:t>2</m:t>
                                </m:r>
                              </m:e>
                            </m:mr>
                            <m:mr>
                              <m:e>
                                <m:r>
                                  <a:rPr lang="en-US" sz="2400" i="1">
                                    <a:effectLst/>
                                    <a:latin typeface="Cambria Math" panose="02040503050406030204" pitchFamily="18" charset="0"/>
                                    <a:ea typeface="SimSun" panose="02010600030101010101" pitchFamily="2" charset="-122"/>
                                  </a:rPr>
                                  <m:t>3</m:t>
                                </m:r>
                              </m:e>
                            </m:mr>
                          </m:m>
                        </m:e>
                      </m:d>
                      <m:r>
                        <a:rPr lang="en-US" sz="2400" i="1">
                          <a:effectLst/>
                          <a:latin typeface="Cambria Math" panose="02040503050406030204" pitchFamily="18" charset="0"/>
                          <a:ea typeface="SimSun" panose="02010600030101010101" pitchFamily="2" charset="-122"/>
                        </a:rPr>
                        <m:t>=</m:t>
                      </m:r>
                      <m:d>
                        <m:dPr>
                          <m:ctrlPr>
                            <a:rPr lang="en-CN" sz="2400" i="1">
                              <a:effectLst/>
                              <a:latin typeface="Cambria Math" panose="02040503050406030204" pitchFamily="18" charset="0"/>
                              <a:ea typeface="SimSun" panose="02010600030101010101" pitchFamily="2" charset="-122"/>
                            </a:rPr>
                          </m:ctrlPr>
                        </m:dPr>
                        <m:e>
                          <m:m>
                            <m:mPr>
                              <m:mcs>
                                <m:mc>
                                  <m:mcPr>
                                    <m:count m:val="1"/>
                                    <m:mcJc m:val="center"/>
                                  </m:mcPr>
                                </m:mc>
                              </m:mcs>
                              <m:ctrlPr>
                                <a:rPr lang="en-CN" sz="2400" i="1">
                                  <a:effectLst/>
                                  <a:latin typeface="Cambria Math" panose="02040503050406030204" pitchFamily="18" charset="0"/>
                                  <a:ea typeface="SimSun" panose="02010600030101010101" pitchFamily="2" charset="-122"/>
                                </a:rPr>
                              </m:ctrlPr>
                            </m:mPr>
                            <m:mr>
                              <m:e>
                                <m:r>
                                  <a:rPr lang="en-US" sz="2400" i="1">
                                    <a:effectLst/>
                                    <a:latin typeface="Cambria Math" panose="02040503050406030204" pitchFamily="18" charset="0"/>
                                    <a:ea typeface="SimSun" panose="02010600030101010101" pitchFamily="2" charset="-122"/>
                                  </a:rPr>
                                  <m:t>−1</m:t>
                                </m:r>
                              </m:e>
                            </m:mr>
                            <m:mr>
                              <m:e>
                                <m:r>
                                  <a:rPr lang="en-US" sz="2400" i="1">
                                    <a:effectLst/>
                                    <a:latin typeface="Cambria Math" panose="02040503050406030204" pitchFamily="18" charset="0"/>
                                    <a:ea typeface="SimSun" panose="02010600030101010101" pitchFamily="2" charset="-122"/>
                                  </a:rPr>
                                  <m:t>5</m:t>
                                </m:r>
                              </m:e>
                            </m:mr>
                            <m:mr>
                              <m:e>
                                <m:r>
                                  <a:rPr lang="en-US" sz="2400" i="1">
                                    <a:effectLst/>
                                    <a:latin typeface="Cambria Math" panose="02040503050406030204" pitchFamily="18" charset="0"/>
                                    <a:ea typeface="SimSun" panose="02010600030101010101" pitchFamily="2" charset="-122"/>
                                  </a:rPr>
                                  <m:t>2</m:t>
                                </m:r>
                              </m:e>
                            </m:mr>
                          </m:m>
                        </m:e>
                      </m:d>
                    </m:oMath>
                  </m:oMathPara>
                </a14:m>
                <a:endParaRPr lang="en-CN"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SimSun" panose="02010600030101010101" pitchFamily="2" charset="-122"/>
                  </a:rPr>
                  <a:t>由于</a:t>
                </a:r>
                <a14:m>
                  <m:oMath xmlns:m="http://schemas.openxmlformats.org/officeDocument/2006/math">
                    <m:sSup>
                      <m:sSupPr>
                        <m:ctrlPr>
                          <a:rPr lang="en-CN" sz="2400" i="1">
                            <a:effectLst/>
                            <a:latin typeface="Cambria Math" panose="02040503050406030204" pitchFamily="18" charset="0"/>
                            <a:ea typeface="SimSun" panose="02010600030101010101" pitchFamily="2" charset="-122"/>
                          </a:rPr>
                        </m:ctrlPr>
                      </m:sSupPr>
                      <m:e>
                        <m:acc>
                          <m:accPr>
                            <m:chr m:val="̅"/>
                            <m:ctrlPr>
                              <a:rPr lang="en-CN" sz="2400" i="1">
                                <a:effectLst/>
                                <a:latin typeface="Cambria Math" panose="02040503050406030204" pitchFamily="18" charset="0"/>
                                <a:ea typeface="SimSun" panose="02010600030101010101" pitchFamily="2" charset="-122"/>
                              </a:rPr>
                            </m:ctrlPr>
                          </m:accPr>
                          <m:e>
                            <m:r>
                              <a:rPr lang="en-CN" sz="2400" i="1">
                                <a:effectLst/>
                                <a:latin typeface="Cambria Math" panose="02040503050406030204" pitchFamily="18" charset="0"/>
                                <a:ea typeface="SimSun" panose="02010600030101010101" pitchFamily="2" charset="-122"/>
                              </a:rPr>
                              <m:t>𝑏</m:t>
                            </m:r>
                          </m:e>
                        </m:acc>
                      </m:e>
                      <m:sup>
                        <m:r>
                          <a:rPr lang="en-US" sz="2400" i="1">
                            <a:effectLst/>
                            <a:latin typeface="Cambria Math" panose="02040503050406030204" pitchFamily="18" charset="0"/>
                            <a:ea typeface="SimSun" panose="02010600030101010101" pitchFamily="2" charset="-122"/>
                          </a:rPr>
                          <m:t>′</m:t>
                        </m:r>
                      </m:sup>
                    </m:sSup>
                    <m:r>
                      <a:rPr lang="en-US" sz="2400" i="1">
                        <a:effectLst/>
                        <a:latin typeface="Cambria Math" panose="02040503050406030204" pitchFamily="18" charset="0"/>
                        <a:ea typeface="SimSun" panose="02010600030101010101" pitchFamily="2" charset="-122"/>
                      </a:rPr>
                      <m:t>≥0</m:t>
                    </m:r>
                  </m:oMath>
                </a14:m>
                <a:r>
                  <a:rPr lang="zh-CN" sz="2400" dirty="0">
                    <a:effectLst/>
                    <a:latin typeface="Times New Roman" panose="02020603050405020304" pitchFamily="18" charset="0"/>
                    <a:ea typeface="SimSun" panose="02010600030101010101" pitchFamily="2" charset="-122"/>
                  </a:rPr>
                  <a:t>不成立，故最优解发生变化。</a:t>
                </a:r>
                <a:r>
                  <a:rPr lang="zh-CN" altLang="en-US" sz="2400" dirty="0">
                    <a:latin typeface="Times New Roman" panose="02020603050405020304" pitchFamily="18" charset="0"/>
                    <a:ea typeface="SimSun" panose="02010600030101010101" pitchFamily="2" charset="-122"/>
                  </a:rPr>
                  <a:t>将</a:t>
                </a:r>
                <a:r>
                  <a:rPr lang="zh-CN" altLang="zh-CN" sz="2400" dirty="0">
                    <a:latin typeface="Times New Roman" panose="02020603050405020304" pitchFamily="18" charset="0"/>
                    <a:ea typeface="SimSun" panose="02010600030101010101" pitchFamily="2" charset="-122"/>
                  </a:rPr>
                  <a:t>表</a:t>
                </a:r>
                <a:r>
                  <a:rPr lang="en-US" altLang="zh-CN" sz="2400" dirty="0">
                    <a:latin typeface="SimSun" panose="02010600030101010101" pitchFamily="2" charset="-122"/>
                    <a:ea typeface="Times New Roman" panose="02020603050405020304" pitchFamily="18" charset="0"/>
                  </a:rPr>
                  <a:t>3</a:t>
                </a:r>
                <a:r>
                  <a:rPr lang="zh-CN" altLang="zh-CN" sz="2400" dirty="0">
                    <a:latin typeface="Times New Roman" panose="02020603050405020304" pitchFamily="18" charset="0"/>
                    <a:ea typeface="SimSun" panose="02010600030101010101" pitchFamily="2" charset="-122"/>
                  </a:rPr>
                  <a:t>中第三列修改为</a:t>
                </a:r>
                <a14:m>
                  <m:oMath xmlns:m="http://schemas.openxmlformats.org/officeDocument/2006/math">
                    <m:sSup>
                      <m:sSupPr>
                        <m:ctrlPr>
                          <a:rPr lang="en-CN" altLang="zh-CN" sz="2400" i="1">
                            <a:latin typeface="Cambria Math" panose="02040503050406030204" pitchFamily="18" charset="0"/>
                            <a:ea typeface="SimSun" panose="02010600030101010101" pitchFamily="2" charset="-122"/>
                          </a:rPr>
                        </m:ctrlPr>
                      </m:sSupPr>
                      <m:e>
                        <m:d>
                          <m:dPr>
                            <m:ctrlPr>
                              <a:rPr lang="en-CN" altLang="zh-CN" sz="2400" i="1">
                                <a:latin typeface="Cambria Math" panose="02040503050406030204" pitchFamily="18" charset="0"/>
                                <a:ea typeface="SimSun" panose="02010600030101010101" pitchFamily="2" charset="-122"/>
                              </a:rPr>
                            </m:ctrlPr>
                          </m:dPr>
                          <m:e>
                            <m:r>
                              <a:rPr lang="en-US" altLang="zh-CN" sz="2400" i="1">
                                <a:latin typeface="Cambria Math" panose="02040503050406030204" pitchFamily="18" charset="0"/>
                                <a:ea typeface="SimSun" panose="02010600030101010101" pitchFamily="2" charset="-122"/>
                              </a:rPr>
                              <m:t>−1</m:t>
                            </m:r>
                            <m:r>
                              <a:rPr lang="zh-CN" altLang="zh-CN" sz="2400" i="1">
                                <a:latin typeface="Cambria Math" panose="02040503050406030204" pitchFamily="18" charset="0"/>
                                <a:ea typeface="SimSun" panose="02010600030101010101" pitchFamily="2" charset="-122"/>
                              </a:rPr>
                              <m:t>，</m:t>
                            </m:r>
                            <m:r>
                              <a:rPr lang="en-US" altLang="zh-CN" sz="2400" i="1">
                                <a:latin typeface="Cambria Math" panose="02040503050406030204" pitchFamily="18" charset="0"/>
                                <a:ea typeface="SimSun" panose="02010600030101010101" pitchFamily="2" charset="-122"/>
                              </a:rPr>
                              <m:t>5</m:t>
                            </m:r>
                            <m:r>
                              <a:rPr lang="zh-CN" altLang="zh-CN" sz="2400" i="1">
                                <a:latin typeface="Cambria Math" panose="02040503050406030204" pitchFamily="18" charset="0"/>
                                <a:ea typeface="SimSun" panose="02010600030101010101" pitchFamily="2" charset="-122"/>
                              </a:rPr>
                              <m:t>，</m:t>
                            </m:r>
                            <m:r>
                              <a:rPr lang="en-US" altLang="zh-CN" sz="2400" i="1">
                                <a:latin typeface="Cambria Math" panose="02040503050406030204" pitchFamily="18" charset="0"/>
                                <a:ea typeface="SimSun" panose="02010600030101010101" pitchFamily="2" charset="-122"/>
                              </a:rPr>
                              <m:t>2</m:t>
                            </m:r>
                          </m:e>
                        </m:d>
                      </m:e>
                      <m:sup>
                        <m:r>
                          <a:rPr lang="en-US" altLang="zh-CN" sz="2400" i="1">
                            <a:latin typeface="Cambria Math" panose="02040503050406030204" pitchFamily="18" charset="0"/>
                            <a:ea typeface="SimSun" panose="02010600030101010101" pitchFamily="2" charset="-122"/>
                          </a:rPr>
                          <m:t>𝑇</m:t>
                        </m:r>
                      </m:sup>
                    </m:sSup>
                  </m:oMath>
                </a14:m>
                <a:r>
                  <a:rPr lang="zh-CN" altLang="zh-CN" sz="2400" dirty="0">
                    <a:latin typeface="Times New Roman" panose="02020603050405020304" pitchFamily="18" charset="0"/>
                    <a:ea typeface="SimSun" panose="02010600030101010101" pitchFamily="2" charset="-122"/>
                  </a:rPr>
                  <a:t>，得到表</a:t>
                </a:r>
                <a:r>
                  <a:rPr lang="en-US" altLang="zh-CN" sz="2400" dirty="0">
                    <a:latin typeface="SimSun" panose="02010600030101010101" pitchFamily="2" charset="-122"/>
                    <a:ea typeface="Times New Roman" panose="02020603050405020304" pitchFamily="18" charset="0"/>
                  </a:rPr>
                  <a:t>4</a:t>
                </a:r>
                <a:r>
                  <a:rPr lang="zh-CN" altLang="en-US" sz="2400" dirty="0">
                    <a:latin typeface="SimSun" panose="02010600030101010101" pitchFamily="2" charset="-122"/>
                    <a:ea typeface="Times New Roman" panose="02020603050405020304" pitchFamily="18" charset="0"/>
                  </a:rPr>
                  <a:t>。</a:t>
                </a:r>
                <a:endParaRPr lang="en-CN" sz="2400" dirty="0">
                  <a:effectLst/>
                  <a:latin typeface="Times New Roman" panose="02020603050405020304" pitchFamily="18" charset="0"/>
                  <a:ea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0A48C760-1D48-EAE8-D6C1-7F8557AC1C46}"/>
                  </a:ext>
                </a:extLst>
              </p:cNvPr>
              <p:cNvSpPr txBox="1">
                <a:spLocks noRot="1" noChangeAspect="1" noMove="1" noResize="1" noEditPoints="1" noAdjustHandles="1" noChangeArrowheads="1" noChangeShapeType="1" noTextEdit="1"/>
              </p:cNvSpPr>
              <p:nvPr/>
            </p:nvSpPr>
            <p:spPr>
              <a:xfrm>
                <a:off x="185351" y="636950"/>
                <a:ext cx="11821297" cy="4940455"/>
              </a:xfrm>
              <a:prstGeom prst="rect">
                <a:avLst/>
              </a:prstGeom>
              <a:blipFill>
                <a:blip r:embed="rId2"/>
                <a:stretch>
                  <a:fillRect l="-773" r="-258" b="-1356"/>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226662E5-92F7-9AD2-BE1B-0343934E84E8}"/>
                  </a:ext>
                </a:extLst>
              </p:cNvPr>
              <p:cNvGraphicFramePr>
                <a:graphicFrameLocks noGrp="1"/>
              </p:cNvGraphicFramePr>
              <p:nvPr>
                <p:extLst>
                  <p:ext uri="{D42A27DB-BD31-4B8C-83A1-F6EECF244321}">
                    <p14:modId xmlns:p14="http://schemas.microsoft.com/office/powerpoint/2010/main" val="1472989394"/>
                  </p:ext>
                </p:extLst>
              </p:nvPr>
            </p:nvGraphicFramePr>
            <p:xfrm>
              <a:off x="1840788" y="783727"/>
              <a:ext cx="8510424" cy="4985322"/>
            </p:xfrm>
            <a:graphic>
              <a:graphicData uri="http://schemas.openxmlformats.org/drawingml/2006/table">
                <a:tbl>
                  <a:tblPr firstRow="1" firstCol="1" bandRow="1"/>
                  <a:tblGrid>
                    <a:gridCol w="850479">
                      <a:extLst>
                        <a:ext uri="{9D8B030D-6E8A-4147-A177-3AD203B41FA5}">
                          <a16:colId xmlns:a16="http://schemas.microsoft.com/office/drawing/2014/main" val="1374249535"/>
                        </a:ext>
                      </a:extLst>
                    </a:gridCol>
                    <a:gridCol w="892324">
                      <a:extLst>
                        <a:ext uri="{9D8B030D-6E8A-4147-A177-3AD203B41FA5}">
                          <a16:colId xmlns:a16="http://schemas.microsoft.com/office/drawing/2014/main" val="254332351"/>
                        </a:ext>
                      </a:extLst>
                    </a:gridCol>
                    <a:gridCol w="921725">
                      <a:extLst>
                        <a:ext uri="{9D8B030D-6E8A-4147-A177-3AD203B41FA5}">
                          <a16:colId xmlns:a16="http://schemas.microsoft.com/office/drawing/2014/main" val="1296446404"/>
                        </a:ext>
                      </a:extLst>
                    </a:gridCol>
                    <a:gridCol w="839167">
                      <a:extLst>
                        <a:ext uri="{9D8B030D-6E8A-4147-A177-3AD203B41FA5}">
                          <a16:colId xmlns:a16="http://schemas.microsoft.com/office/drawing/2014/main" val="304438389"/>
                        </a:ext>
                      </a:extLst>
                    </a:gridCol>
                    <a:gridCol w="1224822">
                      <a:extLst>
                        <a:ext uri="{9D8B030D-6E8A-4147-A177-3AD203B41FA5}">
                          <a16:colId xmlns:a16="http://schemas.microsoft.com/office/drawing/2014/main" val="3414936639"/>
                        </a:ext>
                      </a:extLst>
                    </a:gridCol>
                    <a:gridCol w="867441">
                      <a:extLst>
                        <a:ext uri="{9D8B030D-6E8A-4147-A177-3AD203B41FA5}">
                          <a16:colId xmlns:a16="http://schemas.microsoft.com/office/drawing/2014/main" val="3739129874"/>
                        </a:ext>
                      </a:extLst>
                    </a:gridCol>
                    <a:gridCol w="1224822">
                      <a:extLst>
                        <a:ext uri="{9D8B030D-6E8A-4147-A177-3AD203B41FA5}">
                          <a16:colId xmlns:a16="http://schemas.microsoft.com/office/drawing/2014/main" val="2304299495"/>
                        </a:ext>
                      </a:extLst>
                    </a:gridCol>
                    <a:gridCol w="844822">
                      <a:extLst>
                        <a:ext uri="{9D8B030D-6E8A-4147-A177-3AD203B41FA5}">
                          <a16:colId xmlns:a16="http://schemas.microsoft.com/office/drawing/2014/main" val="37297198"/>
                        </a:ext>
                      </a:extLst>
                    </a:gridCol>
                    <a:gridCol w="844822">
                      <a:extLst>
                        <a:ext uri="{9D8B030D-6E8A-4147-A177-3AD203B41FA5}">
                          <a16:colId xmlns:a16="http://schemas.microsoft.com/office/drawing/2014/main" val="2356263951"/>
                        </a:ext>
                      </a:extLst>
                    </a:gridCol>
                  </a:tblGrid>
                  <a:tr h="491007">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solidFill>
                                <a:schemeClr val="tx1"/>
                              </a:solidFill>
                              <a:effectLst/>
                              <a:latin typeface="SimSun" panose="02010600030101010101" pitchFamily="2" charset="-122"/>
                              <a:ea typeface="Times New Roman" panose="02020603050405020304" pitchFamily="18" charset="0"/>
                            </a:rPr>
                            <a:t>-4</a:t>
                          </a:r>
                          <a:endParaRPr lang="en-CN" sz="1800" dirty="0">
                            <a:solidFill>
                              <a:schemeClr val="tx1"/>
                            </a:solidFill>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3482403"/>
                      </a:ext>
                    </a:extLst>
                  </a:tr>
                  <a:tr h="468786">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SimSun" panose="02010600030101010101" pitchFamily="2" charset="-122"/>
                            </a:rPr>
                            <a:t>基</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6</m:t>
                                    </m:r>
                                  </m:sub>
                                </m:sSub>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0131135"/>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b="1" dirty="0">
                              <a:solidFill>
                                <a:srgbClr val="FF0000"/>
                              </a:solidFill>
                              <a:effectLst/>
                              <a:latin typeface="SimSun" panose="02010600030101010101" pitchFamily="2" charset="-122"/>
                              <a:ea typeface="Times New Roman" panose="02020603050405020304" pitchFamily="18" charset="0"/>
                            </a:rPr>
                            <a:t>-1</a:t>
                          </a:r>
                          <a:endParaRPr lang="en-CN" sz="1800" b="1" dirty="0">
                            <a:solidFill>
                              <a:srgbClr val="FF0000"/>
                            </a:solidFill>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smtClean="0">
                                        <a:solidFill>
                                          <a:srgbClr val="FF0000"/>
                                        </a:solidFill>
                                        <a:effectLst/>
                                        <a:latin typeface="Cambria Math" panose="02040503050406030204" pitchFamily="18" charset="0"/>
                                        <a:ea typeface="SimSun" panose="02010600030101010101" pitchFamily="2" charset="-122"/>
                                      </a:rPr>
                                    </m:ctrlPr>
                                  </m:fPr>
                                  <m:num>
                                    <m:r>
                                      <a:rPr lang="en-US" sz="1800" b="0" i="1" smtClean="0">
                                        <a:solidFill>
                                          <a:srgbClr val="FF0000"/>
                                        </a:solidFill>
                                        <a:effectLst/>
                                        <a:latin typeface="Cambria Math" panose="02040503050406030204" pitchFamily="18" charset="0"/>
                                        <a:ea typeface="SimSun" panose="02010600030101010101" pitchFamily="2" charset="-122"/>
                                      </a:rPr>
                                      <m:t>[</m:t>
                                    </m:r>
                                    <m:r>
                                      <a:rPr lang="en-US" sz="1800" i="1">
                                        <a:solidFill>
                                          <a:srgbClr val="FF0000"/>
                                        </a:solidFill>
                                        <a:effectLst/>
                                        <a:latin typeface="Cambria Math" panose="02040503050406030204" pitchFamily="18" charset="0"/>
                                        <a:ea typeface="SimSun" panose="02010600030101010101" pitchFamily="2" charset="-122"/>
                                      </a:rPr>
                                      <m:t>−</m:t>
                                    </m:r>
                                    <m:r>
                                      <a:rPr lang="en-US" sz="1800" b="0" i="1" smtClean="0">
                                        <a:solidFill>
                                          <a:srgbClr val="FF0000"/>
                                        </a:solidFill>
                                        <a:effectLst/>
                                        <a:latin typeface="Cambria Math" panose="02040503050406030204" pitchFamily="18" charset="0"/>
                                        <a:ea typeface="SimSun" panose="02010600030101010101" pitchFamily="2" charset="-122"/>
                                      </a:rPr>
                                      <m:t>2</m:t>
                                    </m:r>
                                  </m:num>
                                  <m:den>
                                    <m:r>
                                      <a:rPr lang="en-US" sz="1800" i="1">
                                        <a:solidFill>
                                          <a:srgbClr val="FF0000"/>
                                        </a:solidFill>
                                        <a:effectLst/>
                                        <a:latin typeface="Cambria Math" panose="02040503050406030204" pitchFamily="18" charset="0"/>
                                        <a:ea typeface="SimSun" panose="02010600030101010101" pitchFamily="2" charset="-122"/>
                                      </a:rPr>
                                      <m:t>3</m:t>
                                    </m:r>
                                    <m:r>
                                      <a:rPr lang="en-US" sz="1800" b="0" i="1" smtClean="0">
                                        <a:solidFill>
                                          <a:srgbClr val="FF0000"/>
                                        </a:solidFill>
                                        <a:effectLst/>
                                        <a:latin typeface="Cambria Math" panose="02040503050406030204" pitchFamily="18" charset="0"/>
                                        <a:ea typeface="SimSun" panose="02010600030101010101" pitchFamily="2" charset="-122"/>
                                      </a:rPr>
                                      <m:t>]</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5434696"/>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5</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1</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9008484"/>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smtClean="0">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089013"/>
                      </a:ext>
                    </a:extLst>
                  </a:tr>
                  <a:tr h="491007">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2</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8221456"/>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6</m:t>
                                    </m:r>
                                  </m:sub>
                                </m:sSub>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3</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i="1">
                                        <a:effectLst/>
                                        <a:latin typeface="Cambria Math" panose="02040503050406030204" pitchFamily="18" charset="0"/>
                                        <a:ea typeface="SimSun" panose="02010600030101010101" pitchFamily="2" charset="-122"/>
                                      </a:rPr>
                                      <m:t>−3</m:t>
                                    </m:r>
                                  </m:num>
                                  <m:den>
                                    <m:r>
                                      <a:rPr lang="en-US" altLang="zh-CN"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smtClean="0">
                                        <a:effectLst/>
                                        <a:latin typeface="Cambria Math" panose="02040503050406030204" pitchFamily="18" charset="0"/>
                                        <a:ea typeface="SimSun" panose="02010600030101010101" pitchFamily="2" charset="-122"/>
                                      </a:rPr>
                                    </m:ctrlPr>
                                  </m:fPr>
                                  <m:num>
                                    <m:r>
                                      <a:rPr lang="en-US" sz="1800" b="0" i="1" smtClean="0">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1</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1430356"/>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7</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i="1">
                                        <a:effectLst/>
                                        <a:latin typeface="Cambria Math" panose="02040503050406030204" pitchFamily="18" charset="0"/>
                                        <a:ea typeface="SimSun" panose="02010600030101010101" pitchFamily="2" charset="-122"/>
                                      </a:rPr>
                                      <m:t>3</m:t>
                                    </m:r>
                                  </m:num>
                                  <m:den>
                                    <m:r>
                                      <a:rPr lang="en-US" altLang="zh-CN"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smtClean="0">
                                        <a:effectLst/>
                                        <a:latin typeface="Cambria Math" panose="02040503050406030204" pitchFamily="18" charset="0"/>
                                        <a:ea typeface="SimSun" panose="02010600030101010101" pitchFamily="2" charset="-122"/>
                                      </a:rPr>
                                    </m:ctrlPr>
                                  </m:fPr>
                                  <m:num>
                                    <m:r>
                                      <a:rPr lang="en-US" sz="1800" b="0" i="1" smtClean="0">
                                        <a:effectLst/>
                                        <a:latin typeface="Cambria Math" panose="02040503050406030204" pitchFamily="18" charset="0"/>
                                        <a:ea typeface="SimSun" panose="02010600030101010101" pitchFamily="2" charset="-122"/>
                                      </a:rPr>
                                      <m:t>3</m:t>
                                    </m:r>
                                  </m:num>
                                  <m:den>
                                    <m:r>
                                      <a:rPr lang="en-US"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3400073"/>
                      </a:ext>
                    </a:extLst>
                  </a:tr>
                  <a:tr h="46032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3</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i="1">
                                        <a:effectLst/>
                                        <a:latin typeface="Cambria Math" panose="02040503050406030204" pitchFamily="18" charset="0"/>
                                        <a:ea typeface="SimSun" panose="02010600030101010101" pitchFamily="2" charset="-122"/>
                                      </a:rPr>
                                      <m:t>1</m:t>
                                    </m:r>
                                  </m:num>
                                  <m:den>
                                    <m:r>
                                      <a:rPr lang="en-US" altLang="zh-CN"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2</m:t>
                                    </m:r>
                                  </m:den>
                                </m:f>
                              </m:oMath>
                            </m:oMathPara>
                          </a14:m>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2</m:t>
                                    </m:r>
                                  </m:den>
                                </m:f>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13246"/>
                      </a:ext>
                    </a:extLst>
                  </a:tr>
                  <a:tr h="491007">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3</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3</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1369246"/>
                      </a:ext>
                    </a:extLst>
                  </a:tr>
                </a:tbl>
              </a:graphicData>
            </a:graphic>
          </p:graphicFrame>
        </mc:Choice>
        <mc:Fallback xmlns="">
          <p:graphicFrame>
            <p:nvGraphicFramePr>
              <p:cNvPr id="13" name="Table 12">
                <a:extLst>
                  <a:ext uri="{FF2B5EF4-FFF2-40B4-BE49-F238E27FC236}">
                    <a16:creationId xmlns:a16="http://schemas.microsoft.com/office/drawing/2014/main" id="{226662E5-92F7-9AD2-BE1B-0343934E84E8}"/>
                  </a:ext>
                </a:extLst>
              </p:cNvPr>
              <p:cNvGraphicFramePr>
                <a:graphicFrameLocks noGrp="1"/>
              </p:cNvGraphicFramePr>
              <p:nvPr>
                <p:extLst>
                  <p:ext uri="{D42A27DB-BD31-4B8C-83A1-F6EECF244321}">
                    <p14:modId xmlns:p14="http://schemas.microsoft.com/office/powerpoint/2010/main" val="1472989394"/>
                  </p:ext>
                </p:extLst>
              </p:nvPr>
            </p:nvGraphicFramePr>
            <p:xfrm>
              <a:off x="1840788" y="783727"/>
              <a:ext cx="8510424" cy="4985322"/>
            </p:xfrm>
            <a:graphic>
              <a:graphicData uri="http://schemas.openxmlformats.org/drawingml/2006/table">
                <a:tbl>
                  <a:tblPr firstRow="1" firstCol="1" bandRow="1"/>
                  <a:tblGrid>
                    <a:gridCol w="850479">
                      <a:extLst>
                        <a:ext uri="{9D8B030D-6E8A-4147-A177-3AD203B41FA5}">
                          <a16:colId xmlns:a16="http://schemas.microsoft.com/office/drawing/2014/main" val="1374249535"/>
                        </a:ext>
                      </a:extLst>
                    </a:gridCol>
                    <a:gridCol w="892324">
                      <a:extLst>
                        <a:ext uri="{9D8B030D-6E8A-4147-A177-3AD203B41FA5}">
                          <a16:colId xmlns:a16="http://schemas.microsoft.com/office/drawing/2014/main" val="254332351"/>
                        </a:ext>
                      </a:extLst>
                    </a:gridCol>
                    <a:gridCol w="921725">
                      <a:extLst>
                        <a:ext uri="{9D8B030D-6E8A-4147-A177-3AD203B41FA5}">
                          <a16:colId xmlns:a16="http://schemas.microsoft.com/office/drawing/2014/main" val="1296446404"/>
                        </a:ext>
                      </a:extLst>
                    </a:gridCol>
                    <a:gridCol w="839167">
                      <a:extLst>
                        <a:ext uri="{9D8B030D-6E8A-4147-A177-3AD203B41FA5}">
                          <a16:colId xmlns:a16="http://schemas.microsoft.com/office/drawing/2014/main" val="304438389"/>
                        </a:ext>
                      </a:extLst>
                    </a:gridCol>
                    <a:gridCol w="1224822">
                      <a:extLst>
                        <a:ext uri="{9D8B030D-6E8A-4147-A177-3AD203B41FA5}">
                          <a16:colId xmlns:a16="http://schemas.microsoft.com/office/drawing/2014/main" val="3414936639"/>
                        </a:ext>
                      </a:extLst>
                    </a:gridCol>
                    <a:gridCol w="867441">
                      <a:extLst>
                        <a:ext uri="{9D8B030D-6E8A-4147-A177-3AD203B41FA5}">
                          <a16:colId xmlns:a16="http://schemas.microsoft.com/office/drawing/2014/main" val="3739129874"/>
                        </a:ext>
                      </a:extLst>
                    </a:gridCol>
                    <a:gridCol w="1224822">
                      <a:extLst>
                        <a:ext uri="{9D8B030D-6E8A-4147-A177-3AD203B41FA5}">
                          <a16:colId xmlns:a16="http://schemas.microsoft.com/office/drawing/2014/main" val="2304299495"/>
                        </a:ext>
                      </a:extLst>
                    </a:gridCol>
                    <a:gridCol w="844822">
                      <a:extLst>
                        <a:ext uri="{9D8B030D-6E8A-4147-A177-3AD203B41FA5}">
                          <a16:colId xmlns:a16="http://schemas.microsoft.com/office/drawing/2014/main" val="37297198"/>
                        </a:ext>
                      </a:extLst>
                    </a:gridCol>
                    <a:gridCol w="844822">
                      <a:extLst>
                        <a:ext uri="{9D8B030D-6E8A-4147-A177-3AD203B41FA5}">
                          <a16:colId xmlns:a16="http://schemas.microsoft.com/office/drawing/2014/main" val="2356263951"/>
                        </a:ext>
                      </a:extLst>
                    </a:gridCol>
                  </a:tblGrid>
                  <a:tr h="520827">
                    <a:tc gridSpan="3">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28" t="-1163" r="-219635" b="-863953"/>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solidFill>
                                <a:schemeClr val="tx1"/>
                              </a:solidFill>
                              <a:effectLst/>
                              <a:latin typeface="SimSun" panose="02010600030101010101" pitchFamily="2" charset="-122"/>
                              <a:ea typeface="Times New Roman" panose="02020603050405020304" pitchFamily="18" charset="0"/>
                            </a:rPr>
                            <a:t>-4</a:t>
                          </a:r>
                          <a:endParaRPr lang="en-CN" sz="1800" dirty="0">
                            <a:solidFill>
                              <a:schemeClr val="tx1"/>
                            </a:solidFill>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3482403"/>
                      </a:ext>
                    </a:extLst>
                  </a:tr>
                  <a:tr h="496761">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14" t="-107407" r="-900000" b="-817284"/>
                          </a:stretch>
                        </a:blip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SimSun" panose="02010600030101010101" pitchFamily="2" charset="-122"/>
                            </a:rPr>
                            <a:t>基</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88816" t="-107407" r="-632895"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18116" t="-107407" r="-597101"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107407" r="-309950"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47887" t="-107407" r="-338732"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107407" r="-139303"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806475" t="-107407" r="-101439" b="-817284"/>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06475" t="-107407" r="-1439" b="-817284"/>
                          </a:stretch>
                        </a:blipFill>
                      </a:tcPr>
                    </a:tc>
                    <a:extLst>
                      <a:ext uri="{0D108BD9-81ED-4DB2-BD59-A6C34878D82A}">
                        <a16:rowId xmlns:a16="http://schemas.microsoft.com/office/drawing/2014/main" val="3170131135"/>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210000" r="-763014" b="-727500"/>
                          </a:stretch>
                        </a:blipFill>
                      </a:tcPr>
                    </a:tc>
                    <a:tc>
                      <a:txBody>
                        <a:bodyPr/>
                        <a:lstStyle/>
                        <a:p>
                          <a:pPr algn="ctr">
                            <a:lnSpc>
                              <a:spcPct val="150000"/>
                            </a:lnSpc>
                            <a:spcBef>
                              <a:spcPts val="600"/>
                            </a:spcBef>
                            <a:spcAft>
                              <a:spcPts val="600"/>
                            </a:spcAft>
                          </a:pPr>
                          <a:r>
                            <a:rPr lang="en-US" sz="1800" b="1" dirty="0">
                              <a:solidFill>
                                <a:srgbClr val="FF0000"/>
                              </a:solidFill>
                              <a:effectLst/>
                              <a:latin typeface="SimSun" panose="02010600030101010101" pitchFamily="2" charset="-122"/>
                              <a:ea typeface="Times New Roman" panose="02020603050405020304" pitchFamily="18" charset="0"/>
                            </a:rPr>
                            <a:t>-1</a:t>
                          </a:r>
                          <a:endParaRPr lang="en-CN" sz="1800" b="1" dirty="0">
                            <a:solidFill>
                              <a:srgbClr val="FF0000"/>
                            </a:solidFill>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210000" r="-309950" b="-72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210000" r="-139303" b="-72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06475" t="-210000" r="-1439" b="-727500"/>
                          </a:stretch>
                        </a:blipFill>
                      </a:tcPr>
                    </a:tc>
                    <a:extLst>
                      <a:ext uri="{0D108BD9-81ED-4DB2-BD59-A6C34878D82A}">
                        <a16:rowId xmlns:a16="http://schemas.microsoft.com/office/drawing/2014/main" val="1255434696"/>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310000" r="-763014" b="-62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5</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1</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9008484"/>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404938" r="-763014" b="-519753"/>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404938" r="-309950" b="-519753"/>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404938" r="-139303" b="-519753"/>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06475" t="-404938" r="-1439" b="-519753"/>
                          </a:stretch>
                        </a:blipFill>
                      </a:tcPr>
                    </a:tc>
                    <a:extLst>
                      <a:ext uri="{0D108BD9-81ED-4DB2-BD59-A6C34878D82A}">
                        <a16:rowId xmlns:a16="http://schemas.microsoft.com/office/drawing/2014/main" val="133089013"/>
                      </a:ext>
                    </a:extLst>
                  </a:tr>
                  <a:tr h="520827">
                    <a:tc gridSpan="3">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28" t="-481176" r="-219635" b="-395294"/>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2</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8221456"/>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617500" r="-763014" b="-3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88816" t="-617500" r="-632895" b="-3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18116" t="-617500" r="-597101" b="-3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617500" r="-309950" b="-3200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617500" r="-139303" b="-3200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1</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1430356"/>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717500" r="-763014" b="-2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88816" t="-717500" r="-632895" b="-2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18116" t="-717500" r="-597101" b="-2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717500" r="-309950" b="-2200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717500" r="-139303" b="-2200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3400073"/>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575" t="-817500" r="-763014" b="-1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88816" t="-817500" r="-632895" b="-1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18116" t="-817500" r="-597101" b="-120000"/>
                          </a:stretch>
                        </a:blip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87065" t="-817500" r="-309950" b="-1200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457711" t="-817500" r="-139303" b="-1200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13246"/>
                      </a:ext>
                    </a:extLst>
                  </a:tr>
                  <a:tr h="520827">
                    <a:tc gridSpan="3">
                      <a:txBody>
                        <a:bodyPr/>
                        <a:lstStyle/>
                        <a:p>
                          <a:endParaRPr lang="zh-CN"/>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28" t="-853488" r="-219635" b="-11628"/>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3</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3</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80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800" dirty="0">
                            <a:effectLst/>
                            <a:latin typeface="Times New Roman" panose="02020603050405020304" pitchFamily="18" charset="0"/>
                            <a:ea typeface="Times New Roman" panose="02020603050405020304" pitchFamily="18" charset="0"/>
                          </a:endParaRP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CN" sz="1800" dirty="0">
                              <a:effectLst/>
                              <a:latin typeface="Times New Roman" panose="02020603050405020304" pitchFamily="18" charset="0"/>
                              <a:ea typeface="Times New Roman" panose="02020603050405020304" pitchFamily="18" charset="0"/>
                            </a:rPr>
                            <a:t>0</a:t>
                          </a:r>
                        </a:p>
                      </a:txBody>
                      <a:tcPr marL="59859" marR="5985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1369246"/>
                      </a:ext>
                    </a:extLst>
                  </a:tr>
                </a:tbl>
              </a:graphicData>
            </a:graphic>
          </p:graphicFrame>
        </mc:Fallback>
      </mc:AlternateContent>
      <p:sp>
        <p:nvSpPr>
          <p:cNvPr id="2" name="文本框 1">
            <a:extLst>
              <a:ext uri="{FF2B5EF4-FFF2-40B4-BE49-F238E27FC236}">
                <a16:creationId xmlns:a16="http://schemas.microsoft.com/office/drawing/2014/main" id="{ADAA50A8-0F27-B877-6BDE-D97E133DEC78}"/>
              </a:ext>
            </a:extLst>
          </p:cNvPr>
          <p:cNvSpPr txBox="1"/>
          <p:nvPr/>
        </p:nvSpPr>
        <p:spPr>
          <a:xfrm>
            <a:off x="5575328" y="248433"/>
            <a:ext cx="6094520" cy="46166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表</a:t>
            </a:r>
            <a:r>
              <a:rPr lang="en-US" altLang="zh-CN" sz="2400" dirty="0">
                <a:effectLst/>
                <a:latin typeface="Times New Roman" panose="02020603050405020304" pitchFamily="18" charset="0"/>
                <a:ea typeface="SimSun" panose="02010600030101010101" pitchFamily="2" charset="-122"/>
              </a:rPr>
              <a:t>4</a:t>
            </a:r>
            <a:endParaRPr lang="zh-CN" altLang="en-US" sz="24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E606FD2-7355-DE58-8D53-F9B0BA2C386C}"/>
                  </a:ext>
                </a:extLst>
              </p:cNvPr>
              <p:cNvSpPr txBox="1"/>
              <p:nvPr/>
            </p:nvSpPr>
            <p:spPr>
              <a:xfrm>
                <a:off x="759191" y="6074273"/>
                <a:ext cx="10910657" cy="614655"/>
              </a:xfrm>
              <a:prstGeom prst="rect">
                <a:avLst/>
              </a:prstGeom>
              <a:noFill/>
            </p:spPr>
            <p:txBody>
              <a:bodyPr wrap="square">
                <a:spAutoFit/>
              </a:bodyPr>
              <a:lstStyle/>
              <a:p>
                <a:r>
                  <a:rPr lang="zh-CN" altLang="zh-CN" sz="2400" dirty="0">
                    <a:effectLst/>
                    <a:latin typeface="Times New Roman" panose="02020603050405020304" pitchFamily="18" charset="0"/>
                    <a:ea typeface="SimSun" panose="02010600030101010101" pitchFamily="2" charset="-122"/>
                  </a:rPr>
                  <a:t>再用对偶单纯形法求解，得到新问题的最优解</a:t>
                </a:r>
                <a14:m>
                  <m:oMath xmlns:m="http://schemas.openxmlformats.org/officeDocument/2006/math">
                    <m:sSup>
                      <m:sSupPr>
                        <m:ctrlPr>
                          <a:rPr lang="en-CN" altLang="zh-CN" sz="2400" i="1">
                            <a:effectLst/>
                            <a:latin typeface="Cambria Math" panose="02040503050406030204" pitchFamily="18" charset="0"/>
                            <a:ea typeface="SimSun" panose="02010600030101010101" pitchFamily="2" charset="-122"/>
                          </a:rPr>
                        </m:ctrlPr>
                      </m:sSupPr>
                      <m:e>
                        <m:acc>
                          <m:accPr>
                            <m:chr m:val="̂"/>
                            <m:ctrlPr>
                              <a:rPr lang="en-CN" altLang="zh-CN" sz="2400" i="1">
                                <a:effectLst/>
                                <a:latin typeface="Cambria Math" panose="02040503050406030204" pitchFamily="18" charset="0"/>
                                <a:ea typeface="SimSun" panose="02010600030101010101" pitchFamily="2" charset="-122"/>
                              </a:rPr>
                            </m:ctrlPr>
                          </m:accPr>
                          <m:e>
                            <m:r>
                              <a:rPr lang="en-US" altLang="zh-CN" sz="2400" i="1">
                                <a:effectLst/>
                                <a:latin typeface="Cambria Math" panose="02040503050406030204" pitchFamily="18" charset="0"/>
                                <a:ea typeface="SimSun" panose="02010600030101010101" pitchFamily="2" charset="-122"/>
                              </a:rPr>
                              <m:t>𝑥</m:t>
                            </m:r>
                          </m:e>
                        </m:acc>
                      </m:e>
                      <m:sup>
                        <m:r>
                          <a:rPr lang="en-US" altLang="zh-CN" sz="2400" i="1">
                            <a:effectLst/>
                            <a:latin typeface="Cambria Math" panose="02040503050406030204" pitchFamily="18" charset="0"/>
                            <a:ea typeface="SimSun" panose="02010600030101010101" pitchFamily="2" charset="-122"/>
                          </a:rPr>
                          <m:t>∗</m:t>
                        </m:r>
                      </m:sup>
                    </m:sSup>
                    <m:r>
                      <a:rPr lang="en-US" altLang="zh-CN" sz="2400" i="1">
                        <a:effectLst/>
                        <a:latin typeface="Cambria Math" panose="02040503050406030204" pitchFamily="18" charset="0"/>
                        <a:ea typeface="SimSun" panose="02010600030101010101" pitchFamily="2" charset="-122"/>
                      </a:rPr>
                      <m:t>=</m:t>
                    </m:r>
                    <m:sSup>
                      <m:sSupPr>
                        <m:ctrlPr>
                          <a:rPr lang="en-CN" altLang="zh-CN" sz="2400" i="1">
                            <a:effectLst/>
                            <a:latin typeface="Cambria Math" panose="02040503050406030204" pitchFamily="18" charset="0"/>
                            <a:ea typeface="SimSun" panose="02010600030101010101" pitchFamily="2" charset="-122"/>
                          </a:rPr>
                        </m:ctrlPr>
                      </m:sSupPr>
                      <m:e>
                        <m:r>
                          <a:rPr lang="en-US" altLang="zh-CN" sz="2400" i="1">
                            <a:effectLst/>
                            <a:latin typeface="Cambria Math" panose="02040503050406030204" pitchFamily="18" charset="0"/>
                            <a:ea typeface="SimSun" panose="02010600030101010101" pitchFamily="2" charset="-122"/>
                          </a:rPr>
                          <m:t>(0,0,</m:t>
                        </m:r>
                        <m:f>
                          <m:fPr>
                            <m:ctrlPr>
                              <a:rPr lang="en-CN" altLang="zh-CN" sz="2400" i="1">
                                <a:effectLst/>
                                <a:latin typeface="Cambria Math" panose="02040503050406030204" pitchFamily="18" charset="0"/>
                                <a:ea typeface="SimSun" panose="02010600030101010101" pitchFamily="2" charset="-122"/>
                              </a:rPr>
                            </m:ctrlPr>
                          </m:fPr>
                          <m:num>
                            <m:r>
                              <a:rPr lang="en-US" altLang="zh-CN" sz="2400" i="1">
                                <a:effectLst/>
                                <a:latin typeface="Cambria Math" panose="02040503050406030204" pitchFamily="18" charset="0"/>
                                <a:ea typeface="SimSun" panose="02010600030101010101" pitchFamily="2" charset="-122"/>
                              </a:rPr>
                              <m:t>3</m:t>
                            </m:r>
                          </m:num>
                          <m:den>
                            <m:r>
                              <a:rPr lang="en-US" altLang="zh-CN" sz="2400" i="1">
                                <a:effectLst/>
                                <a:latin typeface="Cambria Math" panose="02040503050406030204" pitchFamily="18" charset="0"/>
                                <a:ea typeface="SimSun" panose="02010600030101010101" pitchFamily="2" charset="-122"/>
                              </a:rPr>
                              <m:t>2</m:t>
                            </m:r>
                          </m:den>
                        </m:f>
                        <m:r>
                          <a:rPr lang="en-US" altLang="zh-CN" sz="2400" i="1">
                            <a:effectLst/>
                            <a:latin typeface="Cambria Math" panose="02040503050406030204" pitchFamily="18" charset="0"/>
                            <a:ea typeface="SimSun" panose="02010600030101010101" pitchFamily="2" charset="-122"/>
                          </a:rPr>
                          <m:t>,0,</m:t>
                        </m:r>
                        <m:f>
                          <m:fPr>
                            <m:ctrlPr>
                              <a:rPr lang="en-CN" altLang="zh-CN" sz="2400" i="1">
                                <a:effectLst/>
                                <a:latin typeface="Cambria Math" panose="02040503050406030204" pitchFamily="18" charset="0"/>
                                <a:ea typeface="SimSun" panose="02010600030101010101" pitchFamily="2" charset="-122"/>
                              </a:rPr>
                            </m:ctrlPr>
                          </m:fPr>
                          <m:num>
                            <m:r>
                              <a:rPr lang="en-US" altLang="zh-CN" sz="2400" i="1">
                                <a:effectLst/>
                                <a:latin typeface="Cambria Math" panose="02040503050406030204" pitchFamily="18" charset="0"/>
                                <a:ea typeface="SimSun" panose="02010600030101010101" pitchFamily="2" charset="-122"/>
                              </a:rPr>
                              <m:t>7</m:t>
                            </m:r>
                          </m:num>
                          <m:den>
                            <m:r>
                              <a:rPr lang="en-US" altLang="zh-CN" sz="2400" i="1">
                                <a:effectLst/>
                                <a:latin typeface="Cambria Math" panose="02040503050406030204" pitchFamily="18" charset="0"/>
                                <a:ea typeface="SimSun" panose="02010600030101010101" pitchFamily="2" charset="-122"/>
                              </a:rPr>
                              <m:t>2</m:t>
                            </m:r>
                          </m:den>
                        </m:f>
                        <m:r>
                          <a:rPr lang="en-US" altLang="zh-CN" sz="2400" i="1">
                            <a:effectLst/>
                            <a:latin typeface="Cambria Math" panose="02040503050406030204" pitchFamily="18" charset="0"/>
                            <a:ea typeface="SimSun" panose="02010600030101010101" pitchFamily="2" charset="-122"/>
                          </a:rPr>
                          <m:t>,</m:t>
                        </m:r>
                        <m:f>
                          <m:fPr>
                            <m:ctrlPr>
                              <a:rPr lang="en-CN" altLang="zh-CN" sz="2400" i="1">
                                <a:effectLst/>
                                <a:latin typeface="Cambria Math" panose="02040503050406030204" pitchFamily="18" charset="0"/>
                                <a:ea typeface="SimSun" panose="02010600030101010101" pitchFamily="2" charset="-122"/>
                              </a:rPr>
                            </m:ctrlPr>
                          </m:fPr>
                          <m:num>
                            <m:r>
                              <a:rPr lang="en-US" altLang="zh-CN" sz="2400" i="1">
                                <a:effectLst/>
                                <a:latin typeface="Cambria Math" panose="02040503050406030204" pitchFamily="18" charset="0"/>
                                <a:ea typeface="SimSun" panose="02010600030101010101" pitchFamily="2" charset="-122"/>
                              </a:rPr>
                              <m:t>3</m:t>
                            </m:r>
                          </m:num>
                          <m:den>
                            <m:r>
                              <a:rPr lang="en-US" altLang="zh-CN" sz="2400" i="1">
                                <a:effectLst/>
                                <a:latin typeface="Cambria Math" panose="02040503050406030204" pitchFamily="18" charset="0"/>
                                <a:ea typeface="SimSun" panose="02010600030101010101" pitchFamily="2" charset="-122"/>
                              </a:rPr>
                              <m:t>2</m:t>
                            </m:r>
                          </m:den>
                        </m:f>
                        <m:r>
                          <a:rPr lang="en-US" altLang="zh-CN" sz="2400" i="1">
                            <a:effectLst/>
                            <a:latin typeface="Cambria Math" panose="02040503050406030204" pitchFamily="18" charset="0"/>
                            <a:ea typeface="SimSun" panose="02010600030101010101" pitchFamily="2" charset="-122"/>
                          </a:rPr>
                          <m:t>)</m:t>
                        </m:r>
                      </m:e>
                      <m:sup>
                        <m:r>
                          <a:rPr lang="en-US" altLang="zh-CN" sz="2400" i="1">
                            <a:effectLst/>
                            <a:latin typeface="Cambria Math" panose="02040503050406030204" pitchFamily="18" charset="0"/>
                            <a:ea typeface="SimSun" panose="02010600030101010101" pitchFamily="2" charset="-122"/>
                          </a:rPr>
                          <m:t>𝑇</m:t>
                        </m:r>
                      </m:sup>
                    </m:sSup>
                  </m:oMath>
                </a14:m>
                <a:r>
                  <a:rPr lang="zh-CN" altLang="zh-CN" sz="2400" dirty="0">
                    <a:effectLst/>
                    <a:latin typeface="Times New Roman" panose="02020603050405020304" pitchFamily="18" charset="0"/>
                    <a:ea typeface="SimSun" panose="02010600030101010101" pitchFamily="2" charset="-122"/>
                  </a:rPr>
                  <a:t>。</a:t>
                </a:r>
                <a:endParaRPr lang="zh-CN" altLang="en-US" sz="2400" dirty="0"/>
              </a:p>
            </p:txBody>
          </p:sp>
        </mc:Choice>
        <mc:Fallback xmlns="">
          <p:sp>
            <p:nvSpPr>
              <p:cNvPr id="4" name="文本框 3">
                <a:extLst>
                  <a:ext uri="{FF2B5EF4-FFF2-40B4-BE49-F238E27FC236}">
                    <a16:creationId xmlns:a16="http://schemas.microsoft.com/office/drawing/2014/main" id="{AE606FD2-7355-DE58-8D53-F9B0BA2C386C}"/>
                  </a:ext>
                </a:extLst>
              </p:cNvPr>
              <p:cNvSpPr txBox="1">
                <a:spLocks noRot="1" noChangeAspect="1" noMove="1" noResize="1" noEditPoints="1" noAdjustHandles="1" noChangeArrowheads="1" noChangeShapeType="1" noTextEdit="1"/>
              </p:cNvSpPr>
              <p:nvPr/>
            </p:nvSpPr>
            <p:spPr>
              <a:xfrm>
                <a:off x="759191" y="6074273"/>
                <a:ext cx="10910657" cy="614655"/>
              </a:xfrm>
              <a:prstGeom prst="rect">
                <a:avLst/>
              </a:prstGeom>
              <a:blipFill>
                <a:blip r:embed="rId3"/>
                <a:stretch>
                  <a:fillRect l="-894" b="-49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50366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8EEA196-533C-4C15-8BCD-3585EAC7DF57}"/>
                  </a:ext>
                </a:extLst>
              </p:cNvPr>
              <p:cNvSpPr txBox="1"/>
              <p:nvPr/>
            </p:nvSpPr>
            <p:spPr>
              <a:xfrm>
                <a:off x="896644" y="1576785"/>
                <a:ext cx="10688715" cy="3933064"/>
              </a:xfrm>
              <a:prstGeom prst="rect">
                <a:avLst/>
              </a:prstGeom>
              <a:noFill/>
            </p:spPr>
            <p:txBody>
              <a:bodyPr wrap="square" rtlCol="0">
                <a:spAutoFit/>
              </a:bodyPr>
              <a:lstStyle/>
              <a:p>
                <a:pPr>
                  <a:lnSpc>
                    <a:spcPct val="150000"/>
                  </a:lnSpc>
                </a:pPr>
                <a:r>
                  <a:rPr lang="zh-CN" altLang="en-US" sz="2400" dirty="0">
                    <a:latin typeface="+mn-ea"/>
                  </a:rPr>
                  <a:t>       如果</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Sub>
                  </m:oMath>
                </a14:m>
                <a:r>
                  <a:rPr lang="zh-CN" altLang="en-US" sz="2400" dirty="0">
                    <a:latin typeface="+mn-ea"/>
                  </a:rPr>
                  <a:t>是最优单纯形表中基矩阵的列向量，则表中所有数据都要发生改变，此时采用单纯形法重新计算比较方便。</a:t>
                </a:r>
                <a:endParaRPr lang="en-US" altLang="zh-CN" sz="2400" dirty="0">
                  <a:latin typeface="+mn-ea"/>
                </a:endParaRPr>
              </a:p>
              <a:p>
                <a:pPr algn="just">
                  <a:lnSpc>
                    <a:spcPct val="150000"/>
                  </a:lnSpc>
                </a:pPr>
                <a:r>
                  <a:rPr lang="zh-CN" altLang="en-US" sz="2400" dirty="0">
                    <a:latin typeface="+mn-ea"/>
                  </a:rPr>
                  <a:t>       如果</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Sub>
                  </m:oMath>
                </a14:m>
                <a:r>
                  <a:rPr lang="zh-CN" altLang="en-US" sz="2400" dirty="0">
                    <a:latin typeface="+mn-ea"/>
                  </a:rPr>
                  <a:t>不是最优单纯形表中基矩阵的列向量，则</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Sub>
                  </m:oMath>
                </a14:m>
                <a:r>
                  <a:rPr lang="zh-CN" altLang="en-US" sz="2400" dirty="0">
                    <a:latin typeface="+mn-ea"/>
                  </a:rPr>
                  <a:t>的变化只影响到最优单纯形表中第</a:t>
                </a:r>
                <a14:m>
                  <m:oMath xmlns:m="http://schemas.openxmlformats.org/officeDocument/2006/math">
                    <m:r>
                      <a:rPr lang="en-US" altLang="zh-CN" sz="2400" i="1">
                        <a:latin typeface="Cambria Math" panose="02040503050406030204" pitchFamily="18" charset="0"/>
                      </a:rPr>
                      <m:t>𝑘</m:t>
                    </m:r>
                  </m:oMath>
                </a14:m>
                <a:r>
                  <a:rPr lang="zh-CN" altLang="en-US" sz="2400" dirty="0">
                    <a:latin typeface="+mn-ea"/>
                  </a:rPr>
                  <a:t>列数据和第</a:t>
                </a:r>
                <a14:m>
                  <m:oMath xmlns:m="http://schemas.openxmlformats.org/officeDocument/2006/math">
                    <m:r>
                      <a:rPr lang="en-US" altLang="zh-CN" sz="2400" i="1">
                        <a:latin typeface="Cambria Math" panose="02040503050406030204" pitchFamily="18" charset="0"/>
                      </a:rPr>
                      <m:t>𝑘</m:t>
                    </m:r>
                  </m:oMath>
                </a14:m>
                <a:r>
                  <a:rPr lang="zh-CN" altLang="en-US" sz="2400" dirty="0">
                    <a:latin typeface="+mn-ea"/>
                  </a:rPr>
                  <a:t>个检验数。第</a:t>
                </a:r>
                <a14:m>
                  <m:oMath xmlns:m="http://schemas.openxmlformats.org/officeDocument/2006/math">
                    <m:r>
                      <a:rPr lang="en-US" altLang="zh-CN" sz="2400" i="1">
                        <a:latin typeface="Cambria Math" panose="02040503050406030204" pitchFamily="18" charset="0"/>
                      </a:rPr>
                      <m:t>𝑘</m:t>
                    </m:r>
                  </m:oMath>
                </a14:m>
                <a:r>
                  <a:rPr lang="zh-CN" altLang="en-US" sz="2400" dirty="0">
                    <a:latin typeface="+mn-ea"/>
                  </a:rPr>
                  <a:t>列数据变化为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𝐵</m:t>
                        </m:r>
                      </m:e>
                      <m:sup>
                        <m:r>
                          <a:rPr lang="en-US" altLang="zh-CN" sz="2400" i="1">
                            <a:latin typeface="Cambria Math" panose="02040503050406030204" pitchFamily="18" charset="0"/>
                          </a:rPr>
                          <m:t>−1</m:t>
                        </m:r>
                      </m:sup>
                    </m:s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m:t>
                        </m:r>
                      </m:sup>
                    </m:sSubSup>
                  </m:oMath>
                </a14:m>
                <a:r>
                  <a:rPr lang="zh-CN" altLang="en-US" sz="2400" dirty="0">
                    <a:latin typeface="+mn-ea"/>
                  </a:rPr>
                  <a:t>，新的检验数为</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𝜎</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𝐵</m:t>
                        </m:r>
                      </m:e>
                      <m:sup>
                        <m:r>
                          <a:rPr lang="en-US" altLang="zh-CN" sz="2400" i="1">
                            <a:latin typeface="Cambria Math" panose="02040503050406030204" pitchFamily="18" charset="0"/>
                          </a:rPr>
                          <m:t>−1</m:t>
                        </m:r>
                      </m:sup>
                    </m:sSup>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m:t>
                        </m:r>
                      </m:sup>
                    </m:sSubSup>
                  </m:oMath>
                </a14:m>
                <a:r>
                  <a:rPr lang="zh-CN" altLang="en-US" sz="2400" dirty="0">
                    <a:latin typeface="+mn-ea"/>
                  </a:rPr>
                  <a:t>。若</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a:latin typeface="Cambria Math" panose="02040503050406030204" pitchFamily="18" charset="0"/>
                          </a:rPr>
                          <m:t>𝜎</m:t>
                        </m:r>
                      </m:e>
                      <m:sub>
                        <m:r>
                          <a:rPr lang="en-US" altLang="zh-CN" sz="2400">
                            <a:latin typeface="Cambria Math" panose="02040503050406030204" pitchFamily="18" charset="0"/>
                          </a:rPr>
                          <m:t>𝑘</m:t>
                        </m:r>
                      </m:sub>
                      <m:sup>
                        <m:r>
                          <a:rPr lang="en-US" altLang="zh-CN" sz="2400">
                            <a:latin typeface="Cambria Math" panose="02040503050406030204" pitchFamily="18" charset="0"/>
                          </a:rPr>
                          <m:t>′</m:t>
                        </m:r>
                      </m:sup>
                    </m:sSubSup>
                    <m:r>
                      <a:rPr lang="en-US" altLang="zh-CN" sz="2400">
                        <a:latin typeface="Cambria Math" panose="02040503050406030204" pitchFamily="18" charset="0"/>
                      </a:rPr>
                      <m:t>≥0</m:t>
                    </m:r>
                  </m:oMath>
                </a14:m>
                <a:r>
                  <a:rPr lang="zh-CN" altLang="en-US" sz="2400" dirty="0">
                    <a:latin typeface="+mn-ea"/>
                  </a:rPr>
                  <a:t>，</a:t>
                </a:r>
                <a:r>
                  <a:rPr lang="zh-CN" altLang="zh-CN" sz="2400" dirty="0">
                    <a:latin typeface="+mn-ea"/>
                  </a:rPr>
                  <a:t>则原最优解仍为最优解</a:t>
                </a:r>
                <a:r>
                  <a:rPr lang="zh-CN" altLang="en-US" sz="2400" dirty="0">
                    <a:latin typeface="+mn-ea"/>
                  </a:rPr>
                  <a:t>；</a:t>
                </a:r>
                <a:r>
                  <a:rPr lang="zh-CN" altLang="zh-CN" sz="2400" dirty="0">
                    <a:latin typeface="+mn-ea"/>
                  </a:rPr>
                  <a:t>否则，最优性准则已不满足，</a:t>
                </a:r>
                <a:r>
                  <a:rPr lang="zh-CN" altLang="en-US" sz="2400" dirty="0">
                    <a:latin typeface="+mn-ea"/>
                  </a:rPr>
                  <a:t>用</a:t>
                </a:r>
                <a14:m>
                  <m:oMath xmlns:m="http://schemas.openxmlformats.org/officeDocument/2006/math">
                    <m:sSup>
                      <m:sSupPr>
                        <m:ctrlPr>
                          <a:rPr lang="en-US" altLang="zh-CN" sz="2400" i="1">
                            <a:latin typeface="Cambria Math" panose="02040503050406030204" pitchFamily="18" charset="0"/>
                          </a:rPr>
                        </m:ctrlPr>
                      </m:sSupPr>
                      <m:e>
                        <m:r>
                          <a:rPr lang="en-US" altLang="zh-CN" sz="2400">
                            <a:latin typeface="Cambria Math" panose="02040503050406030204" pitchFamily="18" charset="0"/>
                          </a:rPr>
                          <m:t>𝐵</m:t>
                        </m:r>
                      </m:e>
                      <m:sup>
                        <m:r>
                          <a:rPr lang="en-US" altLang="zh-CN" sz="2400">
                            <a:latin typeface="Cambria Math" panose="02040503050406030204" pitchFamily="18" charset="0"/>
                          </a:rPr>
                          <m:t>−1</m:t>
                        </m:r>
                      </m:sup>
                    </m:sSup>
                    <m:sSubSup>
                      <m:sSubSupPr>
                        <m:ctrlPr>
                          <a:rPr lang="en-US" altLang="zh-CN" sz="2400" i="1">
                            <a:latin typeface="Cambria Math" panose="02040503050406030204" pitchFamily="18" charset="0"/>
                          </a:rPr>
                        </m:ctrlPr>
                      </m:sSubSupPr>
                      <m:e>
                        <m:r>
                          <a:rPr lang="en-US" altLang="zh-CN" sz="2400">
                            <a:latin typeface="Cambria Math" panose="02040503050406030204" pitchFamily="18" charset="0"/>
                          </a:rPr>
                          <m:t>𝐴</m:t>
                        </m:r>
                      </m:e>
                      <m:sub>
                        <m:r>
                          <a:rPr lang="en-US" altLang="zh-CN" sz="2400">
                            <a:latin typeface="Cambria Math" panose="02040503050406030204" pitchFamily="18" charset="0"/>
                          </a:rPr>
                          <m:t>𝑘</m:t>
                        </m:r>
                      </m:sub>
                      <m:sup>
                        <m:r>
                          <a:rPr lang="en-US" altLang="zh-CN" sz="2400">
                            <a:latin typeface="Cambria Math" panose="02040503050406030204" pitchFamily="18" charset="0"/>
                          </a:rPr>
                          <m:t>′</m:t>
                        </m:r>
                      </m:sup>
                    </m:sSubSup>
                  </m:oMath>
                </a14:m>
                <a:r>
                  <a:rPr lang="zh-CN" altLang="en-US" sz="2400" dirty="0">
                    <a:latin typeface="+mn-ea"/>
                  </a:rPr>
                  <a:t>和</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a:latin typeface="Cambria Math" panose="02040503050406030204" pitchFamily="18" charset="0"/>
                          </a:rPr>
                          <m:t>𝜎</m:t>
                        </m:r>
                      </m:e>
                      <m:sub>
                        <m:r>
                          <a:rPr lang="en-US" altLang="zh-CN" sz="2400">
                            <a:latin typeface="Cambria Math" panose="02040503050406030204" pitchFamily="18" charset="0"/>
                          </a:rPr>
                          <m:t>𝑘</m:t>
                        </m:r>
                      </m:sub>
                      <m:sup>
                        <m:r>
                          <a:rPr lang="en-US" altLang="zh-CN" sz="2400">
                            <a:latin typeface="Cambria Math" panose="02040503050406030204" pitchFamily="18" charset="0"/>
                          </a:rPr>
                          <m:t>′</m:t>
                        </m:r>
                      </m:sup>
                    </m:sSubSup>
                  </m:oMath>
                </a14:m>
                <a:r>
                  <a:rPr lang="zh-CN" altLang="en-US" sz="2400" dirty="0">
                    <a:latin typeface="+mn-ea"/>
                  </a:rPr>
                  <a:t>替换单纯形表中的第</a:t>
                </a:r>
                <a14:m>
                  <m:oMath xmlns:m="http://schemas.openxmlformats.org/officeDocument/2006/math">
                    <m:r>
                      <a:rPr lang="en-US" altLang="zh-CN" sz="2400">
                        <a:latin typeface="Cambria Math" panose="02040503050406030204" pitchFamily="18" charset="0"/>
                      </a:rPr>
                      <m:t>𝑘</m:t>
                    </m:r>
                  </m:oMath>
                </a14:m>
                <a:r>
                  <a:rPr lang="zh-CN" altLang="en-US" sz="2400" dirty="0">
                    <a:latin typeface="+mn-ea"/>
                  </a:rPr>
                  <a:t>列，以</a:t>
                </a:r>
                <a14:m>
                  <m:oMath xmlns:m="http://schemas.openxmlformats.org/officeDocument/2006/math">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𝑘</m:t>
                        </m:r>
                      </m:sub>
                    </m:sSub>
                  </m:oMath>
                </a14:m>
                <a:r>
                  <a:rPr lang="zh-CN" altLang="zh-CN" sz="2400" dirty="0">
                    <a:latin typeface="+mn-ea"/>
                  </a:rPr>
                  <a:t>作为进基变量进行迭代，求出新问题的最优解</a:t>
                </a:r>
                <a:r>
                  <a:rPr lang="zh-CN" altLang="en-US" sz="2400" dirty="0">
                    <a:latin typeface="+mn-ea"/>
                  </a:rPr>
                  <a:t>。</a:t>
                </a:r>
              </a:p>
            </p:txBody>
          </p:sp>
        </mc:Choice>
        <mc:Fallback xmlns="">
          <p:sp>
            <p:nvSpPr>
              <p:cNvPr id="3" name="文本框 2">
                <a:extLst>
                  <a:ext uri="{FF2B5EF4-FFF2-40B4-BE49-F238E27FC236}">
                    <a16:creationId xmlns:a16="http://schemas.microsoft.com/office/drawing/2014/main" id="{08EEA196-533C-4C15-8BCD-3585EAC7DF57}"/>
                  </a:ext>
                </a:extLst>
              </p:cNvPr>
              <p:cNvSpPr txBox="1">
                <a:spLocks noRot="1" noChangeAspect="1" noMove="1" noResize="1" noEditPoints="1" noAdjustHandles="1" noChangeArrowheads="1" noChangeShapeType="1" noTextEdit="1"/>
              </p:cNvSpPr>
              <p:nvPr/>
            </p:nvSpPr>
            <p:spPr>
              <a:xfrm>
                <a:off x="896644" y="1576785"/>
                <a:ext cx="10688715" cy="3933064"/>
              </a:xfrm>
              <a:prstGeom prst="rect">
                <a:avLst/>
              </a:prstGeom>
              <a:blipFill>
                <a:blip r:embed="rId2"/>
                <a:stretch>
                  <a:fillRect l="-856" r="-3765" b="-27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BE6A8B3-EC1E-82E9-52D1-69A15DF5A785}"/>
                  </a:ext>
                </a:extLst>
              </p:cNvPr>
              <p:cNvSpPr txBox="1"/>
              <p:nvPr/>
            </p:nvSpPr>
            <p:spPr>
              <a:xfrm>
                <a:off x="790112" y="581089"/>
                <a:ext cx="6094520" cy="671659"/>
              </a:xfrm>
              <a:prstGeom prst="rect">
                <a:avLst/>
              </a:prstGeom>
              <a:noFill/>
            </p:spPr>
            <p:txBody>
              <a:bodyPr wrap="square">
                <a:spAutoFit/>
              </a:bodyPr>
              <a:lstStyle>
                <a:defPPr>
                  <a:defRPr lang="en-US"/>
                </a:defPPr>
                <a:lvl1pPr>
                  <a:lnSpc>
                    <a:spcPct val="150000"/>
                  </a:lnSpc>
                  <a:defRPr sz="2800" b="1">
                    <a:solidFill>
                      <a:schemeClr val="accent1"/>
                    </a:solidFill>
                    <a:latin typeface="+mn-ea"/>
                  </a:defRPr>
                </a:lvl1pPr>
              </a:lstStyle>
              <a:p>
                <a:r>
                  <a:rPr lang="zh-CN" altLang="en-US" dirty="0"/>
                  <a:t>三、约束条件的系数列向量</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𝑨</m:t>
                        </m:r>
                      </m:e>
                      <m:sub>
                        <m:r>
                          <a:rPr lang="en-US" altLang="zh-CN" b="1" i="1">
                            <a:latin typeface="Cambria Math" panose="02040503050406030204" pitchFamily="18" charset="0"/>
                          </a:rPr>
                          <m:t>𝒌</m:t>
                        </m:r>
                      </m:sub>
                    </m:sSub>
                  </m:oMath>
                </a14:m>
                <a:r>
                  <a:rPr lang="zh-CN" altLang="en-US" dirty="0"/>
                  <a:t>的变化</a:t>
                </a:r>
                <a:endParaRPr lang="en-US" altLang="zh-CN" dirty="0"/>
              </a:p>
            </p:txBody>
          </p:sp>
        </mc:Choice>
        <mc:Fallback xmlns="">
          <p:sp>
            <p:nvSpPr>
              <p:cNvPr id="4" name="文本框 3">
                <a:extLst>
                  <a:ext uri="{FF2B5EF4-FFF2-40B4-BE49-F238E27FC236}">
                    <a16:creationId xmlns:a16="http://schemas.microsoft.com/office/drawing/2014/main" id="{DBE6A8B3-EC1E-82E9-52D1-69A15DF5A785}"/>
                  </a:ext>
                </a:extLst>
              </p:cNvPr>
              <p:cNvSpPr txBox="1">
                <a:spLocks noRot="1" noChangeAspect="1" noMove="1" noResize="1" noEditPoints="1" noAdjustHandles="1" noChangeArrowheads="1" noChangeShapeType="1" noTextEdit="1"/>
              </p:cNvSpPr>
              <p:nvPr/>
            </p:nvSpPr>
            <p:spPr>
              <a:xfrm>
                <a:off x="790112" y="581089"/>
                <a:ext cx="6094520" cy="671659"/>
              </a:xfrm>
              <a:prstGeom prst="rect">
                <a:avLst/>
              </a:prstGeom>
              <a:blipFill>
                <a:blip r:embed="rId3"/>
                <a:stretch>
                  <a:fillRect l="-2102" b="-234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819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D688E87-8E12-A1A3-FDCD-7CB03BC75FDB}"/>
                  </a:ext>
                </a:extLst>
              </p:cNvPr>
              <p:cNvSpPr txBox="1"/>
              <p:nvPr/>
            </p:nvSpPr>
            <p:spPr>
              <a:xfrm>
                <a:off x="1307237" y="1360816"/>
                <a:ext cx="8680142" cy="1643399"/>
              </a:xfrm>
              <a:prstGeom prst="rect">
                <a:avLst/>
              </a:prstGeom>
              <a:noFill/>
            </p:spPr>
            <p:txBody>
              <a:bodyPr wrap="squar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t>𝑚𝑖𝑛</m:t>
                      </m:r>
                      <m:r>
                        <a:rPr lang="en-US"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t> </m:t>
                      </m:r>
                      <m:r>
                        <a:rPr lang="en-US" altLang="zh-CN" sz="2400" b="0" i="1" kern="100" smtClean="0">
                          <a:effectLst/>
                          <a:latin typeface="Cambria Math" panose="02040503050406030204" pitchFamily="18" charset="0"/>
                          <a:ea typeface="SimSun" panose="02010600030101010101" pitchFamily="2" charset="-122"/>
                          <a:cs typeface="Times New Roman" panose="02020603050405020304" pitchFamily="18" charset="0"/>
                        </a:rPr>
                        <m:t>𝑧</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𝑛</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𝑛</m:t>
                          </m:r>
                        </m:sub>
                      </m:sSub>
                    </m:oMath>
                    <m:oMath xmlns:m="http://schemas.openxmlformats.org/officeDocument/2006/math">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𝑠</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𝑡</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dPr>
                        <m:e>
                          <m:m>
                            <m:mPr>
                              <m:mcs>
                                <m:mc>
                                  <m:mcPr>
                                    <m:count m:val="1"/>
                                    <m:mcJc m:val="center"/>
                                  </m:mcPr>
                                </m:mc>
                              </m:mcs>
                              <m:ctrlPr>
                                <a:rPr lang="en-CN"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ctrlPr>
                            </m:mPr>
                            <m:mr>
                              <m:e>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𝑖𝑛</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𝑛</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b="0" i="1" kern="100" smtClean="0">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𝑏</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=1,2,…,</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𝑚</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r>
                                  <m:rPr>
                                    <m:nor/>
                                  </m:rPr>
                                  <a:rPr lang="en-US" altLang="zh-CN" sz="2400" i="1" kern="100" dirty="0">
                                    <a:latin typeface="Cambria Math" panose="02040503050406030204" pitchFamily="18" charset="0"/>
                                    <a:ea typeface="SimSun" panose="02010600030101010101" pitchFamily="2" charset="-122"/>
                                    <a:cs typeface="Times New Roman" panose="02020603050405020304" pitchFamily="18" charset="0"/>
                                  </a:rPr>
                                  <m:t> </m:t>
                                </m:r>
                              </m:e>
                            </m:mr>
                            <m:mr>
                              <m:e>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𝑗</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≥0  (</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𝑗</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=1,2,…,</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latin typeface="Cambria Math" panose="02040503050406030204" pitchFamily="18" charset="0"/>
                                    <a:ea typeface="SimSun" panose="02010600030101010101" pitchFamily="2" charset="-122"/>
                                    <a:cs typeface="Times New Roman" panose="02020603050405020304" pitchFamily="18" charset="0"/>
                                  </a:rPr>
                                  <m:t>)</m:t>
                                </m:r>
                              </m:e>
                            </m:mr>
                          </m:m>
                        </m:e>
                      </m:d>
                    </m:oMath>
                  </m:oMathPara>
                </a14:m>
                <a:endParaRPr lang="zh-CN" altLang="en-US" sz="2400" dirty="0"/>
              </a:p>
            </p:txBody>
          </p:sp>
        </mc:Choice>
        <mc:Fallback xmlns="">
          <p:sp>
            <p:nvSpPr>
              <p:cNvPr id="4" name="文本框 3">
                <a:extLst>
                  <a:ext uri="{FF2B5EF4-FFF2-40B4-BE49-F238E27FC236}">
                    <a16:creationId xmlns:a16="http://schemas.microsoft.com/office/drawing/2014/main" id="{DD688E87-8E12-A1A3-FDCD-7CB03BC75FDB}"/>
                  </a:ext>
                </a:extLst>
              </p:cNvPr>
              <p:cNvSpPr txBox="1">
                <a:spLocks noRot="1" noChangeAspect="1" noMove="1" noResize="1" noEditPoints="1" noAdjustHandles="1" noChangeArrowheads="1" noChangeShapeType="1" noTextEdit="1"/>
              </p:cNvSpPr>
              <p:nvPr/>
            </p:nvSpPr>
            <p:spPr>
              <a:xfrm>
                <a:off x="1307237" y="1360816"/>
                <a:ext cx="8680142" cy="164339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9AC7A79-B135-85C2-C88A-9BCC0B21F81B}"/>
                  </a:ext>
                </a:extLst>
              </p:cNvPr>
              <p:cNvSpPr txBox="1"/>
              <p:nvPr/>
            </p:nvSpPr>
            <p:spPr>
              <a:xfrm>
                <a:off x="1564688" y="3785899"/>
                <a:ext cx="9825361" cy="1819472"/>
              </a:xfrm>
              <a:prstGeom prst="rect">
                <a:avLst/>
              </a:prstGeom>
              <a:noFill/>
            </p:spPr>
            <p:txBody>
              <a:bodyPr wrap="squar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t>𝑚𝑖𝑛</m:t>
                      </m:r>
                      <m:r>
                        <a:rPr lang="en-US"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t> </m:t>
                      </m:r>
                      <m:r>
                        <a:rPr lang="en-US" altLang="zh-CN" sz="2400" b="0" i="1" kern="100" smtClean="0">
                          <a:effectLst/>
                          <a:latin typeface="Cambria Math" panose="02040503050406030204" pitchFamily="18" charset="0"/>
                          <a:ea typeface="SimSun" panose="02010600030101010101" pitchFamily="2" charset="-122"/>
                          <a:cs typeface="Times New Roman" panose="02020603050405020304" pitchFamily="18" charset="0"/>
                        </a:rPr>
                        <m:t>𝑧</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𝑛</m:t>
                          </m:r>
                        </m:sub>
                      </m:sSub>
                      <m:sSub>
                        <m:sSubPr>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𝑛</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t>𝑐</m:t>
                          </m:r>
                        </m:e>
                        <m:sub>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m:t>
                          </m:r>
                        </m:sub>
                      </m:sSub>
                    </m:oMath>
                    <m:oMath xmlns:m="http://schemas.openxmlformats.org/officeDocument/2006/math">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𝑠</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𝑡</m:t>
                      </m:r>
                      <m:r>
                        <a:rPr lang="en-US" altLang="zh-CN" sz="2400" i="1" kern="100">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N" altLang="zh-CN" sz="2400" i="1" kern="100">
                              <a:effectLst/>
                              <a:latin typeface="Cambria Math" panose="02040503050406030204" pitchFamily="18" charset="0"/>
                              <a:ea typeface="SimSun" panose="02010600030101010101" pitchFamily="2" charset="-122"/>
                              <a:cs typeface="Times New Roman" panose="02020603050405020304" pitchFamily="18" charset="0"/>
                            </a:rPr>
                          </m:ctrlPr>
                        </m:dPr>
                        <m:e>
                          <m:m>
                            <m:mPr>
                              <m:mcs>
                                <m:mc>
                                  <m:mcPr>
                                    <m:count m:val="1"/>
                                    <m:mcJc m:val="center"/>
                                  </m:mcPr>
                                </m:mc>
                              </m:mcs>
                              <m:ctrlPr>
                                <a:rPr lang="en-CN" altLang="zh-CN" sz="2400" i="1" kern="100" smtClean="0">
                                  <a:effectLst/>
                                  <a:latin typeface="Cambria Math" panose="02040503050406030204" pitchFamily="18" charset="0"/>
                                  <a:ea typeface="SimSun" panose="02010600030101010101" pitchFamily="2" charset="-122"/>
                                  <a:cs typeface="Times New Roman" panose="02020603050405020304" pitchFamily="18" charset="0"/>
                                </a:rPr>
                              </m:ctrlPr>
                            </m:mPr>
                            <m:mr>
                              <m:e>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2</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𝑖𝑛</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𝑛</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sSub>
                                  <m:sSubPr>
                                    <m:ctrlPr>
                                      <a:rPr lang="en-CN" altLang="zh-CN" sz="240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t>𝑎</m:t>
                                    </m:r>
                                  </m:e>
                                  <m:sub>
                                    <m:r>
                                      <a:rPr lang="en-US"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solidFill>
                                          <a:srgbClr val="FF0000"/>
                                        </a:solidFill>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m:t>
                                    </m:r>
                                  </m:sub>
                                </m:sSub>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b="0" i="1" kern="100" smtClean="0">
                                        <a:latin typeface="Cambria Math" panose="02040503050406030204" pitchFamily="18" charset="0"/>
                                        <a:ea typeface="SimSun"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𝑏</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𝑖</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=1,2,…,</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𝑚</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m:t>
                                </m:r>
                                <m:r>
                                  <m:rPr>
                                    <m:nor/>
                                  </m:rPr>
                                  <a:rPr lang="en-US" altLang="zh-CN" sz="2400" i="1" kern="100" dirty="0">
                                    <a:latin typeface="Cambria Math" panose="02040503050406030204" pitchFamily="18" charset="0"/>
                                    <a:ea typeface="SimSun" panose="02010600030101010101" pitchFamily="2" charset="-122"/>
                                    <a:cs typeface="Times New Roman" panose="02020603050405020304" pitchFamily="18" charset="0"/>
                                  </a:rPr>
                                  <m:t> </m:t>
                                </m:r>
                              </m:e>
                            </m:mr>
                            <m:mr>
                              <m:e>
                                <m:sSub>
                                  <m:sSubPr>
                                    <m:ctrlPr>
                                      <a:rPr lang="en-CN" altLang="zh-CN" sz="2400" i="1" kern="10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𝑗</m:t>
                                    </m:r>
                                  </m:sub>
                                </m:sSub>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≥0  (</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𝑗</m:t>
                                </m:r>
                                <m:r>
                                  <a:rPr lang="en-US" altLang="zh-CN" sz="2400" i="1" kern="100">
                                    <a:latin typeface="Cambria Math" panose="02040503050406030204" pitchFamily="18" charset="0"/>
                                    <a:ea typeface="SimSun" panose="02010600030101010101" pitchFamily="2" charset="-122"/>
                                    <a:cs typeface="Times New Roman" panose="02020603050405020304" pitchFamily="18" charset="0"/>
                                  </a:rPr>
                                  <m:t>=1,2,…,</m:t>
                                </m:r>
                                <m:r>
                                  <a:rPr lang="en-US" altLang="zh-CN" sz="240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𝑛</m:t>
                                </m:r>
                                <m:r>
                                  <a:rPr lang="en-US" altLang="zh-CN" sz="2400" b="0" i="1" kern="10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+1</m:t>
                                </m:r>
                                <m:r>
                                  <a:rPr lang="en-US" altLang="zh-CN" sz="2400" b="0" i="1" kern="100" smtClean="0">
                                    <a:latin typeface="Cambria Math" panose="02040503050406030204" pitchFamily="18" charset="0"/>
                                    <a:ea typeface="SimSun" panose="02010600030101010101" pitchFamily="2" charset="-122"/>
                                    <a:cs typeface="Times New Roman" panose="02020603050405020304" pitchFamily="18" charset="0"/>
                                  </a:rPr>
                                  <m:t>)</m:t>
                                </m:r>
                              </m:e>
                            </m:mr>
                          </m:m>
                        </m:e>
                      </m:d>
                    </m:oMath>
                  </m:oMathPara>
                </a14:m>
                <a:endParaRPr lang="zh-CN" altLang="en-US" sz="2400" dirty="0"/>
              </a:p>
            </p:txBody>
          </p:sp>
        </mc:Choice>
        <mc:Fallback xmlns="">
          <p:sp>
            <p:nvSpPr>
              <p:cNvPr id="5" name="文本框 4">
                <a:extLst>
                  <a:ext uri="{FF2B5EF4-FFF2-40B4-BE49-F238E27FC236}">
                    <a16:creationId xmlns:a16="http://schemas.microsoft.com/office/drawing/2014/main" id="{69AC7A79-B135-85C2-C88A-9BCC0B21F81B}"/>
                  </a:ext>
                </a:extLst>
              </p:cNvPr>
              <p:cNvSpPr txBox="1">
                <a:spLocks noRot="1" noChangeAspect="1" noMove="1" noResize="1" noEditPoints="1" noAdjustHandles="1" noChangeArrowheads="1" noChangeShapeType="1" noTextEdit="1"/>
              </p:cNvSpPr>
              <p:nvPr/>
            </p:nvSpPr>
            <p:spPr>
              <a:xfrm>
                <a:off x="1564688" y="3785899"/>
                <a:ext cx="9825361" cy="1819472"/>
              </a:xfrm>
              <a:prstGeom prst="rect">
                <a:avLst/>
              </a:prstGeom>
              <a:blipFill>
                <a:blip r:embed="rId3"/>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54E5C7BE-0A2F-ACA5-E4D1-2770494D159F}"/>
              </a:ext>
            </a:extLst>
          </p:cNvPr>
          <p:cNvSpPr txBox="1"/>
          <p:nvPr/>
        </p:nvSpPr>
        <p:spPr>
          <a:xfrm>
            <a:off x="914400" y="1951682"/>
            <a:ext cx="967666" cy="461665"/>
          </a:xfrm>
          <a:prstGeom prst="rect">
            <a:avLst/>
          </a:prstGeom>
          <a:noFill/>
        </p:spPr>
        <p:txBody>
          <a:bodyPr wrap="square" rtlCol="0">
            <a:spAutoFit/>
          </a:bodyPr>
          <a:lstStyle/>
          <a:p>
            <a:r>
              <a:rPr lang="en-US" altLang="zh-CN" sz="2400" dirty="0"/>
              <a:t>(LP)</a:t>
            </a:r>
            <a:endParaRPr lang="zh-CN" altLang="en-US" sz="2400" dirty="0"/>
          </a:p>
        </p:txBody>
      </p:sp>
      <p:sp>
        <p:nvSpPr>
          <p:cNvPr id="7" name="文本框 6">
            <a:extLst>
              <a:ext uri="{FF2B5EF4-FFF2-40B4-BE49-F238E27FC236}">
                <a16:creationId xmlns:a16="http://schemas.microsoft.com/office/drawing/2014/main" id="{A5FD1A08-0B99-AA09-46DE-11CF43FFC83E}"/>
              </a:ext>
            </a:extLst>
          </p:cNvPr>
          <p:cNvSpPr txBox="1"/>
          <p:nvPr/>
        </p:nvSpPr>
        <p:spPr>
          <a:xfrm>
            <a:off x="914400" y="4464802"/>
            <a:ext cx="967666" cy="461665"/>
          </a:xfrm>
          <a:prstGeom prst="rect">
            <a:avLst/>
          </a:prstGeom>
          <a:noFill/>
        </p:spPr>
        <p:txBody>
          <a:bodyPr wrap="square" rtlCol="0">
            <a:spAutoFit/>
          </a:bodyPr>
          <a:lstStyle/>
          <a:p>
            <a:r>
              <a:rPr lang="en-US" altLang="zh-CN" sz="2400" dirty="0"/>
              <a:t>(LP’)</a:t>
            </a:r>
            <a:endParaRPr lang="zh-CN" altLang="en-US" sz="24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50CC5A0-1DB1-46D4-946A-6C89D61A897B}"/>
                  </a:ext>
                </a:extLst>
              </p:cNvPr>
              <p:cNvSpPr txBox="1"/>
              <p:nvPr/>
            </p:nvSpPr>
            <p:spPr>
              <a:xfrm>
                <a:off x="914400" y="243302"/>
                <a:ext cx="6033459" cy="671659"/>
              </a:xfrm>
              <a:prstGeom prst="rect">
                <a:avLst/>
              </a:prstGeom>
              <a:noFill/>
            </p:spPr>
            <p:txBody>
              <a:bodyPr wrap="square">
                <a:spAutoFit/>
              </a:bodyPr>
              <a:lstStyle/>
              <a:p>
                <a:pPr>
                  <a:lnSpc>
                    <a:spcPct val="150000"/>
                  </a:lnSpc>
                </a:pPr>
                <a:r>
                  <a:rPr lang="zh-CN" altLang="en-US" sz="2800" b="1" dirty="0">
                    <a:solidFill>
                      <a:schemeClr val="accent1"/>
                    </a:solidFill>
                    <a:latin typeface="+mn-ea"/>
                  </a:rPr>
                  <a:t>四、增加一个新变量</a:t>
                </a:r>
                <a14:m>
                  <m:oMath xmlns:m="http://schemas.openxmlformats.org/officeDocument/2006/math">
                    <m:sSub>
                      <m:sSubPr>
                        <m:ctrlPr>
                          <a:rPr lang="en-US" altLang="zh-CN" sz="2800" b="1" i="1">
                            <a:solidFill>
                              <a:schemeClr val="accent1"/>
                            </a:solidFill>
                            <a:latin typeface="Cambria Math" panose="02040503050406030204" pitchFamily="18" charset="0"/>
                          </a:rPr>
                        </m:ctrlPr>
                      </m:sSubPr>
                      <m:e>
                        <m:r>
                          <a:rPr lang="en-US" altLang="zh-CN" sz="2800" b="1" i="1">
                            <a:solidFill>
                              <a:schemeClr val="accent1"/>
                            </a:solidFill>
                            <a:latin typeface="Cambria Math" panose="02040503050406030204" pitchFamily="18" charset="0"/>
                          </a:rPr>
                          <m:t>𝒙</m:t>
                        </m:r>
                      </m:e>
                      <m:sub>
                        <m:r>
                          <a:rPr lang="en-US" altLang="zh-CN" sz="2800" b="1" i="1">
                            <a:solidFill>
                              <a:schemeClr val="accent1"/>
                            </a:solidFill>
                            <a:latin typeface="Cambria Math" panose="02040503050406030204" pitchFamily="18" charset="0"/>
                          </a:rPr>
                          <m:t>𝒏</m:t>
                        </m:r>
                        <m:r>
                          <a:rPr lang="en-US" altLang="zh-CN" sz="2800" b="1" i="1">
                            <a:solidFill>
                              <a:schemeClr val="accent1"/>
                            </a:solidFill>
                            <a:latin typeface="Cambria Math" panose="02040503050406030204" pitchFamily="18" charset="0"/>
                          </a:rPr>
                          <m:t>+</m:t>
                        </m:r>
                        <m:r>
                          <a:rPr lang="en-US" altLang="zh-CN" sz="2800" b="1" i="1">
                            <a:solidFill>
                              <a:schemeClr val="accent1"/>
                            </a:solidFill>
                            <a:latin typeface="Cambria Math" panose="02040503050406030204" pitchFamily="18" charset="0"/>
                          </a:rPr>
                          <m:t>𝟏</m:t>
                        </m:r>
                      </m:sub>
                    </m:sSub>
                  </m:oMath>
                </a14:m>
                <a:r>
                  <a:rPr lang="zh-CN" altLang="en-US" sz="2800" b="1" dirty="0">
                    <a:solidFill>
                      <a:schemeClr val="accent1"/>
                    </a:solidFill>
                    <a:latin typeface="+mn-ea"/>
                  </a:rPr>
                  <a:t>的分析</a:t>
                </a:r>
                <a:endParaRPr lang="en-US" altLang="zh-CN" sz="2800" b="1" dirty="0">
                  <a:solidFill>
                    <a:schemeClr val="accent1"/>
                  </a:solidFill>
                  <a:latin typeface="+mn-ea"/>
                </a:endParaRPr>
              </a:p>
            </p:txBody>
          </p:sp>
        </mc:Choice>
        <mc:Fallback xmlns="">
          <p:sp>
            <p:nvSpPr>
              <p:cNvPr id="8" name="文本框 7">
                <a:extLst>
                  <a:ext uri="{FF2B5EF4-FFF2-40B4-BE49-F238E27FC236}">
                    <a16:creationId xmlns:a16="http://schemas.microsoft.com/office/drawing/2014/main" id="{D50CC5A0-1DB1-46D4-946A-6C89D61A897B}"/>
                  </a:ext>
                </a:extLst>
              </p:cNvPr>
              <p:cNvSpPr txBox="1">
                <a:spLocks noRot="1" noChangeAspect="1" noMove="1" noResize="1" noEditPoints="1" noAdjustHandles="1" noChangeArrowheads="1" noChangeShapeType="1" noTextEdit="1"/>
              </p:cNvSpPr>
              <p:nvPr/>
            </p:nvSpPr>
            <p:spPr>
              <a:xfrm>
                <a:off x="914400" y="243302"/>
                <a:ext cx="6033459" cy="671659"/>
              </a:xfrm>
              <a:prstGeom prst="rect">
                <a:avLst/>
              </a:prstGeom>
              <a:blipFill>
                <a:blip r:embed="rId4"/>
                <a:stretch>
                  <a:fillRect l="-2020" b="-2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3A8E334-DFC2-BAAB-24C2-A375B03ECC89}"/>
                  </a:ext>
                </a:extLst>
              </p:cNvPr>
              <p:cNvSpPr txBox="1"/>
              <p:nvPr/>
            </p:nvSpPr>
            <p:spPr>
              <a:xfrm>
                <a:off x="9527958" y="1618866"/>
                <a:ext cx="1799948" cy="1127296"/>
              </a:xfrm>
              <a:prstGeom prst="rect">
                <a:avLst/>
              </a:prstGeom>
              <a:noFill/>
            </p:spPr>
            <p:txBody>
              <a:bodyPr wrap="square">
                <a:spAutoFit/>
              </a:bodyPr>
              <a:lstStyle/>
              <a:p>
                <a:pPr algn="just">
                  <a:lnSpc>
                    <a:spcPct val="150000"/>
                  </a:lnSpc>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最优解</a:t>
                </a:r>
                <a:r>
                  <a:rPr lang="zh-CN" altLang="en-US" sz="2400" dirty="0">
                    <a:effectLst/>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sSup>
                      <m:sSupPr>
                        <m:ctrlPr>
                          <a:rPr lang="zh-CN" altLang="zh-CN" sz="2400" i="1">
                            <a:effectLst/>
                            <a:latin typeface="Cambria Math" panose="02040503050406030204" pitchFamily="18" charset="0"/>
                          </a:rPr>
                        </m:ctrlPr>
                      </m:sSupPr>
                      <m:e>
                        <m:r>
                          <a:rPr lang="en-US" altLang="zh-CN" sz="2400" i="1">
                            <a:effectLst/>
                            <a:latin typeface="Cambria Math" panose="02040503050406030204" pitchFamily="18" charset="0"/>
                            <a:cs typeface="Times New Roman" panose="02020603050405020304" pitchFamily="18" charset="0"/>
                          </a:rPr>
                          <m:t>𝑥</m:t>
                        </m:r>
                      </m:e>
                      <m:sup>
                        <m:r>
                          <a:rPr lang="en-US" altLang="zh-CN" sz="2400" i="1">
                            <a:effectLst/>
                            <a:latin typeface="Cambria Math" panose="02040503050406030204" pitchFamily="18" charset="0"/>
                            <a:cs typeface="Times New Roman" panose="02020603050405020304" pitchFamily="18" charset="0"/>
                          </a:rPr>
                          <m:t>∗</m:t>
                        </m:r>
                      </m:sup>
                    </m:sSup>
                  </m:oMath>
                </a14:m>
                <a:endParaRPr lang="en-US" altLang="zh-CN" sz="2400" dirty="0">
                  <a:effectLst/>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最优基</a:t>
                </a:r>
                <a:r>
                  <a:rPr lang="zh-CN" altLang="en-US" sz="2400" dirty="0">
                    <a:effectLst/>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𝐵</m:t>
                    </m:r>
                  </m:oMath>
                </a14:m>
                <a:endParaRPr lang="zh-CN" altLang="en-US" sz="2400" dirty="0">
                  <a:latin typeface="宋体" panose="02010600030101010101" pitchFamily="2" charset="-122"/>
                  <a:ea typeface="宋体" panose="02010600030101010101" pitchFamily="2" charset="-122"/>
                </a:endParaRPr>
              </a:p>
            </p:txBody>
          </p:sp>
        </mc:Choice>
        <mc:Fallback xmlns="">
          <p:sp>
            <p:nvSpPr>
              <p:cNvPr id="10" name="文本框 9">
                <a:extLst>
                  <a:ext uri="{FF2B5EF4-FFF2-40B4-BE49-F238E27FC236}">
                    <a16:creationId xmlns:a16="http://schemas.microsoft.com/office/drawing/2014/main" id="{73A8E334-DFC2-BAAB-24C2-A375B03ECC89}"/>
                  </a:ext>
                </a:extLst>
              </p:cNvPr>
              <p:cNvSpPr txBox="1">
                <a:spLocks noRot="1" noChangeAspect="1" noMove="1" noResize="1" noEditPoints="1" noAdjustHandles="1" noChangeArrowheads="1" noChangeShapeType="1" noTextEdit="1"/>
              </p:cNvSpPr>
              <p:nvPr/>
            </p:nvSpPr>
            <p:spPr>
              <a:xfrm>
                <a:off x="9527958" y="1618866"/>
                <a:ext cx="1799948" cy="1127296"/>
              </a:xfrm>
              <a:prstGeom prst="rect">
                <a:avLst/>
              </a:prstGeom>
              <a:blipFill>
                <a:blip r:embed="rId5"/>
                <a:stretch>
                  <a:fillRect l="-5424"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AA98E21-70BC-47BA-46C2-32A7667EBA29}"/>
                  </a:ext>
                </a:extLst>
              </p:cNvPr>
              <p:cNvSpPr txBox="1"/>
              <p:nvPr/>
            </p:nvSpPr>
            <p:spPr>
              <a:xfrm>
                <a:off x="2692152" y="5720894"/>
                <a:ext cx="6265417" cy="1137106"/>
              </a:xfrm>
              <a:prstGeom prst="rect">
                <a:avLst/>
              </a:prstGeom>
              <a:noFill/>
            </p:spPr>
            <p:txBody>
              <a:bodyPr wrap="square">
                <a:spAutoFit/>
              </a:bodyPr>
              <a:lstStyle/>
              <a:p>
                <a:pPr algn="just">
                  <a:lnSpc>
                    <a:spcPct val="150000"/>
                  </a:lnSpc>
                </a:pPr>
                <a:r>
                  <a:rPr lang="zh-CN" altLang="en-US" sz="2400" dirty="0">
                    <a:effectLst/>
                    <a:latin typeface="宋体" panose="02010600030101010101" pitchFamily="2" charset="-122"/>
                    <a:ea typeface="宋体" panose="02010600030101010101" pitchFamily="2" charset="-122"/>
                    <a:cs typeface="Times New Roman" panose="02020603050405020304" pitchFamily="18" charset="0"/>
                  </a:rPr>
                  <a:t>可行</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基</a:t>
                </a:r>
                <a:r>
                  <a:rPr lang="zh-CN" altLang="en-US" sz="2400" dirty="0">
                    <a:effectLst/>
                    <a:latin typeface="宋体"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𝐵</m:t>
                    </m:r>
                  </m:oMath>
                </a14:m>
                <a:endParaRPr lang="en-US" altLang="zh-CN"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检验数：</a:t>
                </a:r>
                <a:r>
                  <a:rPr lang="zh-CN" altLang="en-US" sz="2400" dirty="0">
                    <a:solidFill>
                      <a:srgbClr val="836967"/>
                    </a:solidFill>
                  </a:rPr>
                  <a:t> </a:t>
                </a:r>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𝜎</m:t>
                        </m:r>
                      </m:e>
                      <m:sub>
                        <m:r>
                          <a:rPr lang="zh-CN" altLang="en-US" sz="2400" i="1">
                            <a:latin typeface="Cambria Math" panose="02040503050406030204" pitchFamily="18" charset="0"/>
                          </a:rPr>
                          <m:t>𝑛</m:t>
                        </m:r>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1">
                            <a:latin typeface="Cambria Math" panose="02040503050406030204" pitchFamily="18" charset="0"/>
                          </a:rPr>
                          <m:t>𝑛</m:t>
                        </m:r>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1">
                            <a:latin typeface="Cambria Math" panose="02040503050406030204" pitchFamily="18" charset="0"/>
                          </a:rPr>
                          <m:t>𝐵</m:t>
                        </m:r>
                      </m:sub>
                    </m:sSub>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𝐵</m:t>
                        </m:r>
                      </m:e>
                      <m:sup>
                        <m:r>
                          <a:rPr lang="zh-CN" altLang="en-US" sz="2400" i="0">
                            <a:latin typeface="Cambria Math" panose="02040503050406030204" pitchFamily="18" charset="0"/>
                          </a:rPr>
                          <m:t>−1</m:t>
                        </m:r>
                      </m:sup>
                    </m:sSup>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𝑛</m:t>
                        </m:r>
                        <m:r>
                          <a:rPr lang="zh-CN" altLang="en-US" sz="2400" i="0">
                            <a:latin typeface="Cambria Math" panose="02040503050406030204" pitchFamily="18" charset="0"/>
                          </a:rPr>
                          <m:t>+1</m:t>
                        </m:r>
                      </m:sub>
                    </m:sSub>
                  </m:oMath>
                </a14:m>
                <a:endParaRPr lang="zh-CN" altLang="en-US" sz="2400" dirty="0">
                  <a:latin typeface="宋体" panose="02010600030101010101" pitchFamily="2" charset="-122"/>
                  <a:ea typeface="宋体" panose="02010600030101010101" pitchFamily="2" charset="-122"/>
                </a:endParaRPr>
              </a:p>
            </p:txBody>
          </p:sp>
        </mc:Choice>
        <mc:Fallback xmlns="">
          <p:sp>
            <p:nvSpPr>
              <p:cNvPr id="11" name="文本框 10">
                <a:extLst>
                  <a:ext uri="{FF2B5EF4-FFF2-40B4-BE49-F238E27FC236}">
                    <a16:creationId xmlns:a16="http://schemas.microsoft.com/office/drawing/2014/main" id="{BAA98E21-70BC-47BA-46C2-32A7667EBA29}"/>
                  </a:ext>
                </a:extLst>
              </p:cNvPr>
              <p:cNvSpPr txBox="1">
                <a:spLocks noRot="1" noChangeAspect="1" noMove="1" noResize="1" noEditPoints="1" noAdjustHandles="1" noChangeArrowheads="1" noChangeShapeType="1" noTextEdit="1"/>
              </p:cNvSpPr>
              <p:nvPr/>
            </p:nvSpPr>
            <p:spPr>
              <a:xfrm>
                <a:off x="2692152" y="5720894"/>
                <a:ext cx="6265417" cy="1137106"/>
              </a:xfrm>
              <a:prstGeom prst="rect">
                <a:avLst/>
              </a:prstGeom>
              <a:blipFill>
                <a:blip r:embed="rId6"/>
                <a:stretch>
                  <a:fillRect l="-1558" b="-90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874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DD9DB9B-8478-54FC-C8A0-248A6EA42292}"/>
                  </a:ext>
                </a:extLst>
              </p:cNvPr>
              <p:cNvSpPr txBox="1"/>
              <p:nvPr/>
            </p:nvSpPr>
            <p:spPr>
              <a:xfrm>
                <a:off x="419469" y="578959"/>
                <a:ext cx="11396710" cy="4788234"/>
              </a:xfrm>
              <a:prstGeom prst="rect">
                <a:avLst/>
              </a:prstGeom>
              <a:noFill/>
            </p:spPr>
            <p:txBody>
              <a:bodyPr wrap="square">
                <a:spAutoFit/>
              </a:bodyPr>
              <a:lstStyle/>
              <a:p>
                <a:pPr indent="304800" algn="just">
                  <a:lnSpc>
                    <a:spcPct val="150000"/>
                  </a:lnSpc>
                </a:pPr>
                <a:r>
                  <a:rPr lang="zh-CN" altLang="zh-CN" sz="2400" dirty="0">
                    <a:effectLst/>
                    <a:latin typeface="宋体" panose="02010600030101010101" pitchFamily="2" charset="-122"/>
                    <a:ea typeface="宋体" panose="02010600030101010101" pitchFamily="2" charset="-122"/>
                  </a:rPr>
                  <a:t>（</a:t>
                </a:r>
                <a:r>
                  <a:rPr lang="en-US" altLang="zh-CN" sz="2400" dirty="0">
                    <a:effectLst/>
                    <a:latin typeface="宋体" panose="02010600030101010101" pitchFamily="2" charset="-122"/>
                    <a:ea typeface="宋体" panose="02010600030101010101" pitchFamily="2" charset="-122"/>
                  </a:rPr>
                  <a:t>1</a:t>
                </a:r>
                <a:r>
                  <a:rPr lang="zh-CN" altLang="zh-CN" sz="2400" dirty="0">
                    <a:effectLst/>
                    <a:latin typeface="宋体" panose="02010600030101010101" pitchFamily="2" charset="-122"/>
                    <a:ea typeface="宋体" panose="02010600030101010101" pitchFamily="2" charset="-122"/>
                  </a:rPr>
                  <a:t>）</a:t>
                </a:r>
                <a:r>
                  <a:rPr lang="zh-CN" altLang="en-US" sz="2400" dirty="0">
                    <a:effectLst/>
                    <a:latin typeface="宋体" panose="02010600030101010101" pitchFamily="2" charset="-122"/>
                    <a:ea typeface="宋体" panose="02010600030101010101" pitchFamily="2" charset="-122"/>
                  </a:rPr>
                  <a:t>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≥0</m:t>
                    </m:r>
                  </m:oMath>
                </a14:m>
                <a:r>
                  <a:rPr lang="zh-CN" altLang="zh-CN" sz="2400" dirty="0">
                    <a:effectLst/>
                    <a:latin typeface="宋体" panose="02010600030101010101" pitchFamily="2" charset="-122"/>
                    <a:ea typeface="宋体" panose="02010600030101010101" pitchFamily="2" charset="-122"/>
                  </a:rPr>
                  <a:t>，则新问题</a:t>
                </a:r>
                <a:r>
                  <a:rPr lang="en-US" altLang="zh-CN" sz="2400" dirty="0"/>
                  <a:t>(LP’)</a:t>
                </a:r>
                <a:r>
                  <a:rPr lang="zh-CN" altLang="zh-CN" sz="2400" dirty="0">
                    <a:effectLst/>
                    <a:latin typeface="宋体" panose="02010600030101010101" pitchFamily="2" charset="-122"/>
                    <a:ea typeface="宋体" panose="02010600030101010101" pitchFamily="2" charset="-122"/>
                  </a:rPr>
                  <a:t>的最优性准则仍满足，</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宋体" panose="02010600030101010101" pitchFamily="2" charset="-122"/>
                    <a:ea typeface="宋体" panose="02010600030101010101" pitchFamily="2" charset="-122"/>
                  </a:rPr>
                  <a:t>为非基变量，新问题</a:t>
                </a:r>
                <a:r>
                  <a:rPr lang="en-US" altLang="zh-CN" sz="2400" dirty="0"/>
                  <a:t>(LP’)</a:t>
                </a:r>
                <a:r>
                  <a:rPr lang="zh-CN" altLang="zh-CN" sz="2400" dirty="0">
                    <a:effectLst/>
                    <a:latin typeface="宋体" panose="02010600030101010101" pitchFamily="2" charset="-122"/>
                    <a:ea typeface="宋体" panose="02010600030101010101" pitchFamily="2" charset="-122"/>
                  </a:rPr>
                  <a:t>的最优解为</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宋体" panose="02010600030101010101" pitchFamily="2" charset="-122"/>
                              </a:rPr>
                              <m:t>𝑥</m:t>
                            </m:r>
                          </m:e>
                        </m:acc>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up>
                                <m:r>
                                  <a:rPr lang="en-US" altLang="zh-CN" sz="2400" i="1">
                                    <a:effectLst/>
                                    <a:latin typeface="Cambria Math" panose="02040503050406030204" pitchFamily="18" charset="0"/>
                                    <a:ea typeface="宋体" panose="02010600030101010101" pitchFamily="2" charset="-122"/>
                                  </a:rPr>
                                  <m:t>∗</m:t>
                                </m:r>
                              </m:sup>
                            </m:sSubSup>
                            <m:r>
                              <a:rPr lang="en-US" altLang="zh-CN" sz="2400" i="1">
                                <a:effectLst/>
                                <a:latin typeface="Cambria Math" panose="02040503050406030204" pitchFamily="18" charset="0"/>
                                <a:ea typeface="宋体" panose="02010600030101010101" pitchFamily="2" charset="-122"/>
                              </a:rPr>
                              <m:t>,</m:t>
                            </m:r>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up>
                                <m:r>
                                  <a:rPr lang="en-US" altLang="zh-CN" sz="2400" i="1">
                                    <a:effectLst/>
                                    <a:latin typeface="Cambria Math" panose="02040503050406030204" pitchFamily="18" charset="0"/>
                                    <a:ea typeface="宋体" panose="02010600030101010101" pitchFamily="2" charset="-122"/>
                                  </a:rPr>
                                  <m:t>∗</m:t>
                                </m:r>
                              </m:sup>
                            </m:sSubSup>
                            <m:r>
                              <a:rPr lang="en-US" altLang="zh-CN" sz="2400" i="1">
                                <a:effectLst/>
                                <a:latin typeface="Cambria Math" panose="02040503050406030204" pitchFamily="18" charset="0"/>
                                <a:ea typeface="宋体" panose="02010600030101010101" pitchFamily="2" charset="-122"/>
                              </a:rPr>
                              <m:t>,…,</m:t>
                            </m:r>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sub>
                              <m:sup>
                                <m:r>
                                  <a:rPr lang="en-US" altLang="zh-CN" sz="2400" i="1">
                                    <a:effectLst/>
                                    <a:latin typeface="Cambria Math" panose="02040503050406030204" pitchFamily="18" charset="0"/>
                                    <a:ea typeface="宋体" panose="02010600030101010101" pitchFamily="2" charset="-122"/>
                                  </a:rPr>
                                  <m:t>∗</m:t>
                                </m:r>
                              </m:sup>
                            </m:sSubSup>
                            <m:r>
                              <a:rPr lang="en-US" altLang="zh-CN" sz="2400" i="1">
                                <a:effectLst/>
                                <a:latin typeface="Cambria Math" panose="02040503050406030204" pitchFamily="18" charset="0"/>
                                <a:ea typeface="宋体" panose="02010600030101010101" pitchFamily="2" charset="-122"/>
                              </a:rPr>
                              <m:t>,0</m:t>
                            </m:r>
                          </m:e>
                        </m:d>
                      </m:e>
                      <m:sup>
                        <m:r>
                          <a:rPr lang="en-US" altLang="zh-CN" sz="2400" i="1">
                            <a:effectLst/>
                            <a:latin typeface="Cambria Math" panose="02040503050406030204" pitchFamily="18" charset="0"/>
                            <a:ea typeface="宋体" panose="02010600030101010101" pitchFamily="2" charset="-122"/>
                          </a:rPr>
                          <m:t>𝑇</m:t>
                        </m:r>
                      </m:sup>
                    </m:sSup>
                  </m:oMath>
                </a14:m>
                <a:r>
                  <a:rPr lang="zh-CN" altLang="zh-CN" sz="2400" dirty="0">
                    <a:effectLst/>
                    <a:latin typeface="宋体" panose="02010600030101010101" pitchFamily="2" charset="-122"/>
                    <a:ea typeface="宋体" panose="02010600030101010101" pitchFamily="2" charset="-122"/>
                  </a:rPr>
                  <a:t>。此时说明新增加的变量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宋体" panose="02010600030101010101" pitchFamily="2" charset="-122"/>
                    <a:ea typeface="宋体" panose="02010600030101010101" pitchFamily="2" charset="-122"/>
                  </a:rPr>
                  <a:t>对最优解没有影响，或说新增加的内容对总的结果是不利的</a:t>
                </a:r>
                <a:r>
                  <a:rPr lang="en-US" altLang="zh-CN" sz="2400" dirty="0">
                    <a:effectLst/>
                    <a:latin typeface="宋体" panose="02010600030101010101" pitchFamily="2" charset="-122"/>
                    <a:ea typeface="宋体" panose="02010600030101010101" pitchFamily="2" charset="-122"/>
                  </a:rPr>
                  <a:t>(</a:t>
                </a:r>
                <a:r>
                  <a:rPr lang="zh-CN" altLang="zh-CN" sz="2400" dirty="0">
                    <a:effectLst/>
                    <a:latin typeface="宋体" panose="02010600030101010101" pitchFamily="2" charset="-122"/>
                    <a:ea typeface="宋体" panose="02010600030101010101" pitchFamily="2" charset="-122"/>
                  </a:rPr>
                  <a:t>因为若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&gt;0</m:t>
                    </m:r>
                  </m:oMath>
                </a14:m>
                <a:r>
                  <a:rPr lang="zh-CN" altLang="zh-CN" sz="2400" dirty="0">
                    <a:effectLst/>
                    <a:latin typeface="宋体" panose="02010600030101010101" pitchFamily="2" charset="-122"/>
                    <a:ea typeface="宋体" panose="02010600030101010101" pitchFamily="2" charset="-122"/>
                  </a:rPr>
                  <a:t>，则达不到最优解</a:t>
                </a:r>
                <a:r>
                  <a:rPr lang="en-US" altLang="zh-CN" sz="2400" dirty="0">
                    <a:effectLst/>
                    <a:latin typeface="宋体" panose="02010600030101010101" pitchFamily="2" charset="-122"/>
                    <a:ea typeface="宋体" panose="02010600030101010101" pitchFamily="2" charset="-122"/>
                  </a:rPr>
                  <a:t>)</a:t>
                </a:r>
                <a:r>
                  <a:rPr lang="zh-CN" altLang="zh-CN" sz="2400" dirty="0">
                    <a:effectLst/>
                    <a:latin typeface="宋体" panose="02010600030101010101" pitchFamily="2" charset="-122"/>
                    <a:ea typeface="宋体" panose="02010600030101010101" pitchFamily="2" charset="-122"/>
                  </a:rPr>
                  <a:t>。</a:t>
                </a:r>
              </a:p>
              <a:p>
                <a:pPr indent="304800" algn="just">
                  <a:lnSpc>
                    <a:spcPct val="150000"/>
                  </a:lnSpc>
                  <a:spcBef>
                    <a:spcPts val="600"/>
                  </a:spcBef>
                  <a:spcAft>
                    <a:spcPts val="600"/>
                  </a:spcAft>
                </a:pPr>
                <a:r>
                  <a:rPr lang="zh-CN" altLang="zh-CN" sz="2400" dirty="0">
                    <a:effectLst/>
                    <a:latin typeface="宋体" panose="02010600030101010101" pitchFamily="2" charset="-122"/>
                    <a:ea typeface="宋体" panose="02010600030101010101" pitchFamily="2" charset="-122"/>
                  </a:rPr>
                  <a:t>（</a:t>
                </a:r>
                <a:r>
                  <a:rPr lang="en-US" altLang="zh-CN" sz="2400" dirty="0">
                    <a:effectLst/>
                    <a:latin typeface="宋体" panose="02010600030101010101" pitchFamily="2" charset="-122"/>
                    <a:ea typeface="宋体" panose="02010600030101010101" pitchFamily="2" charset="-122"/>
                  </a:rPr>
                  <a:t>2</a:t>
                </a:r>
                <a:r>
                  <a:rPr lang="zh-CN" altLang="zh-CN" sz="2400" dirty="0">
                    <a:effectLst/>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𝜎</m:t>
                        </m:r>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r>
                      <a:rPr lang="en-US" altLang="zh-CN" sz="2400" i="1">
                        <a:effectLst/>
                        <a:latin typeface="Cambria Math" panose="02040503050406030204" pitchFamily="18" charset="0"/>
                        <a:ea typeface="Times New Roman" panose="02020603050405020304" pitchFamily="18" charset="0"/>
                      </a:rPr>
                      <m:t>&lt;0</m:t>
                    </m:r>
                  </m:oMath>
                </a14:m>
                <a:r>
                  <a:rPr lang="en-US" altLang="zh-CN" sz="2400" dirty="0">
                    <a:effectLst/>
                    <a:latin typeface="宋体" panose="02010600030101010101" pitchFamily="2" charset="-122"/>
                    <a:ea typeface="宋体" panose="02010600030101010101" pitchFamily="2" charset="-122"/>
                  </a:rPr>
                  <a:t>，则</a:t>
                </a:r>
                <a:r>
                  <a:rPr lang="zh-CN" altLang="en-US" sz="2400" dirty="0">
                    <a:latin typeface="宋体" panose="02010600030101010101" pitchFamily="2" charset="-122"/>
                    <a:ea typeface="宋体" panose="02010600030101010101" pitchFamily="2" charset="-122"/>
                  </a:rPr>
                  <a:t>不</a:t>
                </a:r>
                <a:r>
                  <a:rPr lang="en-US" altLang="zh-CN" sz="2400" dirty="0">
                    <a:latin typeface="宋体" panose="02010600030101010101" pitchFamily="2" charset="-122"/>
                    <a:ea typeface="宋体" panose="02010600030101010101" pitchFamily="2" charset="-122"/>
                  </a:rPr>
                  <a:t>满足</a:t>
                </a:r>
                <a:r>
                  <a:rPr lang="en-US" altLang="zh-CN" sz="2400" dirty="0">
                    <a:effectLst/>
                    <a:latin typeface="宋体" panose="02010600030101010101" pitchFamily="2" charset="-122"/>
                    <a:ea typeface="宋体" panose="02010600030101010101" pitchFamily="2" charset="-122"/>
                  </a:rPr>
                  <a:t>新问题</a:t>
                </a:r>
                <a:r>
                  <a:rPr lang="en-US" altLang="zh-CN" sz="2400" dirty="0"/>
                  <a:t>(LP’)</a:t>
                </a:r>
                <a:r>
                  <a:rPr lang="en-US" altLang="zh-CN" sz="2400" dirty="0">
                    <a:effectLst/>
                    <a:latin typeface="宋体" panose="02010600030101010101" pitchFamily="2" charset="-122"/>
                    <a:ea typeface="宋体" panose="02010600030101010101" pitchFamily="2" charset="-122"/>
                  </a:rPr>
                  <a:t>的最优性准则，</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Times New Roman" panose="02020603050405020304" pitchFamily="18" charset="0"/>
                              </a:rPr>
                              <m:t>𝑥</m:t>
                            </m:r>
                          </m:e>
                        </m:acc>
                      </m:e>
                      <m:sup>
                        <m:r>
                          <a:rPr lang="en-US" altLang="zh-CN" sz="2400" i="1">
                            <a:effectLst/>
                            <a:latin typeface="Cambria Math" panose="02040503050406030204" pitchFamily="18" charset="0"/>
                            <a:ea typeface="Times New Roman" panose="02020603050405020304" pitchFamily="18" charset="0"/>
                          </a:rPr>
                          <m:t>∗</m:t>
                        </m:r>
                      </m:sup>
                    </m:sSup>
                  </m:oMath>
                </a14:m>
                <a:r>
                  <a:rPr lang="en-US" altLang="zh-CN" sz="2400" dirty="0">
                    <a:effectLst/>
                    <a:latin typeface="宋体" panose="02010600030101010101" pitchFamily="2" charset="-122"/>
                    <a:ea typeface="宋体" panose="02010600030101010101" pitchFamily="2" charset="-122"/>
                  </a:rPr>
                  <a:t>不是新问题</a:t>
                </a:r>
                <a:r>
                  <a:rPr lang="en-US" altLang="zh-CN" sz="2400" dirty="0"/>
                  <a:t>(LP’)</a:t>
                </a:r>
                <a:r>
                  <a:rPr lang="en-US" altLang="zh-CN" sz="2400" dirty="0">
                    <a:effectLst/>
                    <a:latin typeface="宋体" panose="02010600030101010101" pitchFamily="2" charset="-122"/>
                    <a:ea typeface="宋体" panose="02010600030101010101" pitchFamily="2" charset="-122"/>
                  </a:rPr>
                  <a:t>的最优解，说明新增加的内容对总的结果是有利的。在原问题</a:t>
                </a:r>
                <a:r>
                  <a:rPr lang="en-US" altLang="zh-CN" sz="2400" dirty="0"/>
                  <a:t>(LP)</a:t>
                </a:r>
                <a:r>
                  <a:rPr lang="en-US" altLang="zh-CN" sz="2400" dirty="0">
                    <a:effectLst/>
                    <a:latin typeface="宋体" panose="02010600030101010101" pitchFamily="2" charset="-122"/>
                    <a:ea typeface="宋体" panose="02010600030101010101" pitchFamily="2" charset="-122"/>
                  </a:rPr>
                  <a:t>的最优单纯形表上增加一列  </a:t>
                </a:r>
              </a:p>
              <a:p>
                <a:pPr indent="304800" algn="ctr">
                  <a:lnSpc>
                    <a:spcPct val="150000"/>
                  </a:lnSpc>
                  <a:spcBef>
                    <a:spcPts val="600"/>
                  </a:spcBef>
                  <a:spcAft>
                    <a:spcPts val="600"/>
                  </a:spcAft>
                </a:pPr>
                <a14:m>
                  <m:oMath xmlns:m="http://schemas.openxmlformats.org/officeDocument/2006/math">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b>
                                <m:sSubPr>
                                  <m:ctrlPr>
                                    <a:rPr lang="zh-CN" altLang="zh-CN" sz="2400" i="1">
                                      <a:effectLst/>
                                      <a:latin typeface="Cambria Math" panose="02040503050406030204" pitchFamily="18" charset="0"/>
                                      <a:ea typeface="Cambria Math" panose="02040503050406030204" pitchFamily="18" charset="0"/>
                                    </a:rPr>
                                  </m:ctrlPr>
                                </m:sSub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Times New Roman" panose="02020603050405020304" pitchFamily="18" charset="0"/>
                                        </a:rPr>
                                        <m:t>𝐴</m:t>
                                      </m:r>
                                    </m:e>
                                  </m:acc>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𝜎</m:t>
                                  </m:r>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e>
                          </m:mr>
                        </m:m>
                      </m:e>
                    </m:d>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Times New Roman" panose="02020603050405020304" pitchFamily="18" charset="0"/>
                                    </a:rPr>
                                    <m:t>𝐵</m:t>
                                  </m:r>
                                </m:e>
                                <m:sup>
                                  <m:r>
                                    <a:rPr lang="en-US" altLang="zh-CN" sz="2400" i="1">
                                      <a:effectLst/>
                                      <a:latin typeface="Cambria Math" panose="02040503050406030204" pitchFamily="18" charset="0"/>
                                      <a:ea typeface="Times New Roman" panose="02020603050405020304" pitchFamily="18" charset="0"/>
                                    </a:rPr>
                                    <m:t>−1</m:t>
                                  </m:r>
                                </m:sup>
                              </m:sSup>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𝐴</m:t>
                                  </m:r>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𝑐</m:t>
                                  </m:r>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r>
                                <a:rPr lang="en-US" altLang="zh-CN" sz="2400" i="1">
                                  <a:effectLst/>
                                  <a:latin typeface="Cambria Math" panose="02040503050406030204" pitchFamily="18" charset="0"/>
                                  <a:ea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𝑐</m:t>
                                  </m:r>
                                </m:e>
                                <m:sub>
                                  <m:r>
                                    <a:rPr lang="en-US" altLang="zh-CN" sz="2400" i="1">
                                      <a:effectLst/>
                                      <a:latin typeface="Cambria Math" panose="02040503050406030204" pitchFamily="18" charset="0"/>
                                      <a:ea typeface="Times New Roman" panose="02020603050405020304" pitchFamily="18" charset="0"/>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Times New Roman" panose="02020603050405020304" pitchFamily="18" charset="0"/>
                                    </a:rPr>
                                    <m:t>𝐵</m:t>
                                  </m:r>
                                </m:e>
                                <m:sup>
                                  <m:r>
                                    <a:rPr lang="en-US" altLang="zh-CN" sz="2400" i="1">
                                      <a:effectLst/>
                                      <a:latin typeface="Cambria Math" panose="02040503050406030204" pitchFamily="18" charset="0"/>
                                      <a:ea typeface="Times New Roman" panose="02020603050405020304" pitchFamily="18" charset="0"/>
                                    </a:rPr>
                                    <m:t>−1</m:t>
                                  </m:r>
                                </m:sup>
                              </m:sSup>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Times New Roman" panose="02020603050405020304" pitchFamily="18" charset="0"/>
                                    </a:rPr>
                                    <m:t>𝐴</m:t>
                                  </m:r>
                                </m:e>
                                <m:sub>
                                  <m:r>
                                    <a:rPr lang="en-US" altLang="zh-CN" sz="2400" i="1">
                                      <a:effectLst/>
                                      <a:latin typeface="Cambria Math" panose="02040503050406030204" pitchFamily="18" charset="0"/>
                                      <a:ea typeface="Times New Roman" panose="02020603050405020304" pitchFamily="18" charset="0"/>
                                    </a:rPr>
                                    <m:t>𝑛</m:t>
                                  </m:r>
                                  <m:r>
                                    <a:rPr lang="en-US" altLang="zh-CN" sz="2400" i="1">
                                      <a:effectLst/>
                                      <a:latin typeface="Cambria Math" panose="02040503050406030204" pitchFamily="18" charset="0"/>
                                      <a:ea typeface="Times New Roman" panose="02020603050405020304" pitchFamily="18" charset="0"/>
                                    </a:rPr>
                                    <m:t>+1</m:t>
                                  </m:r>
                                </m:sub>
                              </m:sSub>
                            </m:e>
                          </m:mr>
                        </m:m>
                      </m:e>
                    </m:d>
                  </m:oMath>
                </a14:m>
                <a:r>
                  <a:rPr lang="en-US" altLang="zh-CN" sz="2400" dirty="0">
                    <a:effectLst/>
                    <a:latin typeface="宋体" panose="02010600030101010101" pitchFamily="2" charset="-122"/>
                    <a:ea typeface="宋体" panose="02010600030101010101" pitchFamily="2" charset="-122"/>
                  </a:rPr>
                  <a:t>,</a:t>
                </a:r>
              </a:p>
            </p:txBody>
          </p:sp>
        </mc:Choice>
        <mc:Fallback xmlns="">
          <p:sp>
            <p:nvSpPr>
              <p:cNvPr id="5" name="文本框 4">
                <a:extLst>
                  <a:ext uri="{FF2B5EF4-FFF2-40B4-BE49-F238E27FC236}">
                    <a16:creationId xmlns:a16="http://schemas.microsoft.com/office/drawing/2014/main" id="{BDD9DB9B-8478-54FC-C8A0-248A6EA42292}"/>
                  </a:ext>
                </a:extLst>
              </p:cNvPr>
              <p:cNvSpPr txBox="1">
                <a:spLocks noRot="1" noChangeAspect="1" noMove="1" noResize="1" noEditPoints="1" noAdjustHandles="1" noChangeArrowheads="1" noChangeShapeType="1" noTextEdit="1"/>
              </p:cNvSpPr>
              <p:nvPr/>
            </p:nvSpPr>
            <p:spPr>
              <a:xfrm>
                <a:off x="419469" y="578959"/>
                <a:ext cx="11396710" cy="4788234"/>
              </a:xfrm>
              <a:prstGeom prst="rect">
                <a:avLst/>
              </a:prstGeom>
              <a:blipFill>
                <a:blip r:embed="rId2"/>
                <a:stretch>
                  <a:fillRect l="-856" r="-8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0DE50B9-5933-4BA7-3043-880C0C9F62D7}"/>
                  </a:ext>
                </a:extLst>
              </p:cNvPr>
              <p:cNvSpPr txBox="1"/>
              <p:nvPr/>
            </p:nvSpPr>
            <p:spPr>
              <a:xfrm>
                <a:off x="204186" y="5576681"/>
                <a:ext cx="10768613" cy="583108"/>
              </a:xfrm>
              <a:prstGeom prst="rect">
                <a:avLst/>
              </a:prstGeom>
              <a:noFill/>
            </p:spPr>
            <p:txBody>
              <a:bodyPr wrap="square">
                <a:spAutoFit/>
              </a:bodyPr>
              <a:lstStyle/>
              <a:p>
                <a:pPr indent="304800">
                  <a:lnSpc>
                    <a:spcPct val="150000"/>
                  </a:lnSpc>
                  <a:spcBef>
                    <a:spcPts val="600"/>
                  </a:spcBef>
                  <a:spcAft>
                    <a:spcPts val="600"/>
                  </a:spcAft>
                </a:pPr>
                <a:r>
                  <a:rPr lang="en-US" altLang="zh-CN" sz="2400" dirty="0">
                    <a:latin typeface="宋体" panose="02010600030101010101" pitchFamily="2" charset="-122"/>
                    <a:ea typeface="宋体" panose="02010600030101010101" pitchFamily="2" charset="-122"/>
                  </a:rPr>
                  <a:t>以</a:t>
                </a:r>
                <a14:m>
                  <m:oMath xmlns:m="http://schemas.openxmlformats.org/officeDocument/2006/math">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𝑥</m:t>
                        </m:r>
                      </m:e>
                      <m:sub>
                        <m:r>
                          <a:rPr lang="en-US" altLang="zh-CN" sz="2400">
                            <a:latin typeface="Cambria Math" panose="02040503050406030204" pitchFamily="18" charset="0"/>
                            <a:ea typeface="宋体" panose="02010600030101010101" pitchFamily="2" charset="-122"/>
                          </a:rPr>
                          <m:t>𝑛</m:t>
                        </m:r>
                        <m:r>
                          <a:rPr lang="en-US" altLang="zh-CN" sz="2400">
                            <a:latin typeface="Cambria Math" panose="02040503050406030204" pitchFamily="18" charset="0"/>
                            <a:ea typeface="宋体" panose="02010600030101010101" pitchFamily="2" charset="-122"/>
                          </a:rPr>
                          <m:t>+1</m:t>
                        </m:r>
                      </m:sub>
                    </m:sSub>
                  </m:oMath>
                </a14:m>
                <a:r>
                  <a:rPr lang="en-US" altLang="zh-CN" sz="2400" dirty="0">
                    <a:latin typeface="宋体" panose="02010600030101010101" pitchFamily="2" charset="-122"/>
                    <a:ea typeface="宋体" panose="02010600030101010101" pitchFamily="2" charset="-122"/>
                  </a:rPr>
                  <a:t>为进基变量</a:t>
                </a:r>
                <a:r>
                  <a:rPr lang="en-US" altLang="zh-CN" sz="2400" dirty="0">
                    <a:effectLst/>
                    <a:latin typeface="宋体" panose="02010600030101010101" pitchFamily="2" charset="-122"/>
                    <a:ea typeface="宋体" panose="02010600030101010101" pitchFamily="2" charset="-122"/>
                  </a:rPr>
                  <a:t>，用单纯形法继续迭代，求得新问题</a:t>
                </a:r>
                <a:r>
                  <a:rPr lang="en-US" altLang="zh-CN" sz="2400" dirty="0">
                    <a:latin typeface="宋体" panose="02010600030101010101" pitchFamily="2" charset="-122"/>
                    <a:ea typeface="宋体" panose="02010600030101010101" pitchFamily="2" charset="-122"/>
                  </a:rPr>
                  <a:t> </a:t>
                </a:r>
                <a:r>
                  <a:rPr lang="en-US" altLang="zh-CN" sz="2400" dirty="0"/>
                  <a:t>(LP’) </a:t>
                </a:r>
                <a:r>
                  <a:rPr lang="en-US" altLang="zh-CN" sz="2400" dirty="0" err="1">
                    <a:effectLst/>
                    <a:latin typeface="宋体" panose="02010600030101010101" pitchFamily="2" charset="-122"/>
                    <a:ea typeface="宋体" panose="02010600030101010101" pitchFamily="2" charset="-122"/>
                  </a:rPr>
                  <a:t>的最优解</a:t>
                </a:r>
                <a:r>
                  <a:rPr lang="en-US" altLang="zh-CN" sz="2400" dirty="0">
                    <a:effectLst/>
                    <a:latin typeface="宋体" panose="02010600030101010101" pitchFamily="2" charset="-122"/>
                    <a:ea typeface="宋体" panose="02010600030101010101" pitchFamily="2" charset="-122"/>
                  </a:rPr>
                  <a:t>。</a:t>
                </a:r>
                <a:endParaRPr lang="zh-CN" altLang="zh-CN" sz="2400" dirty="0">
                  <a:effectLst/>
                  <a:latin typeface="宋体" panose="02010600030101010101" pitchFamily="2" charset="-122"/>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50DE50B9-5933-4BA7-3043-880C0C9F62D7}"/>
                  </a:ext>
                </a:extLst>
              </p:cNvPr>
              <p:cNvSpPr txBox="1">
                <a:spLocks noRot="1" noChangeAspect="1" noMove="1" noResize="1" noEditPoints="1" noAdjustHandles="1" noChangeArrowheads="1" noChangeShapeType="1" noTextEdit="1"/>
              </p:cNvSpPr>
              <p:nvPr/>
            </p:nvSpPr>
            <p:spPr>
              <a:xfrm>
                <a:off x="204186" y="5576681"/>
                <a:ext cx="10768613" cy="583108"/>
              </a:xfrm>
              <a:prstGeom prst="rect">
                <a:avLst/>
              </a:prstGeom>
              <a:blipFill>
                <a:blip r:embed="rId3"/>
                <a:stretch>
                  <a:fillRect b="-25263"/>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3826C34-555E-8A49-8E93-D18C47B27FD7}"/>
                  </a:ext>
                </a:extLst>
              </p:cNvPr>
              <p:cNvSpPr txBox="1"/>
              <p:nvPr/>
            </p:nvSpPr>
            <p:spPr>
              <a:xfrm>
                <a:off x="143683" y="144590"/>
                <a:ext cx="10660441" cy="3515258"/>
              </a:xfrm>
              <a:prstGeom prst="rect">
                <a:avLst/>
              </a:prstGeom>
              <a:noFill/>
            </p:spPr>
            <p:txBody>
              <a:bodyPr wrap="square">
                <a:spAutoFit/>
              </a:bodyPr>
              <a:lstStyle/>
              <a:p>
                <a:pPr indent="304800" algn="just">
                  <a:lnSpc>
                    <a:spcPct val="130000"/>
                  </a:lnSpc>
                </a:pPr>
                <a:r>
                  <a:rPr lang="zh-CN" altLang="zh-CN" sz="2400" dirty="0">
                    <a:effectLst/>
                    <a:latin typeface="Times New Roman" panose="02020603050405020304" pitchFamily="18" charset="0"/>
                    <a:ea typeface="黑体" panose="02010609060101010101" pitchFamily="49" charset="-122"/>
                  </a:rPr>
                  <a:t>例</a:t>
                </a:r>
                <a:r>
                  <a:rPr lang="zh-CN" altLang="zh-CN" sz="2400" dirty="0">
                    <a:effectLst/>
                    <a:latin typeface="Times New Roman" panose="02020603050405020304" pitchFamily="18" charset="0"/>
                    <a:ea typeface="宋体" panose="02010600030101010101" pitchFamily="2" charset="-122"/>
                  </a:rPr>
                  <a:t> 已知线性规划问题</a:t>
                </a:r>
                <a:endParaRPr lang="en-US" altLang="zh-CN" sz="2400" dirty="0">
                  <a:effectLst/>
                  <a:latin typeface="Times New Roman" panose="02020603050405020304" pitchFamily="18" charset="0"/>
                  <a:ea typeface="宋体" panose="02010600030101010101" pitchFamily="2" charset="-122"/>
                </a:endParaRPr>
              </a:p>
              <a:p>
                <a:pPr indent="304800" algn="just"/>
                <a14:m>
                  <m:oMathPara xmlns:m="http://schemas.openxmlformats.org/officeDocument/2006/math">
                    <m:oMathParaPr>
                      <m:jc m:val="centerGroup"/>
                    </m:oMathParaPr>
                    <m:oMath xmlns:m="http://schemas.openxmlformats.org/officeDocument/2006/math">
                      <m:func>
                        <m:funcPr>
                          <m:ctrlPr>
                            <a:rPr lang="en-US" altLang="zh-CN" sz="2400" b="0" i="1" smtClean="0">
                              <a:effectLst/>
                              <a:latin typeface="Cambria Math" panose="02040503050406030204" pitchFamily="18" charset="0"/>
                              <a:ea typeface="SimSun" panose="02010600030101010101" pitchFamily="2" charset="-122"/>
                            </a:rPr>
                          </m:ctrlPr>
                        </m:funcPr>
                        <m:fName>
                          <m:r>
                            <m:rPr>
                              <m:sty m:val="p"/>
                            </m:rPr>
                            <a:rPr lang="en-US" altLang="zh-CN" sz="2400" i="0">
                              <a:effectLst/>
                              <a:latin typeface="Cambria Math" panose="02040503050406030204" pitchFamily="18" charset="0"/>
                              <a:ea typeface="SimSun" panose="02010600030101010101" pitchFamily="2" charset="-122"/>
                            </a:rPr>
                            <m:t>min</m:t>
                          </m:r>
                        </m:fName>
                        <m:e>
                          <m:r>
                            <a:rPr lang="en-US" altLang="zh-CN" sz="2400" i="1">
                              <a:latin typeface="Cambria Math" panose="02040503050406030204" pitchFamily="18" charset="0"/>
                              <a:ea typeface="SimSun" panose="02010600030101010101" pitchFamily="2" charset="-122"/>
                            </a:rPr>
                            <m:t>𝑧</m:t>
                          </m:r>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1</m:t>
                              </m:r>
                            </m:sub>
                          </m:sSub>
                          <m:r>
                            <a:rPr lang="en-US" altLang="zh-CN" sz="2400" i="1">
                              <a:latin typeface="Cambria Math" panose="02040503050406030204" pitchFamily="18" charset="0"/>
                              <a:ea typeface="SimSun" panose="02010600030101010101" pitchFamily="2" charset="-122"/>
                            </a:rPr>
                            <m:t>+</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2</m:t>
                              </m:r>
                            </m:sub>
                          </m:sSub>
                          <m:r>
                            <a:rPr lang="en-US" altLang="zh-CN" sz="2400" i="1">
                              <a:latin typeface="Cambria Math" panose="02040503050406030204" pitchFamily="18" charset="0"/>
                              <a:ea typeface="SimSun" panose="02010600030101010101" pitchFamily="2" charset="-122"/>
                            </a:rPr>
                            <m:t>−4</m:t>
                          </m:r>
                          <m:sSub>
                            <m:sSubPr>
                              <m:ctrlPr>
                                <a:rPr lang="en-CN" altLang="zh-CN" sz="2400" i="1">
                                  <a:latin typeface="Cambria Math" panose="02040503050406030204" pitchFamily="18" charset="0"/>
                                  <a:ea typeface="SimSun" panose="02010600030101010101" pitchFamily="2" charset="-122"/>
                                </a:rPr>
                              </m:ctrlPr>
                            </m:sSubPr>
                            <m:e>
                              <m:r>
                                <a:rPr lang="en-US" altLang="zh-CN" sz="2400" i="1">
                                  <a:latin typeface="Cambria Math" panose="02040503050406030204" pitchFamily="18" charset="0"/>
                                  <a:ea typeface="SimSun" panose="02010600030101010101" pitchFamily="2" charset="-122"/>
                                </a:rPr>
                                <m:t>𝑥</m:t>
                              </m:r>
                            </m:e>
                            <m:sub>
                              <m:r>
                                <a:rPr lang="en-US" altLang="zh-CN" sz="2400" i="1">
                                  <a:latin typeface="Cambria Math" panose="02040503050406030204" pitchFamily="18" charset="0"/>
                                  <a:ea typeface="SimSun" panose="02010600030101010101" pitchFamily="2" charset="-122"/>
                                </a:rPr>
                                <m:t>3</m:t>
                              </m:r>
                            </m:sub>
                          </m:sSub>
                        </m:e>
                      </m:func>
                    </m:oMath>
                    <m:oMath xmlns:m="http://schemas.openxmlformats.org/officeDocument/2006/math">
                      <m:r>
                        <a:rPr lang="en-US" altLang="zh-CN" sz="2400" i="1">
                          <a:effectLst/>
                          <a:latin typeface="Cambria Math" panose="02040503050406030204" pitchFamily="18" charset="0"/>
                          <a:ea typeface="SimSun" panose="02010600030101010101" pitchFamily="2" charset="-122"/>
                        </a:rPr>
                        <m:t>𝑠</m:t>
                      </m:r>
                      <m:r>
                        <a:rPr lang="en-US" altLang="zh-CN" sz="2400" i="1">
                          <a:effectLst/>
                          <a:latin typeface="Cambria Math" panose="02040503050406030204" pitchFamily="18" charset="0"/>
                          <a:ea typeface="SimSun" panose="02010600030101010101" pitchFamily="2" charset="-122"/>
                        </a:rPr>
                        <m:t>.</m:t>
                      </m:r>
                      <m:r>
                        <a:rPr lang="en-US" altLang="zh-CN" sz="2400" i="1">
                          <a:effectLst/>
                          <a:latin typeface="Cambria Math" panose="02040503050406030204" pitchFamily="18" charset="0"/>
                          <a:ea typeface="SimSun" panose="02010600030101010101" pitchFamily="2" charset="-122"/>
                        </a:rPr>
                        <m:t>𝑡</m:t>
                      </m:r>
                      <m:r>
                        <a:rPr lang="en-US" altLang="zh-CN" sz="2400" i="1">
                          <a:effectLst/>
                          <a:latin typeface="Cambria Math" panose="02040503050406030204" pitchFamily="18" charset="0"/>
                          <a:ea typeface="SimSun" panose="02010600030101010101" pitchFamily="2" charset="-122"/>
                        </a:rPr>
                        <m:t>.</m:t>
                      </m:r>
                      <m:d>
                        <m:dPr>
                          <m:begChr m:val="{"/>
                          <m:endChr m:val=""/>
                          <m:ctrlPr>
                            <a:rPr lang="en-CN" altLang="zh-CN" sz="2400" i="1">
                              <a:effectLst/>
                              <a:latin typeface="Cambria Math" panose="02040503050406030204" pitchFamily="18" charset="0"/>
                              <a:ea typeface="SimSun" panose="02010600030101010101" pitchFamily="2" charset="-122"/>
                            </a:rPr>
                          </m:ctrlPr>
                        </m:dPr>
                        <m:e>
                          <m:r>
                            <a:rPr lang="en-US" altLang="zh-CN" sz="2400" i="1">
                              <a:effectLst/>
                              <a:latin typeface="Cambria Math" panose="02040503050406030204" pitchFamily="18" charset="0"/>
                              <a:ea typeface="SimSun" panose="02010600030101010101" pitchFamily="2" charset="-122"/>
                            </a:rPr>
                            <m:t> </m:t>
                          </m:r>
                          <m:eqArr>
                            <m:eqArrPr>
                              <m:ctrlPr>
                                <a:rPr lang="en-CN" altLang="zh-CN" sz="2400" i="1">
                                  <a:effectLst/>
                                  <a:latin typeface="Cambria Math" panose="02040503050406030204" pitchFamily="18" charset="0"/>
                                  <a:ea typeface="SimSun" panose="02010600030101010101" pitchFamily="2" charset="-122"/>
                                </a:rPr>
                              </m:ctrlPr>
                            </m:eqArrPr>
                            <m:e>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1</m:t>
                                  </m:r>
                                </m:sub>
                              </m:sSub>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2</m:t>
                                  </m:r>
                                </m:sub>
                              </m:sSub>
                              <m:r>
                                <a:rPr lang="en-US" altLang="zh-CN" sz="2400" i="1">
                                  <a:effectLst/>
                                  <a:latin typeface="Cambria Math" panose="02040503050406030204" pitchFamily="18" charset="0"/>
                                  <a:ea typeface="SimSun" panose="02010600030101010101" pitchFamily="2" charset="-122"/>
                                </a:rPr>
                                <m:t>+2</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3</m:t>
                                  </m:r>
                                </m:sub>
                              </m:sSub>
                              <m:r>
                                <a:rPr lang="en-US" altLang="zh-CN" sz="2400" b="0" i="1" smtClean="0">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4</m:t>
                                  </m:r>
                                </m:sub>
                              </m:sSub>
                              <m:r>
                                <a:rPr lang="en-US" altLang="zh-CN" sz="2400" b="0" i="1" smtClean="0">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=9</m:t>
                              </m:r>
                            </m:e>
                            <m:e>
                              <m:r>
                                <a:rPr lang="en-US" altLang="zh-CN" sz="2400" i="1">
                                  <a:effectLst/>
                                  <a:latin typeface="Cambria Math" panose="02040503050406030204" pitchFamily="18" charset="0"/>
                                  <a:ea typeface="SimSun" panose="02010600030101010101" pitchFamily="2" charset="-122"/>
                                </a:rPr>
                                <m:t>        </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1</m:t>
                                  </m:r>
                                </m:sub>
                              </m:sSub>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2</m:t>
                                  </m:r>
                                </m:sub>
                              </m:sSub>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3</m:t>
                                  </m:r>
                                </m:sub>
                              </m:sSub>
                              <m:r>
                                <a:rPr lang="en-US" altLang="zh-CN" sz="2400" i="1">
                                  <a:effectLst/>
                                  <a:latin typeface="Cambria Math" panose="02040503050406030204" pitchFamily="18" charset="0"/>
                                  <a:ea typeface="SimSun" panose="02010600030101010101" pitchFamily="2" charset="-122"/>
                                </a:rPr>
                                <m:t>            </m:t>
                              </m:r>
                              <m:r>
                                <a:rPr lang="en-US" altLang="zh-CN" sz="2400" b="0" i="1" smtClean="0">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5</m:t>
                                  </m:r>
                                </m:sub>
                              </m:sSub>
                              <m:r>
                                <a:rPr lang="en-US" altLang="zh-CN" sz="2400" b="0" i="1" smtClean="0">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=2</m:t>
                              </m:r>
                            </m:e>
                            <m:e>
                              <m:r>
                                <a:rPr lang="en-US" altLang="zh-CN" sz="2400" i="1">
                                  <a:effectLst/>
                                  <a:latin typeface="Cambria Math" panose="02040503050406030204" pitchFamily="18" charset="0"/>
                                  <a:ea typeface="SimSun" panose="02010600030101010101" pitchFamily="2" charset="-122"/>
                                </a:rPr>
                                <m:t>             −</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1</m:t>
                                  </m:r>
                                </m:sub>
                              </m:sSub>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2</m:t>
                                  </m:r>
                                </m:sub>
                              </m:sSub>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3</m:t>
                                  </m:r>
                                </m:sub>
                              </m:sSub>
                              <m:r>
                                <a:rPr lang="en-US" altLang="zh-CN" sz="2400" i="1">
                                  <a:effectLst/>
                                  <a:latin typeface="Cambria Math" panose="02040503050406030204" pitchFamily="18" charset="0"/>
                                  <a:ea typeface="SimSun" panose="02010600030101010101" pitchFamily="2" charset="-122"/>
                                </a:rPr>
                                <m:t>                   </m:t>
                              </m:r>
                              <m:r>
                                <a:rPr lang="en-US" altLang="zh-CN" sz="2400" b="0" i="1" smtClean="0">
                                  <a:effectLst/>
                                  <a:latin typeface="Cambria Math" panose="02040503050406030204" pitchFamily="18" charset="0"/>
                                  <a:ea typeface="SimSun" panose="02010600030101010101" pitchFamily="2" charset="-122"/>
                                </a:rPr>
                                <m:t> </m:t>
                              </m:r>
                              <m:r>
                                <a:rPr lang="en-US" altLang="zh-CN" sz="2400" i="1">
                                  <a:effectLst/>
                                  <a:latin typeface="Cambria Math" panose="02040503050406030204" pitchFamily="18" charset="0"/>
                                  <a:ea typeface="SimSun" panose="02010600030101010101" pitchFamily="2" charset="-122"/>
                                </a:rPr>
                                <m:t>+</m:t>
                              </m:r>
                              <m:sSub>
                                <m:sSubPr>
                                  <m:ctrlPr>
                                    <a:rPr lang="en-CN" altLang="zh-CN" sz="2400" i="1">
                                      <a:effectLst/>
                                      <a:latin typeface="Cambria Math" panose="02040503050406030204" pitchFamily="18" charset="0"/>
                                      <a:ea typeface="SimSun" panose="02010600030101010101" pitchFamily="2" charset="-122"/>
                                    </a:rPr>
                                  </m:ctrlPr>
                                </m:sSubPr>
                                <m:e>
                                  <m:r>
                                    <a:rPr lang="en-US" altLang="zh-CN" sz="2400" i="1">
                                      <a:effectLst/>
                                      <a:latin typeface="Cambria Math" panose="02040503050406030204" pitchFamily="18" charset="0"/>
                                      <a:ea typeface="SimSun" panose="02010600030101010101" pitchFamily="2" charset="-122"/>
                                    </a:rPr>
                                    <m:t>𝑥</m:t>
                                  </m:r>
                                </m:e>
                                <m:sub>
                                  <m:r>
                                    <a:rPr lang="en-US" altLang="zh-CN" sz="2400" i="1">
                                      <a:effectLst/>
                                      <a:latin typeface="Cambria Math" panose="02040503050406030204" pitchFamily="18" charset="0"/>
                                      <a:ea typeface="SimSun" panose="02010600030101010101" pitchFamily="2" charset="-122"/>
                                    </a:rPr>
                                    <m:t>6</m:t>
                                  </m:r>
                                </m:sub>
                              </m:sSub>
                              <m:r>
                                <a:rPr lang="en-US" altLang="zh-CN" sz="2400" i="1">
                                  <a:effectLst/>
                                  <a:latin typeface="Cambria Math" panose="02040503050406030204" pitchFamily="18" charset="0"/>
                                  <a:ea typeface="SimSun" panose="02010600030101010101" pitchFamily="2" charset="-122"/>
                                </a:rPr>
                                <m:t>=4</m:t>
                              </m:r>
                            </m:e>
                            <m:e>
                              <m:sSub>
                                <m:sSubPr>
                                  <m:ctrlPr>
                                    <a:rPr lang="en-CN" altLang="zh-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𝑗</m:t>
                                  </m:r>
                                </m:sub>
                              </m:s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≥0,</m:t>
                              </m:r>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𝑗</m:t>
                              </m:r>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=1,2,⋯,6</m:t>
                              </m:r>
                            </m:e>
                          </m:eqArr>
                        </m:e>
                      </m:d>
                    </m:oMath>
                  </m:oMathPara>
                </a14:m>
                <a:endParaRPr lang="en-US" altLang="zh-CN" sz="2400" dirty="0">
                  <a:effectLst/>
                  <a:latin typeface="Times New Roman" panose="02020603050405020304" pitchFamily="18" charset="0"/>
                  <a:ea typeface="宋体" panose="02010600030101010101" pitchFamily="2" charset="-122"/>
                </a:endParaRPr>
              </a:p>
              <a:p>
                <a:pPr indent="304800" algn="just">
                  <a:lnSpc>
                    <a:spcPct val="130000"/>
                  </a:lnSpc>
                </a:pPr>
                <a:r>
                  <a:rPr lang="zh-CN" altLang="zh-CN" sz="2400" dirty="0">
                    <a:effectLst/>
                    <a:latin typeface="Times New Roman" panose="02020603050405020304" pitchFamily="18" charset="0"/>
                    <a:ea typeface="宋体" panose="02010600030101010101" pitchFamily="2" charset="-122"/>
                  </a:rPr>
                  <a:t>的最优单纯形表如下</a:t>
                </a:r>
                <a:r>
                  <a:rPr lang="zh-CN" altLang="en-US" sz="2400" dirty="0">
                    <a:effectLst/>
                    <a:latin typeface="Times New Roman" panose="02020603050405020304" pitchFamily="18" charset="0"/>
                    <a:ea typeface="宋体" panose="02010600030101010101" pitchFamily="2" charset="-122"/>
                  </a:rPr>
                  <a:t>表，</a:t>
                </a:r>
                <a:r>
                  <a:rPr lang="zh-CN" altLang="zh-CN" sz="2400" dirty="0">
                    <a:effectLst/>
                    <a:latin typeface="Times New Roman" panose="02020603050405020304" pitchFamily="18" charset="0"/>
                    <a:ea typeface="宋体" panose="02010600030101010101" pitchFamily="2" charset="-122"/>
                  </a:rPr>
                  <a:t>现增加一个新变量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oMath>
                </a14:m>
                <a:r>
                  <a:rPr lang="zh-CN" altLang="zh-CN" sz="2400" dirty="0">
                    <a:effectLst/>
                    <a:latin typeface="Times New Roman" panose="02020603050405020304" pitchFamily="18" charset="0"/>
                    <a:ea typeface="宋体" panose="02010600030101010101" pitchFamily="2" charset="-122"/>
                  </a:rPr>
                  <a:t>，且已知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=−3,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𝐴</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(3,1,−3)</m:t>
                        </m:r>
                      </m:e>
                      <m:sup>
                        <m:r>
                          <a:rPr lang="en-US" altLang="zh-CN" sz="2400" i="1">
                            <a:effectLst/>
                            <a:latin typeface="Cambria Math" panose="02040503050406030204" pitchFamily="18" charset="0"/>
                            <a:ea typeface="宋体" panose="02010600030101010101" pitchFamily="2" charset="-122"/>
                          </a:rPr>
                          <m:t>𝑇</m:t>
                        </m:r>
                      </m:sup>
                    </m:sSup>
                  </m:oMath>
                </a14:m>
                <a:r>
                  <a:rPr lang="zh-CN" altLang="zh-CN" sz="2400" dirty="0">
                    <a:effectLst/>
                    <a:latin typeface="Times New Roman" panose="02020603050405020304" pitchFamily="18" charset="0"/>
                    <a:ea typeface="宋体" panose="02010600030101010101" pitchFamily="2" charset="-122"/>
                  </a:rPr>
                  <a:t>，求新问题的最优解。</a:t>
                </a:r>
              </a:p>
            </p:txBody>
          </p:sp>
        </mc:Choice>
        <mc:Fallback xmlns="">
          <p:sp>
            <p:nvSpPr>
              <p:cNvPr id="5" name="文本框 4">
                <a:extLst>
                  <a:ext uri="{FF2B5EF4-FFF2-40B4-BE49-F238E27FC236}">
                    <a16:creationId xmlns:a16="http://schemas.microsoft.com/office/drawing/2014/main" id="{83826C34-555E-8A49-8E93-D18C47B27FD7}"/>
                  </a:ext>
                </a:extLst>
              </p:cNvPr>
              <p:cNvSpPr txBox="1">
                <a:spLocks noRot="1" noChangeAspect="1" noMove="1" noResize="1" noEditPoints="1" noAdjustHandles="1" noChangeArrowheads="1" noChangeShapeType="1" noTextEdit="1"/>
              </p:cNvSpPr>
              <p:nvPr/>
            </p:nvSpPr>
            <p:spPr>
              <a:xfrm>
                <a:off x="143683" y="144590"/>
                <a:ext cx="10660441" cy="3515258"/>
              </a:xfrm>
              <a:prstGeom prst="rect">
                <a:avLst/>
              </a:prstGeom>
              <a:blipFill>
                <a:blip r:embed="rId2"/>
                <a:stretch>
                  <a:fillRect l="-515" t="-174" b="-26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8">
                <a:extLst>
                  <a:ext uri="{FF2B5EF4-FFF2-40B4-BE49-F238E27FC236}">
                    <a16:creationId xmlns:a16="http://schemas.microsoft.com/office/drawing/2014/main" id="{ED2A32A2-C644-0E51-774B-338FB6F0E7E7}"/>
                  </a:ext>
                </a:extLst>
              </p:cNvPr>
              <p:cNvGraphicFramePr>
                <a:graphicFrameLocks noGrp="1"/>
              </p:cNvGraphicFramePr>
              <p:nvPr/>
            </p:nvGraphicFramePr>
            <p:xfrm>
              <a:off x="5916967" y="3597704"/>
              <a:ext cx="6027939" cy="3001455"/>
            </p:xfrm>
            <a:graphic>
              <a:graphicData uri="http://schemas.openxmlformats.org/drawingml/2006/table">
                <a:tbl>
                  <a:tblPr firstRow="1" firstCol="1" bandRow="1"/>
                  <a:tblGrid>
                    <a:gridCol w="677198">
                      <a:extLst>
                        <a:ext uri="{9D8B030D-6E8A-4147-A177-3AD203B41FA5}">
                          <a16:colId xmlns:a16="http://schemas.microsoft.com/office/drawing/2014/main" val="2673772826"/>
                        </a:ext>
                      </a:extLst>
                    </a:gridCol>
                    <a:gridCol w="677198">
                      <a:extLst>
                        <a:ext uri="{9D8B030D-6E8A-4147-A177-3AD203B41FA5}">
                          <a16:colId xmlns:a16="http://schemas.microsoft.com/office/drawing/2014/main" val="2617236624"/>
                        </a:ext>
                      </a:extLst>
                    </a:gridCol>
                    <a:gridCol w="677198">
                      <a:extLst>
                        <a:ext uri="{9D8B030D-6E8A-4147-A177-3AD203B41FA5}">
                          <a16:colId xmlns:a16="http://schemas.microsoft.com/office/drawing/2014/main" val="4150211959"/>
                        </a:ext>
                      </a:extLst>
                    </a:gridCol>
                    <a:gridCol w="675018">
                      <a:extLst>
                        <a:ext uri="{9D8B030D-6E8A-4147-A177-3AD203B41FA5}">
                          <a16:colId xmlns:a16="http://schemas.microsoft.com/office/drawing/2014/main" val="3570847064"/>
                        </a:ext>
                      </a:extLst>
                    </a:gridCol>
                    <a:gridCol w="675746">
                      <a:extLst>
                        <a:ext uri="{9D8B030D-6E8A-4147-A177-3AD203B41FA5}">
                          <a16:colId xmlns:a16="http://schemas.microsoft.com/office/drawing/2014/main" val="956899930"/>
                        </a:ext>
                      </a:extLst>
                    </a:gridCol>
                    <a:gridCol w="675746">
                      <a:extLst>
                        <a:ext uri="{9D8B030D-6E8A-4147-A177-3AD203B41FA5}">
                          <a16:colId xmlns:a16="http://schemas.microsoft.com/office/drawing/2014/main" val="2151239723"/>
                        </a:ext>
                      </a:extLst>
                    </a:gridCol>
                    <a:gridCol w="675746">
                      <a:extLst>
                        <a:ext uri="{9D8B030D-6E8A-4147-A177-3AD203B41FA5}">
                          <a16:colId xmlns:a16="http://schemas.microsoft.com/office/drawing/2014/main" val="834012947"/>
                        </a:ext>
                      </a:extLst>
                    </a:gridCol>
                    <a:gridCol w="675746">
                      <a:extLst>
                        <a:ext uri="{9D8B030D-6E8A-4147-A177-3AD203B41FA5}">
                          <a16:colId xmlns:a16="http://schemas.microsoft.com/office/drawing/2014/main" val="3963573122"/>
                        </a:ext>
                      </a:extLst>
                    </a:gridCol>
                    <a:gridCol w="618343">
                      <a:extLst>
                        <a:ext uri="{9D8B030D-6E8A-4147-A177-3AD203B41FA5}">
                          <a16:colId xmlns:a16="http://schemas.microsoft.com/office/drawing/2014/main" val="2042648462"/>
                        </a:ext>
                      </a:extLst>
                    </a:gridCol>
                  </a:tblGrid>
                  <a:tr h="433289">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-4</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413268">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6</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405714">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SimSun" panose="02010600030101010101" pitchFamily="2" charset="-122"/>
                                  </a:rPr>
                                  <m:t>−</m:t>
                                </m:r>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405714">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405714">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13</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433289">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3" name="Table 8">
                <a:extLst>
                  <a:ext uri="{FF2B5EF4-FFF2-40B4-BE49-F238E27FC236}">
                    <a16:creationId xmlns:a16="http://schemas.microsoft.com/office/drawing/2014/main" id="{ED2A32A2-C644-0E51-774B-338FB6F0E7E7}"/>
                  </a:ext>
                </a:extLst>
              </p:cNvPr>
              <p:cNvGraphicFramePr>
                <a:graphicFrameLocks noGrp="1"/>
              </p:cNvGraphicFramePr>
              <p:nvPr>
                <p:extLst>
                  <p:ext uri="{D42A27DB-BD31-4B8C-83A1-F6EECF244321}">
                    <p14:modId xmlns:p14="http://schemas.microsoft.com/office/powerpoint/2010/main" val="1139974472"/>
                  </p:ext>
                </p:extLst>
              </p:nvPr>
            </p:nvGraphicFramePr>
            <p:xfrm>
              <a:off x="5916967" y="3597704"/>
              <a:ext cx="6027939" cy="3001455"/>
            </p:xfrm>
            <a:graphic>
              <a:graphicData uri="http://schemas.openxmlformats.org/drawingml/2006/table">
                <a:tbl>
                  <a:tblPr firstRow="1" firstCol="1" bandRow="1"/>
                  <a:tblGrid>
                    <a:gridCol w="677198">
                      <a:extLst>
                        <a:ext uri="{9D8B030D-6E8A-4147-A177-3AD203B41FA5}">
                          <a16:colId xmlns:a16="http://schemas.microsoft.com/office/drawing/2014/main" val="2673772826"/>
                        </a:ext>
                      </a:extLst>
                    </a:gridCol>
                    <a:gridCol w="677198">
                      <a:extLst>
                        <a:ext uri="{9D8B030D-6E8A-4147-A177-3AD203B41FA5}">
                          <a16:colId xmlns:a16="http://schemas.microsoft.com/office/drawing/2014/main" val="2617236624"/>
                        </a:ext>
                      </a:extLst>
                    </a:gridCol>
                    <a:gridCol w="677198">
                      <a:extLst>
                        <a:ext uri="{9D8B030D-6E8A-4147-A177-3AD203B41FA5}">
                          <a16:colId xmlns:a16="http://schemas.microsoft.com/office/drawing/2014/main" val="4150211959"/>
                        </a:ext>
                      </a:extLst>
                    </a:gridCol>
                    <a:gridCol w="675018">
                      <a:extLst>
                        <a:ext uri="{9D8B030D-6E8A-4147-A177-3AD203B41FA5}">
                          <a16:colId xmlns:a16="http://schemas.microsoft.com/office/drawing/2014/main" val="3570847064"/>
                        </a:ext>
                      </a:extLst>
                    </a:gridCol>
                    <a:gridCol w="675746">
                      <a:extLst>
                        <a:ext uri="{9D8B030D-6E8A-4147-A177-3AD203B41FA5}">
                          <a16:colId xmlns:a16="http://schemas.microsoft.com/office/drawing/2014/main" val="956899930"/>
                        </a:ext>
                      </a:extLst>
                    </a:gridCol>
                    <a:gridCol w="675746">
                      <a:extLst>
                        <a:ext uri="{9D8B030D-6E8A-4147-A177-3AD203B41FA5}">
                          <a16:colId xmlns:a16="http://schemas.microsoft.com/office/drawing/2014/main" val="2151239723"/>
                        </a:ext>
                      </a:extLst>
                    </a:gridCol>
                    <a:gridCol w="675746">
                      <a:extLst>
                        <a:ext uri="{9D8B030D-6E8A-4147-A177-3AD203B41FA5}">
                          <a16:colId xmlns:a16="http://schemas.microsoft.com/office/drawing/2014/main" val="834012947"/>
                        </a:ext>
                      </a:extLst>
                    </a:gridCol>
                    <a:gridCol w="675746">
                      <a:extLst>
                        <a:ext uri="{9D8B030D-6E8A-4147-A177-3AD203B41FA5}">
                          <a16:colId xmlns:a16="http://schemas.microsoft.com/office/drawing/2014/main" val="3963573122"/>
                        </a:ext>
                      </a:extLst>
                    </a:gridCol>
                    <a:gridCol w="618343">
                      <a:extLst>
                        <a:ext uri="{9D8B030D-6E8A-4147-A177-3AD203B41FA5}">
                          <a16:colId xmlns:a16="http://schemas.microsoft.com/office/drawing/2014/main" val="2042648462"/>
                        </a:ext>
                      </a:extLst>
                    </a:gridCol>
                  </a:tblGrid>
                  <a:tr h="520827">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99" t="-1163" r="-197006" b="-482558"/>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-4</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496761">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01" t="-107407" r="-793694" b="-412346"/>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9107" t="-107407" r="-587500"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01802" t="-107407" r="-492793"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1802" t="-107407" r="-392793"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06364" t="-107407" r="-296364"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00901" t="-107407" r="-193694" b="-41234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00901" t="-107407" r="-93694" b="-412346"/>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1569" t="-107407" r="-1961" b="-412346"/>
                          </a:stretch>
                        </a:blipFill>
                      </a:tcPr>
                    </a:tc>
                    <a:extLst>
                      <a:ext uri="{0D108BD9-81ED-4DB2-BD59-A6C34878D82A}">
                        <a16:rowId xmlns:a16="http://schemas.microsoft.com/office/drawing/2014/main" val="996163856"/>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901" t="-210000" r="-693694" b="-31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9107" t="-210000" r="-587500"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1802" t="-210000" r="-392793"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00901" t="-210000" r="-193694" b="-3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1569" t="-210000" r="-1961" b="-317500"/>
                          </a:stretch>
                        </a:blipFill>
                      </a:tcPr>
                    </a:tc>
                    <a:extLst>
                      <a:ext uri="{0D108BD9-81ED-4DB2-BD59-A6C34878D82A}">
                        <a16:rowId xmlns:a16="http://schemas.microsoft.com/office/drawing/2014/main" val="1216391595"/>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901" t="-310000" r="-693694" b="-2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487680">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901" t="-410000" r="-693694" b="-11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9107" t="-410000" r="-587500"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01802" t="-410000" r="-392793"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00901" t="-410000" r="-193694" b="-117500"/>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71569" t="-410000" r="-1961" b="-117500"/>
                          </a:stretch>
                        </a:blipFill>
                      </a:tcPr>
                    </a:tc>
                    <a:extLst>
                      <a:ext uri="{0D108BD9-81ED-4DB2-BD59-A6C34878D82A}">
                        <a16:rowId xmlns:a16="http://schemas.microsoft.com/office/drawing/2014/main" val="3247636125"/>
                      </a:ext>
                    </a:extLst>
                  </a:tr>
                  <a:tr h="520827">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99" t="-474419" r="-197006" b="-9302"/>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F03928A-C559-C4CD-DEBB-2CFA474DA634}"/>
                  </a:ext>
                </a:extLst>
              </p:cNvPr>
              <p:cNvSpPr txBox="1"/>
              <p:nvPr/>
            </p:nvSpPr>
            <p:spPr>
              <a:xfrm>
                <a:off x="1" y="3659848"/>
                <a:ext cx="7057748" cy="2546723"/>
              </a:xfrm>
              <a:prstGeom prst="rect">
                <a:avLst/>
              </a:prstGeom>
              <a:noFill/>
            </p:spPr>
            <p:txBody>
              <a:bodyPr wrap="square">
                <a:spAutoFit/>
              </a:bodyPr>
              <a:lstStyle/>
              <a:p>
                <a:pPr indent="304800" algn="just">
                  <a:lnSpc>
                    <a:spcPct val="130000"/>
                  </a:lnSpc>
                </a:pPr>
                <a:r>
                  <a:rPr lang="zh-CN" altLang="zh-CN" sz="2400" dirty="0">
                    <a:effectLst/>
                    <a:latin typeface="Times New Roman" panose="02020603050405020304" pitchFamily="18" charset="0"/>
                    <a:ea typeface="黑体" panose="02010609060101010101" pitchFamily="49" charset="-122"/>
                  </a:rPr>
                  <a:t>解</a:t>
                </a:r>
                <a:r>
                  <a:rPr lang="en-US" altLang="zh-CN" sz="2400" dirty="0">
                    <a:effectLst/>
                    <a:latin typeface="Times New Roman" panose="02020603050405020304" pitchFamily="18" charset="0"/>
                    <a:ea typeface="黑体" panose="02010609060101010101" pitchFamily="49" charset="-122"/>
                  </a:rPr>
                  <a:t>  </a:t>
                </a:r>
                <a:r>
                  <a:rPr lang="zh-CN" altLang="zh-CN" sz="2400" dirty="0">
                    <a:effectLst/>
                    <a:latin typeface="Times New Roman" panose="02020603050405020304" pitchFamily="18" charset="0"/>
                    <a:ea typeface="宋体" panose="02010600030101010101" pitchFamily="2" charset="-122"/>
                  </a:rPr>
                  <a:t>由</a:t>
                </a:r>
                <a:r>
                  <a:rPr lang="zh-CN" altLang="en-US" sz="2400" dirty="0">
                    <a:effectLst/>
                    <a:latin typeface="Times New Roman" panose="02020603050405020304" pitchFamily="18" charset="0"/>
                    <a:ea typeface="宋体" panose="02010600030101010101" pitchFamily="2" charset="-122"/>
                  </a:rPr>
                  <a:t>题设知</a:t>
                </a:r>
                <a:r>
                  <a:rPr lang="zh-CN" altLang="zh-CN" sz="2400" dirty="0">
                    <a:effectLst/>
                    <a:latin typeface="Times New Roman" panose="02020603050405020304" pitchFamily="18" charset="0"/>
                    <a:ea typeface="宋体" panose="02010600030101010101" pitchFamily="2" charset="-122"/>
                  </a:rPr>
                  <a:t>，</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r>
                      <a:rPr lang="en-US" altLang="zh-CN" sz="2400" i="1">
                        <a:effectLst/>
                        <a:latin typeface="Cambria Math" panose="02040503050406030204" pitchFamily="18" charset="0"/>
                        <a:ea typeface="宋体" panose="02010600030101010101" pitchFamily="2" charset="-122"/>
                      </a:rPr>
                      <m:t>=</m:t>
                    </m:r>
                    <m:d>
                      <m:dPr>
                        <m:ctrlPr>
                          <a:rPr lang="en-US" altLang="zh-CN" sz="2400" i="1">
                            <a:latin typeface="Cambria Math" panose="02040503050406030204" pitchFamily="18" charset="0"/>
                            <a:ea typeface="SimSun" panose="02010600030101010101" pitchFamily="2" charset="-122"/>
                          </a:rPr>
                        </m:ctrlPr>
                      </m:dPr>
                      <m:e>
                        <m:m>
                          <m:mPr>
                            <m:mcs>
                              <m:mc>
                                <m:mcPr>
                                  <m:count m:val="3"/>
                                  <m:mcJc m:val="center"/>
                                </m:mcPr>
                              </m:mc>
                            </m:mcs>
                            <m:ctrlPr>
                              <a:rPr lang="en-CN" altLang="zh-CN" sz="2400" i="1">
                                <a:latin typeface="Cambria Math" panose="02040503050406030204" pitchFamily="18" charset="0"/>
                                <a:ea typeface="SimSun" panose="02010600030101010101" pitchFamily="2" charset="-122"/>
                              </a:rPr>
                            </m:ctrlPr>
                          </m:mP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−2</m:t>
                                  </m:r>
                                </m:num>
                                <m:den>
                                  <m:r>
                                    <a:rPr lang="en-US" altLang="zh-CN" sz="2400" i="1">
                                      <a:latin typeface="Cambria Math" panose="02040503050406030204" pitchFamily="18" charset="0"/>
                                      <a:ea typeface="SimSun" panose="02010600030101010101" pitchFamily="2" charset="-122"/>
                                    </a:rPr>
                                    <m:t>3</m:t>
                                  </m:r>
                                </m:den>
                              </m:f>
                            </m:e>
                          </m:mr>
                          <m:mr>
                            <m:e>
                              <m:r>
                                <a:rPr lang="en-US" altLang="zh-CN" sz="2400" i="1">
                                  <a:latin typeface="Cambria Math" panose="02040503050406030204" pitchFamily="18" charset="0"/>
                                  <a:ea typeface="SimSun" panose="02010600030101010101" pitchFamily="2" charset="-122"/>
                                </a:rPr>
                                <m:t>0</m:t>
                              </m:r>
                            </m:e>
                            <m:e>
                              <m:r>
                                <a:rPr lang="en-US" altLang="zh-CN" sz="2400" i="1">
                                  <a:latin typeface="Cambria Math" panose="02040503050406030204" pitchFamily="18" charset="0"/>
                                  <a:ea typeface="SimSun" panose="02010600030101010101" pitchFamily="2" charset="-122"/>
                                </a:rPr>
                                <m:t>1</m:t>
                              </m:r>
                            </m:e>
                            <m:e>
                              <m:r>
                                <a:rPr lang="en-US" altLang="zh-CN" sz="2400" i="1">
                                  <a:latin typeface="Cambria Math" panose="02040503050406030204" pitchFamily="18" charset="0"/>
                                  <a:ea typeface="SimSun" panose="02010600030101010101" pitchFamily="2" charset="-122"/>
                                </a:rPr>
                                <m:t>1</m:t>
                              </m:r>
                            </m:e>
                          </m:mr>
                          <m:mr>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e>
                              <m:r>
                                <a:rPr lang="en-US" altLang="zh-CN" sz="2400" i="1">
                                  <a:latin typeface="Cambria Math" panose="02040503050406030204" pitchFamily="18" charset="0"/>
                                  <a:ea typeface="SimSun" panose="02010600030101010101" pitchFamily="2" charset="-122"/>
                                </a:rPr>
                                <m:t>0</m:t>
                              </m:r>
                            </m:e>
                            <m:e>
                              <m:f>
                                <m:fPr>
                                  <m:type m:val="lin"/>
                                  <m:ctrlPr>
                                    <a:rPr lang="en-CN" altLang="zh-CN" sz="2400" i="1">
                                      <a:latin typeface="Cambria Math" panose="02040503050406030204" pitchFamily="18" charset="0"/>
                                      <a:ea typeface="SimSun" panose="02010600030101010101" pitchFamily="2" charset="-122"/>
                                    </a:rPr>
                                  </m:ctrlPr>
                                </m:fPr>
                                <m:num>
                                  <m:r>
                                    <a:rPr lang="en-US" altLang="zh-CN" sz="2400" i="1">
                                      <a:latin typeface="Cambria Math" panose="02040503050406030204" pitchFamily="18" charset="0"/>
                                      <a:ea typeface="SimSun" panose="02010600030101010101" pitchFamily="2" charset="-122"/>
                                    </a:rPr>
                                    <m:t>1</m:t>
                                  </m:r>
                                </m:num>
                                <m:den>
                                  <m:r>
                                    <a:rPr lang="en-US" altLang="zh-CN" sz="2400" i="1">
                                      <a:latin typeface="Cambria Math" panose="02040503050406030204" pitchFamily="18" charset="0"/>
                                      <a:ea typeface="SimSun" panose="02010600030101010101" pitchFamily="2" charset="-122"/>
                                    </a:rPr>
                                    <m:t>3</m:t>
                                  </m:r>
                                </m:den>
                              </m:f>
                            </m:e>
                          </m:mr>
                        </m:m>
                      </m:e>
                    </m:d>
                  </m:oMath>
                </a14:m>
                <a:r>
                  <a:rPr lang="zh-CN" altLang="zh-CN" sz="2400" dirty="0">
                    <a:effectLst/>
                    <a:latin typeface="Times New Roman" panose="02020603050405020304" pitchFamily="18" charset="0"/>
                    <a:ea typeface="宋体" panose="02010600030101010101" pitchFamily="2" charset="-122"/>
                  </a:rPr>
                  <a:t>，</a:t>
                </a:r>
                <a:endParaRPr lang="en-US" altLang="zh-CN" sz="2400" dirty="0">
                  <a:effectLst/>
                  <a:latin typeface="Times New Roman" panose="02020603050405020304" pitchFamily="18" charset="0"/>
                  <a:ea typeface="宋体" panose="02010600030101010101" pitchFamily="2" charset="-122"/>
                </a:endParaRPr>
              </a:p>
              <a:p>
                <a:pPr indent="304800" algn="just">
                  <a:lnSpc>
                    <a:spcPct val="130000"/>
                  </a:lnSpc>
                </a:pP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𝐵</m:t>
                        </m:r>
                      </m:sub>
                    </m:sSub>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1,0,</m:t>
                        </m:r>
                        <m:r>
                          <a:rPr lang="en-US" altLang="zh-CN" sz="2400" b="0" i="1" smtClean="0">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4</m:t>
                        </m:r>
                      </m:e>
                    </m:d>
                  </m:oMath>
                </a14:m>
                <a:r>
                  <a:rPr lang="zh-CN" altLang="zh-CN" sz="2400" dirty="0">
                    <a:effectLst/>
                    <a:latin typeface="Times New Roman" panose="02020603050405020304" pitchFamily="18" charset="0"/>
                    <a:ea typeface="宋体" panose="02010600030101010101" pitchFamily="2" charset="-122"/>
                  </a:rPr>
                  <a:t>，</a:t>
                </a:r>
                <a:endParaRPr lang="en-US" altLang="zh-CN" sz="2400" dirty="0">
                  <a:effectLst/>
                  <a:latin typeface="Times New Roman" panose="02020603050405020304" pitchFamily="18" charset="0"/>
                  <a:ea typeface="宋体" panose="02010600030101010101" pitchFamily="2" charset="-122"/>
                </a:endParaRPr>
              </a:p>
              <a:p>
                <a:pPr indent="304800" algn="just">
                  <a:lnSpc>
                    <a:spcPct val="130000"/>
                  </a:lnSpc>
                </a:pPr>
                <a:r>
                  <a:rPr lang="zh-CN" altLang="zh-CN" sz="2400" dirty="0">
                    <a:effectLst/>
                    <a:latin typeface="Times New Roman" panose="02020603050405020304" pitchFamily="18" charset="0"/>
                    <a:ea typeface="宋体" panose="02010600030101010101" pitchFamily="2" charset="-122"/>
                  </a:rPr>
                  <a:t>故</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𝐴</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=−6&lt;0</m:t>
                    </m:r>
                  </m:oMath>
                </a14:m>
                <a:r>
                  <a:rPr lang="en-US" altLang="zh-CN" sz="2400" dirty="0">
                    <a:effectLst/>
                    <a:latin typeface="Times New Roman" panose="02020603050405020304" pitchFamily="18" charset="0"/>
                    <a:ea typeface="宋体" panose="02010600030101010101" pitchFamily="2" charset="-122"/>
                  </a:rPr>
                  <a:t>.</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9" name="文本框 8">
                <a:extLst>
                  <a:ext uri="{FF2B5EF4-FFF2-40B4-BE49-F238E27FC236}">
                    <a16:creationId xmlns:a16="http://schemas.microsoft.com/office/drawing/2014/main" id="{8F03928A-C559-C4CD-DEBB-2CFA474DA634}"/>
                  </a:ext>
                </a:extLst>
              </p:cNvPr>
              <p:cNvSpPr txBox="1">
                <a:spLocks noRot="1" noChangeAspect="1" noMove="1" noResize="1" noEditPoints="1" noAdjustHandles="1" noChangeArrowheads="1" noChangeShapeType="1" noTextEdit="1"/>
              </p:cNvSpPr>
              <p:nvPr/>
            </p:nvSpPr>
            <p:spPr>
              <a:xfrm>
                <a:off x="1" y="3659848"/>
                <a:ext cx="7057748" cy="2546723"/>
              </a:xfrm>
              <a:prstGeom prst="rect">
                <a:avLst/>
              </a:prstGeom>
              <a:blipFill>
                <a:blip r:embed="rId4"/>
                <a:stretch>
                  <a:fillRect b="-4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680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3">
            <a:extLst>
              <a:ext uri="{FF2B5EF4-FFF2-40B4-BE49-F238E27FC236}">
                <a16:creationId xmlns:a16="http://schemas.microsoft.com/office/drawing/2014/main" id="{F70300B8-F9CB-85FD-B77A-523635789B99}"/>
              </a:ext>
            </a:extLst>
          </p:cNvPr>
          <p:cNvGraphicFramePr>
            <a:graphicFrameLocks noGrp="1" noChangeAspect="1"/>
          </p:cNvGraphicFramePr>
          <p:nvPr>
            <p:ph idx="1"/>
          </p:nvPr>
        </p:nvGraphicFramePr>
        <p:xfrm>
          <a:off x="4863530" y="872255"/>
          <a:ext cx="7716128" cy="5887876"/>
        </p:xfrm>
        <a:graphic>
          <a:graphicData uri="http://schemas.openxmlformats.org/presentationml/2006/ole">
            <mc:AlternateContent xmlns:mc="http://schemas.openxmlformats.org/markup-compatibility/2006">
              <mc:Choice xmlns:v="urn:schemas-microsoft-com:vml" Requires="v">
                <p:oleObj name="Document" r:id="rId2" imgW="5422004" imgH="4137269" progId="Word.Document.8">
                  <p:embed/>
                </p:oleObj>
              </mc:Choice>
              <mc:Fallback>
                <p:oleObj name="Document" r:id="rId2" imgW="5422004" imgH="4137269" progId="Word.Document.8">
                  <p:embed/>
                  <p:pic>
                    <p:nvPicPr>
                      <p:cNvPr id="21506" name="Object 3">
                        <a:extLst>
                          <a:ext uri="{FF2B5EF4-FFF2-40B4-BE49-F238E27FC236}">
                            <a16:creationId xmlns:a16="http://schemas.microsoft.com/office/drawing/2014/main" id="{F70300B8-F9CB-85FD-B77A-523635789B99}"/>
                          </a:ext>
                        </a:extLst>
                      </p:cNvPr>
                      <p:cNvPicPr>
                        <a:picLocks noChangeAspect="1" noChangeArrowheads="1"/>
                      </p:cNvPicPr>
                      <p:nvPr/>
                    </p:nvPicPr>
                    <p:blipFill>
                      <a:blip r:embed="rId3"/>
                      <a:srcRect/>
                      <a:stretch>
                        <a:fillRect/>
                      </a:stretch>
                    </p:blipFill>
                    <p:spPr bwMode="auto">
                      <a:xfrm>
                        <a:off x="4863530" y="872255"/>
                        <a:ext cx="7716128" cy="5887876"/>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0D85041-552D-0DA4-7FC0-2D20C554B740}"/>
                  </a:ext>
                </a:extLst>
              </p:cNvPr>
              <p:cNvSpPr txBox="1"/>
              <p:nvPr/>
            </p:nvSpPr>
            <p:spPr>
              <a:xfrm>
                <a:off x="340311" y="894688"/>
                <a:ext cx="3938726" cy="3703899"/>
              </a:xfrm>
              <a:prstGeom prst="rect">
                <a:avLst/>
              </a:prstGeom>
              <a:noFill/>
            </p:spPr>
            <p:txBody>
              <a:bodyPr wrap="square">
                <a:spAutoFit/>
              </a:bodyPr>
              <a:lstStyle/>
              <a:p>
                <a:pPr marL="635" indent="266700" algn="just">
                  <a:lnSpc>
                    <a:spcPct val="150000"/>
                  </a:lnSpc>
                </a:pPr>
                <a:r>
                  <a:rPr lang="zh-CN" altLang="zh-CN" sz="2400" dirty="0">
                    <a:effectLst/>
                    <a:latin typeface="Times New Roman" panose="02020603050405020304" pitchFamily="18" charset="0"/>
                    <a:ea typeface="宋体" panose="02010600030101010101" pitchFamily="2" charset="-122"/>
                  </a:rPr>
                  <a:t>因此，在表中增加一列</a:t>
                </a:r>
                <a14:m>
                  <m:oMath xmlns:m="http://schemas.openxmlformats.org/officeDocument/2006/math">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b>
                                <m:sSubPr>
                                  <m:ctrlPr>
                                    <a:rPr lang="zh-CN" altLang="zh-CN" sz="2400" i="1">
                                      <a:effectLst/>
                                      <a:latin typeface="Cambria Math" panose="02040503050406030204" pitchFamily="18" charset="0"/>
                                      <a:ea typeface="Cambria Math" panose="02040503050406030204" pitchFamily="18" charset="0"/>
                                    </a:rPr>
                                  </m:ctrlPr>
                                </m:sSub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宋体" panose="02010600030101010101" pitchFamily="2" charset="-122"/>
                                        </a:rPr>
                                        <m:t>𝐴</m:t>
                                      </m:r>
                                    </m:e>
                                  </m:acc>
                                </m:e>
                                <m:sub>
                                  <m:r>
                                    <a:rPr lang="en-US" altLang="zh-CN" sz="2400" i="1">
                                      <a:effectLst/>
                                      <a:latin typeface="Cambria Math" panose="02040503050406030204" pitchFamily="18" charset="0"/>
                                      <a:ea typeface="宋体" panose="02010600030101010101" pitchFamily="2" charset="-122"/>
                                    </a:rPr>
                                    <m:t>7</m:t>
                                  </m:r>
                                </m:sub>
                              </m:sSub>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7</m:t>
                                  </m:r>
                                </m:sub>
                              </m:sSub>
                            </m:e>
                          </m:mr>
                        </m:m>
                      </m:e>
                    </m:d>
                    <m:r>
                      <a:rPr lang="en-US" altLang="zh-CN" sz="2400" i="1" smtClean="0">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3,−2,0,−6</m:t>
                            </m:r>
                          </m:e>
                        </m:d>
                      </m:e>
                      <m:sup>
                        <m:r>
                          <a:rPr lang="en-US" altLang="zh-CN" sz="2400" i="1">
                            <a:effectLst/>
                            <a:latin typeface="Cambria Math" panose="02040503050406030204" pitchFamily="18" charset="0"/>
                            <a:ea typeface="宋体" panose="02010600030101010101" pitchFamily="2" charset="-122"/>
                          </a:rPr>
                          <m:t>𝑇</m:t>
                        </m:r>
                      </m:sup>
                    </m:sSup>
                  </m:oMath>
                </a14:m>
                <a:r>
                  <a:rPr lang="zh-CN" altLang="zh-CN" sz="2400" dirty="0">
                    <a:effectLst/>
                    <a:latin typeface="Times New Roman" panose="02020603050405020304" pitchFamily="18" charset="0"/>
                    <a:ea typeface="宋体" panose="02010600030101010101" pitchFamily="2" charset="-122"/>
                  </a:rPr>
                  <a:t>，得到新表，然后以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oMath>
                </a14:m>
                <a:r>
                  <a:rPr lang="zh-CN" altLang="zh-CN" sz="2400" dirty="0">
                    <a:effectLst/>
                    <a:latin typeface="Times New Roman" panose="02020603050405020304" pitchFamily="18" charset="0"/>
                    <a:ea typeface="宋体" panose="02010600030101010101" pitchFamily="2" charset="-122"/>
                  </a:rPr>
                  <a:t>作基变量进行迭代，求得新问题的最优解为</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0,0,</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13</m:t>
                                </m:r>
                              </m:num>
                              <m:den>
                                <m:r>
                                  <a:rPr lang="en-US" altLang="zh-CN" sz="2400" i="1">
                                    <a:effectLst/>
                                    <a:latin typeface="Cambria Math" panose="02040503050406030204" pitchFamily="18" charset="0"/>
                                    <a:ea typeface="宋体" panose="02010600030101010101" pitchFamily="2" charset="-122"/>
                                  </a:rPr>
                                  <m:t>3</m:t>
                                </m:r>
                              </m:den>
                            </m:f>
                            <m:r>
                              <a:rPr lang="en-US" altLang="zh-CN" sz="2400" i="1">
                                <a:effectLst/>
                                <a:latin typeface="Cambria Math" panose="02040503050406030204" pitchFamily="18" charset="0"/>
                                <a:ea typeface="宋体" panose="02010600030101010101" pitchFamily="2" charset="-122"/>
                              </a:rPr>
                              <m:t>,0,</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56</m:t>
                                </m:r>
                              </m:num>
                              <m:den>
                                <m:r>
                                  <a:rPr lang="en-US" altLang="zh-CN" sz="2400" i="1">
                                    <a:effectLst/>
                                    <a:latin typeface="Cambria Math" panose="02040503050406030204" pitchFamily="18" charset="0"/>
                                    <a:ea typeface="宋体" panose="02010600030101010101" pitchFamily="2" charset="-122"/>
                                  </a:rPr>
                                  <m:t>9</m:t>
                                </m:r>
                              </m:den>
                            </m:f>
                            <m:r>
                              <a:rPr lang="en-US" altLang="zh-CN" sz="2400" i="1">
                                <a:effectLst/>
                                <a:latin typeface="Cambria Math" panose="02040503050406030204" pitchFamily="18" charset="0"/>
                                <a:ea typeface="宋体" panose="02010600030101010101" pitchFamily="2" charset="-122"/>
                              </a:rPr>
                              <m:t>,0,</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m:t>
                                </m:r>
                              </m:num>
                              <m:den>
                                <m:r>
                                  <a:rPr lang="en-US" altLang="zh-CN" sz="2400" i="1">
                                    <a:effectLst/>
                                    <a:latin typeface="Cambria Math" panose="02040503050406030204" pitchFamily="18" charset="0"/>
                                    <a:ea typeface="宋体" panose="02010600030101010101" pitchFamily="2" charset="-122"/>
                                  </a:rPr>
                                  <m:t>9</m:t>
                                </m:r>
                              </m:den>
                            </m:f>
                          </m:e>
                        </m:d>
                      </m:e>
                      <m:sup>
                        <m:r>
                          <a:rPr lang="en-US" altLang="zh-CN" sz="2400" i="1">
                            <a:effectLst/>
                            <a:latin typeface="Cambria Math" panose="02040503050406030204" pitchFamily="18" charset="0"/>
                            <a:ea typeface="宋体" panose="02010600030101010101" pitchFamily="2" charset="-122"/>
                          </a:rPr>
                          <m:t>𝑇</m:t>
                        </m:r>
                      </m:sup>
                    </m:sSup>
                    <m:r>
                      <a:rPr lang="en-US" altLang="zh-CN" sz="2400" b="0" i="0" smtClean="0">
                        <a:effectLst/>
                        <a:latin typeface="Cambria Math" panose="02040503050406030204" pitchFamily="18" charset="0"/>
                        <a:ea typeface="宋体" panose="02010600030101010101" pitchFamily="2" charset="-122"/>
                      </a:rPr>
                      <m:t>.</m:t>
                    </m:r>
                  </m:oMath>
                </a14:m>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60D85041-552D-0DA4-7FC0-2D20C554B740}"/>
                  </a:ext>
                </a:extLst>
              </p:cNvPr>
              <p:cNvSpPr txBox="1">
                <a:spLocks noRot="1" noChangeAspect="1" noMove="1" noResize="1" noEditPoints="1" noAdjustHandles="1" noChangeArrowheads="1" noChangeShapeType="1" noTextEdit="1"/>
              </p:cNvSpPr>
              <p:nvPr/>
            </p:nvSpPr>
            <p:spPr>
              <a:xfrm>
                <a:off x="340311" y="894688"/>
                <a:ext cx="3938726" cy="3703899"/>
              </a:xfrm>
              <a:prstGeom prst="rect">
                <a:avLst/>
              </a:prstGeom>
              <a:blipFill>
                <a:blip r:embed="rId5"/>
                <a:stretch>
                  <a:fillRect l="-2477" r="-2322"/>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C9FED9E-F71B-4BED-AD94-F02CDB830573}"/>
                  </a:ext>
                </a:extLst>
              </p:cNvPr>
              <p:cNvSpPr txBox="1"/>
              <p:nvPr/>
            </p:nvSpPr>
            <p:spPr>
              <a:xfrm>
                <a:off x="509383" y="665941"/>
                <a:ext cx="8075323" cy="671659"/>
              </a:xfrm>
              <a:prstGeom prst="rect">
                <a:avLst/>
              </a:prstGeom>
              <a:noFill/>
            </p:spPr>
            <p:txBody>
              <a:bodyPr wrap="square">
                <a:spAutoFit/>
              </a:bodyPr>
              <a:lstStyle/>
              <a:p>
                <a:pPr>
                  <a:lnSpc>
                    <a:spcPct val="150000"/>
                  </a:lnSpc>
                </a:pPr>
                <a:r>
                  <a:rPr lang="zh-CN" altLang="en-US" sz="2800" b="1" dirty="0">
                    <a:solidFill>
                      <a:schemeClr val="accent1"/>
                    </a:solidFill>
                    <a:latin typeface="+mn-ea"/>
                  </a:rPr>
                  <a:t>五、增加一个新约束条件</a:t>
                </a:r>
                <a14:m>
                  <m:oMath xmlns:m="http://schemas.openxmlformats.org/officeDocument/2006/math">
                    <m:sSub>
                      <m:sSubPr>
                        <m:ctrlPr>
                          <a:rPr lang="zh-CN" altLang="zh-CN" sz="2800" i="1" smtClean="0">
                            <a:solidFill>
                              <a:schemeClr val="accent1"/>
                            </a:solidFill>
                            <a:effectLst/>
                            <a:latin typeface="Cambria Math" panose="02040503050406030204" pitchFamily="18" charset="0"/>
                            <a:ea typeface="Cambria Math" panose="02040503050406030204" pitchFamily="18" charset="0"/>
                          </a:rPr>
                        </m:ctrlPr>
                      </m:sSubPr>
                      <m:e>
                        <m:r>
                          <a:rPr lang="en-US" altLang="zh-CN" sz="2800" b="0" i="1" smtClean="0">
                            <a:solidFill>
                              <a:schemeClr val="accent1"/>
                            </a:solidFill>
                            <a:effectLst/>
                            <a:latin typeface="Cambria Math" panose="02040503050406030204" pitchFamily="18" charset="0"/>
                            <a:ea typeface="Cambria Math" panose="02040503050406030204" pitchFamily="18" charset="0"/>
                          </a:rPr>
                          <m:t>𝑃</m:t>
                        </m:r>
                      </m:e>
                      <m:sub>
                        <m:r>
                          <a:rPr lang="en-US" altLang="zh-CN" sz="2800" b="0" i="1" smtClean="0">
                            <a:solidFill>
                              <a:schemeClr val="accent1"/>
                            </a:solidFill>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sz="2800" b="0" i="1" smtClean="0">
                            <a:solidFill>
                              <a:schemeClr val="accent1"/>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b="0" i="1" smtClean="0">
                        <a:solidFill>
                          <a:schemeClr val="accent1"/>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2800" b="0" i="1" smtClean="0">
                        <a:solidFill>
                          <a:schemeClr val="accent1"/>
                        </a:solidFill>
                        <a:effectLst/>
                        <a:latin typeface="Cambria Math" panose="02040503050406030204" pitchFamily="18" charset="0"/>
                        <a:ea typeface="Cambria Math" panose="02040503050406030204" pitchFamily="18" charset="0"/>
                        <a:cs typeface="Times New Roman" panose="02020603050405020304" pitchFamily="18" charset="0"/>
                      </a:rPr>
                      <m:t>≤</m:t>
                    </m:r>
                    <m:sSub>
                      <m:sSubPr>
                        <m:ctrlPr>
                          <a:rPr lang="zh-CN" altLang="zh-CN" sz="2800" i="1">
                            <a:solidFill>
                              <a:schemeClr val="accent1"/>
                            </a:solidFill>
                            <a:latin typeface="Cambria Math" panose="02040503050406030204" pitchFamily="18" charset="0"/>
                            <a:ea typeface="Cambria Math" panose="02040503050406030204" pitchFamily="18" charset="0"/>
                          </a:rPr>
                        </m:ctrlPr>
                      </m:sSubPr>
                      <m:e>
                        <m:r>
                          <a:rPr lang="en-US" altLang="zh-CN" sz="2800" b="0" i="1" smtClean="0">
                            <a:solidFill>
                              <a:schemeClr val="accent1"/>
                            </a:solidFill>
                            <a:latin typeface="Cambria Math" panose="02040503050406030204" pitchFamily="18" charset="0"/>
                            <a:ea typeface="Cambria Math" panose="02040503050406030204" pitchFamily="18" charset="0"/>
                          </a:rPr>
                          <m:t>𝑏</m:t>
                        </m:r>
                      </m:e>
                      <m:sub>
                        <m:r>
                          <a:rPr lang="en-US" altLang="zh-CN" sz="2800" i="1">
                            <a:solidFill>
                              <a:schemeClr val="accent1"/>
                            </a:solidFill>
                            <a:latin typeface="Cambria Math" panose="02040503050406030204" pitchFamily="18" charset="0"/>
                            <a:ea typeface="宋体" panose="02010600030101010101" pitchFamily="2" charset="-122"/>
                            <a:cs typeface="Times New Roman" panose="02020603050405020304" pitchFamily="18" charset="0"/>
                          </a:rPr>
                          <m:t>𝑚</m:t>
                        </m:r>
                        <m:r>
                          <a:rPr lang="en-US" altLang="zh-CN" sz="2800" i="1">
                            <a:solidFill>
                              <a:schemeClr val="accent1"/>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sz="2800" b="1" dirty="0">
                    <a:solidFill>
                      <a:schemeClr val="accent1"/>
                    </a:solidFill>
                    <a:latin typeface="+mn-ea"/>
                  </a:rPr>
                  <a:t> 的分析</a:t>
                </a:r>
                <a:endParaRPr lang="en-US" altLang="zh-CN" sz="2800" b="1" dirty="0">
                  <a:solidFill>
                    <a:schemeClr val="accent1"/>
                  </a:solidFill>
                  <a:latin typeface="+mn-ea"/>
                </a:endParaRPr>
              </a:p>
            </p:txBody>
          </p:sp>
        </mc:Choice>
        <mc:Fallback xmlns="">
          <p:sp>
            <p:nvSpPr>
              <p:cNvPr id="3" name="文本框 2">
                <a:extLst>
                  <a:ext uri="{FF2B5EF4-FFF2-40B4-BE49-F238E27FC236}">
                    <a16:creationId xmlns:a16="http://schemas.microsoft.com/office/drawing/2014/main" id="{5C9FED9E-F71B-4BED-AD94-F02CDB830573}"/>
                  </a:ext>
                </a:extLst>
              </p:cNvPr>
              <p:cNvSpPr txBox="1">
                <a:spLocks noRot="1" noChangeAspect="1" noMove="1" noResize="1" noEditPoints="1" noAdjustHandles="1" noChangeArrowheads="1" noChangeShapeType="1" noTextEdit="1"/>
              </p:cNvSpPr>
              <p:nvPr/>
            </p:nvSpPr>
            <p:spPr>
              <a:xfrm>
                <a:off x="509383" y="665941"/>
                <a:ext cx="8075323" cy="671659"/>
              </a:xfrm>
              <a:prstGeom prst="rect">
                <a:avLst/>
              </a:prstGeom>
              <a:blipFill>
                <a:blip r:embed="rId2"/>
                <a:stretch>
                  <a:fillRect l="-1586" b="-2454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98ABE58D-8F76-4D19-953D-6FCA72EAA9DC}"/>
              </a:ext>
            </a:extLst>
          </p:cNvPr>
          <p:cNvSpPr txBox="1"/>
          <p:nvPr/>
        </p:nvSpPr>
        <p:spPr>
          <a:xfrm>
            <a:off x="871491" y="1641070"/>
            <a:ext cx="10449018" cy="2806025"/>
          </a:xfrm>
          <a:prstGeom prst="rect">
            <a:avLst/>
          </a:prstGeom>
          <a:noFill/>
        </p:spPr>
        <p:txBody>
          <a:bodyPr wrap="square" rtlCol="0">
            <a:spAutoFit/>
          </a:bodyPr>
          <a:lstStyle/>
          <a:p>
            <a:pPr algn="just">
              <a:lnSpc>
                <a:spcPct val="150000"/>
              </a:lnSpc>
            </a:pPr>
            <a:r>
              <a:rPr lang="zh-CN" altLang="en-US" sz="2400" b="1" dirty="0">
                <a:solidFill>
                  <a:schemeClr val="accent1"/>
                </a:solidFill>
                <a:latin typeface="+mn-ea"/>
              </a:rPr>
              <a:t>情形</a:t>
            </a:r>
            <a:r>
              <a:rPr lang="en-US" altLang="zh-CN" sz="2400" b="1" dirty="0">
                <a:solidFill>
                  <a:schemeClr val="accent1"/>
                </a:solidFill>
                <a:latin typeface="+mn-ea"/>
              </a:rPr>
              <a:t>1</a:t>
            </a:r>
            <a:r>
              <a:rPr lang="zh-CN" altLang="en-US" sz="2400" dirty="0">
                <a:latin typeface="+mn-ea"/>
              </a:rPr>
              <a:t>：原来的最优解满足新增的约束条件。由于新问题的可行域包含在原问题的可行域中，因此原问题的最优解也是新问题的最优解。</a:t>
            </a:r>
            <a:endParaRPr lang="en-US" altLang="zh-CN" sz="2400" dirty="0">
              <a:latin typeface="+mn-ea"/>
            </a:endParaRPr>
          </a:p>
          <a:p>
            <a:pPr algn="just">
              <a:lnSpc>
                <a:spcPct val="150000"/>
              </a:lnSpc>
            </a:pPr>
            <a:endParaRPr lang="en-US" altLang="zh-CN" sz="2400" dirty="0">
              <a:latin typeface="+mn-ea"/>
            </a:endParaRPr>
          </a:p>
          <a:p>
            <a:pPr algn="just">
              <a:lnSpc>
                <a:spcPct val="150000"/>
              </a:lnSpc>
            </a:pPr>
            <a:r>
              <a:rPr lang="zh-CN" altLang="en-US" sz="2400" b="1" dirty="0">
                <a:solidFill>
                  <a:schemeClr val="accent1"/>
                </a:solidFill>
                <a:latin typeface="+mn-ea"/>
              </a:rPr>
              <a:t>情形</a:t>
            </a:r>
            <a:r>
              <a:rPr lang="en-US" altLang="zh-CN" sz="2400" b="1" dirty="0">
                <a:solidFill>
                  <a:schemeClr val="accent1"/>
                </a:solidFill>
                <a:latin typeface="+mn-ea"/>
              </a:rPr>
              <a:t>2</a:t>
            </a:r>
            <a:r>
              <a:rPr lang="zh-CN" altLang="en-US" sz="2400" dirty="0">
                <a:latin typeface="+mn-ea"/>
              </a:rPr>
              <a:t>：原来的最优解不满足新增的约束条件。这时，需要重新求解新问题的最优解。</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A85F565-5229-5A61-A035-24578110C36E}"/>
                  </a:ext>
                </a:extLst>
              </p:cNvPr>
              <p:cNvSpPr txBox="1"/>
              <p:nvPr/>
            </p:nvSpPr>
            <p:spPr>
              <a:xfrm>
                <a:off x="1005765" y="943043"/>
                <a:ext cx="10739392" cy="3882088"/>
              </a:xfrm>
              <a:prstGeom prst="rect">
                <a:avLst/>
              </a:prstGeom>
              <a:noFill/>
            </p:spPr>
            <p:txBody>
              <a:bodyPr wrap="square">
                <a:spAutoFit/>
              </a:bodyPr>
              <a:lstStyle/>
              <a:p>
                <a:pPr indent="304800" algn="just">
                  <a:lnSpc>
                    <a:spcPct val="150000"/>
                  </a:lnSpc>
                  <a:spcBef>
                    <a:spcPts val="600"/>
                  </a:spcBef>
                  <a:spcAft>
                    <a:spcPts val="600"/>
                  </a:spcAft>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把新增加的约束条件加一个松弛变量</a:t>
                </a:r>
                <a14:m>
                  <m:oMath xmlns:m="http://schemas.openxmlformats.org/officeDocument/2006/math">
                    <m:sSub>
                      <m:sSubPr>
                        <m:ctrlPr>
                          <a:rPr lang="zh-CN" altLang="zh-CN" sz="2400" i="1" smtClean="0">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宋体" panose="02010600030101010101" pitchFamily="2" charset="-122"/>
                    <a:ea typeface="宋体" panose="02010600030101010101" pitchFamily="2" charset="-122"/>
                  </a:rPr>
                  <a:t>变为</a:t>
                </a:r>
              </a:p>
              <a:p>
                <a:pPr marL="269875" indent="1371600" algn="just">
                  <a:lnSpc>
                    <a:spcPct val="150000"/>
                  </a:lnSpc>
                </a:pP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𝑥</m:t>
                    </m:r>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oMath>
                </a14:m>
                <a:r>
                  <a:rPr lang="en-US" altLang="zh-CN" sz="2400" dirty="0">
                    <a:effectLst/>
                    <a:latin typeface="宋体" panose="02010600030101010101" pitchFamily="2" charset="-122"/>
                    <a:ea typeface="宋体" panose="02010600030101010101" pitchFamily="2" charset="-122"/>
                  </a:rPr>
                  <a:t>                            </a:t>
                </a:r>
                <a:endParaRPr lang="zh-CN" altLang="zh-CN" sz="2400" dirty="0">
                  <a:effectLst/>
                  <a:latin typeface="宋体" panose="02010600030101010101" pitchFamily="2" charset="-122"/>
                  <a:ea typeface="宋体" panose="02010600030101010101" pitchFamily="2" charset="-122"/>
                </a:endParaRPr>
              </a:p>
              <a:p>
                <a:pPr marL="269875" indent="-269875" algn="just">
                  <a:lnSpc>
                    <a:spcPct val="150000"/>
                  </a:lnSpc>
                </a:pPr>
                <a:r>
                  <a:rPr lang="zh-CN" altLang="zh-CN" sz="2400" dirty="0">
                    <a:effectLst/>
                    <a:latin typeface="宋体" panose="02010600030101010101" pitchFamily="2" charset="-122"/>
                    <a:ea typeface="宋体" panose="02010600030101010101" pitchFamily="2" charset="-122"/>
                  </a:rPr>
                  <a:t>将上式中的</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宋体" panose="02010600030101010101" pitchFamily="2" charset="-122"/>
                    <a:ea typeface="宋体" panose="02010600030101010101" pitchFamily="2" charset="-122"/>
                  </a:rPr>
                  <a:t>按基变量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𝐵</m:t>
                        </m:r>
                      </m:sub>
                    </m:sSub>
                  </m:oMath>
                </a14:m>
                <a:r>
                  <a:rPr lang="zh-CN" altLang="zh-CN" sz="2400" dirty="0">
                    <a:effectLst/>
                    <a:latin typeface="宋体" panose="02010600030101010101" pitchFamily="2" charset="-122"/>
                    <a:ea typeface="宋体" panose="02010600030101010101" pitchFamily="2" charset="-122"/>
                  </a:rPr>
                  <a:t>与非基变量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𝑁</m:t>
                        </m:r>
                      </m:sub>
                    </m:sSub>
                  </m:oMath>
                </a14:m>
                <a:r>
                  <a:rPr lang="zh-CN" altLang="zh-CN" sz="2400" dirty="0">
                    <a:effectLst/>
                    <a:latin typeface="宋体" panose="02010600030101010101" pitchFamily="2" charset="-122"/>
                    <a:ea typeface="宋体" panose="02010600030101010101" pitchFamily="2" charset="-122"/>
                  </a:rPr>
                  <a:t>分为</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e>
                      <m:sub>
                        <m:r>
                          <a:rPr lang="en-US" altLang="zh-CN" sz="2400" i="1">
                            <a:effectLst/>
                            <a:latin typeface="Cambria Math" panose="02040503050406030204" pitchFamily="18" charset="0"/>
                            <a:ea typeface="宋体" panose="02010600030101010101" pitchFamily="2" charset="-122"/>
                          </a:rPr>
                          <m:t>𝐵</m:t>
                        </m:r>
                      </m:sub>
                    </m:sSub>
                  </m:oMath>
                </a14:m>
                <a:r>
                  <a:rPr lang="zh-CN" altLang="zh-CN" sz="2400" dirty="0">
                    <a:effectLst/>
                    <a:latin typeface="宋体" panose="02010600030101010101" pitchFamily="2" charset="-122"/>
                    <a:ea typeface="宋体" panose="02010600030101010101" pitchFamily="2" charset="-122"/>
                  </a:rPr>
                  <a:t>和</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e>
                      <m:sub>
                        <m:r>
                          <a:rPr lang="en-US" altLang="zh-CN" sz="2400" i="1">
                            <a:effectLst/>
                            <a:latin typeface="Cambria Math" panose="02040503050406030204" pitchFamily="18" charset="0"/>
                            <a:ea typeface="宋体" panose="02010600030101010101" pitchFamily="2" charset="-122"/>
                          </a:rPr>
                          <m:t>𝑁</m:t>
                        </m:r>
                      </m:sub>
                    </m:sSub>
                  </m:oMath>
                </a14:m>
                <a:r>
                  <a:rPr lang="zh-CN" altLang="zh-CN" sz="2400" dirty="0">
                    <a:effectLst/>
                    <a:latin typeface="宋体" panose="02010600030101010101" pitchFamily="2" charset="-122"/>
                    <a:ea typeface="宋体" panose="02010600030101010101" pitchFamily="2" charset="-122"/>
                  </a:rPr>
                  <a:t>两部分</a:t>
                </a:r>
                <a:r>
                  <a:rPr lang="en-US" altLang="zh-CN" sz="2400" dirty="0">
                    <a:effectLst/>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即</a:t>
                </a:r>
              </a:p>
              <a:p>
                <a:pPr marL="269875" indent="1371600" algn="just">
                  <a:lnSpc>
                    <a:spcPct val="150000"/>
                  </a:lnSpc>
                </a:pPr>
                <a14:m>
                  <m:oMath xmlns:m="http://schemas.openxmlformats.org/officeDocument/2006/math">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𝑃</m:t>
                            </m:r>
                          </m:e>
                          <m:sub>
                            <m:r>
                              <a:rPr lang="en-US" altLang="zh-CN" sz="2400">
                                <a:latin typeface="Cambria Math" panose="02040503050406030204" pitchFamily="18" charset="0"/>
                                <a:ea typeface="宋体" panose="02010600030101010101" pitchFamily="2" charset="-122"/>
                              </a:rPr>
                              <m:t>𝑚</m:t>
                            </m:r>
                            <m:r>
                              <a:rPr lang="en-US" altLang="zh-CN" sz="2400">
                                <a:latin typeface="Cambria Math" panose="02040503050406030204" pitchFamily="18" charset="0"/>
                                <a:ea typeface="宋体" panose="02010600030101010101" pitchFamily="2" charset="-122"/>
                              </a:rPr>
                              <m:t>+1</m:t>
                            </m:r>
                          </m:sub>
                        </m:sSub>
                        <m:r>
                          <a:rPr lang="en-US" altLang="zh-CN" sz="2400">
                            <a:latin typeface="Cambria Math" panose="02040503050406030204" pitchFamily="18" charset="0"/>
                            <a:ea typeface="宋体" panose="02010600030101010101" pitchFamily="2" charset="-122"/>
                          </a:rPr>
                          <m:t>)</m:t>
                        </m:r>
                      </m:e>
                      <m:sub>
                        <m:r>
                          <a:rPr lang="en-US" altLang="zh-CN" sz="2400">
                            <a:latin typeface="Cambria Math" panose="02040503050406030204" pitchFamily="18" charset="0"/>
                            <a:ea typeface="宋体" panose="02010600030101010101" pitchFamily="2" charset="-122"/>
                          </a:rPr>
                          <m:t>𝐵</m:t>
                        </m:r>
                      </m:sub>
                    </m:sSub>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𝑥</m:t>
                        </m:r>
                      </m:e>
                      <m:sub>
                        <m:r>
                          <a:rPr lang="en-US" altLang="zh-CN" sz="2400">
                            <a:latin typeface="Cambria Math" panose="02040503050406030204" pitchFamily="18" charset="0"/>
                            <a:ea typeface="宋体" panose="02010600030101010101" pitchFamily="2" charset="-122"/>
                          </a:rPr>
                          <m:t>𝐵</m:t>
                        </m:r>
                      </m:sub>
                    </m:sSub>
                    <m:r>
                      <a:rPr lang="en-US" altLang="zh-CN" sz="24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𝑃</m:t>
                            </m:r>
                          </m:e>
                          <m:sub>
                            <m:r>
                              <a:rPr lang="en-US" altLang="zh-CN" sz="2400">
                                <a:latin typeface="Cambria Math" panose="02040503050406030204" pitchFamily="18" charset="0"/>
                                <a:ea typeface="宋体" panose="02010600030101010101" pitchFamily="2" charset="-122"/>
                              </a:rPr>
                              <m:t>𝑚</m:t>
                            </m:r>
                            <m:r>
                              <a:rPr lang="en-US" altLang="zh-CN" sz="2400">
                                <a:latin typeface="Cambria Math" panose="02040503050406030204" pitchFamily="18" charset="0"/>
                                <a:ea typeface="宋体" panose="02010600030101010101" pitchFamily="2" charset="-122"/>
                              </a:rPr>
                              <m:t>+1</m:t>
                            </m:r>
                          </m:sub>
                        </m:sSub>
                        <m:r>
                          <a:rPr lang="en-US" altLang="zh-CN" sz="2400">
                            <a:latin typeface="Cambria Math" panose="02040503050406030204" pitchFamily="18" charset="0"/>
                            <a:ea typeface="宋体" panose="02010600030101010101" pitchFamily="2" charset="-122"/>
                          </a:rPr>
                          <m:t>)</m:t>
                        </m:r>
                      </m:e>
                      <m:sub>
                        <m:r>
                          <a:rPr lang="en-US" altLang="zh-CN" sz="2400">
                            <a:latin typeface="Cambria Math" panose="02040503050406030204" pitchFamily="18" charset="0"/>
                            <a:ea typeface="宋体" panose="02010600030101010101" pitchFamily="2" charset="-122"/>
                          </a:rPr>
                          <m:t>𝑁</m:t>
                        </m:r>
                      </m:sub>
                    </m:sSub>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𝑥</m:t>
                        </m:r>
                      </m:e>
                      <m:sub>
                        <m:r>
                          <a:rPr lang="en-US" altLang="zh-CN" sz="2400">
                            <a:latin typeface="Cambria Math" panose="02040503050406030204" pitchFamily="18" charset="0"/>
                            <a:ea typeface="宋体" panose="02010600030101010101" pitchFamily="2" charset="-122"/>
                          </a:rPr>
                          <m:t>𝑁</m:t>
                        </m:r>
                      </m:sub>
                    </m:sSub>
                    <m:r>
                      <a:rPr lang="en-US" altLang="zh-CN" sz="24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𝑥</m:t>
                        </m:r>
                      </m:e>
                      <m:sub>
                        <m:r>
                          <a:rPr lang="en-US" altLang="zh-CN" sz="2400">
                            <a:latin typeface="Cambria Math" panose="02040503050406030204" pitchFamily="18" charset="0"/>
                            <a:ea typeface="宋体" panose="02010600030101010101" pitchFamily="2" charset="-122"/>
                          </a:rPr>
                          <m:t>𝑛</m:t>
                        </m:r>
                        <m:r>
                          <a:rPr lang="en-US" altLang="zh-CN" sz="2400">
                            <a:latin typeface="Cambria Math" panose="02040503050406030204" pitchFamily="18" charset="0"/>
                            <a:ea typeface="宋体" panose="02010600030101010101" pitchFamily="2" charset="-122"/>
                          </a:rPr>
                          <m:t>+1</m:t>
                        </m:r>
                      </m:sub>
                    </m:sSub>
                    <m:r>
                      <a:rPr lang="en-US" altLang="zh-CN" sz="24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𝑏</m:t>
                        </m:r>
                      </m:e>
                      <m:sub>
                        <m:r>
                          <a:rPr lang="en-US" altLang="zh-CN" sz="2400">
                            <a:latin typeface="Cambria Math" panose="02040503050406030204" pitchFamily="18" charset="0"/>
                            <a:ea typeface="宋体" panose="02010600030101010101" pitchFamily="2" charset="-122"/>
                          </a:rPr>
                          <m:t>𝑚</m:t>
                        </m:r>
                        <m:r>
                          <a:rPr lang="en-US" altLang="zh-CN" sz="2400">
                            <a:latin typeface="Cambria Math" panose="02040503050406030204" pitchFamily="18" charset="0"/>
                            <a:ea typeface="宋体" panose="02010600030101010101" pitchFamily="2" charset="-122"/>
                          </a:rPr>
                          <m:t>+1</m:t>
                        </m:r>
                      </m:sub>
                    </m:sSub>
                  </m:oMath>
                </a14:m>
                <a:r>
                  <a:rPr lang="en-US" altLang="zh-CN" sz="2400" dirty="0">
                    <a:latin typeface="宋体" panose="02010600030101010101" pitchFamily="2" charset="-122"/>
                    <a:ea typeface="宋体" panose="02010600030101010101" pitchFamily="2" charset="-122"/>
                  </a:rPr>
                  <a:t>  </a:t>
                </a:r>
                <a:endParaRPr lang="zh-CN" altLang="zh-CN" sz="2400" dirty="0">
                  <a:latin typeface="宋体" panose="02010600030101010101" pitchFamily="2" charset="-122"/>
                  <a:ea typeface="宋体" panose="02010600030101010101" pitchFamily="2" charset="-122"/>
                </a:endParaRPr>
              </a:p>
              <a:p>
                <a:pPr marL="269875" indent="-269875" algn="just">
                  <a:lnSpc>
                    <a:spcPct val="150000"/>
                  </a:lnSpc>
                </a:pPr>
                <a:r>
                  <a:rPr lang="zh-CN" altLang="zh-CN" sz="2400" dirty="0">
                    <a:latin typeface="宋体" panose="02010600030101010101" pitchFamily="2" charset="-122"/>
                    <a:ea typeface="宋体" panose="02010600030101010101" pitchFamily="2" charset="-122"/>
                  </a:rPr>
                  <a:t>显然，</a:t>
                </a:r>
                <a14:m>
                  <m:oMath xmlns:m="http://schemas.openxmlformats.org/officeDocument/2006/math">
                    <m:sSub>
                      <m:sSubPr>
                        <m:ctrlPr>
                          <a:rPr lang="zh-CN" altLang="zh-CN" sz="2400" i="1">
                            <a:latin typeface="Cambria Math" panose="02040503050406030204" pitchFamily="18" charset="0"/>
                            <a:ea typeface="宋体" panose="02010600030101010101" pitchFamily="2" charset="-122"/>
                          </a:rPr>
                        </m:ctrlPr>
                      </m:sSubPr>
                      <m:e>
                        <m:r>
                          <a:rPr lang="en-US" altLang="zh-CN" sz="2400">
                            <a:latin typeface="Cambria Math" panose="02040503050406030204" pitchFamily="18" charset="0"/>
                            <a:ea typeface="宋体" panose="02010600030101010101" pitchFamily="2" charset="-122"/>
                          </a:rPr>
                          <m:t>𝑥</m:t>
                        </m:r>
                      </m:e>
                      <m:sub>
                        <m:r>
                          <a:rPr lang="en-US" altLang="zh-CN" sz="2400">
                            <a:latin typeface="Cambria Math" panose="02040503050406030204" pitchFamily="18" charset="0"/>
                            <a:ea typeface="宋体" panose="02010600030101010101" pitchFamily="2" charset="-122"/>
                          </a:rPr>
                          <m:t>𝑛</m:t>
                        </m:r>
                        <m:r>
                          <a:rPr lang="en-US" altLang="zh-CN" sz="2400">
                            <a:latin typeface="Cambria Math" panose="02040503050406030204" pitchFamily="18" charset="0"/>
                            <a:ea typeface="宋体" panose="02010600030101010101" pitchFamily="2" charset="-122"/>
                          </a:rPr>
                          <m:t>+1</m:t>
                        </m:r>
                      </m:sub>
                    </m:sSub>
                  </m:oMath>
                </a14:m>
                <a:r>
                  <a:rPr lang="zh-CN" altLang="zh-CN" sz="2400" dirty="0">
                    <a:latin typeface="宋体" panose="02010600030101010101" pitchFamily="2" charset="-122"/>
                    <a:ea typeface="宋体" panose="02010600030101010101" pitchFamily="2" charset="-122"/>
                  </a:rPr>
                  <a:t>是新问题的基变量。新问题的基矩阵和右端向量分别为</a:t>
                </a:r>
                <a:endParaRPr lang="en-US" altLang="zh-CN" sz="2400" dirty="0">
                  <a:latin typeface="宋体" panose="02010600030101010101" pitchFamily="2" charset="-122"/>
                  <a:ea typeface="宋体" panose="02010600030101010101" pitchFamily="2" charset="-122"/>
                </a:endParaRPr>
              </a:p>
              <a:p>
                <a:pPr marL="269875" indent="-269875" algn="just">
                  <a:lnSpc>
                    <a:spcPct val="150000"/>
                  </a:lnSpc>
                </a:pPr>
                <a:r>
                  <a:rPr lang="en-US" altLang="zh-CN" sz="2400" dirty="0">
                    <a:effectLst/>
                    <a:latin typeface="宋体" panose="02010600030101010101" pitchFamily="2" charset="-122"/>
                    <a:ea typeface="宋体" panose="02010600030101010101" pitchFamily="2" charset="-122"/>
                  </a:rPr>
                  <a:t>           </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400" i="1">
                                <a:effectLst/>
                                <a:latin typeface="Cambria Math" panose="02040503050406030204" pitchFamily="18" charset="0"/>
                                <a:ea typeface="Cambria Math" panose="02040503050406030204" pitchFamily="18" charset="0"/>
                              </a:rPr>
                            </m:ctrlPr>
                          </m:mPr>
                          <m:mr>
                            <m:e>
                              <m:r>
                                <a:rPr lang="en-US" altLang="zh-CN" sz="2400" i="1">
                                  <a:effectLst/>
                                  <a:latin typeface="Cambria Math" panose="02040503050406030204" pitchFamily="18" charset="0"/>
                                  <a:ea typeface="宋体" panose="02010600030101010101" pitchFamily="2" charset="-122"/>
                                </a:rPr>
                                <m:t>𝐵</m:t>
                              </m:r>
                            </m:e>
                            <m:e>
                              <m:r>
                                <a:rPr lang="en-US" altLang="zh-CN" sz="2400" i="1">
                                  <a:effectLst/>
                                  <a:latin typeface="Cambria Math" panose="02040503050406030204" pitchFamily="18" charset="0"/>
                                  <a:ea typeface="宋体" panose="02010600030101010101" pitchFamily="2" charset="-122"/>
                                </a:rPr>
                                <m:t>0</m:t>
                              </m:r>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e>
                                <m:sub>
                                  <m:r>
                                    <a:rPr lang="en-US" altLang="zh-CN" sz="2400" i="1">
                                      <a:effectLst/>
                                      <a:latin typeface="Cambria Math" panose="02040503050406030204" pitchFamily="18" charset="0"/>
                                      <a:ea typeface="宋体" panose="02010600030101010101" pitchFamily="2" charset="-122"/>
                                    </a:rPr>
                                    <m:t>𝐵</m:t>
                                  </m:r>
                                </m:sub>
                              </m:sSub>
                            </m:e>
                            <m:e>
                              <m:r>
                                <a:rPr lang="en-US" altLang="zh-CN" sz="2400" i="1">
                                  <a:effectLst/>
                                  <a:latin typeface="Cambria Math" panose="02040503050406030204" pitchFamily="18" charset="0"/>
                                  <a:ea typeface="宋体" panose="02010600030101010101" pitchFamily="2" charset="-122"/>
                                </a:rPr>
                                <m:t>1</m:t>
                              </m:r>
                            </m:e>
                          </m:mr>
                        </m:m>
                      </m:e>
                    </m:d>
                    <m:r>
                      <a:rPr lang="en-US" altLang="zh-CN" sz="2400" i="1">
                        <a:effectLst/>
                        <a:latin typeface="Cambria Math" panose="02040503050406030204" pitchFamily="18" charset="0"/>
                        <a:ea typeface="宋体" panose="02010600030101010101" pitchFamily="2" charset="-122"/>
                      </a:rPr>
                      <m:t>, </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𝑏</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r>
                                <a:rPr lang="en-US" altLang="zh-CN" sz="2400" i="1">
                                  <a:effectLst/>
                                  <a:latin typeface="Cambria Math" panose="02040503050406030204" pitchFamily="18" charset="0"/>
                                  <a:ea typeface="宋体" panose="02010600030101010101" pitchFamily="2" charset="-122"/>
                                </a:rPr>
                                <m:t>𝑏</m:t>
                              </m:r>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e>
                          </m:mr>
                        </m:m>
                      </m:e>
                    </m:d>
                  </m:oMath>
                </a14:m>
                <a:r>
                  <a:rPr lang="en-US" altLang="zh-CN" sz="2400" dirty="0">
                    <a:effectLst/>
                    <a:latin typeface="宋体" panose="02010600030101010101" pitchFamily="2" charset="-122"/>
                    <a:ea typeface="宋体" panose="02010600030101010101" pitchFamily="2" charset="-122"/>
                  </a:rPr>
                  <a:t>.</a:t>
                </a:r>
                <a:endParaRPr lang="zh-CN" altLang="zh-CN" sz="2400" dirty="0">
                  <a:effectLst/>
                  <a:latin typeface="宋体" panose="02010600030101010101" pitchFamily="2" charset="-122"/>
                  <a:ea typeface="宋体" panose="02010600030101010101" pitchFamily="2" charset="-122"/>
                </a:endParaRPr>
              </a:p>
            </p:txBody>
          </p:sp>
        </mc:Choice>
        <mc:Fallback xmlns="">
          <p:sp>
            <p:nvSpPr>
              <p:cNvPr id="5" name="文本框 4">
                <a:extLst>
                  <a:ext uri="{FF2B5EF4-FFF2-40B4-BE49-F238E27FC236}">
                    <a16:creationId xmlns:a16="http://schemas.microsoft.com/office/drawing/2014/main" id="{CA85F565-5229-5A61-A035-24578110C36E}"/>
                  </a:ext>
                </a:extLst>
              </p:cNvPr>
              <p:cNvSpPr txBox="1">
                <a:spLocks noRot="1" noChangeAspect="1" noMove="1" noResize="1" noEditPoints="1" noAdjustHandles="1" noChangeArrowheads="1" noChangeShapeType="1" noTextEdit="1"/>
              </p:cNvSpPr>
              <p:nvPr/>
            </p:nvSpPr>
            <p:spPr>
              <a:xfrm>
                <a:off x="1005765" y="943043"/>
                <a:ext cx="10739392" cy="3882088"/>
              </a:xfrm>
              <a:prstGeom prst="rect">
                <a:avLst/>
              </a:prstGeom>
              <a:blipFill>
                <a:blip r:embed="rId2"/>
                <a:stretch>
                  <a:fillRect l="-90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BDF064D-BFCB-DC39-D3C9-D3FE462A1536}"/>
                  </a:ext>
                </a:extLst>
              </p:cNvPr>
              <p:cNvSpPr txBox="1"/>
              <p:nvPr/>
            </p:nvSpPr>
            <p:spPr>
              <a:xfrm>
                <a:off x="479393" y="257502"/>
                <a:ext cx="11496584" cy="6187656"/>
              </a:xfrm>
              <a:prstGeom prst="rect">
                <a:avLst/>
              </a:prstGeom>
              <a:noFill/>
            </p:spPr>
            <p:txBody>
              <a:bodyPr wrap="square">
                <a:spAutoFit/>
              </a:bodyPr>
              <a:lstStyle/>
              <a:p>
                <a:pPr marL="269875" indent="266700" algn="just">
                  <a:lnSpc>
                    <a:spcPct val="130000"/>
                  </a:lnSpc>
                </a:pPr>
                <a:r>
                  <a:rPr lang="zh-CN" altLang="zh-CN" sz="2400" dirty="0">
                    <a:effectLst/>
                    <a:latin typeface="Times New Roman" panose="02020603050405020304" pitchFamily="18" charset="0"/>
                    <a:ea typeface="宋体" panose="02010600030101010101" pitchFamily="2" charset="-122"/>
                  </a:rPr>
                  <a:t>对于增加约束后的新问题，在现行基矩阵</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oMath>
                </a14:m>
                <a:r>
                  <a:rPr lang="zh-CN" altLang="zh-CN" sz="2400" dirty="0">
                    <a:effectLst/>
                    <a:latin typeface="Times New Roman" panose="02020603050405020304" pitchFamily="18" charset="0"/>
                    <a:ea typeface="宋体" panose="02010600030101010101" pitchFamily="2" charset="-122"/>
                  </a:rPr>
                  <a:t>下对应变量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𝑗</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oMath>
                </a14:m>
                <a:r>
                  <a:rPr lang="zh-CN" altLang="zh-CN" sz="2400" dirty="0">
                    <a:effectLst/>
                    <a:latin typeface="Times New Roman" panose="02020603050405020304" pitchFamily="18" charset="0"/>
                    <a:ea typeface="宋体" panose="02010600030101010101" pitchFamily="2" charset="-122"/>
                  </a:rPr>
                  <a:t>的检验数是</a:t>
                </a:r>
              </a:p>
              <a:p>
                <a:pPr marL="269875" indent="266700" algn="just">
                  <a:lnSpc>
                    <a:spcPct val="130000"/>
                  </a:lnSpc>
                </a:pPr>
                <a:r>
                  <a:rPr lang="en-US" altLang="zh-CN" sz="2400" dirty="0">
                    <a:effectLst/>
                    <a:ea typeface="Cambria Math" panose="02040503050406030204" pitchFamily="18" charset="0"/>
                  </a:rPr>
                  <a:t>                                  </a:t>
                </a:r>
                <a14:m>
                  <m:oMath xmlns:m="http://schemas.openxmlformats.org/officeDocument/2006/math">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𝑗</m:t>
                        </m:r>
                      </m:sub>
                      <m:sup>
                        <m:r>
                          <a:rPr lang="en-US" altLang="zh-CN" sz="2400" i="1">
                            <a:effectLst/>
                            <a:latin typeface="Cambria Math" panose="02040503050406030204" pitchFamily="18" charset="0"/>
                            <a:ea typeface="宋体" panose="02010600030101010101" pitchFamily="2" charset="-122"/>
                          </a:rPr>
                          <m:t>′</m:t>
                        </m:r>
                      </m:sup>
                    </m:sSubSup>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sub>
                    </m:sSub>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e>
                        </m:d>
                      </m:e>
                      <m:sup>
                        <m:r>
                          <a:rPr lang="en-US" altLang="zh-CN" sz="2400" i="1">
                            <a:effectLst/>
                            <a:latin typeface="Cambria Math" panose="02040503050406030204" pitchFamily="18" charset="0"/>
                            <a:ea typeface="宋体" panose="02010600030101010101" pitchFamily="2" charset="-122"/>
                          </a:rPr>
                          <m:t>−1</m:t>
                        </m:r>
                      </m:sup>
                    </m:sSup>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𝐴</m:t>
                        </m:r>
                      </m:e>
                      <m:sub>
                        <m:r>
                          <a:rPr lang="en-US" altLang="zh-CN" sz="2400" i="1">
                            <a:effectLst/>
                            <a:latin typeface="Cambria Math" panose="02040503050406030204" pitchFamily="18" charset="0"/>
                            <a:ea typeface="宋体" panose="02010600030101010101" pitchFamily="2" charset="-122"/>
                          </a:rPr>
                          <m:t>𝑗</m:t>
                        </m:r>
                      </m:sub>
                      <m:sup>
                        <m:r>
                          <a:rPr lang="en-US" altLang="zh-CN" sz="2400" i="1">
                            <a:effectLst/>
                            <a:latin typeface="Cambria Math" panose="02040503050406030204" pitchFamily="18" charset="0"/>
                            <a:ea typeface="宋体" panose="02010600030101010101" pitchFamily="2" charset="-122"/>
                          </a:rPr>
                          <m:t>′</m:t>
                        </m:r>
                      </m:sup>
                    </m:sSubSup>
                  </m:oMath>
                </a14:m>
                <a:endParaRPr lang="zh-CN" altLang="zh-CN" sz="2400" dirty="0">
                  <a:effectLst/>
                  <a:latin typeface="Times New Roman" panose="02020603050405020304" pitchFamily="18" charset="0"/>
                  <a:ea typeface="宋体" panose="02010600030101010101" pitchFamily="2" charset="-122"/>
                </a:endParaRPr>
              </a:p>
              <a:p>
                <a:pPr marL="269875" indent="266700" algn="just">
                  <a:lnSpc>
                    <a:spcPct val="130000"/>
                  </a:lnSpc>
                </a:pPr>
                <a:r>
                  <a:rPr lang="en-US" altLang="zh-CN" sz="2400" dirty="0">
                    <a:effectLst/>
                    <a:ea typeface="宋体" panose="02010600030101010101" pitchFamily="2" charset="-122"/>
                  </a:rPr>
                  <a:t>                                       </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𝐵</m:t>
                            </m:r>
                          </m:sub>
                        </m:sSub>
                        <m:r>
                          <a:rPr lang="en-US" altLang="zh-CN" sz="2400" i="1">
                            <a:effectLst/>
                            <a:latin typeface="Cambria Math" panose="02040503050406030204" pitchFamily="18" charset="0"/>
                            <a:ea typeface="宋体" panose="02010600030101010101" pitchFamily="2" charset="-122"/>
                          </a:rPr>
                          <m:t> 0</m:t>
                        </m:r>
                      </m:e>
                    </m:d>
                    <m:d>
                      <m:dPr>
                        <m:ctrlPr>
                          <a:rPr lang="zh-CN" altLang="zh-CN" sz="24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400" i="1">
                                <a:effectLst/>
                                <a:latin typeface="Cambria Math" panose="02040503050406030204" pitchFamily="18" charset="0"/>
                                <a:ea typeface="Cambria Math" panose="02040503050406030204" pitchFamily="18" charset="0"/>
                              </a:rPr>
                            </m:ctrlPr>
                          </m:mPr>
                          <m:mr>
                            <m:e>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e>
                            <m:e>
                              <m:r>
                                <a:rPr lang="en-US" altLang="zh-CN" sz="2400" i="1">
                                  <a:effectLst/>
                                  <a:latin typeface="Cambria Math" panose="02040503050406030204" pitchFamily="18" charset="0"/>
                                  <a:ea typeface="宋体" panose="02010600030101010101" pitchFamily="2" charset="-122"/>
                                </a:rPr>
                                <m:t>0</m:t>
                              </m:r>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e>
                                  </m:d>
                                </m:e>
                                <m:sub>
                                  <m:r>
                                    <a:rPr lang="en-US" altLang="zh-CN" sz="2400" i="1">
                                      <a:effectLst/>
                                      <a:latin typeface="Cambria Math" panose="02040503050406030204" pitchFamily="18" charset="0"/>
                                      <a:ea typeface="宋体" panose="02010600030101010101" pitchFamily="2" charset="-122"/>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e>
                            <m:e>
                              <m:r>
                                <a:rPr lang="en-US" altLang="zh-CN" sz="2400" i="1">
                                  <a:effectLst/>
                                  <a:latin typeface="Cambria Math" panose="02040503050406030204" pitchFamily="18" charset="0"/>
                                  <a:ea typeface="宋体" panose="02010600030101010101" pitchFamily="2" charset="-122"/>
                                </a:rPr>
                                <m:t>1</m:t>
                              </m:r>
                            </m:e>
                          </m:mr>
                        </m:m>
                      </m:e>
                    </m:d>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𝐴</m:t>
                                  </m:r>
                                </m:e>
                                <m:sub>
                                  <m:r>
                                    <a:rPr lang="en-US" altLang="zh-CN" sz="2400" i="1">
                                      <a:effectLst/>
                                      <a:latin typeface="Cambria Math" panose="02040503050406030204" pitchFamily="18" charset="0"/>
                                      <a:ea typeface="宋体" panose="02010600030101010101" pitchFamily="2" charset="-122"/>
                                    </a:rPr>
                                    <m:t>𝑗</m:t>
                                  </m:r>
                                </m:sub>
                              </m:sSub>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𝑎</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r>
                                    <a:rPr lang="en-US" altLang="zh-CN" sz="2400" i="1">
                                      <a:effectLst/>
                                      <a:latin typeface="Cambria Math" panose="02040503050406030204" pitchFamily="18" charset="0"/>
                                      <a:ea typeface="宋体" panose="02010600030101010101" pitchFamily="2" charset="-122"/>
                                    </a:rPr>
                                    <m:t>𝑗</m:t>
                                  </m:r>
                                </m:sub>
                              </m:sSub>
                            </m:e>
                          </m:mr>
                        </m:m>
                      </m:e>
                    </m:d>
                  </m:oMath>
                </a14:m>
                <a:endParaRPr lang="en-US" altLang="zh-CN" sz="2400" i="1" dirty="0">
                  <a:effectLst/>
                  <a:latin typeface="Cambria Math" panose="02040503050406030204" pitchFamily="18" charset="0"/>
                  <a:ea typeface="宋体" panose="02010600030101010101" pitchFamily="2" charset="-122"/>
                </a:endParaRPr>
              </a:p>
              <a:p>
                <a:pPr marL="269875" indent="266700" algn="just">
                  <a:lnSpc>
                    <a:spcPct val="130000"/>
                  </a:lnSpc>
                </a:pPr>
                <a:r>
                  <a:rPr lang="en-US" altLang="zh-CN" sz="2400" dirty="0">
                    <a:effectLst/>
                    <a:ea typeface="宋体" panose="02010600030101010101" pitchFamily="2" charset="-122"/>
                  </a:rPr>
                  <a:t>                                       </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𝐴</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𝑗</m:t>
                        </m:r>
                      </m:sub>
                    </m:sSub>
                  </m:oMath>
                </a14:m>
                <a:endParaRPr lang="zh-CN" altLang="zh-CN" sz="2400" dirty="0">
                  <a:effectLst/>
                  <a:latin typeface="Times New Roman" panose="02020603050405020304" pitchFamily="18" charset="0"/>
                  <a:ea typeface="宋体" panose="02010600030101010101" pitchFamily="2" charset="-122"/>
                </a:endParaRPr>
              </a:p>
              <a:p>
                <a:pPr marL="269875" indent="-269875" algn="just">
                  <a:lnSpc>
                    <a:spcPct val="130000"/>
                  </a:lnSpc>
                </a:pPr>
                <a:r>
                  <a:rPr lang="zh-CN" altLang="zh-CN" sz="2400" dirty="0">
                    <a:effectLst/>
                    <a:latin typeface="Times New Roman" panose="02020603050405020304" pitchFamily="18" charset="0"/>
                    <a:ea typeface="宋体" panose="02010600030101010101" pitchFamily="2" charset="-122"/>
                  </a:rPr>
                  <a:t>又可计算</a:t>
                </a:r>
                <a14:m>
                  <m:oMath xmlns:m="http://schemas.openxmlformats.org/officeDocument/2006/math">
                    <m:sSubSup>
                      <m:sSubSupPr>
                        <m:ctrlPr>
                          <a:rPr lang="zh-CN" altLang="zh-CN" sz="2400" i="1">
                            <a:effectLst/>
                            <a:latin typeface="Cambria Math" panose="02040503050406030204" pitchFamily="18" charset="0"/>
                            <a:ea typeface="Cambria Math" panose="02040503050406030204" pitchFamily="18" charset="0"/>
                          </a:rPr>
                        </m:ctrlPr>
                      </m:sSubSup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up>
                        <m:r>
                          <a:rPr lang="en-US" altLang="zh-CN" sz="2400" i="1">
                            <a:effectLst/>
                            <a:latin typeface="Cambria Math" panose="02040503050406030204" pitchFamily="18" charset="0"/>
                            <a:ea typeface="宋体" panose="02010600030101010101" pitchFamily="2" charset="-122"/>
                          </a:rPr>
                          <m:t>′</m:t>
                        </m:r>
                      </m:sup>
                    </m:sSubSup>
                    <m:r>
                      <a:rPr lang="en-US" altLang="zh-CN" sz="2400" i="1">
                        <a:effectLst/>
                        <a:latin typeface="Cambria Math" panose="02040503050406030204" pitchFamily="18" charset="0"/>
                        <a:ea typeface="宋体" panose="02010600030101010101" pitchFamily="2" charset="-122"/>
                      </a:rPr>
                      <m:t>=0</m:t>
                    </m:r>
                  </m:oMath>
                </a14:m>
                <a:r>
                  <a:rPr lang="zh-CN" altLang="zh-CN" sz="2400" dirty="0">
                    <a:effectLst/>
                    <a:latin typeface="Times New Roman" panose="02020603050405020304" pitchFamily="18" charset="0"/>
                    <a:ea typeface="宋体" panose="02010600030101010101" pitchFamily="2" charset="-122"/>
                  </a:rPr>
                  <a:t>．因此，现行的基本解</a:t>
                </a:r>
                <a14:m>
                  <m:oMath xmlns:m="http://schemas.openxmlformats.org/officeDocument/2006/math">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sub>
                              </m:sSub>
                            </m:e>
                          </m:mr>
                          <m:mr>
                            <m:e>
                              <m:r>
                                <a:rPr lang="en-US" altLang="zh-CN" sz="2400" i="1">
                                  <a:effectLst/>
                                  <a:latin typeface="Cambria Math" panose="02040503050406030204" pitchFamily="18" charset="0"/>
                                  <a:ea typeface="宋体" panose="02010600030101010101" pitchFamily="2" charset="-122"/>
                                </a:rPr>
                                <m:t>0</m:t>
                              </m:r>
                            </m:e>
                          </m:mr>
                        </m:m>
                      </m:e>
                    </m:d>
                  </m:oMath>
                </a14:m>
                <a:r>
                  <a:rPr lang="zh-CN" altLang="zh-CN" sz="2400" dirty="0">
                    <a:effectLst/>
                    <a:latin typeface="Times New Roman" panose="02020603050405020304" pitchFamily="18" charset="0"/>
                    <a:ea typeface="宋体" panose="02010600030101010101" pitchFamily="2" charset="-122"/>
                  </a:rPr>
                  <a:t>是</a:t>
                </a:r>
                <a:r>
                  <a:rPr lang="zh-CN" altLang="zh-CN" sz="2400" dirty="0">
                    <a:solidFill>
                      <a:srgbClr val="FF0000"/>
                    </a:solidFill>
                    <a:effectLst/>
                    <a:latin typeface="Times New Roman" panose="02020603050405020304" pitchFamily="18" charset="0"/>
                    <a:ea typeface="宋体" panose="02010600030101010101" pitchFamily="2" charset="-122"/>
                  </a:rPr>
                  <a:t>对偶可行</a:t>
                </a:r>
                <a:r>
                  <a:rPr lang="zh-CN" altLang="zh-CN" sz="2400" dirty="0">
                    <a:effectLst/>
                    <a:latin typeface="Times New Roman" panose="02020603050405020304" pitchFamily="18" charset="0"/>
                    <a:ea typeface="宋体" panose="02010600030101010101" pitchFamily="2" charset="-122"/>
                  </a:rPr>
                  <a:t>的，其中</a:t>
                </a:r>
              </a:p>
              <a:p>
                <a:pPr marL="269875" indent="228600" algn="ctr">
                  <a:lnSpc>
                    <a:spcPct val="130000"/>
                  </a:lnSpc>
                </a:pP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sub>
                    </m:sSub>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𝐵</m:t>
                                  </m:r>
                                </m:sub>
                              </m:sSub>
                            </m:e>
                          </m:mr>
                          <m:m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𝑛</m:t>
                                  </m:r>
                                  <m:r>
                                    <a:rPr lang="en-US" altLang="zh-CN" sz="2400" i="1">
                                      <a:effectLst/>
                                      <a:latin typeface="Cambria Math" panose="02040503050406030204" pitchFamily="18" charset="0"/>
                                      <a:ea typeface="宋体" panose="02010600030101010101" pitchFamily="2" charset="-122"/>
                                    </a:rPr>
                                    <m:t>+1</m:t>
                                  </m:r>
                                </m:sub>
                              </m:sSub>
                            </m:e>
                          </m:mr>
                        </m:m>
                      </m:e>
                    </m:d>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m:t>
                                </m:r>
                              </m:sup>
                            </m:sSup>
                          </m:e>
                        </m:d>
                      </m:e>
                      <m:sup>
                        <m:r>
                          <a:rPr lang="en-US" altLang="zh-CN" sz="2400" i="1">
                            <a:effectLst/>
                            <a:latin typeface="Cambria Math" panose="02040503050406030204" pitchFamily="18" charset="0"/>
                            <a:ea typeface="宋体" panose="02010600030101010101" pitchFamily="2" charset="-122"/>
                          </a:rPr>
                          <m:t>−1</m:t>
                        </m:r>
                      </m:sup>
                    </m:sSup>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𝑏</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r>
                                <a:rPr lang="en-US" altLang="zh-CN" sz="2400" i="1">
                                  <a:effectLst/>
                                  <a:latin typeface="Cambria Math" panose="02040503050406030204" pitchFamily="18" charset="0"/>
                                  <a:ea typeface="宋体" panose="02010600030101010101" pitchFamily="2" charset="-122"/>
                                </a:rPr>
                                <m:t>𝑏</m:t>
                              </m:r>
                            </m:e>
                          </m:mr>
                          <m:mr>
                            <m:e>
                              <m:sSub>
                                <m:sSubPr>
                                  <m:ctrlPr>
                                    <a:rPr lang="zh-CN" altLang="zh-CN" sz="2400" i="1">
                                      <a:effectLst/>
                                      <a:latin typeface="Cambria Math" panose="02040503050406030204" pitchFamily="18" charset="0"/>
                                      <a:ea typeface="Cambria Math" panose="02040503050406030204" pitchFamily="18" charset="0"/>
                                    </a:rPr>
                                  </m:ctrlPr>
                                </m:sSub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e>
                                  </m:d>
                                </m:e>
                                <m:sub>
                                  <m:r>
                                    <a:rPr lang="en-US" altLang="zh-CN" sz="2400" i="1">
                                      <a:effectLst/>
                                      <a:latin typeface="Cambria Math" panose="02040503050406030204" pitchFamily="18" charset="0"/>
                                      <a:ea typeface="宋体" panose="02010600030101010101" pitchFamily="2" charset="-122"/>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r>
                                <a:rPr lang="en-US" altLang="zh-CN" sz="2400" i="1">
                                  <a:effectLst/>
                                  <a:latin typeface="Cambria Math" panose="02040503050406030204" pitchFamily="18" charset="0"/>
                                  <a:ea typeface="宋体" panose="02010600030101010101" pitchFamily="2" charset="-122"/>
                                </a:rPr>
                                <m:t>𝑏</m:t>
                              </m:r>
                            </m:e>
                          </m:mr>
                        </m:m>
                      </m:e>
                    </m:d>
                  </m:oMath>
                </a14:m>
                <a:r>
                  <a:rPr lang="zh-CN" altLang="zh-CN" sz="2400" dirty="0">
                    <a:effectLst/>
                    <a:latin typeface="Times New Roman" panose="02020603050405020304" pitchFamily="18" charset="0"/>
                    <a:ea typeface="宋体" panose="02010600030101010101" pitchFamily="2" charset="-122"/>
                  </a:rPr>
                  <a:t>．</a:t>
                </a:r>
              </a:p>
              <a:p>
                <a:pPr indent="-269875" algn="just">
                  <a:lnSpc>
                    <a:spcPct val="130000"/>
                  </a:lnSpc>
                </a:pPr>
                <a:r>
                  <a:rPr lang="zh-CN" altLang="zh-CN" sz="2400" dirty="0">
                    <a:effectLst/>
                    <a:latin typeface="Times New Roman" panose="02020603050405020304" pitchFamily="18" charset="0"/>
                    <a:ea typeface="宋体" panose="02010600030101010101" pitchFamily="2" charset="-122"/>
                  </a:rPr>
                  <a:t>因此，若</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𝑃</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e>
                        </m:d>
                      </m:e>
                      <m:sub>
                        <m:r>
                          <a:rPr lang="en-US" altLang="zh-CN" sz="2400" i="1">
                            <a:effectLst/>
                            <a:latin typeface="Cambria Math" panose="02040503050406030204" pitchFamily="18" charset="0"/>
                            <a:ea typeface="宋体" panose="02010600030101010101" pitchFamily="2" charset="-122"/>
                          </a:rPr>
                          <m:t>𝐵</m:t>
                        </m:r>
                      </m:sub>
                    </m:sSub>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r>
                      <a:rPr lang="en-US" altLang="zh-CN" sz="2400" i="1">
                        <a:effectLst/>
                        <a:latin typeface="Cambria Math" panose="02040503050406030204" pitchFamily="18" charset="0"/>
                        <a:ea typeface="宋体" panose="02010600030101010101" pitchFamily="2" charset="-122"/>
                      </a:rPr>
                      <m:t>𝑏</m:t>
                    </m:r>
                    <m:r>
                      <a:rPr lang="en-US" altLang="zh-CN" sz="2400" i="1">
                        <a:effectLst/>
                        <a:latin typeface="Cambria Math" panose="02040503050406030204" pitchFamily="18" charset="0"/>
                        <a:ea typeface="宋体" panose="02010600030101010101" pitchFamily="2" charset="-122"/>
                      </a:rPr>
                      <m:t>≥0</m:t>
                    </m:r>
                  </m:oMath>
                </a14:m>
                <a:r>
                  <a:rPr lang="zh-CN" altLang="zh-CN" sz="2400" dirty="0">
                    <a:effectLst/>
                    <a:latin typeface="Times New Roman" panose="02020603050405020304" pitchFamily="18" charset="0"/>
                    <a:ea typeface="宋体" panose="02010600030101010101" pitchFamily="2" charset="-122"/>
                  </a:rPr>
                  <a:t>，则现行的对偶可行的基本解是新问题的可行解</a:t>
                </a:r>
                <a:r>
                  <a:rPr lang="en-US" altLang="zh-CN" sz="2400" dirty="0">
                    <a:effectLst/>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即为最优解；否则，在原来最终单纯形表的基础上，增加新的约束式的数据，通过矩阵行的初等变换，把原最终表上的各基向量列及新增列化为单位矩阵，再用对偶单纯形法求解。</a:t>
                </a:r>
              </a:p>
            </p:txBody>
          </p:sp>
        </mc:Choice>
        <mc:Fallback xmlns="">
          <p:sp>
            <p:nvSpPr>
              <p:cNvPr id="5" name="文本框 4">
                <a:extLst>
                  <a:ext uri="{FF2B5EF4-FFF2-40B4-BE49-F238E27FC236}">
                    <a16:creationId xmlns:a16="http://schemas.microsoft.com/office/drawing/2014/main" id="{9BDF064D-BFCB-DC39-D3C9-D3FE462A1536}"/>
                  </a:ext>
                </a:extLst>
              </p:cNvPr>
              <p:cNvSpPr txBox="1">
                <a:spLocks noRot="1" noChangeAspect="1" noMove="1" noResize="1" noEditPoints="1" noAdjustHandles="1" noChangeArrowheads="1" noChangeShapeType="1" noTextEdit="1"/>
              </p:cNvSpPr>
              <p:nvPr/>
            </p:nvSpPr>
            <p:spPr>
              <a:xfrm>
                <a:off x="479393" y="257502"/>
                <a:ext cx="11496584" cy="6187656"/>
              </a:xfrm>
              <a:prstGeom prst="rect">
                <a:avLst/>
              </a:prstGeom>
              <a:blipFill>
                <a:blip r:embed="rId2"/>
                <a:stretch>
                  <a:fillRect l="-848" r="-795" b="-985"/>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24873A2-BE1D-013D-A8CA-D51A94E03329}"/>
                  </a:ext>
                </a:extLst>
              </p:cNvPr>
              <p:cNvSpPr txBox="1"/>
              <p:nvPr/>
            </p:nvSpPr>
            <p:spPr>
              <a:xfrm>
                <a:off x="692458" y="897312"/>
                <a:ext cx="10191935" cy="2238241"/>
              </a:xfrm>
              <a:prstGeom prst="rect">
                <a:avLst/>
              </a:prstGeom>
              <a:noFill/>
            </p:spPr>
            <p:txBody>
              <a:bodyPr wrap="square">
                <a:spAutoFit/>
              </a:bodyPr>
              <a:lstStyle/>
              <a:p>
                <a:pPr indent="-269875" algn="just">
                  <a:lnSpc>
                    <a:spcPct val="150000"/>
                  </a:lnSpc>
                  <a:tabLst>
                    <a:tab pos="269875" algn="l"/>
                    <a:tab pos="266700" algn="l"/>
                  </a:tabLst>
                </a:pPr>
                <a:r>
                  <a:rPr lang="en-US" altLang="zh-CN" sz="2400" b="1" dirty="0">
                    <a:effectLst/>
                    <a:latin typeface="Times New Roman" panose="02020603050405020304" pitchFamily="18" charset="0"/>
                    <a:ea typeface="宋体" panose="02010600030101010101" pitchFamily="2" charset="-122"/>
                  </a:rPr>
                  <a:t>        </a:t>
                </a:r>
                <a:r>
                  <a:rPr lang="zh-CN" altLang="zh-CN" sz="2400" b="1" dirty="0">
                    <a:effectLst/>
                    <a:latin typeface="Times New Roman" panose="02020603050405020304" pitchFamily="18" charset="0"/>
                    <a:ea typeface="宋体" panose="02010600030101010101" pitchFamily="2" charset="-122"/>
                  </a:rPr>
                  <a:t>值得注意的是</a:t>
                </a:r>
                <a:r>
                  <a:rPr lang="zh-CN" altLang="zh-CN" sz="2400" dirty="0">
                    <a:effectLst/>
                    <a:latin typeface="Times New Roman" panose="02020603050405020304" pitchFamily="18" charset="0"/>
                    <a:ea typeface="宋体" panose="02010600030101010101" pitchFamily="2" charset="-122"/>
                  </a:rPr>
                  <a:t>，在上述讨论中并未要求</a:t>
                </a:r>
                <a14:m>
                  <m:oMath xmlns:m="http://schemas.openxmlformats.org/officeDocument/2006/math">
                    <m:sSub>
                      <m:sSubPr>
                        <m:ctrlPr>
                          <a:rPr lang="zh-CN" altLang="zh-CN" sz="2400" i="1" smtClean="0">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𝑚</m:t>
                        </m:r>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Times New Roman" panose="02020603050405020304" pitchFamily="18" charset="0"/>
                    <a:ea typeface="宋体" panose="02010600030101010101" pitchFamily="2" charset="-122"/>
                  </a:rPr>
                  <a:t>非负，因而，当所增约束是“</a:t>
                </a:r>
                <a14:m>
                  <m:oMath xmlns:m="http://schemas.openxmlformats.org/officeDocument/2006/math">
                    <m:r>
                      <a:rPr lang="zh-CN" altLang="en-US" sz="2400" i="1">
                        <a:latin typeface="Cambria Math" panose="02040503050406030204" pitchFamily="18" charset="0"/>
                        <a:ea typeface="Cambria Math" panose="02040503050406030204" pitchFamily="18" charset="0"/>
                      </a:rPr>
                      <m:t>≥</m:t>
                    </m:r>
                  </m:oMath>
                </a14:m>
                <a:r>
                  <a:rPr lang="zh-CN" altLang="zh-CN" sz="2400" dirty="0">
                    <a:effectLst/>
                    <a:latin typeface="Times New Roman" panose="02020603050405020304" pitchFamily="18" charset="0"/>
                    <a:ea typeface="宋体" panose="02010600030101010101" pitchFamily="2" charset="-122"/>
                  </a:rPr>
                  <a:t>”不等式时，只需用“</a:t>
                </a:r>
                <a:r>
                  <a:rPr lang="en-US" altLang="zh-CN" sz="2400" dirty="0">
                    <a:effectLst/>
                    <a:latin typeface="Times New Roman" panose="02020603050405020304" pitchFamily="18" charset="0"/>
                    <a:ea typeface="宋体" panose="02010600030101010101" pitchFamily="2" charset="-122"/>
                  </a:rPr>
                  <a:t>-1</a:t>
                </a:r>
                <a:r>
                  <a:rPr lang="zh-CN" altLang="zh-CN" sz="2400" dirty="0">
                    <a:effectLst/>
                    <a:latin typeface="Times New Roman" panose="02020603050405020304" pitchFamily="18" charset="0"/>
                    <a:ea typeface="宋体" panose="02010600030101010101" pitchFamily="2" charset="-122"/>
                  </a:rPr>
                  <a:t>”乘以约束的左右两端，就能变成上面讨论过的形式。此外，若需在新约束中引入人工变量，由于其相应的价值系数为大</a:t>
                </a:r>
                <a14:m>
                  <m:oMath xmlns:m="http://schemas.openxmlformats.org/officeDocument/2006/math">
                    <m:r>
                      <a:rPr lang="en-US" altLang="zh-CN" sz="2400" i="1">
                        <a:latin typeface="Cambria Math" panose="02040503050406030204" pitchFamily="18" charset="0"/>
                        <a:ea typeface="Cambria Math" panose="02040503050406030204" pitchFamily="18" charset="0"/>
                      </a:rPr>
                      <m:t>𝑀</m:t>
                    </m:r>
                    <m:r>
                      <a:rPr lang="en-US" altLang="zh-CN" sz="2400" i="1">
                        <a:latin typeface="Cambria Math" panose="02040503050406030204" pitchFamily="18" charset="0"/>
                        <a:ea typeface="Cambria Math" panose="02040503050406030204" pitchFamily="18" charset="0"/>
                      </a:rPr>
                      <m:t> </m:t>
                    </m:r>
                  </m:oMath>
                </a14:m>
                <a:r>
                  <a:rPr lang="zh-CN" altLang="zh-CN" sz="2400" dirty="0">
                    <a:effectLst/>
                    <a:latin typeface="Times New Roman" panose="02020603050405020304" pitchFamily="18" charset="0"/>
                    <a:ea typeface="宋体" panose="02010600030101010101" pitchFamily="2" charset="-122"/>
                  </a:rPr>
                  <a:t>，各检验数不再保持不变</a:t>
                </a:r>
                <a:r>
                  <a:rPr lang="zh-CN" altLang="en-US" sz="2400" dirty="0">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这时，可用单纯形法求新的最优解</a:t>
                </a:r>
                <a:r>
                  <a:rPr lang="zh-CN" altLang="en-US" sz="2400" dirty="0">
                    <a:effectLst/>
                    <a:latin typeface="Times New Roman" panose="02020603050405020304" pitchFamily="18" charset="0"/>
                    <a:ea typeface="宋体" panose="02010600030101010101" pitchFamily="2" charset="-122"/>
                  </a:rPr>
                  <a:t>。</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5" name="文本框 4">
                <a:extLst>
                  <a:ext uri="{FF2B5EF4-FFF2-40B4-BE49-F238E27FC236}">
                    <a16:creationId xmlns:a16="http://schemas.microsoft.com/office/drawing/2014/main" id="{C24873A2-BE1D-013D-A8CA-D51A94E03329}"/>
                  </a:ext>
                </a:extLst>
              </p:cNvPr>
              <p:cNvSpPr txBox="1">
                <a:spLocks noRot="1" noChangeAspect="1" noMove="1" noResize="1" noEditPoints="1" noAdjustHandles="1" noChangeArrowheads="1" noChangeShapeType="1" noTextEdit="1"/>
              </p:cNvSpPr>
              <p:nvPr/>
            </p:nvSpPr>
            <p:spPr>
              <a:xfrm>
                <a:off x="692458" y="897312"/>
                <a:ext cx="10191935" cy="2238241"/>
              </a:xfrm>
              <a:prstGeom prst="rect">
                <a:avLst/>
              </a:prstGeom>
              <a:blipFill>
                <a:blip r:embed="rId2"/>
                <a:stretch>
                  <a:fillRect l="-958" r="-958" b="-4632"/>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3DD8E98-CEE4-B7FE-9398-A1EB6D522A13}"/>
                  </a:ext>
                </a:extLst>
              </p:cNvPr>
              <p:cNvSpPr txBox="1"/>
              <p:nvPr/>
            </p:nvSpPr>
            <p:spPr>
              <a:xfrm>
                <a:off x="248575" y="619971"/>
                <a:ext cx="6578353" cy="5443350"/>
              </a:xfrm>
              <a:prstGeom prst="rect">
                <a:avLst/>
              </a:prstGeom>
              <a:noFill/>
            </p:spPr>
            <p:txBody>
              <a:bodyPr wrap="square">
                <a:spAutoFit/>
              </a:bodyPr>
              <a:lstStyle/>
              <a:p>
                <a:pPr indent="304800">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sz="2400" i="1">
                          <a:effectLst/>
                          <a:latin typeface="Cambria Math" panose="02040503050406030204" pitchFamily="18" charset="0"/>
                          <a:ea typeface="宋体" panose="02010600030101010101" pitchFamily="2" charset="-122"/>
                        </a:rPr>
                        <m:t>𝑠</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𝑡</m:t>
                      </m:r>
                      <m:r>
                        <a:rPr lang="en-US" altLang="zh-CN" sz="2400" i="1">
                          <a:effectLst/>
                          <a:latin typeface="Cambria Math" panose="02040503050406030204" pitchFamily="18" charset="0"/>
                          <a:ea typeface="宋体" panose="02010600030101010101" pitchFamily="2" charset="-122"/>
                        </a:rPr>
                        <m:t>.</m:t>
                      </m:r>
                      <m:d>
                        <m:dPr>
                          <m:begChr m:val="{"/>
                          <m:endChr m:val=""/>
                          <m:ctrlPr>
                            <a:rPr lang="zh-CN" altLang="zh-CN" sz="2400" i="1">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 </m:t>
                          </m:r>
                          <m:eqArr>
                            <m:eqArrPr>
                              <m:ctrlPr>
                                <a:rPr lang="zh-CN" altLang="zh-CN" sz="2400" i="1">
                                  <a:effectLst/>
                                  <a:latin typeface="Cambria Math" panose="02040503050406030204" pitchFamily="18" charset="0"/>
                                  <a:ea typeface="Cambria Math" panose="02040503050406030204" pitchFamily="18" charset="0"/>
                                </a:rPr>
                              </m:ctrlPr>
                            </m:eqArrPr>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+2</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≤9</m:t>
                              </m:r>
                            </m:e>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≤2</m:t>
                              </m:r>
                            </m:e>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 ≤4</m:t>
                              </m:r>
                            </m:e>
                            <m:e>
                              <m:sSub>
                                <m:sSubPr>
                                  <m:ctrlPr>
                                    <a:rPr lang="zh-CN" altLang="zh-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𝑗</m:t>
                                  </m:r>
                                </m:sub>
                              </m:s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≥0,</m:t>
                              </m:r>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𝑗</m:t>
                              </m:r>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=1,2,3</m:t>
                              </m:r>
                            </m:e>
                          </m:eqArr>
                        </m:e>
                      </m:d>
                    </m:oMath>
                  </m:oMathPara>
                </a14:m>
                <a:endParaRPr lang="en-US" altLang="zh-CN" sz="2400" i="1" dirty="0">
                  <a:effectLst/>
                  <a:latin typeface="Cambria Math" panose="02040503050406030204" pitchFamily="18" charset="0"/>
                  <a:ea typeface="Cambria Math" panose="02040503050406030204" pitchFamily="18" charset="0"/>
                  <a:cs typeface="Cambria Math" panose="02040503050406030204" pitchFamily="18" charset="0"/>
                </a:endParaRPr>
              </a:p>
              <a:p>
                <a:pPr indent="304800" algn="just">
                  <a:lnSpc>
                    <a:spcPct val="150000"/>
                  </a:lnSpc>
                  <a:spcBef>
                    <a:spcPts val="600"/>
                  </a:spcBef>
                  <a:spcAft>
                    <a:spcPts val="600"/>
                  </a:spcAft>
                </a:pPr>
                <a:r>
                  <a:rPr lang="en-US" altLang="zh-CN" sz="2400" dirty="0">
                    <a:effectLst/>
                    <a:latin typeface="Times New Roman" panose="02020603050405020304" pitchFamily="18" charset="0"/>
                    <a:ea typeface="宋体" panose="02010600030101010101" pitchFamily="2" charset="-122"/>
                  </a:rPr>
                  <a:t>   </a:t>
                </a:r>
                <a:r>
                  <a:rPr lang="zh-CN" altLang="zh-CN" sz="2400" dirty="0">
                    <a:effectLst/>
                    <a:latin typeface="Times New Roman" panose="02020603050405020304" pitchFamily="18" charset="0"/>
                    <a:ea typeface="宋体" panose="02010600030101010101" pitchFamily="2" charset="-122"/>
                  </a:rPr>
                  <a:t>在三个不等式约束中分别引进松弛变量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4</m:t>
                        </m:r>
                      </m:sub>
                    </m:s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5</m:t>
                        </m:r>
                      </m:sub>
                    </m:s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zh-CN" altLang="zh-CN" sz="24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𝑥</m:t>
                        </m:r>
                      </m:e>
                      <m:sub>
                        <m:r>
                          <a:rPr lang="en-US" altLang="zh-CN" sz="2400" i="1">
                            <a:effectLst/>
                            <a:latin typeface="Cambria Math" panose="02040503050406030204" pitchFamily="18" charset="0"/>
                            <a:ea typeface="Cambria Math" panose="02040503050406030204" pitchFamily="18" charset="0"/>
                            <a:cs typeface="Cambria Math" panose="02040503050406030204" pitchFamily="18" charset="0"/>
                          </a:rPr>
                          <m:t>6</m:t>
                        </m:r>
                      </m:sub>
                    </m:sSub>
                  </m:oMath>
                </a14:m>
                <a:r>
                  <a:rPr lang="zh-CN" altLang="zh-CN" sz="2400" dirty="0">
                    <a:effectLst/>
                    <a:latin typeface="Times New Roman" panose="02020603050405020304" pitchFamily="18" charset="0"/>
                    <a:ea typeface="宋体" panose="02010600030101010101" pitchFamily="2" charset="-122"/>
                  </a:rPr>
                  <a:t>，将其化为标准型线性规划，然后用单纯形法求解得到最优单纯形表为</a:t>
                </a:r>
                <a:r>
                  <a:rPr lang="zh-CN" altLang="en-US" sz="2400" dirty="0">
                    <a:effectLst/>
                    <a:latin typeface="Times New Roman" panose="02020603050405020304" pitchFamily="18" charset="0"/>
                    <a:ea typeface="宋体" panose="02010600030101010101" pitchFamily="2" charset="-122"/>
                  </a:rPr>
                  <a:t>右</a:t>
                </a:r>
                <a:r>
                  <a:rPr lang="zh-CN" altLang="zh-CN" sz="2400" dirty="0">
                    <a:effectLst/>
                    <a:latin typeface="Times New Roman" panose="02020603050405020304" pitchFamily="18" charset="0"/>
                    <a:ea typeface="宋体" panose="02010600030101010101" pitchFamily="2" charset="-122"/>
                  </a:rPr>
                  <a:t>表所示。现增加新约束</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−3</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+6</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 ≤17</m:t>
                    </m:r>
                  </m:oMath>
                </a14:m>
                <a:r>
                  <a:rPr lang="zh-CN" altLang="zh-CN" sz="2400" dirty="0">
                    <a:effectLst/>
                    <a:latin typeface="Times New Roman" panose="02020603050405020304" pitchFamily="18" charset="0"/>
                    <a:ea typeface="宋体" panose="02010600030101010101" pitchFamily="2" charset="-122"/>
                  </a:rPr>
                  <a:t>，求新问题的最优解。</a:t>
                </a:r>
              </a:p>
            </p:txBody>
          </p:sp>
        </mc:Choice>
        <mc:Fallback xmlns="">
          <p:sp>
            <p:nvSpPr>
              <p:cNvPr id="5" name="文本框 4">
                <a:extLst>
                  <a:ext uri="{FF2B5EF4-FFF2-40B4-BE49-F238E27FC236}">
                    <a16:creationId xmlns:a16="http://schemas.microsoft.com/office/drawing/2014/main" id="{83DD8E98-CEE4-B7FE-9398-A1EB6D522A13}"/>
                  </a:ext>
                </a:extLst>
              </p:cNvPr>
              <p:cNvSpPr txBox="1">
                <a:spLocks noRot="1" noChangeAspect="1" noMove="1" noResize="1" noEditPoints="1" noAdjustHandles="1" noChangeArrowheads="1" noChangeShapeType="1" noTextEdit="1"/>
              </p:cNvSpPr>
              <p:nvPr/>
            </p:nvSpPr>
            <p:spPr>
              <a:xfrm>
                <a:off x="248575" y="619971"/>
                <a:ext cx="6578353" cy="5443350"/>
              </a:xfrm>
              <a:prstGeom prst="rect">
                <a:avLst/>
              </a:prstGeom>
              <a:blipFill>
                <a:blip r:embed="rId2"/>
                <a:stretch>
                  <a:fillRect l="-1483" r="-1390" b="-12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67BAFA3-EBFB-5FB4-D99D-572F1CF9A661}"/>
                  </a:ext>
                </a:extLst>
              </p:cNvPr>
              <p:cNvSpPr txBox="1"/>
              <p:nvPr/>
            </p:nvSpPr>
            <p:spPr>
              <a:xfrm>
                <a:off x="553376" y="188664"/>
                <a:ext cx="10377995" cy="1004249"/>
              </a:xfrm>
              <a:prstGeom prst="rect">
                <a:avLst/>
              </a:prstGeom>
              <a:noFill/>
            </p:spPr>
            <p:txBody>
              <a:bodyPr wrap="square">
                <a:spAutoFit/>
              </a:bodyPr>
              <a:lstStyle/>
              <a:p>
                <a:pPr indent="304800" algn="just">
                  <a:lnSpc>
                    <a:spcPct val="130000"/>
                  </a:lnSpc>
                </a:pPr>
                <a:r>
                  <a:rPr lang="zh-CN" altLang="zh-CN" sz="2400" dirty="0">
                    <a:effectLst/>
                    <a:latin typeface="Times New Roman" panose="02020603050405020304" pitchFamily="18" charset="0"/>
                    <a:ea typeface="宋体" panose="02010600030101010101" pitchFamily="2" charset="-122"/>
                  </a:rPr>
                  <a:t>例 </a:t>
                </a:r>
                <a:r>
                  <a:rPr lang="zh-CN" altLang="zh-CN" sz="2400" dirty="0">
                    <a:effectLst/>
                    <a:latin typeface="Times New Roman" panose="02020603050405020304" pitchFamily="18" charset="0"/>
                    <a:ea typeface="黑体" panose="02010609060101010101" pitchFamily="49" charset="-122"/>
                  </a:rPr>
                  <a:t> </a:t>
                </a:r>
                <a:r>
                  <a:rPr lang="zh-CN" altLang="zh-CN" sz="2400" dirty="0">
                    <a:effectLst/>
                    <a:latin typeface="Times New Roman" panose="02020603050405020304" pitchFamily="18" charset="0"/>
                    <a:ea typeface="宋体" panose="02010600030101010101" pitchFamily="2" charset="-122"/>
                  </a:rPr>
                  <a:t>已知线性规划问题</a:t>
                </a:r>
                <a:endParaRPr lang="en-US" altLang="zh-CN" sz="2400" dirty="0">
                  <a:effectLst/>
                  <a:latin typeface="Times New Roman" panose="02020603050405020304" pitchFamily="18" charset="0"/>
                  <a:ea typeface="宋体" panose="02010600030101010101" pitchFamily="2" charset="-122"/>
                </a:endParaRPr>
              </a:p>
              <a:p>
                <a:pPr indent="304800" algn="just">
                  <a:lnSpc>
                    <a:spcPct val="130000"/>
                  </a:lnSpc>
                </a:pPr>
                <a:r>
                  <a:rPr lang="en-US" altLang="zh-CN" sz="2400" dirty="0">
                    <a:latin typeface="Times New Roman" panose="02020603050405020304" pitchFamily="18" charset="0"/>
                    <a:ea typeface="宋体" panose="02010600030101010101" pitchFamily="2" charset="-122"/>
                  </a:rPr>
                  <a:t>          </a:t>
                </a:r>
                <a14:m>
                  <m:oMath xmlns:m="http://schemas.openxmlformats.org/officeDocument/2006/math">
                    <m:func>
                      <m:funcPr>
                        <m:ctrlPr>
                          <a:rPr lang="zh-CN" altLang="zh-CN" sz="2400" i="1">
                            <a:effectLst/>
                            <a:latin typeface="Cambria Math" panose="02040503050406030204" pitchFamily="18" charset="0"/>
                            <a:ea typeface="Cambria Math" panose="02040503050406030204" pitchFamily="18" charset="0"/>
                          </a:rPr>
                        </m:ctrlPr>
                      </m:funcPr>
                      <m:fName>
                        <m:r>
                          <m:rPr>
                            <m:sty m:val="p"/>
                          </m:rPr>
                          <a:rPr lang="en-US" altLang="zh-CN" sz="2400">
                            <a:effectLst/>
                            <a:latin typeface="Cambria Math" panose="02040503050406030204" pitchFamily="18" charset="0"/>
                            <a:ea typeface="宋体" panose="02010600030101010101" pitchFamily="2" charset="-122"/>
                          </a:rPr>
                          <m:t>min</m:t>
                        </m:r>
                      </m:fName>
                      <m:e>
                        <m:r>
                          <a:rPr lang="en-US" altLang="zh-CN" sz="2400" i="1">
                            <a:effectLst/>
                            <a:latin typeface="Cambria Math" panose="02040503050406030204" pitchFamily="18" charset="0"/>
                            <a:ea typeface="宋体" panose="02010600030101010101" pitchFamily="2" charset="-122"/>
                          </a:rPr>
                          <m:t>𝑧</m:t>
                        </m:r>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−4</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e>
                    </m:func>
                  </m:oMath>
                </a14:m>
                <a:endParaRPr lang="en-US" altLang="zh-CN" sz="2400" i="1" dirty="0">
                  <a:effectLst/>
                  <a:latin typeface="Cambria Math" panose="02040503050406030204" pitchFamily="18" charset="0"/>
                  <a:ea typeface="宋体" panose="02010600030101010101" pitchFamily="2" charset="-122"/>
                </a:endParaRPr>
              </a:p>
            </p:txBody>
          </p:sp>
        </mc:Choice>
        <mc:Fallback xmlns="">
          <p:sp>
            <p:nvSpPr>
              <p:cNvPr id="6" name="文本框 5">
                <a:extLst>
                  <a:ext uri="{FF2B5EF4-FFF2-40B4-BE49-F238E27FC236}">
                    <a16:creationId xmlns:a16="http://schemas.microsoft.com/office/drawing/2014/main" id="{267BAFA3-EBFB-5FB4-D99D-572F1CF9A661}"/>
                  </a:ext>
                </a:extLst>
              </p:cNvPr>
              <p:cNvSpPr txBox="1">
                <a:spLocks noRot="1" noChangeAspect="1" noMove="1" noResize="1" noEditPoints="1" noAdjustHandles="1" noChangeArrowheads="1" noChangeShapeType="1" noTextEdit="1"/>
              </p:cNvSpPr>
              <p:nvPr/>
            </p:nvSpPr>
            <p:spPr>
              <a:xfrm>
                <a:off x="553376" y="188664"/>
                <a:ext cx="10377995" cy="1004249"/>
              </a:xfrm>
              <a:prstGeom prst="rect">
                <a:avLst/>
              </a:prstGeom>
              <a:blipFill>
                <a:blip r:embed="rId3"/>
                <a:stretch>
                  <a:fillRect t="-606" b="-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35016A5A-8FD7-E53E-3B50-E751BB2466B6}"/>
                  </a:ext>
                </a:extLst>
              </p:cNvPr>
              <p:cNvGraphicFramePr>
                <a:graphicFrameLocks noGrp="1"/>
              </p:cNvGraphicFramePr>
              <p:nvPr/>
            </p:nvGraphicFramePr>
            <p:xfrm>
              <a:off x="7075503" y="2654424"/>
              <a:ext cx="4938944" cy="3167768"/>
            </p:xfrm>
            <a:graphic>
              <a:graphicData uri="http://schemas.openxmlformats.org/drawingml/2006/table">
                <a:tbl>
                  <a:tblPr firstRow="1" firstCol="1" bandRow="1"/>
                  <a:tblGrid>
                    <a:gridCol w="554857">
                      <a:extLst>
                        <a:ext uri="{9D8B030D-6E8A-4147-A177-3AD203B41FA5}">
                          <a16:colId xmlns:a16="http://schemas.microsoft.com/office/drawing/2014/main" val="2673772826"/>
                        </a:ext>
                      </a:extLst>
                    </a:gridCol>
                    <a:gridCol w="554857">
                      <a:extLst>
                        <a:ext uri="{9D8B030D-6E8A-4147-A177-3AD203B41FA5}">
                          <a16:colId xmlns:a16="http://schemas.microsoft.com/office/drawing/2014/main" val="2617236624"/>
                        </a:ext>
                      </a:extLst>
                    </a:gridCol>
                    <a:gridCol w="554857">
                      <a:extLst>
                        <a:ext uri="{9D8B030D-6E8A-4147-A177-3AD203B41FA5}">
                          <a16:colId xmlns:a16="http://schemas.microsoft.com/office/drawing/2014/main" val="4150211959"/>
                        </a:ext>
                      </a:extLst>
                    </a:gridCol>
                    <a:gridCol w="553071">
                      <a:extLst>
                        <a:ext uri="{9D8B030D-6E8A-4147-A177-3AD203B41FA5}">
                          <a16:colId xmlns:a16="http://schemas.microsoft.com/office/drawing/2014/main" val="3570847064"/>
                        </a:ext>
                      </a:extLst>
                    </a:gridCol>
                    <a:gridCol w="553667">
                      <a:extLst>
                        <a:ext uri="{9D8B030D-6E8A-4147-A177-3AD203B41FA5}">
                          <a16:colId xmlns:a16="http://schemas.microsoft.com/office/drawing/2014/main" val="956899930"/>
                        </a:ext>
                      </a:extLst>
                    </a:gridCol>
                    <a:gridCol w="553667">
                      <a:extLst>
                        <a:ext uri="{9D8B030D-6E8A-4147-A177-3AD203B41FA5}">
                          <a16:colId xmlns:a16="http://schemas.microsoft.com/office/drawing/2014/main" val="2151239723"/>
                        </a:ext>
                      </a:extLst>
                    </a:gridCol>
                    <a:gridCol w="553667">
                      <a:extLst>
                        <a:ext uri="{9D8B030D-6E8A-4147-A177-3AD203B41FA5}">
                          <a16:colId xmlns:a16="http://schemas.microsoft.com/office/drawing/2014/main" val="834012947"/>
                        </a:ext>
                      </a:extLst>
                    </a:gridCol>
                    <a:gridCol w="553667">
                      <a:extLst>
                        <a:ext uri="{9D8B030D-6E8A-4147-A177-3AD203B41FA5}">
                          <a16:colId xmlns:a16="http://schemas.microsoft.com/office/drawing/2014/main" val="3963573122"/>
                        </a:ext>
                      </a:extLst>
                    </a:gridCol>
                    <a:gridCol w="506634">
                      <a:extLst>
                        <a:ext uri="{9D8B030D-6E8A-4147-A177-3AD203B41FA5}">
                          <a16:colId xmlns:a16="http://schemas.microsoft.com/office/drawing/2014/main" val="2042648462"/>
                        </a:ext>
                      </a:extLst>
                    </a:gridCol>
                  </a:tblGrid>
                  <a:tr h="549686">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-4</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24287">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6</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SimSun" panose="02010600030101010101" pitchFamily="2" charset="-122"/>
                                  </a:rPr>
                                  <m:t>−</m:t>
                                </m:r>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13</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2</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sz="1800" i="1">
                                        <a:effectLst/>
                                        <a:latin typeface="Cambria Math" panose="02040503050406030204" pitchFamily="18" charset="0"/>
                                        <a:ea typeface="SimSun" panose="02010600030101010101" pitchFamily="2" charset="-122"/>
                                      </a:rPr>
                                    </m:ctrlPr>
                                  </m:fPr>
                                  <m:num>
                                    <m:r>
                                      <a:rPr lang="en-US" sz="1800" i="1">
                                        <a:effectLst/>
                                        <a:latin typeface="Cambria Math" panose="02040503050406030204" pitchFamily="18" charset="0"/>
                                        <a:ea typeface="SimSun" panose="02010600030101010101" pitchFamily="2" charset="-122"/>
                                      </a:rPr>
                                      <m:t>1</m:t>
                                    </m:r>
                                  </m:num>
                                  <m:den>
                                    <m:r>
                                      <a:rPr lang="en-US" sz="1800" i="1">
                                        <a:effectLst/>
                                        <a:latin typeface="Cambria Math" panose="02040503050406030204" pitchFamily="18" charset="0"/>
                                        <a:ea typeface="SimSun" panose="02010600030101010101" pitchFamily="2" charset="-122"/>
                                      </a:rPr>
                                      <m:t>3</m:t>
                                    </m:r>
                                  </m:den>
                                </m:f>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549686">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7" name="Table 8">
                <a:extLst>
                  <a:ext uri="{FF2B5EF4-FFF2-40B4-BE49-F238E27FC236}">
                    <a16:creationId xmlns:a16="http://schemas.microsoft.com/office/drawing/2014/main" id="{35016A5A-8FD7-E53E-3B50-E751BB2466B6}"/>
                  </a:ext>
                </a:extLst>
              </p:cNvPr>
              <p:cNvGraphicFramePr>
                <a:graphicFrameLocks noGrp="1"/>
              </p:cNvGraphicFramePr>
              <p:nvPr>
                <p:extLst>
                  <p:ext uri="{D42A27DB-BD31-4B8C-83A1-F6EECF244321}">
                    <p14:modId xmlns:p14="http://schemas.microsoft.com/office/powerpoint/2010/main" val="2860212966"/>
                  </p:ext>
                </p:extLst>
              </p:nvPr>
            </p:nvGraphicFramePr>
            <p:xfrm>
              <a:off x="7075503" y="2654424"/>
              <a:ext cx="4938944" cy="3167768"/>
            </p:xfrm>
            <a:graphic>
              <a:graphicData uri="http://schemas.openxmlformats.org/drawingml/2006/table">
                <a:tbl>
                  <a:tblPr firstRow="1" firstCol="1" bandRow="1"/>
                  <a:tblGrid>
                    <a:gridCol w="554857">
                      <a:extLst>
                        <a:ext uri="{9D8B030D-6E8A-4147-A177-3AD203B41FA5}">
                          <a16:colId xmlns:a16="http://schemas.microsoft.com/office/drawing/2014/main" val="2673772826"/>
                        </a:ext>
                      </a:extLst>
                    </a:gridCol>
                    <a:gridCol w="554857">
                      <a:extLst>
                        <a:ext uri="{9D8B030D-6E8A-4147-A177-3AD203B41FA5}">
                          <a16:colId xmlns:a16="http://schemas.microsoft.com/office/drawing/2014/main" val="2617236624"/>
                        </a:ext>
                      </a:extLst>
                    </a:gridCol>
                    <a:gridCol w="554857">
                      <a:extLst>
                        <a:ext uri="{9D8B030D-6E8A-4147-A177-3AD203B41FA5}">
                          <a16:colId xmlns:a16="http://schemas.microsoft.com/office/drawing/2014/main" val="4150211959"/>
                        </a:ext>
                      </a:extLst>
                    </a:gridCol>
                    <a:gridCol w="553071">
                      <a:extLst>
                        <a:ext uri="{9D8B030D-6E8A-4147-A177-3AD203B41FA5}">
                          <a16:colId xmlns:a16="http://schemas.microsoft.com/office/drawing/2014/main" val="3570847064"/>
                        </a:ext>
                      </a:extLst>
                    </a:gridCol>
                    <a:gridCol w="553667">
                      <a:extLst>
                        <a:ext uri="{9D8B030D-6E8A-4147-A177-3AD203B41FA5}">
                          <a16:colId xmlns:a16="http://schemas.microsoft.com/office/drawing/2014/main" val="956899930"/>
                        </a:ext>
                      </a:extLst>
                    </a:gridCol>
                    <a:gridCol w="553667">
                      <a:extLst>
                        <a:ext uri="{9D8B030D-6E8A-4147-A177-3AD203B41FA5}">
                          <a16:colId xmlns:a16="http://schemas.microsoft.com/office/drawing/2014/main" val="2151239723"/>
                        </a:ext>
                      </a:extLst>
                    </a:gridCol>
                    <a:gridCol w="553667">
                      <a:extLst>
                        <a:ext uri="{9D8B030D-6E8A-4147-A177-3AD203B41FA5}">
                          <a16:colId xmlns:a16="http://schemas.microsoft.com/office/drawing/2014/main" val="834012947"/>
                        </a:ext>
                      </a:extLst>
                    </a:gridCol>
                    <a:gridCol w="553667">
                      <a:extLst>
                        <a:ext uri="{9D8B030D-6E8A-4147-A177-3AD203B41FA5}">
                          <a16:colId xmlns:a16="http://schemas.microsoft.com/office/drawing/2014/main" val="3963573122"/>
                        </a:ext>
                      </a:extLst>
                    </a:gridCol>
                    <a:gridCol w="506634">
                      <a:extLst>
                        <a:ext uri="{9D8B030D-6E8A-4147-A177-3AD203B41FA5}">
                          <a16:colId xmlns:a16="http://schemas.microsoft.com/office/drawing/2014/main" val="2042648462"/>
                        </a:ext>
                      </a:extLst>
                    </a:gridCol>
                  </a:tblGrid>
                  <a:tr h="54968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66" t="-1111" r="-197802" b="-484444"/>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-4</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24287">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99" t="-104598" r="-793407" b="-401149"/>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1099" t="-104598" r="-593407" b="-40114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1099" t="-104598" r="-493407" b="-40114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1099" t="-104598" r="-393407" b="-40114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1099" t="-104598" r="-293407" b="-40114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1099" t="-104598" r="-193407" b="-40114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01099" t="-104598" r="-93407" b="-401149"/>
                          </a:stretch>
                        </a:blip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878313" t="-104598" r="-2410" b="-401149"/>
                          </a:stretch>
                        </a:blipFill>
                      </a:tcPr>
                    </a:tc>
                    <a:extLst>
                      <a:ext uri="{0D108BD9-81ED-4DB2-BD59-A6C34878D82A}">
                        <a16:rowId xmlns:a16="http://schemas.microsoft.com/office/drawing/2014/main" val="996163856"/>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1099" t="-211905" r="-693407" b="-31547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1099" t="-211905" r="-593407" b="-315476"/>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1099" t="-211905" r="-393407" b="-315476"/>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1099" t="-211905" r="-193407" b="-315476"/>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878313" t="-211905" r="-2410" b="-315476"/>
                          </a:stretch>
                        </a:blipFill>
                      </a:tcPr>
                    </a:tc>
                    <a:extLst>
                      <a:ext uri="{0D108BD9-81ED-4DB2-BD59-A6C34878D82A}">
                        <a16:rowId xmlns:a16="http://schemas.microsoft.com/office/drawing/2014/main" val="1216391595"/>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1099" t="-308235" r="-693407" b="-211765"/>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6</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2</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14703">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1099" t="-408235" r="-693407" b="-11176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1099" t="-408235" r="-593407" b="-111765"/>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1099" t="-408235" r="-393407" b="-111765"/>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1099" t="-408235" r="-193407" b="-111765"/>
                          </a:stretch>
                        </a:blip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878313" t="-408235" r="-2410" b="-111765"/>
                          </a:stretch>
                        </a:blipFill>
                      </a:tcPr>
                    </a:tc>
                    <a:extLst>
                      <a:ext uri="{0D108BD9-81ED-4DB2-BD59-A6C34878D82A}">
                        <a16:rowId xmlns:a16="http://schemas.microsoft.com/office/drawing/2014/main" val="3247636125"/>
                      </a:ext>
                    </a:extLst>
                  </a:tr>
                  <a:tr h="54968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66" t="-480000" r="-197802" b="-5556"/>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4</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1</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BF08039-390E-69DB-FAA3-81EDAA66B9B3}"/>
                  </a:ext>
                </a:extLst>
              </p:cNvPr>
              <p:cNvSpPr txBox="1"/>
              <p:nvPr/>
            </p:nvSpPr>
            <p:spPr>
              <a:xfrm>
                <a:off x="292962" y="415902"/>
                <a:ext cx="11443317" cy="6204968"/>
              </a:xfrm>
              <a:prstGeom prst="rect">
                <a:avLst/>
              </a:prstGeom>
              <a:noFill/>
            </p:spPr>
            <p:txBody>
              <a:bodyPr wrap="square">
                <a:spAutoFit/>
              </a:bodyPr>
              <a:lstStyle/>
              <a:p>
                <a:pPr marL="635" indent="304800" algn="just">
                  <a:lnSpc>
                    <a:spcPct val="130000"/>
                  </a:lnSpc>
                </a:pPr>
                <a:r>
                  <a:rPr lang="zh-CN" altLang="zh-CN" sz="2400" dirty="0">
                    <a:effectLst/>
                    <a:latin typeface="宋体" panose="02010600030101010101" pitchFamily="2" charset="-122"/>
                    <a:ea typeface="宋体" panose="02010600030101010101" pitchFamily="2" charset="-122"/>
                  </a:rPr>
                  <a:t>解</a:t>
                </a: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增加约束后的新问题为：</a:t>
                </a:r>
              </a:p>
              <a:p>
                <a:pPr marL="635" indent="304800" algn="just">
                  <a:lnSpc>
                    <a:spcPct val="130000"/>
                  </a:lnSpc>
                </a:pPr>
                <a14:m>
                  <m:oMathPara xmlns:m="http://schemas.openxmlformats.org/officeDocument/2006/math">
                    <m:oMathParaPr>
                      <m:jc m:val="centerGroup"/>
                    </m:oMathParaPr>
                    <m:oMath xmlns:m="http://schemas.openxmlformats.org/officeDocument/2006/math">
                      <m:func>
                        <m:funcPr>
                          <m:ctrlPr>
                            <a:rPr lang="zh-CN" altLang="zh-CN" sz="2400" i="1">
                              <a:effectLst/>
                              <a:latin typeface="Cambria Math" panose="02040503050406030204" pitchFamily="18" charset="0"/>
                              <a:ea typeface="Cambria Math" panose="02040503050406030204" pitchFamily="18" charset="0"/>
                            </a:rPr>
                          </m:ctrlPr>
                        </m:funcPr>
                        <m:fName>
                          <m:r>
                            <m:rPr>
                              <m:sty m:val="p"/>
                            </m:rPr>
                            <a:rPr lang="en-US" altLang="zh-CN" sz="2400">
                              <a:effectLst/>
                              <a:latin typeface="Cambria Math" panose="02040503050406030204" pitchFamily="18" charset="0"/>
                              <a:ea typeface="宋体" panose="02010600030101010101" pitchFamily="2" charset="-122"/>
                            </a:rPr>
                            <m:t>min</m:t>
                          </m:r>
                        </m:fName>
                        <m:e>
                          <m:r>
                            <a:rPr lang="en-US" altLang="zh-CN" sz="2400" i="1">
                              <a:effectLst/>
                              <a:latin typeface="Cambria Math" panose="02040503050406030204" pitchFamily="18" charset="0"/>
                              <a:ea typeface="宋体" panose="02010600030101010101" pitchFamily="2" charset="-122"/>
                            </a:rPr>
                            <m:t>𝑧</m:t>
                          </m:r>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−4</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e>
                      </m:func>
                    </m:oMath>
                  </m:oMathPara>
                </a14:m>
                <a:endParaRPr lang="zh-CN" altLang="zh-CN" sz="2400" dirty="0">
                  <a:effectLst/>
                  <a:latin typeface="宋体" panose="02010600030101010101" pitchFamily="2" charset="-122"/>
                  <a:ea typeface="宋体" panose="02010600030101010101" pitchFamily="2" charset="-122"/>
                </a:endParaRPr>
              </a:p>
              <a:p>
                <a:pPr marL="635" indent="304800" algn="ctr">
                  <a:lnSpc>
                    <a:spcPct val="130000"/>
                  </a:lnSpc>
                </a:pPr>
                <a14:m>
                  <m:oMath xmlns:m="http://schemas.openxmlformats.org/officeDocument/2006/math">
                    <m:r>
                      <a:rPr lang="en-US" altLang="zh-CN" sz="2400" i="1">
                        <a:effectLst/>
                        <a:latin typeface="Cambria Math" panose="02040503050406030204" pitchFamily="18" charset="0"/>
                        <a:ea typeface="宋体" panose="02010600030101010101" pitchFamily="2" charset="-122"/>
                      </a:rPr>
                      <m:t>𝑠</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𝑡</m:t>
                    </m:r>
                    <m:r>
                      <a:rPr lang="en-US" altLang="zh-CN" sz="2400" i="1">
                        <a:effectLst/>
                        <a:latin typeface="Cambria Math" panose="02040503050406030204" pitchFamily="18" charset="0"/>
                        <a:ea typeface="宋体" panose="02010600030101010101" pitchFamily="2" charset="-122"/>
                      </a:rPr>
                      <m:t>.</m:t>
                    </m:r>
                    <m:d>
                      <m:dPr>
                        <m:begChr m:val="{"/>
                        <m:endChr m:val=""/>
                        <m:ctrlPr>
                          <a:rPr lang="zh-CN" altLang="zh-CN" sz="2400" i="1" smtClean="0">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 </m:t>
                        </m:r>
                        <m:eqArr>
                          <m:eqArrPr>
                            <m:ctrlPr>
                              <a:rPr lang="zh-CN" altLang="zh-CN" sz="2400" i="1">
                                <a:effectLst/>
                                <a:latin typeface="Cambria Math" panose="02040503050406030204" pitchFamily="18" charset="0"/>
                                <a:ea typeface="Cambria Math" panose="02040503050406030204" pitchFamily="18" charset="0"/>
                              </a:rPr>
                            </m:ctrlPr>
                          </m:eqArrPr>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+2</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≤9</m:t>
                            </m:r>
                          </m:e>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≤2</m:t>
                            </m:r>
                          </m:e>
                          <m:e>
                            <m:r>
                              <a:rPr lang="en-US" altLang="zh-CN" sz="2400" i="1">
                                <a:effectLst/>
                                <a:latin typeface="Cambria Math" panose="02040503050406030204" pitchFamily="18" charset="0"/>
                                <a:ea typeface="宋体" panose="02010600030101010101" pitchFamily="2" charset="-122"/>
                              </a:rPr>
                              <m:t> −</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 ≤4</m:t>
                            </m:r>
                          </m:e>
                          <m:e>
                            <m:r>
                              <a:rPr lang="en-US" altLang="zh-CN" sz="2400" i="1">
                                <a:effectLst/>
                                <a:latin typeface="Cambria Math" panose="02040503050406030204" pitchFamily="18" charset="0"/>
                                <a:ea typeface="宋体" panose="02010600030101010101" pitchFamily="2" charset="-122"/>
                              </a:rPr>
                              <m:t>−3</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+6</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 ≤17</m:t>
                            </m:r>
                          </m:e>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𝑗</m:t>
                                </m:r>
                              </m:sub>
                            </m:sSub>
                            <m:r>
                              <a:rPr lang="en-US" altLang="zh-CN" sz="2400" i="1">
                                <a:effectLst/>
                                <a:latin typeface="Cambria Math" panose="02040503050406030204" pitchFamily="18" charset="0"/>
                                <a:ea typeface="宋体" panose="02010600030101010101" pitchFamily="2" charset="-122"/>
                              </a:rPr>
                              <m:t>≥0,</m:t>
                            </m:r>
                            <m:r>
                              <a:rPr lang="en-US" altLang="zh-CN" sz="2400" i="1">
                                <a:effectLst/>
                                <a:latin typeface="Cambria Math" panose="02040503050406030204" pitchFamily="18" charset="0"/>
                                <a:ea typeface="宋体" panose="02010600030101010101" pitchFamily="2" charset="-122"/>
                              </a:rPr>
                              <m:t>𝑗</m:t>
                            </m:r>
                            <m:r>
                              <a:rPr lang="en-US" altLang="zh-CN" sz="2400" i="1">
                                <a:effectLst/>
                                <a:latin typeface="Cambria Math" panose="02040503050406030204" pitchFamily="18" charset="0"/>
                                <a:ea typeface="宋体" panose="02010600030101010101" pitchFamily="2" charset="-122"/>
                              </a:rPr>
                              <m:t>=1,2,3</m:t>
                            </m:r>
                          </m:e>
                        </m:eqArr>
                      </m:e>
                    </m:d>
                  </m:oMath>
                </a14:m>
                <a:r>
                  <a:rPr lang="en-US" altLang="zh-CN" sz="2400" dirty="0">
                    <a:effectLst/>
                    <a:latin typeface="宋体" panose="02010600030101010101" pitchFamily="2" charset="-122"/>
                    <a:ea typeface="宋体" panose="02010600030101010101" pitchFamily="2" charset="-122"/>
                  </a:rPr>
                  <a:t>      </a:t>
                </a:r>
                <a:endParaRPr lang="zh-CN" altLang="zh-CN" sz="2400" dirty="0">
                  <a:effectLst/>
                  <a:latin typeface="宋体" panose="02010600030101010101" pitchFamily="2" charset="-122"/>
                  <a:ea typeface="宋体" panose="02010600030101010101" pitchFamily="2" charset="-122"/>
                </a:endParaRPr>
              </a:p>
              <a:p>
                <a:pPr marL="635" indent="266700" algn="just">
                  <a:lnSpc>
                    <a:spcPct val="130000"/>
                  </a:lnSpc>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由题设所给表格数据可知，原问题的最优解为</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𝑥</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m:t>
                                </m:r>
                              </m:num>
                              <m:den>
                                <m:r>
                                  <a:rPr lang="en-US" altLang="zh-CN" sz="2400" i="1">
                                    <a:effectLst/>
                                    <a:latin typeface="Cambria Math" panose="02040503050406030204" pitchFamily="18" charset="0"/>
                                    <a:ea typeface="宋体" panose="02010600030101010101" pitchFamily="2" charset="-122"/>
                                  </a:rPr>
                                  <m:t>3</m:t>
                                </m:r>
                              </m:den>
                            </m:f>
                            <m:r>
                              <a:rPr lang="en-US" altLang="zh-CN" sz="2400" i="1">
                                <a:effectLst/>
                                <a:latin typeface="Cambria Math" panose="02040503050406030204" pitchFamily="18" charset="0"/>
                                <a:ea typeface="宋体" panose="02010600030101010101" pitchFamily="2" charset="-122"/>
                              </a:rPr>
                              <m:t>,0,</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13</m:t>
                                </m:r>
                              </m:num>
                              <m:den>
                                <m:r>
                                  <a:rPr lang="en-US" altLang="zh-CN" sz="2400" i="1">
                                    <a:effectLst/>
                                    <a:latin typeface="Cambria Math" panose="02040503050406030204" pitchFamily="18" charset="0"/>
                                    <a:ea typeface="宋体" panose="02010600030101010101" pitchFamily="2" charset="-122"/>
                                  </a:rPr>
                                  <m:t>3</m:t>
                                </m:r>
                              </m:den>
                            </m:f>
                            <m:r>
                              <a:rPr lang="en-US" altLang="zh-CN" sz="2400" i="1">
                                <a:effectLst/>
                                <a:latin typeface="Cambria Math" panose="02040503050406030204" pitchFamily="18" charset="0"/>
                                <a:ea typeface="宋体" panose="02010600030101010101" pitchFamily="2" charset="-122"/>
                              </a:rPr>
                              <m:t>,0,6,0</m:t>
                            </m:r>
                          </m:e>
                        </m:d>
                      </m:e>
                      <m:sup>
                        <m:r>
                          <a:rPr lang="en-US" altLang="zh-CN" sz="2400" i="1">
                            <a:effectLst/>
                            <a:latin typeface="Cambria Math" panose="02040503050406030204" pitchFamily="18" charset="0"/>
                            <a:ea typeface="宋体" panose="02010600030101010101" pitchFamily="2" charset="-122"/>
                          </a:rPr>
                          <m:t>𝑇</m:t>
                        </m:r>
                      </m:sup>
                    </m:sSup>
                  </m:oMath>
                </a14:m>
                <a:r>
                  <a:rPr lang="zh-CN" altLang="zh-CN" sz="2400" dirty="0">
                    <a:effectLst/>
                    <a:latin typeface="宋体" panose="02010600030101010101" pitchFamily="2" charset="-122"/>
                    <a:ea typeface="宋体" panose="02010600030101010101" pitchFamily="2" charset="-122"/>
                  </a:rPr>
                  <a:t>．容易验证，</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𝑥</m:t>
                        </m:r>
                      </m:e>
                      <m:sup>
                        <m:r>
                          <a:rPr lang="en-US" altLang="zh-CN" sz="2400" i="1">
                            <a:effectLst/>
                            <a:latin typeface="Cambria Math" panose="02040503050406030204" pitchFamily="18" charset="0"/>
                            <a:ea typeface="宋体" panose="02010600030101010101" pitchFamily="2" charset="-122"/>
                          </a:rPr>
                          <m:t>∗</m:t>
                        </m:r>
                      </m:sup>
                    </m:sSup>
                  </m:oMath>
                </a14:m>
                <a:r>
                  <a:rPr lang="zh-CN" altLang="zh-CN" sz="2400" dirty="0">
                    <a:effectLst/>
                    <a:latin typeface="宋体" panose="02010600030101010101" pitchFamily="2" charset="-122"/>
                    <a:ea typeface="宋体" panose="02010600030101010101" pitchFamily="2" charset="-122"/>
                  </a:rPr>
                  <a:t>不满足新增加的约束，故不是新问题的最优解。</a:t>
                </a:r>
              </a:p>
              <a:p>
                <a:pPr marL="635" indent="304800" algn="just">
                  <a:lnSpc>
                    <a:spcPct val="130000"/>
                  </a:lnSpc>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在新增加的约束中引入松弛变量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oMath>
                </a14:m>
                <a:r>
                  <a:rPr lang="zh-CN" altLang="zh-CN" sz="2400" dirty="0">
                    <a:effectLst/>
                    <a:latin typeface="宋体" panose="02010600030101010101" pitchFamily="2" charset="-122"/>
                    <a:ea typeface="宋体" panose="02010600030101010101" pitchFamily="2" charset="-122"/>
                  </a:rPr>
                  <a:t>后，得到等式约束</a:t>
                </a:r>
              </a:p>
              <a:p>
                <a:pPr marL="635" indent="1295400" algn="just">
                  <a:lnSpc>
                    <a:spcPct val="130000"/>
                  </a:lnSpc>
                </a:pPr>
                <a14:m>
                  <m:oMath xmlns:m="http://schemas.openxmlformats.org/officeDocument/2006/math">
                    <m:r>
                      <a:rPr lang="en-US" altLang="zh-CN" sz="2400" i="1">
                        <a:effectLst/>
                        <a:latin typeface="Cambria Math" panose="02040503050406030204" pitchFamily="18" charset="0"/>
                        <a:ea typeface="宋体" panose="02010600030101010101" pitchFamily="2" charset="-122"/>
                      </a:rPr>
                      <m:t>−3</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2</m:t>
                        </m:r>
                      </m:sub>
                    </m:sSub>
                    <m:r>
                      <a:rPr lang="en-US" altLang="zh-CN" sz="2400" i="1">
                        <a:effectLst/>
                        <a:latin typeface="Cambria Math" panose="02040503050406030204" pitchFamily="18" charset="0"/>
                        <a:ea typeface="宋体" panose="02010600030101010101" pitchFamily="2" charset="-122"/>
                      </a:rPr>
                      <m:t>+6</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r>
                      <a:rPr lang="en-US" altLang="zh-CN" sz="2400" i="1">
                        <a:effectLst/>
                        <a:latin typeface="Cambria Math" panose="02040503050406030204" pitchFamily="18" charset="0"/>
                        <a:ea typeface="宋体" panose="02010600030101010101" pitchFamily="2" charset="-122"/>
                      </a:rPr>
                      <m:t>=17</m:t>
                    </m:r>
                  </m:oMath>
                </a14:m>
                <a:r>
                  <a:rPr lang="zh-CN" altLang="zh-CN" sz="2400" dirty="0">
                    <a:effectLst/>
                    <a:latin typeface="宋体" panose="02010600030101010101" pitchFamily="2" charset="-122"/>
                    <a:ea typeface="宋体" panose="02010600030101010101" pitchFamily="2" charset="-122"/>
                  </a:rPr>
                  <a:t>．</a:t>
                </a:r>
                <a:r>
                  <a:rPr lang="en-US" altLang="zh-CN" sz="2400" dirty="0">
                    <a:effectLst/>
                    <a:latin typeface="宋体" panose="02010600030101010101" pitchFamily="2" charset="-122"/>
                    <a:ea typeface="宋体" panose="02010600030101010101" pitchFamily="2" charset="-122"/>
                  </a:rPr>
                  <a:t>                       </a:t>
                </a:r>
                <a:endParaRPr lang="zh-CN" altLang="zh-CN" sz="2400" dirty="0">
                  <a:effectLst/>
                  <a:latin typeface="宋体" panose="02010600030101010101" pitchFamily="2" charset="-122"/>
                  <a:ea typeface="宋体" panose="02010600030101010101" pitchFamily="2" charset="-122"/>
                </a:endParaRPr>
              </a:p>
              <a:p>
                <a:pPr marL="269875" indent="-269875" algn="just">
                  <a:lnSpc>
                    <a:spcPct val="130000"/>
                  </a:lnSpc>
                </a:pPr>
                <a:r>
                  <a:rPr lang="zh-CN" altLang="zh-CN" sz="2400" dirty="0">
                    <a:effectLst/>
                    <a:latin typeface="宋体" panose="02010600030101010101" pitchFamily="2" charset="-122"/>
                    <a:ea typeface="宋体" panose="02010600030101010101" pitchFamily="2" charset="-122"/>
                  </a:rPr>
                  <a:t>将上式加进原问题的最优表中成为新表：</a:t>
                </a:r>
              </a:p>
            </p:txBody>
          </p:sp>
        </mc:Choice>
        <mc:Fallback xmlns="">
          <p:sp>
            <p:nvSpPr>
              <p:cNvPr id="13" name="文本框 12">
                <a:extLst>
                  <a:ext uri="{FF2B5EF4-FFF2-40B4-BE49-F238E27FC236}">
                    <a16:creationId xmlns:a16="http://schemas.microsoft.com/office/drawing/2014/main" id="{4BF08039-390E-69DB-FAA3-81EDAA66B9B3}"/>
                  </a:ext>
                </a:extLst>
              </p:cNvPr>
              <p:cNvSpPr txBox="1">
                <a:spLocks noRot="1" noChangeAspect="1" noMove="1" noResize="1" noEditPoints="1" noAdjustHandles="1" noChangeArrowheads="1" noChangeShapeType="1" noTextEdit="1"/>
              </p:cNvSpPr>
              <p:nvPr/>
            </p:nvSpPr>
            <p:spPr>
              <a:xfrm>
                <a:off x="292962" y="415902"/>
                <a:ext cx="11443317" cy="6204968"/>
              </a:xfrm>
              <a:prstGeom prst="rect">
                <a:avLst/>
              </a:prstGeom>
              <a:blipFill>
                <a:blip r:embed="rId2"/>
                <a:stretch>
                  <a:fillRect l="-799" t="-98" r="-3463" b="-1277"/>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3">
            <a:extLst>
              <a:ext uri="{FF2B5EF4-FFF2-40B4-BE49-F238E27FC236}">
                <a16:creationId xmlns:a16="http://schemas.microsoft.com/office/drawing/2014/main" id="{34C995FB-C09E-4083-8935-B143DC465CC6}"/>
              </a:ext>
            </a:extLst>
          </p:cNvPr>
          <p:cNvGraphicFramePr>
            <a:graphicFrameLocks noGrp="1" noChangeAspect="1"/>
          </p:cNvGraphicFramePr>
          <p:nvPr>
            <p:ph idx="1"/>
          </p:nvPr>
        </p:nvGraphicFramePr>
        <p:xfrm>
          <a:off x="2515095" y="115409"/>
          <a:ext cx="8105742" cy="6203549"/>
        </p:xfrm>
        <a:graphic>
          <a:graphicData uri="http://schemas.openxmlformats.org/presentationml/2006/ole">
            <mc:AlternateContent xmlns:mc="http://schemas.openxmlformats.org/markup-compatibility/2006">
              <mc:Choice xmlns:v="urn:schemas-microsoft-com:vml" Requires="v">
                <p:oleObj name="Document" r:id="rId2" imgW="5412644" imgH="4138709" progId="Word.Document.8">
                  <p:embed/>
                </p:oleObj>
              </mc:Choice>
              <mc:Fallback>
                <p:oleObj name="Document" r:id="rId2" imgW="5412644" imgH="4138709" progId="Word.Document.8">
                  <p:embed/>
                  <p:pic>
                    <p:nvPicPr>
                      <p:cNvPr id="27650" name="Object 3">
                        <a:extLst>
                          <a:ext uri="{FF2B5EF4-FFF2-40B4-BE49-F238E27FC236}">
                            <a16:creationId xmlns:a16="http://schemas.microsoft.com/office/drawing/2014/main" id="{34C995FB-C09E-4083-8935-B143DC465CC6}"/>
                          </a:ext>
                        </a:extLst>
                      </p:cNvPr>
                      <p:cNvPicPr>
                        <a:picLocks noGrp="1" noChangeAspect="1" noChangeArrowheads="1"/>
                      </p:cNvPicPr>
                      <p:nvPr/>
                    </p:nvPicPr>
                    <p:blipFill>
                      <a:blip r:embed="rId3"/>
                      <a:srcRect/>
                      <a:stretch>
                        <a:fillRect/>
                      </a:stretch>
                    </p:blipFill>
                    <p:spPr bwMode="auto">
                      <a:xfrm>
                        <a:off x="2515095" y="115409"/>
                        <a:ext cx="8105742" cy="6203549"/>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3111CAA-2EBD-9040-7443-45474992CB68}"/>
                  </a:ext>
                </a:extLst>
              </p:cNvPr>
              <p:cNvSpPr txBox="1"/>
              <p:nvPr/>
            </p:nvSpPr>
            <p:spPr>
              <a:xfrm>
                <a:off x="363985" y="4873119"/>
                <a:ext cx="11283518" cy="1000980"/>
              </a:xfrm>
              <a:prstGeom prst="rect">
                <a:avLst/>
              </a:prstGeom>
              <a:noFill/>
            </p:spPr>
            <p:txBody>
              <a:bodyPr wrap="square">
                <a:spAutoFit/>
              </a:bodyPr>
              <a:lstStyle/>
              <a:p>
                <a:pPr indent="266700" algn="just">
                  <a:lnSpc>
                    <a:spcPct val="130000"/>
                  </a:lnSpc>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将第一行的</a:t>
                </a:r>
                <a:r>
                  <a:rPr lang="en-US" altLang="zh-CN" sz="2400" dirty="0">
                    <a:effectLst/>
                    <a:latin typeface="宋体" panose="02010600030101010101" pitchFamily="2" charset="-122"/>
                    <a:ea typeface="宋体" panose="02010600030101010101" pitchFamily="2" charset="-122"/>
                  </a:rPr>
                  <a:t>3</a:t>
                </a:r>
                <a:r>
                  <a:rPr lang="zh-CN" altLang="zh-CN" sz="2400" dirty="0">
                    <a:effectLst/>
                    <a:latin typeface="宋体" panose="02010600030101010101" pitchFamily="2" charset="-122"/>
                    <a:ea typeface="宋体" panose="02010600030101010101" pitchFamily="2" charset="-122"/>
                  </a:rPr>
                  <a:t>倍、第三行的</a:t>
                </a:r>
                <a:r>
                  <a:rPr lang="en-US" altLang="zh-CN" sz="2400" dirty="0">
                    <a:effectLst/>
                    <a:latin typeface="宋体" panose="02010600030101010101" pitchFamily="2" charset="-122"/>
                    <a:ea typeface="宋体" panose="02010600030101010101" pitchFamily="2" charset="-122"/>
                  </a:rPr>
                  <a:t>(-6)</a:t>
                </a:r>
                <a:r>
                  <a:rPr lang="zh-CN" altLang="zh-CN" sz="2400" dirty="0">
                    <a:effectLst/>
                    <a:latin typeface="宋体" panose="02010600030101010101" pitchFamily="2" charset="-122"/>
                    <a:ea typeface="宋体" panose="02010600030101010101" pitchFamily="2" charset="-122"/>
                  </a:rPr>
                  <a:t>倍分别加到第四行上，使基变量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5</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3</m:t>
                        </m:r>
                      </m:sub>
                    </m:sSub>
                    <m:r>
                      <a:rPr lang="en-US" altLang="zh-CN" sz="2400" i="1">
                        <a:effectLst/>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oMath>
                </a14:m>
                <a:r>
                  <a:rPr lang="zh-CN" altLang="zh-CN" sz="2400" dirty="0">
                    <a:effectLst/>
                    <a:latin typeface="宋体" panose="02010600030101010101" pitchFamily="2" charset="-122"/>
                    <a:ea typeface="宋体" panose="02010600030101010101" pitchFamily="2" charset="-122"/>
                  </a:rPr>
                  <a:t>的系数列向量构成单位阵，得到下表：</a:t>
                </a:r>
              </a:p>
            </p:txBody>
          </p:sp>
        </mc:Choice>
        <mc:Fallback xmlns="">
          <p:sp>
            <p:nvSpPr>
              <p:cNvPr id="3" name="文本框 2">
                <a:extLst>
                  <a:ext uri="{FF2B5EF4-FFF2-40B4-BE49-F238E27FC236}">
                    <a16:creationId xmlns:a16="http://schemas.microsoft.com/office/drawing/2014/main" id="{23111CAA-2EBD-9040-7443-45474992CB68}"/>
                  </a:ext>
                </a:extLst>
              </p:cNvPr>
              <p:cNvSpPr txBox="1">
                <a:spLocks noRot="1" noChangeAspect="1" noMove="1" noResize="1" noEditPoints="1" noAdjustHandles="1" noChangeArrowheads="1" noChangeShapeType="1" noTextEdit="1"/>
              </p:cNvSpPr>
              <p:nvPr/>
            </p:nvSpPr>
            <p:spPr>
              <a:xfrm>
                <a:off x="363985" y="4873119"/>
                <a:ext cx="11283518" cy="1000980"/>
              </a:xfrm>
              <a:prstGeom prst="rect">
                <a:avLst/>
              </a:prstGeom>
              <a:blipFill>
                <a:blip r:embed="rId5"/>
                <a:stretch>
                  <a:fillRect l="-864" t="-606" r="-810" b="-10909"/>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3">
            <a:extLst>
              <a:ext uri="{FF2B5EF4-FFF2-40B4-BE49-F238E27FC236}">
                <a16:creationId xmlns:a16="http://schemas.microsoft.com/office/drawing/2014/main" id="{BA982C36-65AC-43A9-B59C-B26190E4AF45}"/>
              </a:ext>
            </a:extLst>
          </p:cNvPr>
          <p:cNvGraphicFramePr>
            <a:graphicFrameLocks noGrp="1" noChangeAspect="1"/>
          </p:cNvGraphicFramePr>
          <p:nvPr>
            <p:ph/>
          </p:nvPr>
        </p:nvGraphicFramePr>
        <p:xfrm>
          <a:off x="2449513" y="476250"/>
          <a:ext cx="7110412" cy="6038850"/>
        </p:xfrm>
        <a:graphic>
          <a:graphicData uri="http://schemas.openxmlformats.org/presentationml/2006/ole">
            <mc:AlternateContent xmlns:mc="http://schemas.openxmlformats.org/markup-compatibility/2006">
              <mc:Choice xmlns:v="urn:schemas-microsoft-com:vml" Requires="v">
                <p:oleObj name="Document" r:id="rId2" imgW="5412644" imgH="4597725" progId="Word.Document.8">
                  <p:embed/>
                </p:oleObj>
              </mc:Choice>
              <mc:Fallback>
                <p:oleObj name="Document" r:id="rId2" imgW="5412644" imgH="4597725" progId="Word.Document.8">
                  <p:embed/>
                  <p:pic>
                    <p:nvPicPr>
                      <p:cNvPr id="28674" name="Object 3">
                        <a:extLst>
                          <a:ext uri="{FF2B5EF4-FFF2-40B4-BE49-F238E27FC236}">
                            <a16:creationId xmlns:a16="http://schemas.microsoft.com/office/drawing/2014/main" id="{BA982C36-65AC-43A9-B59C-B26190E4AF45}"/>
                          </a:ext>
                        </a:extLst>
                      </p:cNvPr>
                      <p:cNvPicPr>
                        <a:picLocks noGrp="1" noChangeAspect="1" noChangeArrowheads="1"/>
                      </p:cNvPicPr>
                      <p:nvPr/>
                    </p:nvPicPr>
                    <p:blipFill>
                      <a:blip r:embed="rId3"/>
                      <a:srcRect/>
                      <a:stretch>
                        <a:fillRect/>
                      </a:stretch>
                    </p:blipFill>
                    <p:spPr bwMode="auto">
                      <a:xfrm>
                        <a:off x="2449513" y="476250"/>
                        <a:ext cx="7110412"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5643A33-2F34-2D50-FCBD-0CA0B2D28632}"/>
                  </a:ext>
                </a:extLst>
              </p:cNvPr>
              <p:cNvSpPr txBox="1"/>
              <p:nvPr/>
            </p:nvSpPr>
            <p:spPr>
              <a:xfrm>
                <a:off x="445405" y="4515439"/>
                <a:ext cx="11301190" cy="1722908"/>
              </a:xfrm>
              <a:prstGeom prst="rect">
                <a:avLst/>
              </a:prstGeom>
              <a:noFill/>
            </p:spPr>
            <p:txBody>
              <a:bodyPr wrap="square">
                <a:spAutoFit/>
              </a:bodyPr>
              <a:lstStyle/>
              <a:p>
                <a:pPr indent="266700" algn="just">
                  <a:lnSpc>
                    <a:spcPct val="130000"/>
                  </a:lnSpc>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宋体" panose="02010600030101010101" pitchFamily="2" charset="-122"/>
                    <a:ea typeface="宋体" panose="02010600030101010101" pitchFamily="2" charset="-122"/>
                  </a:rPr>
                  <a:t>表中，所有检验数非负，但</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宋体" panose="02010600030101010101" pitchFamily="2" charset="-122"/>
                              </a:rPr>
                              <m:t>𝑏</m:t>
                            </m:r>
                          </m:e>
                        </m:acc>
                      </m:e>
                      <m:sub>
                        <m:r>
                          <a:rPr lang="en-US" altLang="zh-CN" sz="2400" i="1">
                            <a:effectLst/>
                            <a:latin typeface="Cambria Math" panose="02040503050406030204" pitchFamily="18" charset="0"/>
                            <a:ea typeface="宋体" panose="02010600030101010101" pitchFamily="2" charset="-122"/>
                          </a:rPr>
                          <m:t>4</m:t>
                        </m:r>
                      </m:sub>
                    </m:sSub>
                    <m:r>
                      <a:rPr lang="en-US" altLang="zh-CN" sz="2400" i="1">
                        <a:effectLst/>
                        <a:latin typeface="Cambria Math" panose="02040503050406030204" pitchFamily="18" charset="0"/>
                        <a:ea typeface="宋体" panose="02010600030101010101" pitchFamily="2" charset="-122"/>
                      </a:rPr>
                      <m:t>&lt;0</m:t>
                    </m:r>
                  </m:oMath>
                </a14:m>
                <a:r>
                  <a:rPr lang="zh-CN" altLang="zh-CN" sz="2400" dirty="0">
                    <a:effectLst/>
                    <a:latin typeface="宋体" panose="02010600030101010101" pitchFamily="2" charset="-122"/>
                    <a:ea typeface="宋体" panose="02010600030101010101" pitchFamily="2" charset="-122"/>
                  </a:rPr>
                  <a:t>，故当前解是对偶可行基本解</a:t>
                </a:r>
                <a:r>
                  <a:rPr lang="zh-CN" altLang="en-US" sz="2400" dirty="0">
                    <a:latin typeface="宋体" panose="02010600030101010101" pitchFamily="2" charset="-122"/>
                    <a:ea typeface="宋体" panose="02010600030101010101" pitchFamily="2" charset="-122"/>
                  </a:rPr>
                  <a:t>，</a:t>
                </a:r>
                <a:r>
                  <a:rPr lang="zh-CN" altLang="zh-CN" sz="2400" dirty="0">
                    <a:effectLst/>
                    <a:latin typeface="宋体" panose="02010600030101010101" pitchFamily="2" charset="-122"/>
                    <a:ea typeface="宋体" panose="02010600030101010101" pitchFamily="2" charset="-122"/>
                  </a:rPr>
                  <a:t>用对偶单纯形法</a:t>
                </a:r>
                <a:r>
                  <a:rPr lang="zh-CN" altLang="en-US" sz="2400" dirty="0">
                    <a:effectLst/>
                    <a:latin typeface="宋体" panose="02010600030101010101" pitchFamily="2" charset="-122"/>
                    <a:ea typeface="宋体" panose="02010600030101010101" pitchFamily="2" charset="-122"/>
                  </a:rPr>
                  <a:t>继续</a:t>
                </a:r>
                <a:r>
                  <a:rPr lang="zh-CN" altLang="zh-CN" sz="2400" dirty="0">
                    <a:effectLst/>
                    <a:latin typeface="宋体" panose="02010600030101010101" pitchFamily="2" charset="-122"/>
                    <a:ea typeface="宋体" panose="02010600030101010101" pitchFamily="2" charset="-122"/>
                  </a:rPr>
                  <a:t>求解。</a:t>
                </a:r>
                <a:r>
                  <a:rPr lang="zh-CN" altLang="en-US" sz="2400" dirty="0">
                    <a:effectLst/>
                    <a:latin typeface="宋体" panose="02010600030101010101" pitchFamily="2" charset="-122"/>
                    <a:ea typeface="宋体" panose="02010600030101010101" pitchFamily="2" charset="-122"/>
                  </a:rPr>
                  <a:t>显然，</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7</m:t>
                        </m:r>
                      </m:sub>
                    </m:sSub>
                  </m:oMath>
                </a14:m>
                <a:r>
                  <a:rPr lang="zh-CN" altLang="zh-CN" sz="2400" dirty="0">
                    <a:effectLst/>
                    <a:latin typeface="宋体" panose="02010600030101010101" pitchFamily="2" charset="-122"/>
                    <a:ea typeface="宋体" panose="02010600030101010101" pitchFamily="2" charset="-122"/>
                  </a:rPr>
                  <a:t>是离基变量，因</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𝜃</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𝑚𝑎𝑥</m:t>
                    </m:r>
                    <m:d>
                      <m:dPr>
                        <m:begChr m:val="{"/>
                        <m:endChr m:val="}"/>
                        <m:ctrlPr>
                          <a:rPr lang="zh-CN" altLang="zh-CN" sz="2400" i="1">
                            <a:effectLst/>
                            <a:latin typeface="Cambria Math" panose="02040503050406030204" pitchFamily="18" charset="0"/>
                            <a:ea typeface="Cambria Math" panose="02040503050406030204" pitchFamily="18" charset="0"/>
                          </a:rPr>
                        </m:ctrlPr>
                      </m:dPr>
                      <m:e>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4</m:t>
                            </m:r>
                          </m:num>
                          <m:den>
                            <m:r>
                              <a:rPr lang="en-US" altLang="zh-CN" sz="2400" i="1">
                                <a:effectLst/>
                                <a:latin typeface="Cambria Math" panose="02040503050406030204" pitchFamily="18" charset="0"/>
                                <a:ea typeface="宋体" panose="02010600030101010101" pitchFamily="2" charset="-122"/>
                              </a:rPr>
                              <m:t>−4</m:t>
                            </m:r>
                          </m:den>
                        </m:f>
                        <m:r>
                          <a:rPr lang="en-US" altLang="zh-CN" sz="2400" i="1">
                            <a:effectLst/>
                            <a:latin typeface="Cambria Math" panose="02040503050406030204" pitchFamily="18" charset="0"/>
                            <a:ea typeface="宋体" panose="02010600030101010101" pitchFamily="2" charset="-122"/>
                          </a:rPr>
                          <m:t>,</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m:t>
                            </m:r>
                          </m:num>
                          <m:den>
                            <m:r>
                              <a:rPr lang="en-US" altLang="zh-CN" sz="2400" i="1">
                                <a:effectLst/>
                                <a:latin typeface="Cambria Math" panose="02040503050406030204" pitchFamily="18" charset="0"/>
                                <a:ea typeface="宋体" panose="02010600030101010101" pitchFamily="2" charset="-122"/>
                              </a:rPr>
                              <m:t>−1</m:t>
                            </m:r>
                          </m:den>
                        </m:f>
                        <m:r>
                          <a:rPr lang="en-US" altLang="zh-CN" sz="2400" i="1">
                            <a:effectLst/>
                            <a:latin typeface="Cambria Math" panose="02040503050406030204" pitchFamily="18" charset="0"/>
                            <a:ea typeface="宋体" panose="02010600030101010101" pitchFamily="2" charset="-122"/>
                          </a:rPr>
                          <m:t>,</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2</m:t>
                            </m:r>
                          </m:num>
                          <m:den>
                            <m:r>
                              <a:rPr lang="en-US" altLang="zh-CN" sz="2400" i="1">
                                <a:effectLst/>
                                <a:latin typeface="Cambria Math" panose="02040503050406030204" pitchFamily="18" charset="0"/>
                                <a:ea typeface="宋体" panose="02010600030101010101" pitchFamily="2" charset="-122"/>
                              </a:rPr>
                              <m:t>−4</m:t>
                            </m:r>
                          </m:den>
                        </m:f>
                      </m:e>
                    </m:d>
                    <m:r>
                      <a:rPr lang="en-US" altLang="zh-CN" sz="2400" i="1">
                        <a:effectLst/>
                        <a:latin typeface="Cambria Math" panose="02040503050406030204" pitchFamily="18" charset="0"/>
                        <a:ea typeface="宋体" panose="02010600030101010101" pitchFamily="2" charset="-122"/>
                      </a:rPr>
                      <m:t>=</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宋体" panose="02010600030101010101" pitchFamily="2" charset="-122"/>
                          </a:rPr>
                          <m:t>1</m:t>
                        </m:r>
                      </m:num>
                      <m:den>
                        <m:r>
                          <a:rPr lang="en-US" altLang="zh-CN" sz="2400" i="1">
                            <a:effectLst/>
                            <a:latin typeface="Cambria Math" panose="02040503050406030204" pitchFamily="18" charset="0"/>
                            <a:ea typeface="宋体" panose="02010600030101010101" pitchFamily="2" charset="-122"/>
                          </a:rPr>
                          <m:t>2</m:t>
                        </m:r>
                      </m:den>
                    </m:f>
                  </m:oMath>
                </a14:m>
                <a:r>
                  <a:rPr lang="zh-CN" altLang="zh-CN" sz="2400" dirty="0">
                    <a:effectLst/>
                    <a:latin typeface="宋体" panose="02010600030101010101" pitchFamily="2" charset="-122"/>
                    <a:ea typeface="宋体" panose="02010600030101010101" pitchFamily="2" charset="-122"/>
                  </a:rPr>
                  <a:t>，故</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6</m:t>
                        </m:r>
                      </m:sub>
                    </m:sSub>
                  </m:oMath>
                </a14:m>
                <a:r>
                  <a:rPr lang="zh-CN" altLang="zh-CN" sz="2400" dirty="0">
                    <a:effectLst/>
                    <a:latin typeface="宋体" panose="02010600030101010101" pitchFamily="2" charset="-122"/>
                    <a:ea typeface="宋体" panose="02010600030101010101" pitchFamily="2" charset="-122"/>
                  </a:rPr>
                  <a:t>是进基变量，</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a:effectLst/>
                                <a:latin typeface="Cambria Math" panose="02040503050406030204" pitchFamily="18" charset="0"/>
                                <a:ea typeface="宋体" panose="02010600030101010101" pitchFamily="2" charset="-122"/>
                              </a:rPr>
                              <m:t>𝑎</m:t>
                            </m:r>
                          </m:e>
                        </m:acc>
                      </m:e>
                      <m:sub>
                        <m:r>
                          <a:rPr lang="en-US" altLang="zh-CN" sz="2400" i="1">
                            <a:effectLst/>
                            <a:latin typeface="Cambria Math" panose="02040503050406030204" pitchFamily="18" charset="0"/>
                            <a:ea typeface="宋体" panose="02010600030101010101" pitchFamily="2" charset="-122"/>
                          </a:rPr>
                          <m:t>46</m:t>
                        </m:r>
                      </m:sub>
                    </m:sSub>
                    <m:r>
                      <a:rPr lang="en-US" altLang="zh-CN" sz="2400" i="1">
                        <a:effectLst/>
                        <a:latin typeface="Cambria Math" panose="02040503050406030204" pitchFamily="18" charset="0"/>
                        <a:ea typeface="宋体" panose="02010600030101010101" pitchFamily="2" charset="-122"/>
                      </a:rPr>
                      <m:t>=−4</m:t>
                    </m:r>
                  </m:oMath>
                </a14:m>
                <a:r>
                  <a:rPr lang="zh-CN" altLang="zh-CN" sz="2400" dirty="0">
                    <a:effectLst/>
                    <a:latin typeface="宋体" panose="02010600030101010101" pitchFamily="2" charset="-122"/>
                    <a:ea typeface="宋体" panose="02010600030101010101" pitchFamily="2" charset="-122"/>
                  </a:rPr>
                  <a:t>是主元</a:t>
                </a:r>
                <a:r>
                  <a:rPr lang="zh-CN" altLang="en-US" sz="2400" dirty="0">
                    <a:effectLst/>
                    <a:latin typeface="宋体" panose="02010600030101010101" pitchFamily="2" charset="-122"/>
                    <a:ea typeface="宋体" panose="02010600030101010101" pitchFamily="2" charset="-122"/>
                  </a:rPr>
                  <a:t>。</a:t>
                </a:r>
                <a:endParaRPr lang="zh-CN" altLang="zh-CN" sz="2400" dirty="0">
                  <a:effectLst/>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05643A33-2F34-2D50-FCBD-0CA0B2D28632}"/>
                  </a:ext>
                </a:extLst>
              </p:cNvPr>
              <p:cNvSpPr txBox="1">
                <a:spLocks noRot="1" noChangeAspect="1" noMove="1" noResize="1" noEditPoints="1" noAdjustHandles="1" noChangeArrowheads="1" noChangeShapeType="1" noTextEdit="1"/>
              </p:cNvSpPr>
              <p:nvPr/>
            </p:nvSpPr>
            <p:spPr>
              <a:xfrm>
                <a:off x="445405" y="4515439"/>
                <a:ext cx="11301190" cy="1722908"/>
              </a:xfrm>
              <a:prstGeom prst="rect">
                <a:avLst/>
              </a:prstGeom>
              <a:blipFill>
                <a:blip r:embed="rId5"/>
                <a:stretch>
                  <a:fillRect l="-809" r="-863" b="-6383"/>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4">
            <a:extLst>
              <a:ext uri="{FF2B5EF4-FFF2-40B4-BE49-F238E27FC236}">
                <a16:creationId xmlns:a16="http://schemas.microsoft.com/office/drawing/2014/main" id="{38707E0F-AE0A-49AF-A8B0-1B1F68B68EC8}"/>
              </a:ext>
            </a:extLst>
          </p:cNvPr>
          <p:cNvGraphicFramePr>
            <a:graphicFrameLocks noGrp="1" noChangeAspect="1"/>
          </p:cNvGraphicFramePr>
          <p:nvPr>
            <p:ph idx="1"/>
          </p:nvPr>
        </p:nvGraphicFramePr>
        <p:xfrm>
          <a:off x="2401194" y="1743353"/>
          <a:ext cx="7054850" cy="3838575"/>
        </p:xfrm>
        <a:graphic>
          <a:graphicData uri="http://schemas.openxmlformats.org/presentationml/2006/ole">
            <mc:AlternateContent xmlns:mc="http://schemas.openxmlformats.org/markup-compatibility/2006">
              <mc:Choice xmlns:v="urn:schemas-microsoft-com:vml" Requires="v">
                <p:oleObj name="Document" r:id="rId2" imgW="5422004" imgH="2949586" progId="Word.Document.8">
                  <p:embed/>
                </p:oleObj>
              </mc:Choice>
              <mc:Fallback>
                <p:oleObj name="Document" r:id="rId2" imgW="5422004" imgH="2949586" progId="Word.Document.8">
                  <p:embed/>
                  <p:pic>
                    <p:nvPicPr>
                      <p:cNvPr id="29698" name="Object 4">
                        <a:extLst>
                          <a:ext uri="{FF2B5EF4-FFF2-40B4-BE49-F238E27FC236}">
                            <a16:creationId xmlns:a16="http://schemas.microsoft.com/office/drawing/2014/main" id="{38707E0F-AE0A-49AF-A8B0-1B1F68B68EC8}"/>
                          </a:ext>
                        </a:extLst>
                      </p:cNvPr>
                      <p:cNvPicPr>
                        <a:picLocks noGrp="1" noChangeAspect="1" noChangeArrowheads="1"/>
                      </p:cNvPicPr>
                      <p:nvPr/>
                    </p:nvPicPr>
                    <p:blipFill>
                      <a:blip r:embed="rId3"/>
                      <a:srcRect/>
                      <a:stretch>
                        <a:fillRect/>
                      </a:stretch>
                    </p:blipFill>
                    <p:spPr bwMode="auto">
                      <a:xfrm>
                        <a:off x="2401194" y="1743353"/>
                        <a:ext cx="705485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472FBAC-E5DE-CE44-4EE3-C361437E721D}"/>
                  </a:ext>
                </a:extLst>
              </p:cNvPr>
              <p:cNvSpPr txBox="1"/>
              <p:nvPr/>
            </p:nvSpPr>
            <p:spPr>
              <a:xfrm>
                <a:off x="543755" y="582632"/>
                <a:ext cx="10926193" cy="859018"/>
              </a:xfrm>
              <a:prstGeom prst="rect">
                <a:avLst/>
              </a:prstGeom>
              <a:noFill/>
            </p:spPr>
            <p:txBody>
              <a:bodyPr wrap="square">
                <a:spAutoFit/>
              </a:bodyPr>
              <a:lstStyle/>
              <a:p>
                <a:pPr indent="266700" algn="just">
                  <a:lnSpc>
                    <a:spcPct val="130000"/>
                  </a:lnSpc>
                </a:pPr>
                <a:r>
                  <a:rPr lang="zh-CN" altLang="zh-CN" sz="2400" dirty="0">
                    <a:effectLst/>
                    <a:latin typeface="宋体" panose="02010600030101010101" pitchFamily="2" charset="-122"/>
                    <a:ea typeface="宋体" panose="02010600030101010101" pitchFamily="2" charset="-122"/>
                  </a:rPr>
                  <a:t>进行迭代得到新问题的</a:t>
                </a:r>
                <a:r>
                  <a:rPr lang="en-US" altLang="zh-CN" sz="2400" dirty="0">
                    <a:effectLst/>
                    <a:latin typeface="宋体" panose="02010600030101010101" pitchFamily="2" charset="-122"/>
                    <a:ea typeface="宋体" panose="02010600030101010101" pitchFamily="2" charset="-122"/>
                  </a:rPr>
                  <a:t>最优解</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Times New Roman" panose="02020603050405020304" pitchFamily="18" charset="0"/>
                                  </a:rPr>
                                  <m:t>5</m:t>
                                </m:r>
                              </m:num>
                              <m:den>
                                <m:r>
                                  <a:rPr lang="en-US" altLang="zh-CN" sz="2400" i="1">
                                    <a:effectLst/>
                                    <a:latin typeface="Cambria Math" panose="02040503050406030204" pitchFamily="18" charset="0"/>
                                    <a:ea typeface="Times New Roman" panose="02020603050405020304" pitchFamily="18" charset="0"/>
                                  </a:rPr>
                                  <m:t>3</m:t>
                                </m:r>
                              </m:den>
                            </m:f>
                            <m:r>
                              <a:rPr lang="en-US" altLang="zh-CN" sz="2400" i="1">
                                <a:effectLst/>
                                <a:latin typeface="Cambria Math" panose="02040503050406030204" pitchFamily="18" charset="0"/>
                                <a:ea typeface="Times New Roman" panose="02020603050405020304" pitchFamily="18" charset="0"/>
                              </a:rPr>
                              <m:t>,0,</m:t>
                            </m:r>
                            <m:f>
                              <m:fPr>
                                <m:ctrlPr>
                                  <a:rPr lang="zh-CN" altLang="zh-CN" sz="2400" i="1">
                                    <a:effectLst/>
                                    <a:latin typeface="Cambria Math" panose="02040503050406030204" pitchFamily="18" charset="0"/>
                                    <a:ea typeface="Cambria Math" panose="02040503050406030204" pitchFamily="18" charset="0"/>
                                  </a:rPr>
                                </m:ctrlPr>
                              </m:fPr>
                              <m:num>
                                <m:r>
                                  <a:rPr lang="en-US" altLang="zh-CN" sz="2400" i="1">
                                    <a:effectLst/>
                                    <a:latin typeface="Cambria Math" panose="02040503050406030204" pitchFamily="18" charset="0"/>
                                    <a:ea typeface="Times New Roman" panose="02020603050405020304" pitchFamily="18" charset="0"/>
                                  </a:rPr>
                                  <m:t>1</m:t>
                                </m:r>
                                <m:r>
                                  <a:rPr lang="en-US" altLang="zh-CN" sz="2400" i="1">
                                    <a:effectLst/>
                                    <a:latin typeface="Cambria Math" panose="02040503050406030204" pitchFamily="18" charset="0"/>
                                    <a:ea typeface="等线" panose="02010600030101010101" pitchFamily="2" charset="-122"/>
                                  </a:rPr>
                                  <m:t>1</m:t>
                                </m:r>
                              </m:num>
                              <m:den>
                                <m:r>
                                  <a:rPr lang="en-US" altLang="zh-CN" sz="2400" i="1">
                                    <a:effectLst/>
                                    <a:latin typeface="Cambria Math" panose="02040503050406030204" pitchFamily="18" charset="0"/>
                                    <a:ea typeface="Times New Roman" panose="02020603050405020304" pitchFamily="18" charset="0"/>
                                  </a:rPr>
                                  <m:t>3</m:t>
                                </m:r>
                              </m:den>
                            </m:f>
                            <m:r>
                              <a:rPr lang="en-US" altLang="zh-CN" sz="2400" i="1">
                                <a:effectLst/>
                                <a:latin typeface="Cambria Math" panose="02040503050406030204" pitchFamily="18" charset="0"/>
                                <a:ea typeface="Times New Roman" panose="02020603050405020304" pitchFamily="18" charset="0"/>
                              </a:rPr>
                              <m:t>,0,</m:t>
                            </m:r>
                            <m:r>
                              <a:rPr lang="en-US" altLang="zh-CN" sz="2400" i="1">
                                <a:effectLst/>
                                <a:latin typeface="Cambria Math" panose="02040503050406030204" pitchFamily="18" charset="0"/>
                                <a:ea typeface="宋体" panose="02010600030101010101" pitchFamily="2" charset="-122"/>
                              </a:rPr>
                              <m:t>4,2,0</m:t>
                            </m:r>
                          </m:e>
                        </m:d>
                      </m:e>
                      <m:sup>
                        <m:r>
                          <a:rPr lang="en-US" altLang="zh-CN" sz="2400" i="1">
                            <a:effectLst/>
                            <a:latin typeface="Cambria Math" panose="02040503050406030204" pitchFamily="18" charset="0"/>
                            <a:ea typeface="Times New Roman" panose="02020603050405020304" pitchFamily="18" charset="0"/>
                          </a:rPr>
                          <m:t>𝑇</m:t>
                        </m:r>
                      </m:sup>
                    </m:sSup>
                  </m:oMath>
                </a14:m>
                <a:endParaRPr lang="zh-CN" altLang="zh-CN" sz="2400" dirty="0">
                  <a:effectLst/>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2472FBAC-E5DE-CE44-4EE3-C361437E721D}"/>
                  </a:ext>
                </a:extLst>
              </p:cNvPr>
              <p:cNvSpPr txBox="1">
                <a:spLocks noRot="1" noChangeAspect="1" noMove="1" noResize="1" noEditPoints="1" noAdjustHandles="1" noChangeArrowheads="1" noChangeShapeType="1" noTextEdit="1"/>
              </p:cNvSpPr>
              <p:nvPr/>
            </p:nvSpPr>
            <p:spPr>
              <a:xfrm>
                <a:off x="543755" y="582632"/>
                <a:ext cx="10926193" cy="859018"/>
              </a:xfrm>
              <a:prstGeom prst="rect">
                <a:avLst/>
              </a:prstGeom>
              <a:blipFill>
                <a:blip r:embed="rId5"/>
                <a:stretch>
                  <a:fillRect b="-2857"/>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6B484B8-3598-447B-B3B2-DE3A6B5EED24}"/>
              </a:ext>
            </a:extLst>
          </p:cNvPr>
          <p:cNvSpPr>
            <a:spLocks noGrp="1" noChangeArrowheads="1"/>
          </p:cNvSpPr>
          <p:nvPr>
            <p:ph type="ctrTitle"/>
          </p:nvPr>
        </p:nvSpPr>
        <p:spPr>
          <a:xfrm>
            <a:off x="1739283" y="919718"/>
            <a:ext cx="7772400" cy="1470025"/>
          </a:xfrm>
        </p:spPr>
        <p:txBody>
          <a:bodyPr anchor="ctr"/>
          <a:lstStyle/>
          <a:p>
            <a:r>
              <a:rPr lang="zh-CN" altLang="en-US" sz="4400" b="1" dirty="0">
                <a:latin typeface="DengXian" panose="02010600030101010101" pitchFamily="2" charset="-122"/>
                <a:ea typeface="DengXian" panose="02010600030101010101" pitchFamily="2" charset="-122"/>
              </a:rPr>
              <a:t>参数线性规划</a:t>
            </a:r>
          </a:p>
        </p:txBody>
      </p:sp>
      <p:sp>
        <p:nvSpPr>
          <p:cNvPr id="3" name="文本框 2">
            <a:extLst>
              <a:ext uri="{FF2B5EF4-FFF2-40B4-BE49-F238E27FC236}">
                <a16:creationId xmlns:a16="http://schemas.microsoft.com/office/drawing/2014/main" id="{CD57C3BD-08AE-F2BC-101F-3383887DCE02}"/>
              </a:ext>
            </a:extLst>
          </p:cNvPr>
          <p:cNvSpPr txBox="1"/>
          <p:nvPr/>
        </p:nvSpPr>
        <p:spPr>
          <a:xfrm>
            <a:off x="755715" y="2490868"/>
            <a:ext cx="10680570" cy="2252027"/>
          </a:xfrm>
          <a:prstGeom prst="rect">
            <a:avLst/>
          </a:prstGeom>
          <a:noFill/>
        </p:spPr>
        <p:txBody>
          <a:bodyPr wrap="square">
            <a:spAutoFit/>
          </a:bodyPr>
          <a:lstStyle/>
          <a:p>
            <a:pPr algn="just">
              <a:lnSpc>
                <a:spcPct val="150000"/>
              </a:lnSpc>
            </a:pPr>
            <a:r>
              <a:rPr lang="zh-CN" altLang="en-US" sz="2400" b="0" i="0" dirty="0">
                <a:solidFill>
                  <a:srgbClr val="333333"/>
                </a:solidFill>
                <a:effectLst/>
                <a:highlight>
                  <a:srgbClr val="FFFFFF"/>
                </a:highlight>
                <a:latin typeface="Helvetica Neue"/>
              </a:rPr>
              <a:t>        参数线性规划</a:t>
            </a:r>
            <a:r>
              <a:rPr lang="en-US" altLang="zh-CN" sz="2400" b="0" i="0" dirty="0">
                <a:solidFill>
                  <a:srgbClr val="333333"/>
                </a:solidFill>
                <a:effectLst/>
                <a:highlight>
                  <a:srgbClr val="FFFFFF"/>
                </a:highlight>
                <a:latin typeface="Helvetica Neue"/>
              </a:rPr>
              <a:t>(parametric linear programming)</a:t>
            </a:r>
            <a:r>
              <a:rPr lang="zh-CN" altLang="en-US" sz="2400" b="0" i="0" dirty="0">
                <a:solidFill>
                  <a:srgbClr val="333333"/>
                </a:solidFill>
                <a:effectLst/>
                <a:highlight>
                  <a:srgbClr val="FFFFFF"/>
                </a:highlight>
                <a:latin typeface="Helvetica Neue"/>
              </a:rPr>
              <a:t>是数学规划的一个分支。它研究系数不是常数，而是在某范围内变化的参数的线性规划问题。</a:t>
            </a:r>
            <a:endParaRPr lang="en-US" altLang="zh-CN" sz="2400" b="0" i="0" dirty="0">
              <a:solidFill>
                <a:srgbClr val="333333"/>
              </a:solidFill>
              <a:effectLst/>
              <a:highlight>
                <a:srgbClr val="FFFFFF"/>
              </a:highlight>
              <a:latin typeface="Helvetica Neue"/>
            </a:endParaRPr>
          </a:p>
          <a:p>
            <a:pPr algn="just">
              <a:lnSpc>
                <a:spcPct val="150000"/>
              </a:lnSpc>
            </a:pPr>
            <a:r>
              <a:rPr lang="en-US" altLang="zh-CN" sz="2400" dirty="0">
                <a:solidFill>
                  <a:srgbClr val="333333"/>
                </a:solidFill>
                <a:highlight>
                  <a:srgbClr val="FFFFFF"/>
                </a:highlight>
                <a:latin typeface="Helvetica Neue"/>
              </a:rPr>
              <a:t>       </a:t>
            </a:r>
            <a:r>
              <a:rPr lang="zh-CN" altLang="en-US" sz="2400" b="0" i="0" dirty="0">
                <a:solidFill>
                  <a:srgbClr val="333333"/>
                </a:solidFill>
                <a:effectLst/>
                <a:highlight>
                  <a:srgbClr val="FFFFFF"/>
                </a:highlight>
                <a:latin typeface="Helvetica Neue"/>
              </a:rPr>
              <a:t>求解参数线性规划问题的目的是求出参数在不同范围内对应的线性规划问题的最优解。</a:t>
            </a:r>
            <a:endParaRPr lang="zh-CN"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8939FEF-4D1B-3729-0724-9EDE2E849BBC}"/>
                  </a:ext>
                </a:extLst>
              </p:cNvPr>
              <p:cNvSpPr txBox="1"/>
              <p:nvPr/>
            </p:nvSpPr>
            <p:spPr>
              <a:xfrm>
                <a:off x="772998" y="760027"/>
                <a:ext cx="10803117" cy="4707571"/>
              </a:xfrm>
              <a:prstGeom prst="rect">
                <a:avLst/>
              </a:prstGeom>
              <a:noFill/>
            </p:spPr>
            <p:txBody>
              <a:bodyPr wrap="square">
                <a:spAutoFit/>
              </a:bodyPr>
              <a:lstStyle/>
              <a:p>
                <a:pPr indent="304800" algn="just">
                  <a:lnSpc>
                    <a:spcPct val="130000"/>
                  </a:lnSpc>
                </a:pPr>
                <a:r>
                  <a:rPr lang="en-US" altLang="zh-CN" sz="2400" dirty="0">
                    <a:effectLst/>
                    <a:latin typeface="Times New Roman" panose="02020603050405020304" pitchFamily="18" charset="0"/>
                    <a:ea typeface="宋体" panose="02010600030101010101" pitchFamily="2" charset="-122"/>
                  </a:rPr>
                  <a:t>   </a:t>
                </a:r>
                <a:r>
                  <a:rPr lang="zh-CN" altLang="zh-CN" sz="2400" dirty="0">
                    <a:effectLst/>
                    <a:latin typeface="Times New Roman" panose="02020603050405020304" pitchFamily="18" charset="0"/>
                    <a:ea typeface="宋体" panose="02010600030101010101" pitchFamily="2" charset="-122"/>
                  </a:rPr>
                  <a:t>考虑标准型线性规划问题（</a:t>
                </a:r>
                <a:r>
                  <a:rPr lang="en-US" altLang="zh-CN" sz="2400" dirty="0">
                    <a:effectLst/>
                    <a:latin typeface="Times New Roman" panose="02020603050405020304" pitchFamily="18" charset="0"/>
                    <a:ea typeface="宋体" panose="02010600030101010101" pitchFamily="2" charset="-122"/>
                  </a:rPr>
                  <a:t>LP</a:t>
                </a:r>
                <a:r>
                  <a:rPr lang="zh-CN" altLang="zh-CN" sz="2400" dirty="0">
                    <a:effectLst/>
                    <a:latin typeface="Times New Roman" panose="02020603050405020304" pitchFamily="18" charset="0"/>
                    <a:ea typeface="宋体" panose="02010600030101010101" pitchFamily="2" charset="-122"/>
                  </a:rPr>
                  <a:t>）</a:t>
                </a:r>
              </a:p>
              <a:p>
                <a:pPr indent="304800" algn="just">
                  <a:lnSpc>
                    <a:spcPct val="130000"/>
                  </a:lnSpc>
                </a:pPr>
                <a14:m>
                  <m:oMathPara xmlns:m="http://schemas.openxmlformats.org/officeDocument/2006/math">
                    <m:oMathParaPr>
                      <m:jc m:val="centerGroup"/>
                    </m:oMathParaPr>
                    <m:oMath xmlns:m="http://schemas.openxmlformats.org/officeDocument/2006/math">
                      <m:r>
                        <m:rPr>
                          <m:sty m:val="p"/>
                        </m:rPr>
                        <a:rPr lang="en-US" altLang="zh-CN" sz="2400">
                          <a:effectLst/>
                          <a:latin typeface="Cambria Math" panose="02040503050406030204" pitchFamily="18" charset="0"/>
                          <a:ea typeface="宋体" panose="02010600030101010101" pitchFamily="2" charset="-122"/>
                        </a:rPr>
                        <m:t>min</m:t>
                      </m:r>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𝑧</m:t>
                      </m:r>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𝑐</m:t>
                          </m:r>
                        </m:e>
                        <m:sup>
                          <m:r>
                            <a:rPr lang="en-US" altLang="zh-CN" sz="2400" i="1">
                              <a:effectLst/>
                              <a:latin typeface="Cambria Math" panose="02040503050406030204" pitchFamily="18" charset="0"/>
                              <a:ea typeface="宋体" panose="02010600030101010101" pitchFamily="2" charset="-122"/>
                            </a:rPr>
                            <m:t>𝑇</m:t>
                          </m:r>
                        </m:sup>
                      </m:sSup>
                      <m:r>
                        <a:rPr lang="en-US" altLang="zh-CN" sz="2400" i="1">
                          <a:effectLst/>
                          <a:latin typeface="Cambria Math" panose="02040503050406030204" pitchFamily="18" charset="0"/>
                          <a:ea typeface="宋体" panose="02010600030101010101" pitchFamily="2" charset="-122"/>
                        </a:rPr>
                        <m:t>𝑥</m:t>
                      </m:r>
                    </m:oMath>
                  </m:oMathPara>
                </a14:m>
                <a:endParaRPr lang="zh-CN" altLang="zh-CN" sz="2400" dirty="0">
                  <a:effectLst/>
                  <a:latin typeface="Times New Roman" panose="02020603050405020304" pitchFamily="18" charset="0"/>
                  <a:ea typeface="宋体" panose="02010600030101010101" pitchFamily="2" charset="-122"/>
                </a:endParaRPr>
              </a:p>
              <a:p>
                <a:pPr indent="304800" algn="ctr">
                  <a:lnSpc>
                    <a:spcPct val="130000"/>
                  </a:lnSpc>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r>
                              <m:rPr>
                                <m:sty m:val="p"/>
                              </m:rPr>
                              <a:rPr lang="en-US" altLang="zh-CN" sz="2400">
                                <a:effectLst/>
                                <a:latin typeface="Cambria Math" panose="02040503050406030204" pitchFamily="18" charset="0"/>
                                <a:ea typeface="宋体" panose="02010600030101010101" pitchFamily="2" charset="-122"/>
                              </a:rPr>
                              <m:t>s</m:t>
                            </m:r>
                            <m:r>
                              <a:rPr lang="en-US" altLang="zh-CN" sz="2400">
                                <a:effectLst/>
                                <a:latin typeface="Cambria Math" panose="02040503050406030204" pitchFamily="18" charset="0"/>
                                <a:ea typeface="宋体" panose="02010600030101010101" pitchFamily="2" charset="-122"/>
                              </a:rPr>
                              <m:t>.</m:t>
                            </m:r>
                            <m:r>
                              <m:rPr>
                                <m:sty m:val="p"/>
                              </m:rPr>
                              <a:rPr lang="en-US" altLang="zh-CN" sz="2400">
                                <a:effectLst/>
                                <a:latin typeface="Cambria Math" panose="02040503050406030204" pitchFamily="18" charset="0"/>
                                <a:ea typeface="宋体" panose="02010600030101010101" pitchFamily="2" charset="-122"/>
                              </a:rPr>
                              <m:t>t</m:t>
                            </m:r>
                            <m:r>
                              <a:rPr lang="en-US" altLang="zh-CN" sz="2400">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𝐴𝑥</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𝑏</m:t>
                            </m:r>
                          </m:e>
                        </m:mr>
                        <m:mr>
                          <m:e>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𝑥</m:t>
                            </m:r>
                            <m:r>
                              <a:rPr lang="en-US" altLang="zh-CN" sz="2400" i="1">
                                <a:effectLst/>
                                <a:latin typeface="Cambria Math" panose="02040503050406030204" pitchFamily="18" charset="0"/>
                                <a:ea typeface="宋体" panose="02010600030101010101" pitchFamily="2" charset="-122"/>
                              </a:rPr>
                              <m:t>≥0</m:t>
                            </m:r>
                          </m:e>
                        </m:mr>
                      </m:m>
                    </m:oMath>
                  </m:oMathPara>
                </a14:m>
                <a:endParaRPr lang="zh-CN" altLang="zh-CN" sz="2400" dirty="0">
                  <a:effectLst/>
                  <a:latin typeface="Times New Roman" panose="02020603050405020304" pitchFamily="18" charset="0"/>
                  <a:ea typeface="宋体" panose="02010600030101010101" pitchFamily="2" charset="-122"/>
                </a:endParaRPr>
              </a:p>
              <a:p>
                <a:pPr indent="304800" algn="just">
                  <a:lnSpc>
                    <a:spcPct val="130000"/>
                  </a:lnSpc>
                </a:pPr>
                <a:r>
                  <a:rPr lang="en-US" altLang="zh-CN" sz="2400" dirty="0">
                    <a:effectLst/>
                    <a:latin typeface="Times New Roman" panose="02020603050405020304" pitchFamily="18" charset="0"/>
                    <a:ea typeface="宋体" panose="02010600030101010101" pitchFamily="2" charset="-122"/>
                  </a:rPr>
                  <a:t>    </a:t>
                </a:r>
                <a:r>
                  <a:rPr lang="zh-CN" altLang="zh-CN" sz="2400" dirty="0">
                    <a:effectLst/>
                    <a:latin typeface="Times New Roman" panose="02020603050405020304" pitchFamily="18" charset="0"/>
                    <a:ea typeface="宋体" panose="02010600030101010101" pitchFamily="2" charset="-122"/>
                  </a:rPr>
                  <a:t>若令参数</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oMath>
                </a14:m>
                <a:r>
                  <a:rPr lang="zh-CN" altLang="zh-CN" sz="2400" dirty="0">
                    <a:effectLst/>
                    <a:latin typeface="Times New Roman" panose="02020603050405020304" pitchFamily="18" charset="0"/>
                    <a:ea typeface="宋体" panose="02010600030101010101" pitchFamily="2" charset="-122"/>
                  </a:rPr>
                  <a:t>或</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𝑖</m:t>
                        </m:r>
                      </m:sub>
                    </m:sSub>
                  </m:oMath>
                </a14:m>
                <a:r>
                  <a:rPr lang="zh-CN" altLang="zh-CN" sz="2400" dirty="0">
                    <a:effectLst/>
                    <a:latin typeface="Times New Roman" panose="02020603050405020304" pitchFamily="18" charset="0"/>
                    <a:ea typeface="宋体" panose="02010600030101010101" pitchFamily="2" charset="-122"/>
                  </a:rPr>
                  <a:t>沿着某一方向连续变动，则目标函数</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𝑧</m:t>
                    </m:r>
                  </m:oMath>
                </a14:m>
                <a:r>
                  <a:rPr lang="zh-CN" altLang="zh-CN" sz="2400" dirty="0">
                    <a:effectLst/>
                    <a:latin typeface="Times New Roman" panose="02020603050405020304" pitchFamily="18" charset="0"/>
                    <a:ea typeface="宋体" panose="02010600030101010101" pitchFamily="2" charset="-122"/>
                  </a:rPr>
                  <a:t>将随着</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oMath>
                </a14:m>
                <a:r>
                  <a:rPr lang="zh-CN" altLang="zh-CN" sz="2400" dirty="0">
                    <a:effectLst/>
                    <a:latin typeface="Times New Roman" panose="02020603050405020304" pitchFamily="18" charset="0"/>
                    <a:ea typeface="宋体" panose="02010600030101010101" pitchFamily="2" charset="-122"/>
                  </a:rPr>
                  <a:t>或</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𝑏</m:t>
                        </m:r>
                      </m:e>
                      <m:sub>
                        <m:r>
                          <a:rPr lang="en-US" altLang="zh-CN" sz="2400" i="1">
                            <a:effectLst/>
                            <a:latin typeface="Cambria Math" panose="02040503050406030204" pitchFamily="18" charset="0"/>
                            <a:ea typeface="宋体" panose="02010600030101010101" pitchFamily="2" charset="-122"/>
                          </a:rPr>
                          <m:t>𝑖</m:t>
                        </m:r>
                      </m:sub>
                    </m:sSub>
                  </m:oMath>
                </a14:m>
                <a:r>
                  <a:rPr lang="zh-CN" altLang="zh-CN" sz="2400" dirty="0">
                    <a:effectLst/>
                    <a:latin typeface="Times New Roman" panose="02020603050405020304" pitchFamily="18" charset="0"/>
                    <a:ea typeface="宋体" panose="02010600030101010101" pitchFamily="2" charset="-122"/>
                  </a:rPr>
                  <a:t>的变动而呈线性变动。由于</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𝑧</m:t>
                    </m:r>
                  </m:oMath>
                </a14:m>
                <a:r>
                  <a:rPr lang="zh-CN" altLang="zh-CN" sz="2400" dirty="0">
                    <a:effectLst/>
                    <a:latin typeface="Times New Roman" panose="02020603050405020304" pitchFamily="18" charset="0"/>
                    <a:ea typeface="宋体" panose="02010600030101010101" pitchFamily="2" charset="-122"/>
                  </a:rPr>
                  <a:t>是这个变动参数的线性函数，因而称为参数线性规划。</a:t>
                </a:r>
              </a:p>
              <a:p>
                <a:pPr marL="269875" indent="-269875" algn="just">
                  <a:lnSpc>
                    <a:spcPct val="130000"/>
                  </a:lnSpc>
                </a:pPr>
                <a:r>
                  <a:rPr lang="en-US" altLang="zh-CN" sz="2400" dirty="0">
                    <a:effectLst/>
                    <a:latin typeface="宋体" panose="02010600030101010101" pitchFamily="2" charset="-122"/>
                    <a:ea typeface="宋体" panose="02010600030101010101" pitchFamily="2" charset="-122"/>
                  </a:rPr>
                  <a:t>    </a:t>
                </a:r>
                <a:r>
                  <a:rPr lang="zh-CN" altLang="zh-CN" sz="2400" dirty="0">
                    <a:effectLst/>
                    <a:latin typeface="Times New Roman" panose="02020603050405020304" pitchFamily="18" charset="0"/>
                    <a:ea typeface="宋体" panose="02010600030101010101" pitchFamily="2" charset="-122"/>
                  </a:rPr>
                  <a:t>当目标函数中的</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effectLst/>
                            <a:latin typeface="Cambria Math" panose="02040503050406030204" pitchFamily="18" charset="0"/>
                            <a:ea typeface="宋体" panose="02010600030101010101" pitchFamily="2" charset="-122"/>
                          </a:rPr>
                          <m:t>𝑐</m:t>
                        </m:r>
                      </m:e>
                      <m:sub>
                        <m:r>
                          <a:rPr lang="en-US" altLang="zh-CN" sz="2400" i="1">
                            <a:effectLst/>
                            <a:latin typeface="Cambria Math" panose="02040503050406030204" pitchFamily="18" charset="0"/>
                            <a:ea typeface="宋体" panose="02010600030101010101" pitchFamily="2" charset="-122"/>
                          </a:rPr>
                          <m:t>𝑗</m:t>
                        </m:r>
                      </m:sub>
                    </m:sSub>
                  </m:oMath>
                </a14:m>
                <a:r>
                  <a:rPr lang="zh-CN" altLang="zh-CN" sz="2400" dirty="0">
                    <a:effectLst/>
                    <a:latin typeface="Times New Roman" panose="02020603050405020304" pitchFamily="18" charset="0"/>
                    <a:ea typeface="宋体" panose="02010600030101010101" pitchFamily="2" charset="-122"/>
                  </a:rPr>
                  <a:t>值连续变化时，其参数线性规划的形式为：</a:t>
                </a:r>
              </a:p>
              <a:p>
                <a:pPr indent="304800" algn="just">
                  <a:lnSpc>
                    <a:spcPct val="130000"/>
                  </a:lnSpc>
                </a:pPr>
                <a14:m>
                  <m:oMathPara xmlns:m="http://schemas.openxmlformats.org/officeDocument/2006/math">
                    <m:oMathParaPr>
                      <m:jc m:val="centerGroup"/>
                    </m:oMathParaPr>
                    <m:oMath xmlns:m="http://schemas.openxmlformats.org/officeDocument/2006/math">
                      <m:r>
                        <m:rPr>
                          <m:sty m:val="p"/>
                        </m:rPr>
                        <a:rPr lang="en-US" altLang="zh-CN" sz="2400">
                          <a:effectLst/>
                          <a:latin typeface="Cambria Math" panose="02040503050406030204" pitchFamily="18" charset="0"/>
                          <a:ea typeface="宋体" panose="02010600030101010101" pitchFamily="2" charset="-122"/>
                        </a:rPr>
                        <m:t>min</m:t>
                      </m:r>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𝑧</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𝜆</m:t>
                      </m:r>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𝑐</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𝜆</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𝑐</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e>
                        <m:sup>
                          <m:r>
                            <a:rPr lang="en-US" altLang="zh-CN" sz="2400" i="1">
                              <a:effectLst/>
                              <a:latin typeface="Cambria Math" panose="02040503050406030204" pitchFamily="18" charset="0"/>
                              <a:ea typeface="宋体" panose="02010600030101010101" pitchFamily="2" charset="-122"/>
                            </a:rPr>
                            <m:t>𝑇</m:t>
                          </m:r>
                        </m:sup>
                      </m:sSup>
                      <m:r>
                        <a:rPr lang="en-US" altLang="zh-CN" sz="2400" i="1">
                          <a:effectLst/>
                          <a:latin typeface="Cambria Math" panose="02040503050406030204" pitchFamily="18" charset="0"/>
                          <a:ea typeface="宋体" panose="02010600030101010101" pitchFamily="2" charset="-122"/>
                        </a:rPr>
                        <m:t>𝑥</m:t>
                      </m:r>
                    </m:oMath>
                  </m:oMathPara>
                </a14:m>
                <a:endParaRPr lang="zh-CN" altLang="zh-CN" sz="2400" dirty="0">
                  <a:effectLst/>
                  <a:latin typeface="Times New Roman" panose="02020603050405020304" pitchFamily="18" charset="0"/>
                  <a:ea typeface="宋体" panose="02010600030101010101" pitchFamily="2" charset="-122"/>
                </a:endParaRPr>
              </a:p>
              <a:p>
                <a:pPr indent="304800" algn="ctr">
                  <a:lnSpc>
                    <a:spcPct val="130000"/>
                  </a:lnSpc>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r>
                              <m:rPr>
                                <m:sty m:val="p"/>
                              </m:rPr>
                              <a:rPr lang="en-US" altLang="zh-CN" sz="2400">
                                <a:effectLst/>
                                <a:latin typeface="Cambria Math" panose="02040503050406030204" pitchFamily="18" charset="0"/>
                                <a:ea typeface="宋体" panose="02010600030101010101" pitchFamily="2" charset="-122"/>
                              </a:rPr>
                              <m:t>s</m:t>
                            </m:r>
                            <m:r>
                              <a:rPr lang="en-US" altLang="zh-CN" sz="2400">
                                <a:effectLst/>
                                <a:latin typeface="Cambria Math" panose="02040503050406030204" pitchFamily="18" charset="0"/>
                                <a:ea typeface="宋体" panose="02010600030101010101" pitchFamily="2" charset="-122"/>
                              </a:rPr>
                              <m:t>.</m:t>
                            </m:r>
                            <m:r>
                              <m:rPr>
                                <m:sty m:val="p"/>
                              </m:rPr>
                              <a:rPr lang="en-US" altLang="zh-CN" sz="2400">
                                <a:effectLst/>
                                <a:latin typeface="Cambria Math" panose="02040503050406030204" pitchFamily="18" charset="0"/>
                                <a:ea typeface="宋体" panose="02010600030101010101" pitchFamily="2" charset="-122"/>
                              </a:rPr>
                              <m:t>t</m:t>
                            </m:r>
                            <m:r>
                              <a:rPr lang="en-US" altLang="zh-CN" sz="2400">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𝐴𝑥</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𝑏</m:t>
                            </m:r>
                          </m:e>
                        </m:mr>
                        <m:mr>
                          <m:e>
                            <m:r>
                              <a:rPr lang="en-US" altLang="zh-CN" sz="2400" i="1">
                                <a:effectLst/>
                                <a:latin typeface="Cambria Math" panose="02040503050406030204" pitchFamily="18" charset="0"/>
                                <a:ea typeface="宋体" panose="02010600030101010101" pitchFamily="2" charset="-122"/>
                              </a:rPr>
                              <m:t>         </m:t>
                            </m:r>
                            <m:r>
                              <a:rPr lang="en-US" altLang="zh-CN" sz="2400" i="1">
                                <a:effectLst/>
                                <a:latin typeface="Cambria Math" panose="02040503050406030204" pitchFamily="18" charset="0"/>
                                <a:ea typeface="宋体" panose="02010600030101010101" pitchFamily="2" charset="-122"/>
                              </a:rPr>
                              <m:t>𝑥</m:t>
                            </m:r>
                            <m:r>
                              <a:rPr lang="en-US" altLang="zh-CN" sz="2400" i="1">
                                <a:effectLst/>
                                <a:latin typeface="Cambria Math" panose="02040503050406030204" pitchFamily="18" charset="0"/>
                                <a:ea typeface="宋体" panose="02010600030101010101" pitchFamily="2" charset="-122"/>
                              </a:rPr>
                              <m:t>≥0</m:t>
                            </m:r>
                          </m:e>
                        </m:mr>
                      </m:m>
                    </m:oMath>
                  </m:oMathPara>
                </a14:m>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5" name="文本框 4">
                <a:extLst>
                  <a:ext uri="{FF2B5EF4-FFF2-40B4-BE49-F238E27FC236}">
                    <a16:creationId xmlns:a16="http://schemas.microsoft.com/office/drawing/2014/main" id="{28939FEF-4D1B-3729-0724-9EDE2E849BBC}"/>
                  </a:ext>
                </a:extLst>
              </p:cNvPr>
              <p:cNvSpPr txBox="1">
                <a:spLocks noRot="1" noChangeAspect="1" noMove="1" noResize="1" noEditPoints="1" noAdjustHandles="1" noChangeArrowheads="1" noChangeShapeType="1" noTextEdit="1"/>
              </p:cNvSpPr>
              <p:nvPr/>
            </p:nvSpPr>
            <p:spPr>
              <a:xfrm>
                <a:off x="772998" y="760027"/>
                <a:ext cx="10803117" cy="4707571"/>
              </a:xfrm>
              <a:prstGeom prst="rect">
                <a:avLst/>
              </a:prstGeom>
              <a:blipFill>
                <a:blip r:embed="rId2"/>
                <a:stretch>
                  <a:fillRect l="-903" t="-130" r="-8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9303BEA-B8D4-711B-2336-8ACCEED5BFA6}"/>
                  </a:ext>
                </a:extLst>
              </p:cNvPr>
              <p:cNvSpPr txBox="1"/>
              <p:nvPr/>
            </p:nvSpPr>
            <p:spPr>
              <a:xfrm>
                <a:off x="615885" y="5467598"/>
                <a:ext cx="10122030" cy="520848"/>
              </a:xfrm>
              <a:prstGeom prst="rect">
                <a:avLst/>
              </a:prstGeom>
              <a:noFill/>
            </p:spPr>
            <p:txBody>
              <a:bodyPr wrap="square">
                <a:spAutoFit/>
              </a:bodyPr>
              <a:lstStyle/>
              <a:p>
                <a:pPr indent="266700">
                  <a:lnSpc>
                    <a:spcPct val="130000"/>
                  </a:lnSpc>
                </a:pPr>
                <a:r>
                  <a:rPr lang="zh-CN" altLang="zh-CN" sz="2400" dirty="0">
                    <a:latin typeface="Times New Roman" panose="02020603050405020304" pitchFamily="18" charset="0"/>
                    <a:ea typeface="宋体" panose="02010600030101010101" pitchFamily="2" charset="-122"/>
                  </a:rPr>
                  <a:t>式中</a:t>
                </a:r>
                <a14:m>
                  <m:oMath xmlns:m="http://schemas.openxmlformats.org/officeDocument/2006/math">
                    <m:r>
                      <a:rPr lang="en-US" altLang="zh-CN" sz="2400">
                        <a:latin typeface="Cambria Math" panose="02040503050406030204" pitchFamily="18" charset="0"/>
                        <a:ea typeface="宋体" panose="02010600030101010101" pitchFamily="2" charset="-122"/>
                      </a:rPr>
                      <m:t>𝑐</m:t>
                    </m:r>
                  </m:oMath>
                </a14:m>
                <a:r>
                  <a:rPr lang="zh-CN" altLang="zh-CN" sz="2400" dirty="0">
                    <a:latin typeface="Times New Roman" panose="02020603050405020304" pitchFamily="18" charset="0"/>
                    <a:ea typeface="宋体" panose="02010600030101010101" pitchFamily="2" charset="-122"/>
                  </a:rPr>
                  <a:t>为原线性规划</a:t>
                </a:r>
                <a:r>
                  <a:rPr lang="zh-CN" altLang="zh-CN" sz="2400" dirty="0">
                    <a:effectLst/>
                    <a:latin typeface="Times New Roman" panose="02020603050405020304" pitchFamily="18" charset="0"/>
                    <a:ea typeface="宋体" panose="02010600030101010101" pitchFamily="2" charset="-122"/>
                  </a:rPr>
                  <a:t>问题（</a:t>
                </a:r>
                <a:r>
                  <a:rPr lang="en-US" altLang="zh-CN" sz="2400" dirty="0">
                    <a:effectLst/>
                    <a:latin typeface="Times New Roman" panose="02020603050405020304" pitchFamily="18" charset="0"/>
                    <a:ea typeface="宋体" panose="02010600030101010101" pitchFamily="2" charset="-122"/>
                  </a:rPr>
                  <a:t>LP</a:t>
                </a:r>
                <a:r>
                  <a:rPr lang="zh-CN" altLang="zh-CN" sz="2400" dirty="0">
                    <a:effectLst/>
                    <a:latin typeface="Times New Roman" panose="02020603050405020304" pitchFamily="18" charset="0"/>
                    <a:ea typeface="宋体" panose="02010600030101010101" pitchFamily="2" charset="-122"/>
                  </a:rPr>
                  <a:t>）的价值向量，</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𝑐</m:t>
                        </m:r>
                      </m:e>
                      <m:sup>
                        <m:r>
                          <a:rPr lang="en-US" altLang="zh-CN" sz="2400" i="1">
                            <a:effectLst/>
                            <a:latin typeface="Cambria Math" panose="02040503050406030204" pitchFamily="18" charset="0"/>
                            <a:ea typeface="宋体" panose="02010600030101010101" pitchFamily="2" charset="-122"/>
                          </a:rPr>
                          <m:t>∗</m:t>
                        </m:r>
                      </m:sup>
                    </m:sSup>
                  </m:oMath>
                </a14:m>
                <a:r>
                  <a:rPr lang="zh-CN" altLang="zh-CN" sz="2400" dirty="0">
                    <a:effectLst/>
                    <a:latin typeface="Times New Roman" panose="02020603050405020304" pitchFamily="18" charset="0"/>
                    <a:ea typeface="宋体" panose="02010600030101010101" pitchFamily="2" charset="-122"/>
                  </a:rPr>
                  <a:t>为变动向量，</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𝜆</m:t>
                    </m:r>
                  </m:oMath>
                </a14:m>
                <a:r>
                  <a:rPr lang="zh-CN" altLang="zh-CN" sz="2400" dirty="0">
                    <a:effectLst/>
                    <a:latin typeface="Times New Roman" panose="02020603050405020304" pitchFamily="18" charset="0"/>
                    <a:ea typeface="宋体" panose="02010600030101010101" pitchFamily="2" charset="-122"/>
                  </a:rPr>
                  <a:t>为参数。</a:t>
                </a:r>
              </a:p>
            </p:txBody>
          </p:sp>
        </mc:Choice>
        <mc:Fallback xmlns="">
          <p:sp>
            <p:nvSpPr>
              <p:cNvPr id="7" name="文本框 6">
                <a:extLst>
                  <a:ext uri="{FF2B5EF4-FFF2-40B4-BE49-F238E27FC236}">
                    <a16:creationId xmlns:a16="http://schemas.microsoft.com/office/drawing/2014/main" id="{C9303BEA-B8D4-711B-2336-8ACCEED5BFA6}"/>
                  </a:ext>
                </a:extLst>
              </p:cNvPr>
              <p:cNvSpPr txBox="1">
                <a:spLocks noRot="1" noChangeAspect="1" noMove="1" noResize="1" noEditPoints="1" noAdjustHandles="1" noChangeArrowheads="1" noChangeShapeType="1" noTextEdit="1"/>
              </p:cNvSpPr>
              <p:nvPr/>
            </p:nvSpPr>
            <p:spPr>
              <a:xfrm>
                <a:off x="615885" y="5467598"/>
                <a:ext cx="10122030" cy="520848"/>
              </a:xfrm>
              <a:prstGeom prst="rect">
                <a:avLst/>
              </a:prstGeom>
              <a:blipFill>
                <a:blip r:embed="rId3"/>
                <a:stretch>
                  <a:fillRect t="-1176" b="-28235"/>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660281C-BDBC-B01E-5F92-9030EEF4CBAE}"/>
                  </a:ext>
                </a:extLst>
              </p:cNvPr>
              <p:cNvSpPr txBox="1"/>
              <p:nvPr/>
            </p:nvSpPr>
            <p:spPr>
              <a:xfrm>
                <a:off x="641024" y="1890256"/>
                <a:ext cx="9954704" cy="2335319"/>
              </a:xfrm>
              <a:prstGeom prst="rect">
                <a:avLst/>
              </a:prstGeom>
              <a:noFill/>
            </p:spPr>
            <p:txBody>
              <a:bodyPr wrap="square">
                <a:spAutoFit/>
              </a:bodyPr>
              <a:lstStyle/>
              <a:p>
                <a:pPr indent="304800" algn="just">
                  <a:lnSpc>
                    <a:spcPct val="130000"/>
                  </a:lnSpc>
                </a:pPr>
                <a:r>
                  <a:rPr lang="en-US" altLang="zh-CN" sz="2400" dirty="0">
                    <a:effectLst/>
                    <a:latin typeface="+mn-ea"/>
                  </a:rPr>
                  <a:t>     </a:t>
                </a:r>
                <a:r>
                  <a:rPr lang="zh-CN" altLang="zh-CN" sz="2400" dirty="0">
                    <a:effectLst/>
                    <a:latin typeface="+mn-ea"/>
                  </a:rPr>
                  <a:t>当约束条件右端项发生变化时，其参数线性规划的形式为：</a:t>
                </a:r>
              </a:p>
              <a:p>
                <a:pPr indent="304800" algn="just">
                  <a:lnSpc>
                    <a:spcPct val="130000"/>
                  </a:lnSpc>
                </a:pPr>
                <a14:m>
                  <m:oMathPara xmlns:m="http://schemas.openxmlformats.org/officeDocument/2006/math">
                    <m:oMathParaPr>
                      <m:jc m:val="centerGroup"/>
                    </m:oMathParaPr>
                    <m:oMath xmlns:m="http://schemas.openxmlformats.org/officeDocument/2006/math">
                      <m:r>
                        <m:rPr>
                          <m:sty m:val="p"/>
                        </m:rPr>
                        <a:rPr lang="en-US" altLang="zh-CN" sz="2400">
                          <a:effectLst/>
                          <a:latin typeface="Cambria Math" panose="02040503050406030204" pitchFamily="18" charset="0"/>
                        </a:rPr>
                        <m:t>min</m:t>
                      </m:r>
                      <m:r>
                        <a:rPr lang="en-US" altLang="zh-CN" sz="2400" i="1">
                          <a:effectLst/>
                          <a:latin typeface="Cambria Math" panose="02040503050406030204" pitchFamily="18" charset="0"/>
                        </a:rPr>
                        <m:t>     </m:t>
                      </m:r>
                      <m:r>
                        <a:rPr lang="en-US" altLang="zh-CN" sz="2400" i="1">
                          <a:effectLst/>
                          <a:latin typeface="Cambria Math" panose="02040503050406030204" pitchFamily="18" charset="0"/>
                        </a:rPr>
                        <m:t>𝑧</m:t>
                      </m:r>
                      <m:r>
                        <a:rPr lang="en-US" altLang="zh-CN" sz="2400" i="1">
                          <a:effectLst/>
                          <a:latin typeface="Cambria Math" panose="02040503050406030204" pitchFamily="18" charset="0"/>
                        </a:rPr>
                        <m:t>(</m:t>
                      </m:r>
                      <m:r>
                        <a:rPr lang="en-US" altLang="zh-CN" sz="2400" i="1">
                          <a:effectLst/>
                          <a:latin typeface="Cambria Math" panose="02040503050406030204" pitchFamily="18" charset="0"/>
                        </a:rPr>
                        <m:t>𝜆</m:t>
                      </m:r>
                      <m:r>
                        <a:rPr lang="en-US" altLang="zh-CN" sz="2400" i="1">
                          <a:effectLst/>
                          <a:latin typeface="Cambria Math" panose="02040503050406030204" pitchFamily="18" charset="0"/>
                        </a:rPr>
                        <m:t>)=</m:t>
                      </m:r>
                      <m:sSup>
                        <m:sSupPr>
                          <m:ctrlPr>
                            <a:rPr lang="zh-CN" altLang="zh-CN" sz="2400" i="1">
                              <a:effectLst/>
                              <a:latin typeface="Cambria Math" panose="02040503050406030204" pitchFamily="18" charset="0"/>
                            </a:rPr>
                          </m:ctrlPr>
                        </m:sSupPr>
                        <m:e>
                          <m:r>
                            <a:rPr lang="en-US" altLang="zh-CN" sz="2400" i="1">
                              <a:effectLst/>
                              <a:latin typeface="Cambria Math" panose="02040503050406030204" pitchFamily="18" charset="0"/>
                            </a:rPr>
                            <m:t>𝑐</m:t>
                          </m:r>
                        </m:e>
                        <m:sup>
                          <m:r>
                            <a:rPr lang="en-US" altLang="zh-CN" sz="2400" i="1">
                              <a:effectLst/>
                              <a:latin typeface="Cambria Math" panose="02040503050406030204" pitchFamily="18" charset="0"/>
                            </a:rPr>
                            <m:t>𝑇</m:t>
                          </m:r>
                        </m:sup>
                      </m:sSup>
                      <m:r>
                        <a:rPr lang="en-US" altLang="zh-CN" sz="2400" i="1">
                          <a:effectLst/>
                          <a:latin typeface="Cambria Math" panose="02040503050406030204" pitchFamily="18" charset="0"/>
                        </a:rPr>
                        <m:t>𝑥</m:t>
                      </m:r>
                    </m:oMath>
                  </m:oMathPara>
                </a14:m>
                <a:endParaRPr lang="zh-CN" altLang="zh-CN" sz="2400" dirty="0">
                  <a:effectLst/>
                  <a:latin typeface="+mn-ea"/>
                </a:endParaRPr>
              </a:p>
              <a:p>
                <a:pPr indent="304800" algn="just">
                  <a:lnSpc>
                    <a:spcPct val="130000"/>
                  </a:lnSpc>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zh-CN" sz="2400" i="1">
                              <a:effectLst/>
                              <a:latin typeface="Cambria Math" panose="02040503050406030204" pitchFamily="18" charset="0"/>
                            </a:rPr>
                          </m:ctrlPr>
                        </m:mPr>
                        <m:mr>
                          <m:e>
                            <m:r>
                              <m:rPr>
                                <m:sty m:val="p"/>
                              </m:rPr>
                              <a:rPr lang="en-US" altLang="zh-CN" sz="2400">
                                <a:effectLst/>
                                <a:latin typeface="Cambria Math" panose="02040503050406030204" pitchFamily="18" charset="0"/>
                              </a:rPr>
                              <m:t>s</m:t>
                            </m:r>
                            <m:r>
                              <a:rPr lang="en-US" altLang="zh-CN" sz="2400">
                                <a:effectLst/>
                                <a:latin typeface="Cambria Math" panose="02040503050406030204" pitchFamily="18" charset="0"/>
                              </a:rPr>
                              <m:t>.</m:t>
                            </m:r>
                            <m:r>
                              <m:rPr>
                                <m:sty m:val="p"/>
                              </m:rPr>
                              <a:rPr lang="en-US" altLang="zh-CN" sz="2400">
                                <a:effectLst/>
                                <a:latin typeface="Cambria Math" panose="02040503050406030204" pitchFamily="18" charset="0"/>
                              </a:rPr>
                              <m:t>t</m:t>
                            </m:r>
                            <m:r>
                              <a:rPr lang="en-US" altLang="zh-CN" sz="2400">
                                <a:effectLst/>
                                <a:latin typeface="Cambria Math" panose="02040503050406030204" pitchFamily="18" charset="0"/>
                              </a:rPr>
                              <m:t>.</m:t>
                            </m:r>
                            <m:r>
                              <a:rPr lang="en-US" altLang="zh-CN" sz="2400" i="1">
                                <a:effectLst/>
                                <a:latin typeface="Cambria Math" panose="02040503050406030204" pitchFamily="18" charset="0"/>
                              </a:rPr>
                              <m:t>     </m:t>
                            </m:r>
                            <m:r>
                              <a:rPr lang="en-US" altLang="zh-CN" sz="2400" i="1">
                                <a:effectLst/>
                                <a:latin typeface="Cambria Math" panose="02040503050406030204" pitchFamily="18" charset="0"/>
                              </a:rPr>
                              <m:t>𝐴𝑥</m:t>
                            </m:r>
                            <m:r>
                              <a:rPr lang="en-US" altLang="zh-CN" sz="2400" i="1">
                                <a:effectLst/>
                                <a:latin typeface="Cambria Math" panose="02040503050406030204" pitchFamily="18" charset="0"/>
                              </a:rPr>
                              <m:t>=</m:t>
                            </m:r>
                            <m:r>
                              <a:rPr lang="en-US" altLang="zh-CN" sz="2400" i="1">
                                <a:effectLst/>
                                <a:latin typeface="Cambria Math" panose="02040503050406030204" pitchFamily="18" charset="0"/>
                              </a:rPr>
                              <m:t>𝑏</m:t>
                            </m:r>
                            <m:r>
                              <a:rPr lang="en-US" altLang="zh-CN" sz="2400" i="1">
                                <a:effectLst/>
                                <a:latin typeface="Cambria Math" panose="02040503050406030204" pitchFamily="18" charset="0"/>
                              </a:rPr>
                              <m:t>+</m:t>
                            </m:r>
                            <m:r>
                              <a:rPr lang="en-US" altLang="zh-CN" sz="2400" i="1">
                                <a:effectLst/>
                                <a:latin typeface="Cambria Math" panose="02040503050406030204" pitchFamily="18" charset="0"/>
                              </a:rPr>
                              <m:t>𝜆</m:t>
                            </m:r>
                            <m:sSup>
                              <m:sSupPr>
                                <m:ctrlPr>
                                  <a:rPr lang="zh-CN" altLang="zh-CN" sz="2400" i="1">
                                    <a:effectLst/>
                                    <a:latin typeface="Cambria Math" panose="02040503050406030204" pitchFamily="18" charset="0"/>
                                  </a:rPr>
                                </m:ctrlPr>
                              </m:sSupPr>
                              <m:e>
                                <m:r>
                                  <a:rPr lang="en-US" altLang="zh-CN" sz="2400" i="1">
                                    <a:effectLst/>
                                    <a:latin typeface="Cambria Math" panose="02040503050406030204" pitchFamily="18" charset="0"/>
                                  </a:rPr>
                                  <m:t>𝑏</m:t>
                                </m:r>
                              </m:e>
                              <m:sup>
                                <m:r>
                                  <a:rPr lang="en-US" altLang="zh-CN" sz="2400" i="1">
                                    <a:effectLst/>
                                    <a:latin typeface="Cambria Math" panose="02040503050406030204" pitchFamily="18" charset="0"/>
                                  </a:rPr>
                                  <m:t>∗</m:t>
                                </m:r>
                              </m:sup>
                            </m:sSup>
                          </m:e>
                        </m:mr>
                        <m:mr>
                          <m:e>
                            <m:r>
                              <a:rPr lang="en-US" altLang="zh-CN" sz="2400" i="1">
                                <a:effectLst/>
                                <a:latin typeface="Cambria Math" panose="02040503050406030204" pitchFamily="18" charset="0"/>
                              </a:rPr>
                              <m:t>         </m:t>
                            </m:r>
                            <m:r>
                              <a:rPr lang="en-US" altLang="zh-CN" sz="2400" i="1">
                                <a:effectLst/>
                                <a:latin typeface="Cambria Math" panose="02040503050406030204" pitchFamily="18" charset="0"/>
                              </a:rPr>
                              <m:t>𝑥</m:t>
                            </m:r>
                            <m:r>
                              <a:rPr lang="en-US" altLang="zh-CN" sz="2400" i="1">
                                <a:effectLst/>
                                <a:latin typeface="Cambria Math" panose="02040503050406030204" pitchFamily="18" charset="0"/>
                              </a:rPr>
                              <m:t>≥0</m:t>
                            </m:r>
                          </m:e>
                        </m:mr>
                      </m:m>
                    </m:oMath>
                  </m:oMathPara>
                </a14:m>
                <a:endParaRPr lang="zh-CN" altLang="zh-CN" sz="2400" dirty="0">
                  <a:effectLst/>
                  <a:latin typeface="+mn-ea"/>
                </a:endParaRPr>
              </a:p>
              <a:p>
                <a:pPr indent="266700" algn="just">
                  <a:lnSpc>
                    <a:spcPct val="130000"/>
                  </a:lnSpc>
                </a:pPr>
                <a:r>
                  <a:rPr lang="zh-CN" altLang="zh-CN" sz="2400" dirty="0">
                    <a:effectLst/>
                    <a:latin typeface="+mn-ea"/>
                  </a:rPr>
                  <a:t>式中的</a:t>
                </a:r>
                <a14:m>
                  <m:oMath xmlns:m="http://schemas.openxmlformats.org/officeDocument/2006/math">
                    <m:r>
                      <a:rPr lang="en-US" altLang="zh-CN" sz="2400" i="1">
                        <a:effectLst/>
                        <a:latin typeface="Cambria Math" panose="02040503050406030204" pitchFamily="18" charset="0"/>
                      </a:rPr>
                      <m:t>𝑏</m:t>
                    </m:r>
                  </m:oMath>
                </a14:m>
                <a:r>
                  <a:rPr lang="zh-CN" altLang="zh-CN" sz="2400" dirty="0">
                    <a:effectLst/>
                    <a:latin typeface="+mn-ea"/>
                  </a:rPr>
                  <a:t>为原线性规划问题（</a:t>
                </a:r>
                <a:r>
                  <a:rPr lang="en-US" altLang="zh-CN" sz="2400" dirty="0">
                    <a:effectLst/>
                    <a:latin typeface="+mn-ea"/>
                  </a:rPr>
                  <a:t>LP</a:t>
                </a:r>
                <a:r>
                  <a:rPr lang="zh-CN" altLang="zh-CN" sz="2400" dirty="0">
                    <a:effectLst/>
                    <a:latin typeface="+mn-ea"/>
                  </a:rPr>
                  <a:t>）的资源向量，</a:t>
                </a:r>
                <a14:m>
                  <m:oMath xmlns:m="http://schemas.openxmlformats.org/officeDocument/2006/math">
                    <m:sSup>
                      <m:sSupPr>
                        <m:ctrlPr>
                          <a:rPr lang="zh-CN" altLang="zh-CN" sz="2400" i="1">
                            <a:effectLst/>
                            <a:latin typeface="Cambria Math" panose="02040503050406030204" pitchFamily="18" charset="0"/>
                          </a:rPr>
                        </m:ctrlPr>
                      </m:sSupPr>
                      <m:e>
                        <m:r>
                          <a:rPr lang="en-US" altLang="zh-CN" sz="2400" i="1">
                            <a:effectLst/>
                            <a:latin typeface="Cambria Math" panose="02040503050406030204" pitchFamily="18" charset="0"/>
                          </a:rPr>
                          <m:t>𝑏</m:t>
                        </m:r>
                      </m:e>
                      <m:sup>
                        <m:r>
                          <a:rPr lang="en-US" altLang="zh-CN" sz="2400" i="1">
                            <a:effectLst/>
                            <a:latin typeface="Cambria Math" panose="02040503050406030204" pitchFamily="18" charset="0"/>
                          </a:rPr>
                          <m:t>∗</m:t>
                        </m:r>
                      </m:sup>
                    </m:sSup>
                  </m:oMath>
                </a14:m>
                <a:r>
                  <a:rPr lang="zh-CN" altLang="zh-CN" sz="2400" dirty="0">
                    <a:effectLst/>
                    <a:latin typeface="+mn-ea"/>
                  </a:rPr>
                  <a:t>为变动向量，</a:t>
                </a:r>
                <a14:m>
                  <m:oMath xmlns:m="http://schemas.openxmlformats.org/officeDocument/2006/math">
                    <m:r>
                      <a:rPr lang="en-US" altLang="zh-CN" sz="2400" i="1">
                        <a:effectLst/>
                        <a:latin typeface="Cambria Math" panose="02040503050406030204" pitchFamily="18" charset="0"/>
                      </a:rPr>
                      <m:t>𝜆</m:t>
                    </m:r>
                  </m:oMath>
                </a14:m>
                <a:r>
                  <a:rPr lang="zh-CN" altLang="zh-CN" sz="2400" dirty="0">
                    <a:effectLst/>
                    <a:latin typeface="+mn-ea"/>
                  </a:rPr>
                  <a:t>为参数。</a:t>
                </a:r>
              </a:p>
            </p:txBody>
          </p:sp>
        </mc:Choice>
        <mc:Fallback xmlns="">
          <p:sp>
            <p:nvSpPr>
              <p:cNvPr id="5" name="文本框 4">
                <a:extLst>
                  <a:ext uri="{FF2B5EF4-FFF2-40B4-BE49-F238E27FC236}">
                    <a16:creationId xmlns:a16="http://schemas.microsoft.com/office/drawing/2014/main" id="{5660281C-BDBC-B01E-5F92-9030EEF4CBAE}"/>
                  </a:ext>
                </a:extLst>
              </p:cNvPr>
              <p:cNvSpPr txBox="1">
                <a:spLocks noRot="1" noChangeAspect="1" noMove="1" noResize="1" noEditPoints="1" noAdjustHandles="1" noChangeArrowheads="1" noChangeShapeType="1" noTextEdit="1"/>
              </p:cNvSpPr>
              <p:nvPr/>
            </p:nvSpPr>
            <p:spPr>
              <a:xfrm>
                <a:off x="641024" y="1890256"/>
                <a:ext cx="9954704" cy="2335319"/>
              </a:xfrm>
              <a:prstGeom prst="rect">
                <a:avLst/>
              </a:prstGeom>
              <a:blipFill>
                <a:blip r:embed="rId2"/>
                <a:stretch>
                  <a:fillRect r="-4042" b="-52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5F228708-689E-9EEC-1A78-F91975F94350}"/>
                  </a:ext>
                </a:extLst>
              </p:cNvPr>
              <p:cNvSpPr txBox="1"/>
              <p:nvPr/>
            </p:nvSpPr>
            <p:spPr>
              <a:xfrm>
                <a:off x="1451727" y="4814443"/>
                <a:ext cx="9511646" cy="461665"/>
              </a:xfrm>
              <a:prstGeom prst="rect">
                <a:avLst/>
              </a:prstGeom>
              <a:noFill/>
            </p:spPr>
            <p:txBody>
              <a:bodyPr wrap="square">
                <a:spAutoFit/>
              </a:bodyPr>
              <a:lstStyle/>
              <a:p>
                <a:r>
                  <a:rPr lang="zh-CN" altLang="zh-CN" sz="2400" dirty="0">
                    <a:effectLst/>
                    <a:ea typeface="宋体" panose="02010600030101010101" pitchFamily="2" charset="-122"/>
                    <a:cs typeface="Times New Roman" panose="02020603050405020304" pitchFamily="18" charset="0"/>
                  </a:rPr>
                  <a:t>参数线性规划研究</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oMath>
                </a14:m>
                <a:r>
                  <a:rPr lang="zh-CN" altLang="zh-CN" sz="2400" dirty="0">
                    <a:effectLst/>
                    <a:ea typeface="宋体" panose="02010600030101010101" pitchFamily="2" charset="-122"/>
                    <a:cs typeface="Times New Roman" panose="02020603050405020304" pitchFamily="18" charset="0"/>
                  </a:rPr>
                  <a:t>变化时最优解的变化情况。</a:t>
                </a:r>
                <a:endParaRPr lang="zh-CN" altLang="en-US" sz="2400" dirty="0"/>
              </a:p>
            </p:txBody>
          </p:sp>
        </mc:Choice>
        <mc:Fallback>
          <p:sp>
            <p:nvSpPr>
              <p:cNvPr id="7" name="文本框 6">
                <a:extLst>
                  <a:ext uri="{FF2B5EF4-FFF2-40B4-BE49-F238E27FC236}">
                    <a16:creationId xmlns:a16="http://schemas.microsoft.com/office/drawing/2014/main" id="{5F228708-689E-9EEC-1A78-F91975F94350}"/>
                  </a:ext>
                </a:extLst>
              </p:cNvPr>
              <p:cNvSpPr txBox="1">
                <a:spLocks noRot="1" noChangeAspect="1" noMove="1" noResize="1" noEditPoints="1" noAdjustHandles="1" noChangeArrowheads="1" noChangeShapeType="1" noTextEdit="1"/>
              </p:cNvSpPr>
              <p:nvPr/>
            </p:nvSpPr>
            <p:spPr>
              <a:xfrm>
                <a:off x="1451727" y="4814443"/>
                <a:ext cx="9511646" cy="461665"/>
              </a:xfrm>
              <a:prstGeom prst="rect">
                <a:avLst/>
              </a:prstGeom>
              <a:blipFill>
                <a:blip r:embed="rId3"/>
                <a:stretch>
                  <a:fillRect l="-962" t="-15789" b="-23684"/>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6148C38-F998-FEBA-FCFD-A8DFA7134F80}"/>
                  </a:ext>
                </a:extLst>
              </p:cNvPr>
              <p:cNvSpPr txBox="1"/>
              <p:nvPr/>
            </p:nvSpPr>
            <p:spPr>
              <a:xfrm>
                <a:off x="426563" y="1295797"/>
                <a:ext cx="11300381" cy="2792239"/>
              </a:xfrm>
              <a:prstGeom prst="rect">
                <a:avLst/>
              </a:prstGeom>
              <a:noFill/>
            </p:spPr>
            <p:txBody>
              <a:bodyPr wrap="square">
                <a:spAutoFit/>
              </a:bodyPr>
              <a:lstStyle/>
              <a:p>
                <a:pPr indent="304800" algn="just">
                  <a:lnSpc>
                    <a:spcPct val="150000"/>
                  </a:lnSpc>
                </a:pPr>
                <a:r>
                  <a:rPr lang="zh-CN" altLang="zh-CN" sz="2400" dirty="0">
                    <a:effectLst/>
                    <a:latin typeface="Times New Roman" panose="02020603050405020304" pitchFamily="18" charset="0"/>
                    <a:ea typeface="宋体" panose="02010600030101010101" pitchFamily="2" charset="-122"/>
                  </a:rPr>
                  <a:t>参数线性规划问题分析的步骤是：</a:t>
                </a:r>
              </a:p>
              <a:p>
                <a:pPr marL="800100" lvl="1" indent="-342900" algn="just">
                  <a:lnSpc>
                    <a:spcPct val="150000"/>
                  </a:lnSpc>
                  <a:buFont typeface="+mj-lt"/>
                  <a:buAutoNum type="arabicPeriod"/>
                  <a:tabLst>
                    <a:tab pos="457200" algn="l"/>
                  </a:tabLst>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令</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，用单纯形法或对偶单纯形法求解，得到最终单纯形表；</a:t>
                </a:r>
                <a:endParaRPr lang="zh-CN" altLang="zh-C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457200" algn="l"/>
                  </a:tabLst>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将</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𝑐</m:t>
                        </m:r>
                      </m:e>
                      <m:sup>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或</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sSup>
                      <m:sSup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项反映到最终单纯形表中去；</a:t>
                </a:r>
                <a:endParaRPr lang="zh-CN" altLang="zh-C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457200" algn="l"/>
                  </a:tabLst>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随</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oMath>
                </a14:m>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值的增大或减小，观察原问题或对偶问题；</a:t>
                </a:r>
                <a:endParaRPr lang="zh-CN" altLang="zh-C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457200" algn="l"/>
                  </a:tabLst>
                </a:pP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重复第</a:t>
                </a:r>
                <a:r>
                  <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步</a:t>
                </a:r>
                <a:r>
                  <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一直到</a:t>
                </a:r>
                <a14:m>
                  <m:oMath xmlns:m="http://schemas.openxmlformats.org/officeDocument/2006/math">
                    <m:r>
                      <a:rPr lang="en-US" altLang="zh-CN" sz="2400" i="1">
                        <a:effectLst/>
                        <a:latin typeface="Cambria Math" panose="02040503050406030204" pitchFamily="18" charset="0"/>
                        <a:ea typeface="Times New Roman" panose="02020603050405020304" pitchFamily="18" charset="0"/>
                        <a:cs typeface="Times New Roman" panose="02020603050405020304" pitchFamily="18" charset="0"/>
                      </a:rPr>
                      <m:t>𝜆</m:t>
                    </m:r>
                  </m:oMath>
                </a14:m>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值继续增大或减小时，表中的解</a:t>
                </a:r>
                <a:r>
                  <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基</a:t>
                </a:r>
                <a:r>
                  <a:rPr lang="en-US" altLang="zh-CN" sz="24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effectLst/>
                    <a:latin typeface="Times New Roman" panose="02020603050405020304" pitchFamily="18" charset="0"/>
                    <a:ea typeface="宋体" panose="02010600030101010101" pitchFamily="2" charset="-122"/>
                    <a:cs typeface="Times New Roman" panose="02020603050405020304" pitchFamily="18" charset="0"/>
                  </a:rPr>
                  <a:t>不再出现变化时为止。</a:t>
                </a:r>
                <a:endParaRPr lang="zh-CN" altLang="zh-C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36148C38-F998-FEBA-FCFD-A8DFA7134F80}"/>
                  </a:ext>
                </a:extLst>
              </p:cNvPr>
              <p:cNvSpPr txBox="1">
                <a:spLocks noRot="1" noChangeAspect="1" noMove="1" noResize="1" noEditPoints="1" noAdjustHandles="1" noChangeArrowheads="1" noChangeShapeType="1" noTextEdit="1"/>
              </p:cNvSpPr>
              <p:nvPr/>
            </p:nvSpPr>
            <p:spPr>
              <a:xfrm>
                <a:off x="426563" y="1295797"/>
                <a:ext cx="11300381" cy="2792239"/>
              </a:xfrm>
              <a:prstGeom prst="rect">
                <a:avLst/>
              </a:prstGeom>
              <a:blipFill>
                <a:blip r:embed="rId2"/>
                <a:stretch>
                  <a:fillRect r="-3506" b="-43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8147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CE47A0A-5091-48AD-CBC7-010E7AC38DE6}"/>
                  </a:ext>
                </a:extLst>
              </p:cNvPr>
              <p:cNvSpPr txBox="1"/>
              <p:nvPr/>
            </p:nvSpPr>
            <p:spPr>
              <a:xfrm>
                <a:off x="377057" y="160256"/>
                <a:ext cx="9945294" cy="1277273"/>
              </a:xfrm>
              <a:prstGeom prst="rect">
                <a:avLst/>
              </a:prstGeom>
              <a:noFill/>
            </p:spPr>
            <p:txBody>
              <a:bodyPr wrap="square">
                <a:spAutoFit/>
              </a:bodyPr>
              <a:lstStyle/>
              <a:p>
                <a:pPr indent="304800">
                  <a:lnSpc>
                    <a:spcPct val="150000"/>
                  </a:lnSpc>
                  <a:spcBef>
                    <a:spcPts val="600"/>
                  </a:spcBef>
                  <a:spcAft>
                    <a:spcPts val="600"/>
                  </a:spcAft>
                </a:pPr>
                <a:r>
                  <a:rPr lang="zh-CN" altLang="zh-CN" sz="2400" dirty="0">
                    <a:effectLst/>
                    <a:latin typeface="+mn-ea"/>
                  </a:rPr>
                  <a:t>例 分析</a:t>
                </a:r>
                <a14:m>
                  <m:oMath xmlns:m="http://schemas.openxmlformats.org/officeDocument/2006/math">
                    <m:r>
                      <a:rPr lang="en-US" altLang="zh-CN" sz="2400" b="0" i="1">
                        <a:effectLst/>
                        <a:latin typeface="Cambria Math" panose="02040503050406030204" pitchFamily="18" charset="0"/>
                      </a:rPr>
                      <m:t>𝜆</m:t>
                    </m:r>
                  </m:oMath>
                </a14:m>
                <a:r>
                  <a:rPr lang="zh-CN" altLang="zh-CN" sz="2400" dirty="0">
                    <a:effectLst/>
                    <a:latin typeface="+mn-ea"/>
                  </a:rPr>
                  <a:t>值变化时，下列参数线性规划问题最优解的变化：</a:t>
                </a:r>
              </a:p>
              <a:p>
                <a:pPr indent="304800" algn="just">
                  <a:lnSpc>
                    <a:spcPct val="150000"/>
                  </a:lnSpc>
                </a:pPr>
                <a14:m>
                  <m:oMathPara xmlns:m="http://schemas.openxmlformats.org/officeDocument/2006/math">
                    <m:oMathParaPr>
                      <m:jc m:val="centerGroup"/>
                    </m:oMathParaPr>
                    <m:oMath xmlns:m="http://schemas.openxmlformats.org/officeDocument/2006/math">
                      <m:func>
                        <m:funcPr>
                          <m:ctrlPr>
                            <a:rPr lang="zh-CN" altLang="zh-CN" sz="2400" i="1">
                              <a:effectLst/>
                              <a:latin typeface="Cambria Math" panose="02040503050406030204" pitchFamily="18" charset="0"/>
                            </a:rPr>
                          </m:ctrlPr>
                        </m:funcPr>
                        <m:fName>
                          <m:r>
                            <a:rPr lang="en-US" altLang="zh-CN" sz="2400" b="0" i="1">
                              <a:effectLst/>
                              <a:latin typeface="Cambria Math" panose="02040503050406030204" pitchFamily="18" charset="0"/>
                            </a:rPr>
                            <m:t>𝑚𝑖𝑛</m:t>
                          </m:r>
                        </m:fName>
                        <m:e>
                          <m:r>
                            <a:rPr lang="en-US" altLang="zh-CN" sz="2400" b="0" i="1">
                              <a:effectLst/>
                              <a:latin typeface="Cambria Math" panose="02040503050406030204" pitchFamily="18" charset="0"/>
                            </a:rPr>
                            <m:t>𝑧</m:t>
                          </m:r>
                          <m:r>
                            <a:rPr lang="en-US" altLang="zh-CN" sz="2400" b="0" i="1">
                              <a:effectLst/>
                              <a:latin typeface="Cambria Math" panose="02040503050406030204" pitchFamily="18" charset="0"/>
                            </a:rPr>
                            <m:t>=</m:t>
                          </m:r>
                          <m:d>
                            <m:dPr>
                              <m:ctrlPr>
                                <a:rPr lang="zh-CN" altLang="zh-CN" sz="2400" i="1">
                                  <a:effectLst/>
                                  <a:latin typeface="Cambria Math" panose="02040503050406030204" pitchFamily="18" charset="0"/>
                                </a:rPr>
                              </m:ctrlPr>
                            </m:dPr>
                            <m:e>
                              <m:r>
                                <a:rPr lang="en-US" altLang="zh-CN" sz="2400" b="0" i="1">
                                  <a:effectLst/>
                                  <a:latin typeface="Cambria Math" panose="02040503050406030204" pitchFamily="18" charset="0"/>
                                </a:rPr>
                                <m:t>3−</m:t>
                              </m:r>
                              <m:r>
                                <a:rPr lang="en-US" altLang="zh-CN" sz="2400" b="0" i="1">
                                  <a:effectLst/>
                                  <a:latin typeface="Cambria Math" panose="02040503050406030204" pitchFamily="18" charset="0"/>
                                </a:rPr>
                                <m:t>𝜆</m:t>
                              </m:r>
                            </m:e>
                          </m:d>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1</m:t>
                              </m:r>
                            </m:sub>
                          </m:sSub>
                          <m:r>
                            <a:rPr lang="en-US" altLang="zh-CN" sz="2400" b="0" i="1">
                              <a:effectLst/>
                              <a:latin typeface="Cambria Math" panose="02040503050406030204" pitchFamily="18" charset="0"/>
                            </a:rPr>
                            <m:t>−(2+</m:t>
                          </m:r>
                          <m:r>
                            <a:rPr lang="en-US" altLang="zh-CN" sz="2400" b="0" i="1">
                              <a:effectLst/>
                              <a:latin typeface="Cambria Math" panose="02040503050406030204" pitchFamily="18" charset="0"/>
                            </a:rPr>
                            <m:t>𝜆</m:t>
                          </m:r>
                          <m:r>
                            <a:rPr lang="en-US" altLang="zh-CN" sz="2400" b="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2</m:t>
                              </m:r>
                            </m:sub>
                          </m:sSub>
                        </m:e>
                      </m:func>
                    </m:oMath>
                  </m:oMathPara>
                </a14:m>
                <a:endParaRPr lang="zh-CN" altLang="zh-CN" sz="2400" dirty="0">
                  <a:effectLst/>
                  <a:latin typeface="+mn-ea"/>
                </a:endParaRPr>
              </a:p>
            </p:txBody>
          </p:sp>
        </mc:Choice>
        <mc:Fallback xmlns="">
          <p:sp>
            <p:nvSpPr>
              <p:cNvPr id="3" name="文本框 2">
                <a:extLst>
                  <a:ext uri="{FF2B5EF4-FFF2-40B4-BE49-F238E27FC236}">
                    <a16:creationId xmlns:a16="http://schemas.microsoft.com/office/drawing/2014/main" id="{DCE47A0A-5091-48AD-CBC7-010E7AC38DE6}"/>
                  </a:ext>
                </a:extLst>
              </p:cNvPr>
              <p:cNvSpPr txBox="1">
                <a:spLocks noRot="1" noChangeAspect="1" noMove="1" noResize="1" noEditPoints="1" noAdjustHandles="1" noChangeArrowheads="1" noChangeShapeType="1" noTextEdit="1"/>
              </p:cNvSpPr>
              <p:nvPr/>
            </p:nvSpPr>
            <p:spPr>
              <a:xfrm>
                <a:off x="377057" y="160256"/>
                <a:ext cx="9945294" cy="127727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6896E23-0A78-EE77-72BC-4FC5F857E53E}"/>
                  </a:ext>
                </a:extLst>
              </p:cNvPr>
              <p:cNvSpPr txBox="1"/>
              <p:nvPr/>
            </p:nvSpPr>
            <p:spPr>
              <a:xfrm>
                <a:off x="443045" y="0"/>
                <a:ext cx="9945294" cy="3793987"/>
              </a:xfrm>
              <a:prstGeom prst="rect">
                <a:avLst/>
              </a:prstGeom>
              <a:noFill/>
            </p:spPr>
            <p:txBody>
              <a:bodyPr wrap="square">
                <a:spAutoFit/>
              </a:bodyPr>
              <a:lstStyle/>
              <a:p>
                <a:pPr indent="304800">
                  <a:lnSpc>
                    <a:spcPct val="150000"/>
                  </a:lnSpc>
                  <a:spcBef>
                    <a:spcPts val="600"/>
                  </a:spcBef>
                  <a:spcAft>
                    <a:spcPts val="600"/>
                  </a:spcAft>
                </a:pPr>
                <a:endParaRPr lang="zh-CN" altLang="zh-CN" sz="2400" dirty="0">
                  <a:effectLst/>
                  <a:latin typeface="+mn-ea"/>
                </a:endParaRPr>
              </a:p>
              <a:p>
                <a:pPr indent="304800" algn="just">
                  <a:lnSpc>
                    <a:spcPct val="150000"/>
                  </a:lnSpc>
                </a:pPr>
                <a14:m>
                  <m:oMathPara xmlns:m="http://schemas.openxmlformats.org/officeDocument/2006/math">
                    <m:oMathParaPr>
                      <m:jc m:val="centerGroup"/>
                    </m:oMathParaPr>
                    <m:oMath xmlns:m="http://schemas.openxmlformats.org/officeDocument/2006/math">
                      <m:r>
                        <a:rPr lang="en-US" altLang="zh-CN" sz="2400" b="0" i="1">
                          <a:effectLst/>
                          <a:latin typeface="Cambria Math" panose="02040503050406030204" pitchFamily="18" charset="0"/>
                        </a:rPr>
                        <m:t>𝑠</m:t>
                      </m:r>
                      <m:r>
                        <a:rPr lang="en-US" altLang="zh-CN" sz="2400" b="0" i="1">
                          <a:effectLst/>
                          <a:latin typeface="Cambria Math" panose="02040503050406030204" pitchFamily="18" charset="0"/>
                        </a:rPr>
                        <m:t>.</m:t>
                      </m:r>
                      <m:r>
                        <a:rPr lang="en-US" altLang="zh-CN" sz="2400" b="0" i="1">
                          <a:effectLst/>
                          <a:latin typeface="Cambria Math" panose="02040503050406030204" pitchFamily="18" charset="0"/>
                        </a:rPr>
                        <m:t>𝑡</m:t>
                      </m:r>
                      <m:r>
                        <a:rPr lang="en-US" altLang="zh-CN" sz="2400" b="0" i="1">
                          <a:effectLst/>
                          <a:latin typeface="Cambria Math" panose="02040503050406030204" pitchFamily="18" charset="0"/>
                        </a:rPr>
                        <m:t>.</m:t>
                      </m:r>
                      <m:d>
                        <m:dPr>
                          <m:begChr m:val="{"/>
                          <m:endChr m:val=""/>
                          <m:ctrlPr>
                            <a:rPr lang="zh-CN" altLang="zh-CN" sz="2400" i="1">
                              <a:effectLst/>
                              <a:latin typeface="Cambria Math" panose="02040503050406030204" pitchFamily="18" charset="0"/>
                            </a:rPr>
                          </m:ctrlPr>
                        </m:dPr>
                        <m:e>
                          <m:r>
                            <a:rPr lang="en-US" altLang="zh-CN" sz="2400" b="0" i="1">
                              <a:effectLst/>
                              <a:latin typeface="Cambria Math" panose="02040503050406030204" pitchFamily="18" charset="0"/>
                            </a:rPr>
                            <m:t> </m:t>
                          </m:r>
                          <m:eqArr>
                            <m:eqArrPr>
                              <m:ctrlPr>
                                <a:rPr lang="zh-CN" altLang="zh-CN" sz="2400" i="1">
                                  <a:effectLst/>
                                  <a:latin typeface="Cambria Math" panose="02040503050406030204" pitchFamily="18" charset="0"/>
                                </a:rPr>
                              </m:ctrlPr>
                            </m:eqArrPr>
                            <m:e>
                              <m:r>
                                <a:rPr lang="en-US" altLang="zh-CN" sz="2400" b="0" i="1">
                                  <a:effectLst/>
                                  <a:latin typeface="Cambria Math" panose="02040503050406030204" pitchFamily="18" charset="0"/>
                                </a:rPr>
                                <m:t>2</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1</m:t>
                                  </m:r>
                                </m:sub>
                              </m:sSub>
                              <m:r>
                                <a:rPr lang="en-US" altLang="zh-CN" sz="2400" b="0" i="1">
                                  <a:effectLst/>
                                  <a:latin typeface="Cambria Math" panose="02040503050406030204" pitchFamily="18" charset="0"/>
                                </a:rPr>
                                <m:t>+5</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2</m:t>
                                  </m:r>
                                </m:sub>
                              </m:sSub>
                              <m:r>
                                <a:rPr lang="en-US" altLang="zh-CN" sz="2400" b="0" i="1">
                                  <a:effectLst/>
                                  <a:latin typeface="Cambria Math" panose="02040503050406030204" pitchFamily="18" charset="0"/>
                                </a:rPr>
                                <m:t>≤10</m:t>
                              </m:r>
                            </m:e>
                            <m:e>
                              <m:r>
                                <a:rPr lang="en-US" altLang="zh-CN" sz="2400" b="0" i="1">
                                  <a:effectLst/>
                                  <a:latin typeface="Cambria Math" panose="02040503050406030204" pitchFamily="18" charset="0"/>
                                </a:rPr>
                                <m:t>        </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 6</m:t>
                                  </m:r>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1</m:t>
                                  </m:r>
                                </m:sub>
                              </m:sSub>
                              <m:r>
                                <a:rPr lang="en-US" altLang="zh-CN" sz="2400" b="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2</m:t>
                                  </m:r>
                                </m:sub>
                              </m:sSub>
                              <m:r>
                                <a:rPr lang="en-US" altLang="zh-CN" sz="2400" b="0" i="1">
                                  <a:effectLst/>
                                  <a:latin typeface="Cambria Math" panose="02040503050406030204" pitchFamily="18" charset="0"/>
                                </a:rPr>
                                <m:t>≤12</m:t>
                              </m:r>
                            </m:e>
                            <m:e>
                              <m:r>
                                <a:rPr lang="en-US" altLang="zh-CN" sz="2400" b="0" i="1">
                                  <a:effectLst/>
                                  <a:latin typeface="Cambria Math" panose="02040503050406030204" pitchFamily="18" charset="0"/>
                                </a:rPr>
                                <m:t>             </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1</m:t>
                                  </m:r>
                                </m:sub>
                              </m:sSub>
                              <m:r>
                                <a:rPr lang="en-US" altLang="zh-CN" sz="2400" b="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2</m:t>
                                  </m:r>
                                </m:sub>
                              </m:sSub>
                              <m:r>
                                <a:rPr lang="en-US" altLang="zh-CN" sz="2400" b="0" i="1">
                                  <a:effectLst/>
                                  <a:latin typeface="Cambria Math" panose="02040503050406030204" pitchFamily="18" charset="0"/>
                                </a:rPr>
                                <m:t>≤1</m:t>
                              </m:r>
                            </m:e>
                            <m:e>
                              <m:sSub>
                                <m:sSubPr>
                                  <m:ctrlPr>
                                    <a:rPr lang="zh-CN" altLang="zh-CN" sz="2400" i="1">
                                      <a:effectLst/>
                                      <a:latin typeface="Cambria Math" panose="02040503050406030204" pitchFamily="18" charset="0"/>
                                    </a:rPr>
                                  </m:ctrlPr>
                                </m:sSubPr>
                                <m:e>
                                  <m:r>
                                    <a:rPr lang="en-US" altLang="zh-CN" sz="2400" b="0" i="1">
                                      <a:effectLst/>
                                      <a:latin typeface="Cambria Math" panose="02040503050406030204" pitchFamily="18" charset="0"/>
                                    </a:rPr>
                                    <m:t>𝑥</m:t>
                                  </m:r>
                                </m:e>
                                <m:sub>
                                  <m:r>
                                    <a:rPr lang="en-US" altLang="zh-CN" sz="2400" b="0" i="1">
                                      <a:effectLst/>
                                      <a:latin typeface="Cambria Math" panose="02040503050406030204" pitchFamily="18" charset="0"/>
                                    </a:rPr>
                                    <m:t>𝑗</m:t>
                                  </m:r>
                                </m:sub>
                              </m:sSub>
                              <m:r>
                                <a:rPr lang="en-US" altLang="zh-CN" sz="2400" b="0" i="1">
                                  <a:effectLst/>
                                  <a:latin typeface="Cambria Math" panose="02040503050406030204" pitchFamily="18" charset="0"/>
                                </a:rPr>
                                <m:t>≥0,</m:t>
                              </m:r>
                              <m:r>
                                <a:rPr lang="en-US" altLang="zh-CN" sz="2400" b="0" i="1">
                                  <a:effectLst/>
                                  <a:latin typeface="Cambria Math" panose="02040503050406030204" pitchFamily="18" charset="0"/>
                                </a:rPr>
                                <m:t>𝑗</m:t>
                              </m:r>
                              <m:r>
                                <a:rPr lang="en-US" altLang="zh-CN" sz="2400" b="0" i="1">
                                  <a:effectLst/>
                                  <a:latin typeface="Cambria Math" panose="02040503050406030204" pitchFamily="18" charset="0"/>
                                </a:rPr>
                                <m:t>=1,2</m:t>
                              </m:r>
                            </m:e>
                          </m:eqArr>
                        </m:e>
                      </m:d>
                    </m:oMath>
                  </m:oMathPara>
                </a14:m>
                <a:endParaRPr lang="zh-CN" altLang="zh-CN" sz="2400" dirty="0">
                  <a:effectLst/>
                  <a:latin typeface="+mn-ea"/>
                </a:endParaRPr>
              </a:p>
              <a:p>
                <a:pPr indent="304800">
                  <a:lnSpc>
                    <a:spcPct val="150000"/>
                  </a:lnSpc>
                  <a:spcBef>
                    <a:spcPts val="600"/>
                  </a:spcBef>
                  <a:spcAft>
                    <a:spcPts val="600"/>
                  </a:spcAft>
                </a:pPr>
                <a:r>
                  <a:rPr lang="en-US" altLang="zh-CN" sz="2400" dirty="0">
                    <a:effectLst/>
                    <a:latin typeface="+mn-ea"/>
                  </a:rPr>
                  <a:t> </a:t>
                </a:r>
                <a:r>
                  <a:rPr lang="zh-CN" altLang="zh-CN" sz="2400" dirty="0">
                    <a:effectLst/>
                    <a:latin typeface="+mn-ea"/>
                  </a:rPr>
                  <a:t>解 先令</a:t>
                </a:r>
                <a14:m>
                  <m:oMath xmlns:m="http://schemas.openxmlformats.org/officeDocument/2006/math">
                    <m:r>
                      <a:rPr lang="en-US" altLang="zh-CN" sz="2400" b="0" i="1">
                        <a:effectLst/>
                        <a:latin typeface="Cambria Math" panose="02040503050406030204" pitchFamily="18" charset="0"/>
                      </a:rPr>
                      <m:t>𝜆</m:t>
                    </m:r>
                    <m:r>
                      <a:rPr lang="en-US" altLang="zh-CN" sz="2400" b="0" i="1">
                        <a:effectLst/>
                        <a:latin typeface="Cambria Math" panose="02040503050406030204" pitchFamily="18" charset="0"/>
                      </a:rPr>
                      <m:t>=0</m:t>
                    </m:r>
                  </m:oMath>
                </a14:m>
                <a:r>
                  <a:rPr lang="zh-CN" altLang="zh-CN" sz="2400" dirty="0">
                    <a:effectLst/>
                    <a:latin typeface="+mn-ea"/>
                    <a:cs typeface="宋体" panose="02010600030101010101" pitchFamily="2" charset="-122"/>
                  </a:rPr>
                  <a:t>求得最优解</a:t>
                </a:r>
                <a:r>
                  <a:rPr lang="zh-CN" altLang="zh-CN" sz="2400" dirty="0">
                    <a:effectLst/>
                    <a:latin typeface="+mn-ea"/>
                  </a:rPr>
                  <a:t>。</a:t>
                </a:r>
              </a:p>
            </p:txBody>
          </p:sp>
        </mc:Choice>
        <mc:Fallback xmlns="">
          <p:sp>
            <p:nvSpPr>
              <p:cNvPr id="4" name="文本框 3">
                <a:extLst>
                  <a:ext uri="{FF2B5EF4-FFF2-40B4-BE49-F238E27FC236}">
                    <a16:creationId xmlns:a16="http://schemas.microsoft.com/office/drawing/2014/main" id="{E6896E23-0A78-EE77-72BC-4FC5F857E53E}"/>
                  </a:ext>
                </a:extLst>
              </p:cNvPr>
              <p:cNvSpPr txBox="1">
                <a:spLocks noRot="1" noChangeAspect="1" noMove="1" noResize="1" noEditPoints="1" noAdjustHandles="1" noChangeArrowheads="1" noChangeShapeType="1" noTextEdit="1"/>
              </p:cNvSpPr>
              <p:nvPr/>
            </p:nvSpPr>
            <p:spPr>
              <a:xfrm>
                <a:off x="443045" y="0"/>
                <a:ext cx="9945294" cy="3793987"/>
              </a:xfrm>
              <a:prstGeom prst="rect">
                <a:avLst/>
              </a:prstGeom>
              <a:blipFill>
                <a:blip r:embed="rId3"/>
                <a:stretch>
                  <a:fillRect b="-28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8">
                <a:extLst>
                  <a:ext uri="{FF2B5EF4-FFF2-40B4-BE49-F238E27FC236}">
                    <a16:creationId xmlns:a16="http://schemas.microsoft.com/office/drawing/2014/main" id="{C7C3112C-7955-787A-5F63-F2EA80DE3A1B}"/>
                  </a:ext>
                </a:extLst>
              </p:cNvPr>
              <p:cNvGraphicFramePr>
                <a:graphicFrameLocks noGrp="1"/>
              </p:cNvGraphicFramePr>
              <p:nvPr/>
            </p:nvGraphicFramePr>
            <p:xfrm>
              <a:off x="6096000" y="3307214"/>
              <a:ext cx="4892719" cy="3330004"/>
            </p:xfrm>
            <a:graphic>
              <a:graphicData uri="http://schemas.openxmlformats.org/drawingml/2006/table">
                <a:tbl>
                  <a:tblPr firstRow="1" firstCol="1" bandRow="1"/>
                  <a:tblGrid>
                    <a:gridCol w="612493">
                      <a:extLst>
                        <a:ext uri="{9D8B030D-6E8A-4147-A177-3AD203B41FA5}">
                          <a16:colId xmlns:a16="http://schemas.microsoft.com/office/drawing/2014/main" val="2673772826"/>
                        </a:ext>
                      </a:extLst>
                    </a:gridCol>
                    <a:gridCol w="612493">
                      <a:extLst>
                        <a:ext uri="{9D8B030D-6E8A-4147-A177-3AD203B41FA5}">
                          <a16:colId xmlns:a16="http://schemas.microsoft.com/office/drawing/2014/main" val="2617236624"/>
                        </a:ext>
                      </a:extLst>
                    </a:gridCol>
                    <a:gridCol w="470902">
                      <a:extLst>
                        <a:ext uri="{9D8B030D-6E8A-4147-A177-3AD203B41FA5}">
                          <a16:colId xmlns:a16="http://schemas.microsoft.com/office/drawing/2014/main" val="4150211959"/>
                        </a:ext>
                      </a:extLst>
                    </a:gridCol>
                    <a:gridCol w="632069">
                      <a:extLst>
                        <a:ext uri="{9D8B030D-6E8A-4147-A177-3AD203B41FA5}">
                          <a16:colId xmlns:a16="http://schemas.microsoft.com/office/drawing/2014/main" val="3570847064"/>
                        </a:ext>
                      </a:extLst>
                    </a:gridCol>
                    <a:gridCol w="791903">
                      <a:extLst>
                        <a:ext uri="{9D8B030D-6E8A-4147-A177-3AD203B41FA5}">
                          <a16:colId xmlns:a16="http://schemas.microsoft.com/office/drawing/2014/main" val="956899930"/>
                        </a:ext>
                      </a:extLst>
                    </a:gridCol>
                    <a:gridCol w="550499">
                      <a:extLst>
                        <a:ext uri="{9D8B030D-6E8A-4147-A177-3AD203B41FA5}">
                          <a16:colId xmlns:a16="http://schemas.microsoft.com/office/drawing/2014/main" val="2151239723"/>
                        </a:ext>
                      </a:extLst>
                    </a:gridCol>
                    <a:gridCol w="611180">
                      <a:extLst>
                        <a:ext uri="{9D8B030D-6E8A-4147-A177-3AD203B41FA5}">
                          <a16:colId xmlns:a16="http://schemas.microsoft.com/office/drawing/2014/main" val="834012947"/>
                        </a:ext>
                      </a:extLst>
                    </a:gridCol>
                    <a:gridCol w="611180">
                      <a:extLst>
                        <a:ext uri="{9D8B030D-6E8A-4147-A177-3AD203B41FA5}">
                          <a16:colId xmlns:a16="http://schemas.microsoft.com/office/drawing/2014/main" val="3963573122"/>
                        </a:ext>
                      </a:extLst>
                    </a:gridCol>
                  </a:tblGrid>
                  <a:tr h="472424">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3</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450596">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442358">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1800" kern="1200" dirty="0">
                              <a:solidFill>
                                <a:srgbClr val="FF0000"/>
                              </a:solidFill>
                              <a:effectLst/>
                              <a:latin typeface="SimSun" panose="02010600030101010101" pitchFamily="2" charset="-122"/>
                              <a:ea typeface="Times New Roman" panose="02020603050405020304" pitchFamily="18" charset="0"/>
                              <a:cs typeface="+mn-cs"/>
                            </a:rPr>
                            <a:t>-2</a:t>
                          </a:r>
                          <a:endParaRPr lang="en-CN" altLang="zh-CN" sz="1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442358">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4</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28</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442358">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3</m:t>
                                </m:r>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7</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751019">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19</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2</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6" name="Table 8">
                <a:extLst>
                  <a:ext uri="{FF2B5EF4-FFF2-40B4-BE49-F238E27FC236}">
                    <a16:creationId xmlns:a16="http://schemas.microsoft.com/office/drawing/2014/main" id="{C7C3112C-7955-787A-5F63-F2EA80DE3A1B}"/>
                  </a:ext>
                </a:extLst>
              </p:cNvPr>
              <p:cNvGraphicFramePr>
                <a:graphicFrameLocks noGrp="1"/>
              </p:cNvGraphicFramePr>
              <p:nvPr>
                <p:extLst>
                  <p:ext uri="{D42A27DB-BD31-4B8C-83A1-F6EECF244321}">
                    <p14:modId xmlns:p14="http://schemas.microsoft.com/office/powerpoint/2010/main" val="1328136860"/>
                  </p:ext>
                </p:extLst>
              </p:nvPr>
            </p:nvGraphicFramePr>
            <p:xfrm>
              <a:off x="6096000" y="3307214"/>
              <a:ext cx="4892719" cy="3330004"/>
            </p:xfrm>
            <a:graphic>
              <a:graphicData uri="http://schemas.openxmlformats.org/drawingml/2006/table">
                <a:tbl>
                  <a:tblPr firstRow="1" firstCol="1" bandRow="1"/>
                  <a:tblGrid>
                    <a:gridCol w="612493">
                      <a:extLst>
                        <a:ext uri="{9D8B030D-6E8A-4147-A177-3AD203B41FA5}">
                          <a16:colId xmlns:a16="http://schemas.microsoft.com/office/drawing/2014/main" val="2673772826"/>
                        </a:ext>
                      </a:extLst>
                    </a:gridCol>
                    <a:gridCol w="612493">
                      <a:extLst>
                        <a:ext uri="{9D8B030D-6E8A-4147-A177-3AD203B41FA5}">
                          <a16:colId xmlns:a16="http://schemas.microsoft.com/office/drawing/2014/main" val="2617236624"/>
                        </a:ext>
                      </a:extLst>
                    </a:gridCol>
                    <a:gridCol w="470902">
                      <a:extLst>
                        <a:ext uri="{9D8B030D-6E8A-4147-A177-3AD203B41FA5}">
                          <a16:colId xmlns:a16="http://schemas.microsoft.com/office/drawing/2014/main" val="4150211959"/>
                        </a:ext>
                      </a:extLst>
                    </a:gridCol>
                    <a:gridCol w="632069">
                      <a:extLst>
                        <a:ext uri="{9D8B030D-6E8A-4147-A177-3AD203B41FA5}">
                          <a16:colId xmlns:a16="http://schemas.microsoft.com/office/drawing/2014/main" val="3570847064"/>
                        </a:ext>
                      </a:extLst>
                    </a:gridCol>
                    <a:gridCol w="791903">
                      <a:extLst>
                        <a:ext uri="{9D8B030D-6E8A-4147-A177-3AD203B41FA5}">
                          <a16:colId xmlns:a16="http://schemas.microsoft.com/office/drawing/2014/main" val="956899930"/>
                        </a:ext>
                      </a:extLst>
                    </a:gridCol>
                    <a:gridCol w="550499">
                      <a:extLst>
                        <a:ext uri="{9D8B030D-6E8A-4147-A177-3AD203B41FA5}">
                          <a16:colId xmlns:a16="http://schemas.microsoft.com/office/drawing/2014/main" val="2151239723"/>
                        </a:ext>
                      </a:extLst>
                    </a:gridCol>
                    <a:gridCol w="611180">
                      <a:extLst>
                        <a:ext uri="{9D8B030D-6E8A-4147-A177-3AD203B41FA5}">
                          <a16:colId xmlns:a16="http://schemas.microsoft.com/office/drawing/2014/main" val="834012947"/>
                        </a:ext>
                      </a:extLst>
                    </a:gridCol>
                    <a:gridCol w="611180">
                      <a:extLst>
                        <a:ext uri="{9D8B030D-6E8A-4147-A177-3AD203B41FA5}">
                          <a16:colId xmlns:a16="http://schemas.microsoft.com/office/drawing/2014/main" val="3963573122"/>
                        </a:ext>
                      </a:extLst>
                    </a:gridCol>
                  </a:tblGrid>
                  <a:tr h="520827">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19" t="-1163" r="-189568" b="-538372"/>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1163" r="-406731" b="-538372"/>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5385" t="-1163" r="-225385" b="-538372"/>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496761">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80" t="-107407" r="-697030" b="-471605"/>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3636" t="-107407" r="-684416" b="-47160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107407" r="-406731" b="-47160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5385" t="-107407" r="-225385" b="-47160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1111" t="-107407" r="-225556" b="-47160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98020" t="-107407" r="-100990" b="-47160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05000" t="-107407" r="-2000" b="-471605"/>
                          </a:stretch>
                        </a:blipFill>
                      </a:tcPr>
                    </a:tc>
                    <a:extLst>
                      <a:ext uri="{0D108BD9-81ED-4DB2-BD59-A6C34878D82A}">
                        <a16:rowId xmlns:a16="http://schemas.microsoft.com/office/drawing/2014/main" val="996163856"/>
                      </a:ext>
                    </a:extLst>
                  </a:tr>
                  <a:tr h="487680">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1800" kern="1200" dirty="0">
                              <a:solidFill>
                                <a:srgbClr val="FF0000"/>
                              </a:solidFill>
                              <a:effectLst/>
                              <a:latin typeface="SimSun" panose="02010600030101010101" pitchFamily="2" charset="-122"/>
                              <a:ea typeface="Times New Roman" panose="02020603050405020304" pitchFamily="18" charset="0"/>
                              <a:cs typeface="+mn-cs"/>
                            </a:rPr>
                            <a:t>-2</a:t>
                          </a:r>
                          <a:endParaRPr lang="en-CN" altLang="zh-CN" sz="10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3000" t="-210000" r="-604000" b="-377500"/>
                          </a:stretch>
                        </a:blip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210000" r="-406731" b="-3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5385" t="-210000" r="-225385" b="-3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1111" t="-210000" r="-225556" b="-37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487680">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3000" t="-310000" r="-604000" b="-27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310000" r="-406731" b="-27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1111" t="-310000" r="-225556" b="-27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487680">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3000" t="-410000" r="-604000" b="-1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3636" t="-410000" r="-684416" b="-1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410000" r="-406731" b="-1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95385" t="-410000" r="-225385" b="-177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1111" t="-410000" r="-225556" b="-177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49376">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19" t="-291429" r="-189568" b="-1429"/>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9231" t="-291429" r="-406731" b="-1429"/>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71111" t="-291429" r="-225556" b="-1429"/>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39D5120F-BA2C-66AC-A4B7-E1A98FD4934B}"/>
                  </a:ext>
                </a:extLst>
              </p:cNvPr>
              <p:cNvSpPr txBox="1"/>
              <p:nvPr/>
            </p:nvSpPr>
            <p:spPr>
              <a:xfrm>
                <a:off x="0" y="4242492"/>
                <a:ext cx="6042597" cy="588879"/>
              </a:xfrm>
              <a:prstGeom prst="rect">
                <a:avLst/>
              </a:prstGeom>
              <a:noFill/>
            </p:spPr>
            <p:txBody>
              <a:bodyPr wrap="square">
                <a:spAutoFit/>
              </a:bodyPr>
              <a:lstStyle/>
              <a:p>
                <a:pPr indent="304800">
                  <a:lnSpc>
                    <a:spcPct val="150000"/>
                  </a:lnSpc>
                  <a:spcBef>
                    <a:spcPts val="600"/>
                  </a:spcBef>
                  <a:spcAft>
                    <a:spcPts val="600"/>
                  </a:spcAft>
                </a:pPr>
                <a:r>
                  <a:rPr lang="zh-CN" altLang="zh-CN" sz="2400" dirty="0">
                    <a:effectLst/>
                    <a:latin typeface="+mn-ea"/>
                    <a:cs typeface="宋体" panose="02010600030101010101" pitchFamily="2" charset="-122"/>
                  </a:rPr>
                  <a:t>将</a:t>
                </a:r>
                <a14:m>
                  <m:oMath xmlns:m="http://schemas.openxmlformats.org/officeDocument/2006/math">
                    <m:r>
                      <a:rPr lang="en-US" altLang="zh-CN" sz="2400" b="0" i="1">
                        <a:effectLst/>
                        <a:latin typeface="Cambria Math" panose="02040503050406030204" pitchFamily="18" charset="0"/>
                      </a:rPr>
                      <m:t>𝜆</m:t>
                    </m:r>
                    <m:sSup>
                      <m:sSupPr>
                        <m:ctrlPr>
                          <a:rPr lang="zh-CN" altLang="zh-CN" sz="2400" i="1">
                            <a:effectLst/>
                            <a:latin typeface="Cambria Math" panose="02040503050406030204" pitchFamily="18" charset="0"/>
                          </a:rPr>
                        </m:ctrlPr>
                      </m:sSupPr>
                      <m:e>
                        <m:r>
                          <a:rPr lang="en-US" altLang="zh-CN" sz="2400" b="0" i="1">
                            <a:effectLst/>
                            <a:latin typeface="Cambria Math" panose="02040503050406030204" pitchFamily="18" charset="0"/>
                          </a:rPr>
                          <m:t>𝑐</m:t>
                        </m:r>
                      </m:e>
                      <m:sup>
                        <m:r>
                          <a:rPr lang="en-US" altLang="zh-CN" sz="2400" b="0" i="1">
                            <a:effectLst/>
                            <a:latin typeface="Cambria Math" panose="02040503050406030204" pitchFamily="18" charset="0"/>
                          </a:rPr>
                          <m:t>∗</m:t>
                        </m:r>
                      </m:sup>
                    </m:sSup>
                  </m:oMath>
                </a14:m>
                <a:r>
                  <a:rPr lang="en-US" altLang="zh-CN" sz="2400" dirty="0" err="1">
                    <a:effectLst/>
                    <a:latin typeface="+mn-ea"/>
                  </a:rPr>
                  <a:t>反映到</a:t>
                </a:r>
                <a:r>
                  <a:rPr lang="zh-CN" altLang="en-US" sz="2400" dirty="0">
                    <a:latin typeface="+mn-ea"/>
                  </a:rPr>
                  <a:t>最终单纯形</a:t>
                </a:r>
                <a:r>
                  <a:rPr lang="en-US" altLang="zh-CN" sz="2400" dirty="0" err="1">
                    <a:effectLst/>
                    <a:latin typeface="+mn-ea"/>
                  </a:rPr>
                  <a:t>表中</a:t>
                </a:r>
                <a:r>
                  <a:rPr lang="zh-CN" altLang="zh-CN" sz="2400" dirty="0">
                    <a:effectLst/>
                    <a:latin typeface="+mn-ea"/>
                    <a:cs typeface="宋体" panose="02010600030101010101" pitchFamily="2" charset="-122"/>
                  </a:rPr>
                  <a:t>，得到表</a:t>
                </a:r>
                <a:r>
                  <a:rPr lang="en-US" altLang="zh-CN" sz="2400" dirty="0">
                    <a:effectLst/>
                    <a:latin typeface="+mn-ea"/>
                    <a:cs typeface="宋体" panose="02010600030101010101" pitchFamily="2" charset="-122"/>
                  </a:rPr>
                  <a:t>1.</a:t>
                </a:r>
                <a:endParaRPr lang="zh-CN" altLang="zh-CN" sz="2400" dirty="0">
                  <a:effectLst/>
                  <a:latin typeface="+mn-ea"/>
                </a:endParaRPr>
              </a:p>
            </p:txBody>
          </p:sp>
        </mc:Choice>
        <mc:Fallback>
          <p:sp>
            <p:nvSpPr>
              <p:cNvPr id="7" name="文本框 6">
                <a:extLst>
                  <a:ext uri="{FF2B5EF4-FFF2-40B4-BE49-F238E27FC236}">
                    <a16:creationId xmlns:a16="http://schemas.microsoft.com/office/drawing/2014/main" id="{39D5120F-BA2C-66AC-A4B7-E1A98FD4934B}"/>
                  </a:ext>
                </a:extLst>
              </p:cNvPr>
              <p:cNvSpPr txBox="1">
                <a:spLocks noRot="1" noChangeAspect="1" noMove="1" noResize="1" noEditPoints="1" noAdjustHandles="1" noChangeArrowheads="1" noChangeShapeType="1" noTextEdit="1"/>
              </p:cNvSpPr>
              <p:nvPr/>
            </p:nvSpPr>
            <p:spPr>
              <a:xfrm>
                <a:off x="0" y="4242492"/>
                <a:ext cx="6042597" cy="588879"/>
              </a:xfrm>
              <a:prstGeom prst="rect">
                <a:avLst/>
              </a:prstGeom>
              <a:blipFill>
                <a:blip r:embed="rId5"/>
                <a:stretch>
                  <a:fillRect b="-237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7494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nvGraphicFramePr>
            <p:xfrm>
              <a:off x="2644904" y="1015559"/>
              <a:ext cx="6348474" cy="3890434"/>
            </p:xfrm>
            <a:graphic>
              <a:graphicData uri="http://schemas.openxmlformats.org/drawingml/2006/table">
                <a:tbl>
                  <a:tblPr firstRow="1" firstCol="1" bandRow="1"/>
                  <a:tblGrid>
                    <a:gridCol w="794731">
                      <a:extLst>
                        <a:ext uri="{9D8B030D-6E8A-4147-A177-3AD203B41FA5}">
                          <a16:colId xmlns:a16="http://schemas.microsoft.com/office/drawing/2014/main" val="2673772826"/>
                        </a:ext>
                      </a:extLst>
                    </a:gridCol>
                    <a:gridCol w="794731">
                      <a:extLst>
                        <a:ext uri="{9D8B030D-6E8A-4147-A177-3AD203B41FA5}">
                          <a16:colId xmlns:a16="http://schemas.microsoft.com/office/drawing/2014/main" val="2617236624"/>
                        </a:ext>
                      </a:extLst>
                    </a:gridCol>
                    <a:gridCol w="611012">
                      <a:extLst>
                        <a:ext uri="{9D8B030D-6E8A-4147-A177-3AD203B41FA5}">
                          <a16:colId xmlns:a16="http://schemas.microsoft.com/office/drawing/2014/main" val="4150211959"/>
                        </a:ext>
                      </a:extLst>
                    </a:gridCol>
                    <a:gridCol w="820132">
                      <a:extLst>
                        <a:ext uri="{9D8B030D-6E8A-4147-A177-3AD203B41FA5}">
                          <a16:colId xmlns:a16="http://schemas.microsoft.com/office/drawing/2014/main" val="3570847064"/>
                        </a:ext>
                      </a:extLst>
                    </a:gridCol>
                    <a:gridCol w="1027522">
                      <a:extLst>
                        <a:ext uri="{9D8B030D-6E8A-4147-A177-3AD203B41FA5}">
                          <a16:colId xmlns:a16="http://schemas.microsoft.com/office/drawing/2014/main" val="956899930"/>
                        </a:ext>
                      </a:extLst>
                    </a:gridCol>
                    <a:gridCol w="714292">
                      <a:extLst>
                        <a:ext uri="{9D8B030D-6E8A-4147-A177-3AD203B41FA5}">
                          <a16:colId xmlns:a16="http://schemas.microsoft.com/office/drawing/2014/main" val="2151239723"/>
                        </a:ext>
                      </a:extLst>
                    </a:gridCol>
                    <a:gridCol w="793027">
                      <a:extLst>
                        <a:ext uri="{9D8B030D-6E8A-4147-A177-3AD203B41FA5}">
                          <a16:colId xmlns:a16="http://schemas.microsoft.com/office/drawing/2014/main" val="834012947"/>
                        </a:ext>
                      </a:extLst>
                    </a:gridCol>
                    <a:gridCol w="793027">
                      <a:extLst>
                        <a:ext uri="{9D8B030D-6E8A-4147-A177-3AD203B41FA5}">
                          <a16:colId xmlns:a16="http://schemas.microsoft.com/office/drawing/2014/main" val="3963573122"/>
                        </a:ext>
                      </a:extLst>
                    </a:gridCol>
                  </a:tblGrid>
                  <a:tr h="63676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607338">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596235">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kern="1200" smtClean="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𝜆</m:t>
                                </m:r>
                                <m:r>
                                  <a:rPr lang="en-US" altLang="zh-CN" sz="1200" b="0" i="1" kern="1200" smtClean="0">
                                    <a:solidFill>
                                      <a:schemeClr val="tx1"/>
                                    </a:solidFill>
                                    <a:effectLst/>
                                    <a:latin typeface="Cambria Math" panose="02040503050406030204" pitchFamily="18" charset="0"/>
                                    <a:ea typeface="+mn-ea"/>
                                    <a:cs typeface="+mn-cs"/>
                                  </a:rPr>
                                  <m:t>)</m:t>
                                </m:r>
                              </m:oMath>
                            </m:oMathPara>
                          </a14:m>
                          <a:endParaRPr lang="en-CN" altLang="zh-CN" sz="1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96235">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4</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28</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96235">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3</m:t>
                                </m:r>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7</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63676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19−</m:t>
                                    </m:r>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extLst>
                  <p:ext uri="{D42A27DB-BD31-4B8C-83A1-F6EECF244321}">
                    <p14:modId xmlns:p14="http://schemas.microsoft.com/office/powerpoint/2010/main" val="2122051696"/>
                  </p:ext>
                </p:extLst>
              </p:nvPr>
            </p:nvGraphicFramePr>
            <p:xfrm>
              <a:off x="2644904" y="1015559"/>
              <a:ext cx="6348474" cy="3890434"/>
            </p:xfrm>
            <a:graphic>
              <a:graphicData uri="http://schemas.openxmlformats.org/drawingml/2006/table">
                <a:tbl>
                  <a:tblPr firstRow="1" firstCol="1" bandRow="1"/>
                  <a:tblGrid>
                    <a:gridCol w="794731">
                      <a:extLst>
                        <a:ext uri="{9D8B030D-6E8A-4147-A177-3AD203B41FA5}">
                          <a16:colId xmlns:a16="http://schemas.microsoft.com/office/drawing/2014/main" val="2673772826"/>
                        </a:ext>
                      </a:extLst>
                    </a:gridCol>
                    <a:gridCol w="794731">
                      <a:extLst>
                        <a:ext uri="{9D8B030D-6E8A-4147-A177-3AD203B41FA5}">
                          <a16:colId xmlns:a16="http://schemas.microsoft.com/office/drawing/2014/main" val="2617236624"/>
                        </a:ext>
                      </a:extLst>
                    </a:gridCol>
                    <a:gridCol w="611012">
                      <a:extLst>
                        <a:ext uri="{9D8B030D-6E8A-4147-A177-3AD203B41FA5}">
                          <a16:colId xmlns:a16="http://schemas.microsoft.com/office/drawing/2014/main" val="4150211959"/>
                        </a:ext>
                      </a:extLst>
                    </a:gridCol>
                    <a:gridCol w="820132">
                      <a:extLst>
                        <a:ext uri="{9D8B030D-6E8A-4147-A177-3AD203B41FA5}">
                          <a16:colId xmlns:a16="http://schemas.microsoft.com/office/drawing/2014/main" val="3570847064"/>
                        </a:ext>
                      </a:extLst>
                    </a:gridCol>
                    <a:gridCol w="1027522">
                      <a:extLst>
                        <a:ext uri="{9D8B030D-6E8A-4147-A177-3AD203B41FA5}">
                          <a16:colId xmlns:a16="http://schemas.microsoft.com/office/drawing/2014/main" val="956899930"/>
                        </a:ext>
                      </a:extLst>
                    </a:gridCol>
                    <a:gridCol w="714292">
                      <a:extLst>
                        <a:ext uri="{9D8B030D-6E8A-4147-A177-3AD203B41FA5}">
                          <a16:colId xmlns:a16="http://schemas.microsoft.com/office/drawing/2014/main" val="2151239723"/>
                        </a:ext>
                      </a:extLst>
                    </a:gridCol>
                    <a:gridCol w="793027">
                      <a:extLst>
                        <a:ext uri="{9D8B030D-6E8A-4147-A177-3AD203B41FA5}">
                          <a16:colId xmlns:a16="http://schemas.microsoft.com/office/drawing/2014/main" val="834012947"/>
                        </a:ext>
                      </a:extLst>
                    </a:gridCol>
                    <a:gridCol w="793027">
                      <a:extLst>
                        <a:ext uri="{9D8B030D-6E8A-4147-A177-3AD203B41FA5}">
                          <a16:colId xmlns:a16="http://schemas.microsoft.com/office/drawing/2014/main" val="3963573122"/>
                        </a:ext>
                      </a:extLst>
                    </a:gridCol>
                  </a:tblGrid>
                  <a:tr h="63676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6" t="-952" r="-188674" b="-510476"/>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952" r="-409701" b="-51047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952" r="-224852" b="-510476"/>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607338">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3" t="-107071" r="-697710" b="-441414"/>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59406" t="-107071" r="-676238"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107071" r="-409701"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107071" r="-224852"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107071" r="-224786"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107071" r="-100763"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3077" t="-107071" r="-1538" b="-441414"/>
                          </a:stretch>
                        </a:blipFill>
                      </a:tcPr>
                    </a:tc>
                    <a:extLst>
                      <a:ext uri="{0D108BD9-81ED-4DB2-BD59-A6C34878D82A}">
                        <a16:rowId xmlns:a16="http://schemas.microsoft.com/office/drawing/2014/main" val="996163856"/>
                      </a:ext>
                    </a:extLst>
                  </a:tr>
                  <a:tr h="596235">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3" t="-209184" r="-697710"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209184" r="-603077" b="-345918"/>
                          </a:stretch>
                        </a:blip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209184" r="-409701"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209184" r="-224852"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209184" r="-224786" b="-3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96235">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309184" r="-603077" b="-2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309184" r="-409701" b="-2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309184" r="-224786" b="-2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96235">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409184" r="-603077"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59406" t="-409184" r="-676238"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409184" r="-409701"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409184" r="-224852"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409184" r="-224786" b="-1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57631">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6" t="-353901" r="-188674" b="-1418"/>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896" t="-353901" r="-409701" b="-14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353901" r="-224786" b="-14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
        <p:nvSpPr>
          <p:cNvPr id="4" name="文本框 3">
            <a:extLst>
              <a:ext uri="{FF2B5EF4-FFF2-40B4-BE49-F238E27FC236}">
                <a16:creationId xmlns:a16="http://schemas.microsoft.com/office/drawing/2014/main" id="{D6350B14-B8F8-71A4-BD41-9B1ADB620021}"/>
              </a:ext>
            </a:extLst>
          </p:cNvPr>
          <p:cNvSpPr txBox="1"/>
          <p:nvPr/>
        </p:nvSpPr>
        <p:spPr>
          <a:xfrm>
            <a:off x="5618376" y="386499"/>
            <a:ext cx="2337847" cy="461665"/>
          </a:xfrm>
          <a:prstGeom prst="rect">
            <a:avLst/>
          </a:prstGeom>
          <a:noFill/>
        </p:spPr>
        <p:txBody>
          <a:bodyPr wrap="square" rtlCol="0">
            <a:spAutoFit/>
          </a:bodyPr>
          <a:lstStyle/>
          <a:p>
            <a:r>
              <a:rPr lang="zh-CN" altLang="en-US" sz="2400" dirty="0"/>
              <a:t>表</a:t>
            </a:r>
            <a:r>
              <a:rPr lang="en-US" altLang="zh-CN" sz="2400" dirty="0"/>
              <a:t>1</a:t>
            </a:r>
            <a:endParaRPr lang="zh-CN" altLang="en-US" sz="2400" dirty="0"/>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D0B12B2-B947-CA7E-A0A3-9FD09DC34F19}"/>
                  </a:ext>
                </a:extLst>
              </p:cNvPr>
              <p:cNvSpPr txBox="1"/>
              <p:nvPr/>
            </p:nvSpPr>
            <p:spPr>
              <a:xfrm>
                <a:off x="634345" y="5224720"/>
                <a:ext cx="10923310" cy="1389098"/>
              </a:xfrm>
              <a:prstGeom prst="rect">
                <a:avLst/>
              </a:prstGeom>
              <a:noFill/>
            </p:spPr>
            <p:txBody>
              <a:bodyPr wrap="square">
                <a:spAutoFit/>
              </a:bodyPr>
              <a:lstStyle/>
              <a:p>
                <a:pPr algn="just">
                  <a:lnSpc>
                    <a:spcPct val="150000"/>
                  </a:lnSpc>
                </a:pPr>
                <a:r>
                  <a:rPr lang="zh-CN" altLang="zh-CN" sz="2400" dirty="0">
                    <a:effectLst/>
                    <a:latin typeface="+mn-ea"/>
                    <a:cs typeface="Times New Roman" panose="02020603050405020304" pitchFamily="18" charset="0"/>
                  </a:rPr>
                  <a:t>当</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−2≤</m:t>
                    </m:r>
                    <m:r>
                      <a:rPr lang="en-US" altLang="zh-CN" sz="2400" i="1">
                        <a:effectLst/>
                        <a:latin typeface="Cambria Math" panose="02040503050406030204" pitchFamily="18" charset="0"/>
                        <a:cs typeface="Times New Roman" panose="02020603050405020304" pitchFamily="18" charset="0"/>
                      </a:rPr>
                      <m:t>𝜆</m:t>
                    </m:r>
                    <m:r>
                      <a:rPr lang="en-US" altLang="zh-CN" sz="2400" i="1">
                        <a:effectLst/>
                        <a:latin typeface="Cambria Math" panose="02040503050406030204" pitchFamily="18" charset="0"/>
                        <a:cs typeface="Times New Roman" panose="02020603050405020304" pitchFamily="18" charset="0"/>
                      </a:rPr>
                      <m:t>≤</m:t>
                    </m:r>
                    <m:f>
                      <m:fPr>
                        <m:ctrlPr>
                          <a:rPr lang="zh-CN" altLang="zh-CN" sz="2400" i="1">
                            <a:effectLst/>
                            <a:latin typeface="Cambria Math" panose="02040503050406030204" pitchFamily="18" charset="0"/>
                          </a:rPr>
                        </m:ctrlPr>
                      </m:fPr>
                      <m:num>
                        <m:r>
                          <a:rPr lang="en-US" altLang="zh-CN" sz="2400" i="1">
                            <a:effectLst/>
                            <a:latin typeface="Cambria Math" panose="02040503050406030204" pitchFamily="18" charset="0"/>
                            <a:cs typeface="Times New Roman" panose="02020603050405020304" pitchFamily="18" charset="0"/>
                          </a:rPr>
                          <m:t>19</m:t>
                        </m:r>
                      </m:num>
                      <m:den>
                        <m:r>
                          <a:rPr lang="en-US" altLang="zh-CN" sz="2400" i="1">
                            <a:effectLst/>
                            <a:latin typeface="Cambria Math" panose="02040503050406030204" pitchFamily="18" charset="0"/>
                            <a:cs typeface="Times New Roman" panose="02020603050405020304" pitchFamily="18" charset="0"/>
                          </a:rPr>
                          <m:t>3</m:t>
                        </m:r>
                      </m:den>
                    </m:f>
                  </m:oMath>
                </a14:m>
                <a:r>
                  <a:rPr lang="zh-CN" altLang="zh-CN" sz="2400" dirty="0">
                    <a:effectLst/>
                    <a:latin typeface="+mn-ea"/>
                    <a:cs typeface="Times New Roman" panose="02020603050405020304" pitchFamily="18" charset="0"/>
                  </a:rPr>
                  <a:t>时</a:t>
                </a:r>
                <a:r>
                  <a:rPr lang="zh-CN" altLang="en-US" sz="2400" dirty="0">
                    <a:effectLst/>
                    <a:latin typeface="+mn-ea"/>
                    <a:cs typeface="Times New Roman" panose="02020603050405020304" pitchFamily="18" charset="0"/>
                  </a:rPr>
                  <a:t>，检验数均非负，最优解不变，依然为表中的解</a:t>
                </a:r>
                <a14:m>
                  <m:oMath xmlns:m="http://schemas.openxmlformats.org/officeDocument/2006/math">
                    <m:sSup>
                      <m:sSupPr>
                        <m:ctrlPr>
                          <a:rPr lang="zh-CN" altLang="zh-CN" sz="2400" i="1" smtClean="0">
                            <a:solidFill>
                              <a:srgbClr val="FF0000"/>
                            </a:solidFill>
                            <a:latin typeface="Cambria Math" panose="02040503050406030204" pitchFamily="18" charset="0"/>
                          </a:rPr>
                        </m:ctrlPr>
                      </m:sSupPr>
                      <m:e>
                        <m:r>
                          <a:rPr lang="en-US" altLang="zh-CN" sz="2400" i="1">
                            <a:solidFill>
                              <a:srgbClr val="FF0000"/>
                            </a:solidFill>
                            <a:latin typeface="Cambria Math" panose="02040503050406030204" pitchFamily="18" charset="0"/>
                          </a:rPr>
                          <m:t>𝑥</m:t>
                        </m:r>
                      </m:e>
                      <m:sup>
                        <m:r>
                          <a:rPr lang="en-US" altLang="zh-CN" sz="2400" i="1">
                            <a:solidFill>
                              <a:srgbClr val="FF0000"/>
                            </a:solidFill>
                            <a:latin typeface="Cambria Math" panose="02040503050406030204" pitchFamily="18" charset="0"/>
                          </a:rPr>
                          <m:t>∗</m:t>
                        </m:r>
                      </m:sup>
                    </m:sSup>
                    <m:r>
                      <a:rPr lang="en-US" altLang="zh-CN" sz="2400" i="1">
                        <a:solidFill>
                          <a:srgbClr val="FF0000"/>
                        </a:solidFill>
                        <a:latin typeface="Cambria Math" panose="02040503050406030204" pitchFamily="18" charset="0"/>
                      </a:rPr>
                      <m:t>=</m:t>
                    </m:r>
                    <m:sSup>
                      <m:sSupPr>
                        <m:ctrlPr>
                          <a:rPr lang="zh-CN" altLang="zh-CN" sz="2400" i="1">
                            <a:solidFill>
                              <a:srgbClr val="FF0000"/>
                            </a:solidFill>
                            <a:latin typeface="Cambria Math" panose="02040503050406030204" pitchFamily="18" charset="0"/>
                          </a:rPr>
                        </m:ctrlPr>
                      </m:sSupPr>
                      <m:e>
                        <m:d>
                          <m:dPr>
                            <m:ctrlPr>
                              <a:rPr lang="zh-CN" altLang="zh-CN" sz="2400" i="1">
                                <a:solidFill>
                                  <a:srgbClr val="FF0000"/>
                                </a:solidFill>
                                <a:latin typeface="Cambria Math" panose="02040503050406030204" pitchFamily="18" charset="0"/>
                              </a:rPr>
                            </m:ctrlPr>
                          </m:dPr>
                          <m:e>
                            <m:r>
                              <a:rPr lang="en-US" altLang="zh-CN" sz="2400" b="0" i="1" smtClean="0">
                                <a:solidFill>
                                  <a:srgbClr val="FF0000"/>
                                </a:solidFill>
                                <a:latin typeface="Cambria Math" panose="02040503050406030204" pitchFamily="18" charset="0"/>
                              </a:rPr>
                              <m:t>0,2,</m:t>
                            </m:r>
                            <m:r>
                              <a:rPr lang="en-US" altLang="zh-CN" sz="2400" i="1">
                                <a:solidFill>
                                  <a:srgbClr val="FF0000"/>
                                </a:solidFill>
                                <a:latin typeface="Cambria Math" panose="02040503050406030204" pitchFamily="18" charset="0"/>
                              </a:rPr>
                              <m:t>0,</m:t>
                            </m:r>
                            <m:r>
                              <a:rPr lang="en-US" altLang="zh-CN" sz="2400" b="0" i="1" smtClean="0">
                                <a:solidFill>
                                  <a:srgbClr val="FF0000"/>
                                </a:solidFill>
                                <a:latin typeface="Cambria Math" panose="02040503050406030204" pitchFamily="18" charset="0"/>
                              </a:rPr>
                              <m:t>10</m:t>
                            </m:r>
                            <m:r>
                              <a:rPr lang="en-US" altLang="zh-CN" sz="2400" i="1">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3</m:t>
                            </m:r>
                          </m:e>
                        </m:d>
                      </m:e>
                      <m:sup>
                        <m:r>
                          <a:rPr lang="en-US" altLang="zh-CN" sz="2400" i="1">
                            <a:solidFill>
                              <a:srgbClr val="FF0000"/>
                            </a:solidFill>
                            <a:latin typeface="Cambria Math" panose="02040503050406030204" pitchFamily="18" charset="0"/>
                          </a:rPr>
                          <m:t>𝑇</m:t>
                        </m:r>
                      </m:sup>
                    </m:sSup>
                  </m:oMath>
                </a14:m>
                <a:r>
                  <a:rPr lang="zh-CN" altLang="en-US" sz="2400" dirty="0">
                    <a:latin typeface="+mn-ea"/>
                  </a:rPr>
                  <a:t>，最优值为</a:t>
                </a:r>
                <a14:m>
                  <m:oMath xmlns:m="http://schemas.openxmlformats.org/officeDocument/2006/math">
                    <m:r>
                      <m:rPr>
                        <m:sty m:val="p"/>
                      </m:rPr>
                      <a:rPr lang="en-US" altLang="zh-CN" sz="2400" b="0" i="0" smtClean="0">
                        <a:effectLst/>
                        <a:latin typeface="Cambria Math" panose="02040503050406030204" pitchFamily="18" charset="0"/>
                        <a:cs typeface="Times New Roman" panose="02020603050405020304" pitchFamily="18" charset="0"/>
                      </a:rPr>
                      <m:t>z</m:t>
                    </m:r>
                    <m:r>
                      <a:rPr lang="en-US" altLang="zh-CN" sz="2400" b="0" i="0" smtClean="0">
                        <a:effectLst/>
                        <a:latin typeface="Cambria Math" panose="02040503050406030204" pitchFamily="18" charset="0"/>
                        <a:cs typeface="Times New Roman" panose="02020603050405020304" pitchFamily="18" charset="0"/>
                      </a:rPr>
                      <m:t>=−4−2</m:t>
                    </m:r>
                    <m:r>
                      <a:rPr lang="en-US" altLang="zh-CN" sz="2400" i="1" smtClean="0">
                        <a:effectLst/>
                        <a:latin typeface="Cambria Math" panose="02040503050406030204" pitchFamily="18" charset="0"/>
                        <a:cs typeface="Times New Roman" panose="02020603050405020304" pitchFamily="18" charset="0"/>
                      </a:rPr>
                      <m:t>𝜆</m:t>
                    </m:r>
                  </m:oMath>
                </a14:m>
                <a:r>
                  <a:rPr lang="en-US" altLang="zh-CN" sz="2400" dirty="0">
                    <a:latin typeface="+mn-ea"/>
                  </a:rPr>
                  <a:t>.</a:t>
                </a:r>
                <a:endParaRPr lang="zh-CN" altLang="en-US" sz="2400" dirty="0">
                  <a:latin typeface="+mn-ea"/>
                </a:endParaRPr>
              </a:p>
            </p:txBody>
          </p:sp>
        </mc:Choice>
        <mc:Fallback>
          <p:sp>
            <p:nvSpPr>
              <p:cNvPr id="6" name="文本框 5">
                <a:extLst>
                  <a:ext uri="{FF2B5EF4-FFF2-40B4-BE49-F238E27FC236}">
                    <a16:creationId xmlns:a16="http://schemas.microsoft.com/office/drawing/2014/main" id="{FD0B12B2-B947-CA7E-A0A3-9FD09DC34F19}"/>
                  </a:ext>
                </a:extLst>
              </p:cNvPr>
              <p:cNvSpPr txBox="1">
                <a:spLocks noRot="1" noChangeAspect="1" noMove="1" noResize="1" noEditPoints="1" noAdjustHandles="1" noChangeArrowheads="1" noChangeShapeType="1" noTextEdit="1"/>
              </p:cNvSpPr>
              <p:nvPr/>
            </p:nvSpPr>
            <p:spPr>
              <a:xfrm>
                <a:off x="634345" y="5224720"/>
                <a:ext cx="10923310" cy="1389098"/>
              </a:xfrm>
              <a:prstGeom prst="rect">
                <a:avLst/>
              </a:prstGeom>
              <a:blipFill>
                <a:blip r:embed="rId3"/>
                <a:stretch>
                  <a:fillRect l="-837" b="-8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274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nvGraphicFramePr>
            <p:xfrm>
              <a:off x="2748599" y="1692868"/>
              <a:ext cx="6348474" cy="3890371"/>
            </p:xfrm>
            <a:graphic>
              <a:graphicData uri="http://schemas.openxmlformats.org/drawingml/2006/table">
                <a:tbl>
                  <a:tblPr firstRow="1" firstCol="1" bandRow="1"/>
                  <a:tblGrid>
                    <a:gridCol w="794731">
                      <a:extLst>
                        <a:ext uri="{9D8B030D-6E8A-4147-A177-3AD203B41FA5}">
                          <a16:colId xmlns:a16="http://schemas.microsoft.com/office/drawing/2014/main" val="2673772826"/>
                        </a:ext>
                      </a:extLst>
                    </a:gridCol>
                    <a:gridCol w="794731">
                      <a:extLst>
                        <a:ext uri="{9D8B030D-6E8A-4147-A177-3AD203B41FA5}">
                          <a16:colId xmlns:a16="http://schemas.microsoft.com/office/drawing/2014/main" val="2617236624"/>
                        </a:ext>
                      </a:extLst>
                    </a:gridCol>
                    <a:gridCol w="658145">
                      <a:extLst>
                        <a:ext uri="{9D8B030D-6E8A-4147-A177-3AD203B41FA5}">
                          <a16:colId xmlns:a16="http://schemas.microsoft.com/office/drawing/2014/main" val="4150211959"/>
                        </a:ext>
                      </a:extLst>
                    </a:gridCol>
                    <a:gridCol w="772999">
                      <a:extLst>
                        <a:ext uri="{9D8B030D-6E8A-4147-A177-3AD203B41FA5}">
                          <a16:colId xmlns:a16="http://schemas.microsoft.com/office/drawing/2014/main" val="3570847064"/>
                        </a:ext>
                      </a:extLst>
                    </a:gridCol>
                    <a:gridCol w="1027522">
                      <a:extLst>
                        <a:ext uri="{9D8B030D-6E8A-4147-A177-3AD203B41FA5}">
                          <a16:colId xmlns:a16="http://schemas.microsoft.com/office/drawing/2014/main" val="956899930"/>
                        </a:ext>
                      </a:extLst>
                    </a:gridCol>
                    <a:gridCol w="714292">
                      <a:extLst>
                        <a:ext uri="{9D8B030D-6E8A-4147-A177-3AD203B41FA5}">
                          <a16:colId xmlns:a16="http://schemas.microsoft.com/office/drawing/2014/main" val="2151239723"/>
                        </a:ext>
                      </a:extLst>
                    </a:gridCol>
                    <a:gridCol w="793027">
                      <a:extLst>
                        <a:ext uri="{9D8B030D-6E8A-4147-A177-3AD203B41FA5}">
                          <a16:colId xmlns:a16="http://schemas.microsoft.com/office/drawing/2014/main" val="834012947"/>
                        </a:ext>
                      </a:extLst>
                    </a:gridCol>
                    <a:gridCol w="793027">
                      <a:extLst>
                        <a:ext uri="{9D8B030D-6E8A-4147-A177-3AD203B41FA5}">
                          <a16:colId xmlns:a16="http://schemas.microsoft.com/office/drawing/2014/main" val="3963573122"/>
                        </a:ext>
                      </a:extLst>
                    </a:gridCol>
                  </a:tblGrid>
                  <a:tr h="63676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607338">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596235">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kern="1200" smtClean="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𝜆</m:t>
                                </m:r>
                                <m:r>
                                  <a:rPr lang="en-US" altLang="zh-CN" sz="1200" b="0" i="1" kern="1200" smtClean="0">
                                    <a:solidFill>
                                      <a:schemeClr val="tx1"/>
                                    </a:solidFill>
                                    <a:effectLst/>
                                    <a:latin typeface="Cambria Math" panose="02040503050406030204" pitchFamily="18" charset="0"/>
                                    <a:ea typeface="+mn-ea"/>
                                    <a:cs typeface="+mn-cs"/>
                                  </a:rPr>
                                  <m:t>)</m:t>
                                </m:r>
                              </m:oMath>
                            </m:oMathPara>
                          </a14:m>
                          <a:endParaRPr lang="en-CN" altLang="zh-CN" sz="1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9</m:t>
                                    </m:r>
                                  </m:num>
                                  <m:den>
                                    <m:r>
                                      <a:rPr lang="en-US" altLang="zh-CN" sz="1800" b="0" i="1" smtClean="0">
                                        <a:effectLst/>
                                        <a:latin typeface="Cambria Math" panose="02040503050406030204" pitchFamily="18" charset="0"/>
                                        <a:ea typeface="SimSun" panose="02010600030101010101" pitchFamily="2" charset="-122"/>
                                      </a:rPr>
                                      <m:t>7</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3</m:t>
                                    </m:r>
                                  </m:num>
                                  <m:den>
                                    <m:r>
                                      <a:rPr lang="en-US" altLang="zh-CN" sz="1800" b="0" i="1" smtClean="0">
                                        <a:effectLst/>
                                        <a:latin typeface="Cambria Math" panose="02040503050406030204" pitchFamily="18" charset="0"/>
                                        <a:ea typeface="SimSun" panose="02010600030101010101" pitchFamily="2" charset="-122"/>
                                      </a:rPr>
                                      <m:t>14</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14</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96235">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800" i="1" kern="1200" smtClean="0">
                                    <a:solidFill>
                                      <a:schemeClr val="tx1"/>
                                    </a:solidFill>
                                    <a:effectLst/>
                                    <a:latin typeface="Cambria Math" panose="02040503050406030204" pitchFamily="18" charset="0"/>
                                    <a:ea typeface="+mn-ea"/>
                                    <a:cs typeface="+mn-cs"/>
                                  </a:rPr>
                                  <m:t>3−</m:t>
                                </m:r>
                                <m:r>
                                  <a:rPr lang="en-US" altLang="zh-CN" sz="1800" i="1" kern="1200">
                                    <a:solidFill>
                                      <a:schemeClr val="tx1"/>
                                    </a:solidFill>
                                    <a:effectLst/>
                                    <a:latin typeface="Cambria Math" panose="02040503050406030204" pitchFamily="18" charset="0"/>
                                    <a:ea typeface="+mn-ea"/>
                                    <a:cs typeface="+mn-cs"/>
                                  </a:rPr>
                                  <m:t>𝜆</m:t>
                                </m:r>
                              </m:oMath>
                            </m:oMathPara>
                          </a14:m>
                          <a:endParaRPr lang="en-CN" altLang="zh-CN" sz="18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25</m:t>
                                    </m:r>
                                  </m:num>
                                  <m:den>
                                    <m:r>
                                      <a:rPr lang="en-US" altLang="zh-CN" sz="1800" b="0" i="1" smtClean="0">
                                        <a:effectLst/>
                                        <a:latin typeface="Cambria Math" panose="02040503050406030204" pitchFamily="18" charset="0"/>
                                        <a:ea typeface="SimSun" panose="02010600030101010101" pitchFamily="2" charset="-122"/>
                                      </a:rPr>
                                      <m:t>14</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28</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5</m:t>
                                    </m:r>
                                  </m:num>
                                  <m:den>
                                    <m:r>
                                      <a:rPr lang="en-US" altLang="zh-CN" sz="1800" b="0" i="1" smtClean="0">
                                        <a:effectLst/>
                                        <a:latin typeface="Cambria Math" panose="02040503050406030204" pitchFamily="18" charset="0"/>
                                        <a:ea typeface="SimSun" panose="02010600030101010101" pitchFamily="2" charset="-122"/>
                                      </a:rPr>
                                      <m:t>28</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96235">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2</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4</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4</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63676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altLang="zh-CN" sz="1800" dirty="0">
                              <a:effectLst/>
                              <a:latin typeface="SimSun" panose="02010600030101010101" pitchFamily="2" charset="-122"/>
                              <a:ea typeface="Times New Roman" panose="02020603050405020304" pitchFamily="18" charset="0"/>
                            </a:rPr>
                            <a:t>0</a:t>
                          </a:r>
                          <a:endParaRPr lang="en-CN" altLang="zh-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25+5</m:t>
                                    </m:r>
                                    <m:r>
                                      <a:rPr lang="en-US" altLang="zh-CN" sz="1800" i="1" kern="1200">
                                        <a:solidFill>
                                          <a:srgbClr val="FF0000"/>
                                        </a:solidFill>
                                        <a:effectLst/>
                                        <a:latin typeface="Cambria Math" panose="02040503050406030204" pitchFamily="18" charset="0"/>
                                        <a:ea typeface="+mn-ea"/>
                                        <a:cs typeface="+mn-cs"/>
                                      </a:rPr>
                                      <m:t>𝜆</m:t>
                                    </m:r>
                                  </m:num>
                                  <m:den>
                                    <m:r>
                                      <a:rPr lang="en-US" altLang="zh-CN" sz="1800" b="0" i="1" kern="1200" smtClean="0">
                                        <a:solidFill>
                                          <a:srgbClr val="FF0000"/>
                                        </a:solidFill>
                                        <a:effectLst/>
                                        <a:latin typeface="Cambria Math" panose="02040503050406030204" pitchFamily="18" charset="0"/>
                                        <a:ea typeface="+mn-ea"/>
                                        <a:cs typeface="+mn-cs"/>
                                      </a:rPr>
                                      <m:t>28</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−19</m:t>
                                    </m:r>
                                  </m:num>
                                  <m:den>
                                    <m:r>
                                      <a:rPr lang="en-US" altLang="zh-CN" sz="1800" b="0" i="1" kern="1200" smtClean="0">
                                        <a:solidFill>
                                          <a:srgbClr val="FF0000"/>
                                        </a:solidFill>
                                        <a:effectLst/>
                                        <a:latin typeface="Cambria Math" panose="02040503050406030204" pitchFamily="18" charset="0"/>
                                        <a:ea typeface="+mn-ea"/>
                                        <a:cs typeface="+mn-cs"/>
                                      </a:rPr>
                                      <m:t>28</m:t>
                                    </m:r>
                                  </m:den>
                                </m:f>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extLst>
                  <p:ext uri="{D42A27DB-BD31-4B8C-83A1-F6EECF244321}">
                    <p14:modId xmlns:p14="http://schemas.microsoft.com/office/powerpoint/2010/main" val="3108462808"/>
                  </p:ext>
                </p:extLst>
              </p:nvPr>
            </p:nvGraphicFramePr>
            <p:xfrm>
              <a:off x="2748599" y="1692868"/>
              <a:ext cx="6348474" cy="3890371"/>
            </p:xfrm>
            <a:graphic>
              <a:graphicData uri="http://schemas.openxmlformats.org/drawingml/2006/table">
                <a:tbl>
                  <a:tblPr firstRow="1" firstCol="1" bandRow="1"/>
                  <a:tblGrid>
                    <a:gridCol w="794731">
                      <a:extLst>
                        <a:ext uri="{9D8B030D-6E8A-4147-A177-3AD203B41FA5}">
                          <a16:colId xmlns:a16="http://schemas.microsoft.com/office/drawing/2014/main" val="2673772826"/>
                        </a:ext>
                      </a:extLst>
                    </a:gridCol>
                    <a:gridCol w="794731">
                      <a:extLst>
                        <a:ext uri="{9D8B030D-6E8A-4147-A177-3AD203B41FA5}">
                          <a16:colId xmlns:a16="http://schemas.microsoft.com/office/drawing/2014/main" val="2617236624"/>
                        </a:ext>
                      </a:extLst>
                    </a:gridCol>
                    <a:gridCol w="658145">
                      <a:extLst>
                        <a:ext uri="{9D8B030D-6E8A-4147-A177-3AD203B41FA5}">
                          <a16:colId xmlns:a16="http://schemas.microsoft.com/office/drawing/2014/main" val="4150211959"/>
                        </a:ext>
                      </a:extLst>
                    </a:gridCol>
                    <a:gridCol w="772999">
                      <a:extLst>
                        <a:ext uri="{9D8B030D-6E8A-4147-A177-3AD203B41FA5}">
                          <a16:colId xmlns:a16="http://schemas.microsoft.com/office/drawing/2014/main" val="3570847064"/>
                        </a:ext>
                      </a:extLst>
                    </a:gridCol>
                    <a:gridCol w="1027522">
                      <a:extLst>
                        <a:ext uri="{9D8B030D-6E8A-4147-A177-3AD203B41FA5}">
                          <a16:colId xmlns:a16="http://schemas.microsoft.com/office/drawing/2014/main" val="956899930"/>
                        </a:ext>
                      </a:extLst>
                    </a:gridCol>
                    <a:gridCol w="714292">
                      <a:extLst>
                        <a:ext uri="{9D8B030D-6E8A-4147-A177-3AD203B41FA5}">
                          <a16:colId xmlns:a16="http://schemas.microsoft.com/office/drawing/2014/main" val="2151239723"/>
                        </a:ext>
                      </a:extLst>
                    </a:gridCol>
                    <a:gridCol w="793027">
                      <a:extLst>
                        <a:ext uri="{9D8B030D-6E8A-4147-A177-3AD203B41FA5}">
                          <a16:colId xmlns:a16="http://schemas.microsoft.com/office/drawing/2014/main" val="834012947"/>
                        </a:ext>
                      </a:extLst>
                    </a:gridCol>
                    <a:gridCol w="793027">
                      <a:extLst>
                        <a:ext uri="{9D8B030D-6E8A-4147-A177-3AD203B41FA5}">
                          <a16:colId xmlns:a16="http://schemas.microsoft.com/office/drawing/2014/main" val="3963573122"/>
                        </a:ext>
                      </a:extLst>
                    </a:gridCol>
                  </a:tblGrid>
                  <a:tr h="63676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1" t="-952" r="-183198" b="-510476"/>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1339" t="-952" r="-432283" b="-510476"/>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952" r="-224852" b="-510476"/>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607338">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3" t="-107071" r="-697710" b="-441414"/>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2593" t="-107071" r="-625926"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1339" t="-107071" r="-432283"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107071" r="-224852"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107071" r="-224786"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107071" r="-100763" b="-4414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03077" t="-107071" r="-1538" b="-441414"/>
                          </a:stretch>
                        </a:blipFill>
                      </a:tcPr>
                    </a:tc>
                    <a:extLst>
                      <a:ext uri="{0D108BD9-81ED-4DB2-BD59-A6C34878D82A}">
                        <a16:rowId xmlns:a16="http://schemas.microsoft.com/office/drawing/2014/main" val="996163856"/>
                      </a:ext>
                    </a:extLst>
                  </a:tr>
                  <a:tr h="596235">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3" t="-209184" r="-697710"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209184" r="-603077"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2593" t="-209184" r="-625926" b="-3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209184" r="-224852"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209184" r="-224786" b="-3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209184" r="-100763" b="-3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96235">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3" t="-309184" r="-697710" b="-2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309184" r="-603077" b="-2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2593" t="-309184" r="-625926" b="-2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309184" r="-224786" b="-2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309184" r="-100763" b="-2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96235">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1538" t="-409184" r="-603077"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2593" t="-409184" r="-625926" b="-1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4083" t="-409184" r="-224852"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409184" r="-224786" b="-1459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409184" r="-100763" b="-1459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57568">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1" t="-353901" r="-183198" b="-1418"/>
                          </a:stretch>
                        </a:blip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r>
                            <a:rPr lang="en-US" altLang="zh-CN" sz="1800" dirty="0">
                              <a:effectLst/>
                              <a:latin typeface="SimSun" panose="02010600030101010101" pitchFamily="2" charset="-122"/>
                              <a:ea typeface="Times New Roman" panose="02020603050405020304" pitchFamily="18" charset="0"/>
                            </a:rPr>
                            <a:t>0</a:t>
                          </a:r>
                          <a:endParaRPr lang="en-CN" altLang="zh-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9231" t="-353901" r="-224786" b="-1418"/>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97710" t="-353901" r="-100763" b="-14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
        <p:nvSpPr>
          <p:cNvPr id="4" name="文本框 3">
            <a:extLst>
              <a:ext uri="{FF2B5EF4-FFF2-40B4-BE49-F238E27FC236}">
                <a16:creationId xmlns:a16="http://schemas.microsoft.com/office/drawing/2014/main" id="{D6350B14-B8F8-71A4-BD41-9B1ADB620021}"/>
              </a:ext>
            </a:extLst>
          </p:cNvPr>
          <p:cNvSpPr txBox="1"/>
          <p:nvPr/>
        </p:nvSpPr>
        <p:spPr>
          <a:xfrm>
            <a:off x="5722071" y="1063808"/>
            <a:ext cx="2337847" cy="461665"/>
          </a:xfrm>
          <a:prstGeom prst="rect">
            <a:avLst/>
          </a:prstGeom>
          <a:noFill/>
        </p:spPr>
        <p:txBody>
          <a:bodyPr wrap="square" rtlCol="0">
            <a:spAutoFit/>
          </a:bodyPr>
          <a:lstStyle/>
          <a:p>
            <a:r>
              <a:rPr lang="zh-CN" altLang="en-US" sz="2400" dirty="0"/>
              <a:t>表</a:t>
            </a:r>
            <a:r>
              <a:rPr lang="en-US" altLang="zh-CN" sz="2400" dirty="0"/>
              <a:t>2</a:t>
            </a:r>
            <a:endParaRPr lang="zh-CN" altLang="en-US" sz="2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D0B12B2-B947-CA7E-A0A3-9FD09DC34F19}"/>
                  </a:ext>
                </a:extLst>
              </p:cNvPr>
              <p:cNvSpPr txBox="1"/>
              <p:nvPr/>
            </p:nvSpPr>
            <p:spPr>
              <a:xfrm>
                <a:off x="634345" y="237941"/>
                <a:ext cx="10923310" cy="825867"/>
              </a:xfrm>
              <a:prstGeom prst="rect">
                <a:avLst/>
              </a:prstGeom>
              <a:noFill/>
            </p:spPr>
            <p:txBody>
              <a:bodyPr wrap="square">
                <a:spAutoFit/>
              </a:bodyPr>
              <a:lstStyle/>
              <a:p>
                <a:pPr algn="just">
                  <a:lnSpc>
                    <a:spcPct val="150000"/>
                  </a:lnSpc>
                </a:pPr>
                <a:r>
                  <a:rPr lang="zh-CN" altLang="zh-CN" sz="2400" dirty="0">
                    <a:effectLst/>
                    <a:latin typeface="+mn-ea"/>
                    <a:cs typeface="Times New Roman" panose="02020603050405020304" pitchFamily="18" charset="0"/>
                  </a:rPr>
                  <a:t>当</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𝜆</m:t>
                    </m:r>
                    <m:r>
                      <a:rPr lang="en-US" altLang="zh-CN" sz="2400" b="0" i="1" smtClean="0">
                        <a:effectLst/>
                        <a:latin typeface="Cambria Math" panose="02040503050406030204" pitchFamily="18" charset="0"/>
                        <a:cs typeface="Times New Roman" panose="02020603050405020304" pitchFamily="18" charset="0"/>
                      </a:rPr>
                      <m:t>&gt;</m:t>
                    </m:r>
                    <m:f>
                      <m:fPr>
                        <m:ctrlPr>
                          <a:rPr lang="zh-CN" altLang="zh-CN" sz="2400" i="1">
                            <a:effectLst/>
                            <a:latin typeface="Cambria Math" panose="02040503050406030204" pitchFamily="18" charset="0"/>
                          </a:rPr>
                        </m:ctrlPr>
                      </m:fPr>
                      <m:num>
                        <m:r>
                          <a:rPr lang="en-US" altLang="zh-CN" sz="2400" i="1">
                            <a:effectLst/>
                            <a:latin typeface="Cambria Math" panose="02040503050406030204" pitchFamily="18" charset="0"/>
                            <a:cs typeface="Times New Roman" panose="02020603050405020304" pitchFamily="18" charset="0"/>
                          </a:rPr>
                          <m:t>19</m:t>
                        </m:r>
                      </m:num>
                      <m:den>
                        <m:r>
                          <a:rPr lang="en-US" altLang="zh-CN" sz="2400" i="1">
                            <a:effectLst/>
                            <a:latin typeface="Cambria Math" panose="02040503050406030204" pitchFamily="18" charset="0"/>
                            <a:cs typeface="Times New Roman" panose="02020603050405020304" pitchFamily="18" charset="0"/>
                          </a:rPr>
                          <m:t>3</m:t>
                        </m:r>
                      </m:den>
                    </m:f>
                  </m:oMath>
                </a14:m>
                <a:r>
                  <a:rPr lang="zh-CN" altLang="zh-CN" sz="2400" dirty="0">
                    <a:effectLst/>
                    <a:latin typeface="+mn-ea"/>
                    <a:cs typeface="Times New Roman" panose="02020603050405020304" pitchFamily="18" charset="0"/>
                  </a:rPr>
                  <a:t>时</a:t>
                </a:r>
                <a:r>
                  <a:rPr lang="zh-CN" altLang="en-US" sz="2400" dirty="0">
                    <a:effectLst/>
                    <a:latin typeface="+mn-ea"/>
                    <a:cs typeface="Times New Roman" panose="02020603050405020304" pitchFamily="18" charset="0"/>
                  </a:rPr>
                  <a:t>，表</a:t>
                </a:r>
                <a:r>
                  <a:rPr lang="en-US" altLang="zh-CN" sz="2400" dirty="0">
                    <a:effectLst/>
                    <a:latin typeface="+mn-ea"/>
                    <a:cs typeface="Times New Roman" panose="02020603050405020304" pitchFamily="18" charset="0"/>
                  </a:rPr>
                  <a:t>1</a:t>
                </a:r>
                <a:r>
                  <a:rPr lang="zh-CN" altLang="en-US" sz="2400" dirty="0">
                    <a:effectLst/>
                    <a:latin typeface="+mn-ea"/>
                    <a:cs typeface="Times New Roman" panose="02020603050405020304" pitchFamily="18" charset="0"/>
                  </a:rPr>
                  <a:t>中的检验数</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&lt;0</m:t>
                    </m:r>
                  </m:oMath>
                </a14:m>
                <a:r>
                  <a:rPr lang="zh-CN" altLang="en-US" sz="2400" dirty="0">
                    <a:effectLst/>
                    <a:latin typeface="+mn-ea"/>
                    <a:cs typeface="Times New Roman" panose="02020603050405020304" pitchFamily="18" charset="0"/>
                  </a:rPr>
                  <a:t>，最优解改变，用单纯形法继续计算，得表</a:t>
                </a:r>
                <a:r>
                  <a:rPr lang="en-US" altLang="zh-CN" sz="2400" dirty="0">
                    <a:effectLst/>
                    <a:latin typeface="+mn-ea"/>
                    <a:cs typeface="Times New Roman" panose="02020603050405020304" pitchFamily="18" charset="0"/>
                  </a:rPr>
                  <a:t>2</a:t>
                </a:r>
                <a:r>
                  <a:rPr lang="zh-CN" altLang="en-US" sz="2400" dirty="0">
                    <a:effectLst/>
                    <a:latin typeface="+mn-ea"/>
                    <a:cs typeface="Times New Roman" panose="02020603050405020304" pitchFamily="18" charset="0"/>
                  </a:rPr>
                  <a:t>：</a:t>
                </a:r>
                <a:endParaRPr lang="zh-CN" altLang="en-US" sz="2400" dirty="0">
                  <a:latin typeface="+mn-ea"/>
                </a:endParaRPr>
              </a:p>
            </p:txBody>
          </p:sp>
        </mc:Choice>
        <mc:Fallback xmlns="">
          <p:sp>
            <p:nvSpPr>
              <p:cNvPr id="2" name="文本框 1">
                <a:extLst>
                  <a:ext uri="{FF2B5EF4-FFF2-40B4-BE49-F238E27FC236}">
                    <a16:creationId xmlns:a16="http://schemas.microsoft.com/office/drawing/2014/main" id="{FD0B12B2-B947-CA7E-A0A3-9FD09DC34F19}"/>
                  </a:ext>
                </a:extLst>
              </p:cNvPr>
              <p:cNvSpPr txBox="1">
                <a:spLocks noRot="1" noChangeAspect="1" noMove="1" noResize="1" noEditPoints="1" noAdjustHandles="1" noChangeArrowheads="1" noChangeShapeType="1" noTextEdit="1"/>
              </p:cNvSpPr>
              <p:nvPr/>
            </p:nvSpPr>
            <p:spPr>
              <a:xfrm>
                <a:off x="634345" y="237941"/>
                <a:ext cx="10923310" cy="825867"/>
              </a:xfrm>
              <a:prstGeom prst="rect">
                <a:avLst/>
              </a:prstGeom>
              <a:blipFill>
                <a:blip r:embed="rId3"/>
                <a:stretch>
                  <a:fillRect l="-837" r="-3739" b="-7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771526B-5D65-0D1C-DA86-E53E7F0C6F92}"/>
                  </a:ext>
                </a:extLst>
              </p:cNvPr>
              <p:cNvSpPr txBox="1"/>
              <p:nvPr/>
            </p:nvSpPr>
            <p:spPr>
              <a:xfrm>
                <a:off x="634345" y="5736875"/>
                <a:ext cx="10923310" cy="855491"/>
              </a:xfrm>
              <a:prstGeom prst="rect">
                <a:avLst/>
              </a:prstGeom>
              <a:noFill/>
            </p:spPr>
            <p:txBody>
              <a:bodyPr wrap="square">
                <a:spAutoFit/>
              </a:bodyPr>
              <a:lstStyle/>
              <a:p>
                <a:pPr algn="just">
                  <a:lnSpc>
                    <a:spcPct val="150000"/>
                  </a:lnSpc>
                </a:pPr>
                <a:r>
                  <a:rPr lang="zh-CN" altLang="en-US" sz="2400" dirty="0">
                    <a:effectLst/>
                    <a:latin typeface="+mn-ea"/>
                    <a:cs typeface="Times New Roman" panose="02020603050405020304" pitchFamily="18" charset="0"/>
                  </a:rPr>
                  <a:t>最优解</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f>
                              <m:fPr>
                                <m:type m:val="lin"/>
                                <m:ctrlPr>
                                  <a:rPr lang="en-CN" altLang="zh-CN" sz="2400" i="1" smtClean="0">
                                    <a:effectLst/>
                                    <a:latin typeface="Cambria Math" panose="02040503050406030204" pitchFamily="18" charset="0"/>
                                    <a:ea typeface="SimSun" panose="02010600030101010101" pitchFamily="2" charset="-122"/>
                                  </a:rPr>
                                </m:ctrlPr>
                              </m:fPr>
                              <m:num>
                                <m:r>
                                  <a:rPr lang="en-US" altLang="zh-CN" sz="2400" b="0" i="1" smtClean="0">
                                    <a:effectLst/>
                                    <a:latin typeface="Cambria Math" panose="02040503050406030204" pitchFamily="18" charset="0"/>
                                    <a:ea typeface="SimSun" panose="02010600030101010101" pitchFamily="2" charset="-122"/>
                                  </a:rPr>
                                  <m:t>25</m:t>
                                </m:r>
                              </m:num>
                              <m:den>
                                <m:r>
                                  <a:rPr lang="en-US" altLang="zh-CN" sz="2400" b="0" i="1" smtClean="0">
                                    <a:effectLst/>
                                    <a:latin typeface="Cambria Math" panose="02040503050406030204" pitchFamily="18" charset="0"/>
                                    <a:ea typeface="SimSun" panose="02010600030101010101" pitchFamily="2" charset="-122"/>
                                  </a:rPr>
                                  <m:t>14</m:t>
                                </m:r>
                              </m:den>
                            </m:f>
                            <m:r>
                              <a:rPr lang="en-US" altLang="zh-CN" sz="2400" b="0" i="1" smtClean="0">
                                <a:effectLst/>
                                <a:latin typeface="Cambria Math" panose="02040503050406030204" pitchFamily="18" charset="0"/>
                                <a:ea typeface="SimSun" panose="02010600030101010101" pitchFamily="2" charset="-122"/>
                              </a:rPr>
                              <m:t>,</m:t>
                            </m:r>
                            <m:f>
                              <m:fPr>
                                <m:type m:val="lin"/>
                                <m:ctrlPr>
                                  <a:rPr lang="en-CN" altLang="zh-CN" sz="2400" i="1" smtClean="0">
                                    <a:effectLst/>
                                    <a:latin typeface="Cambria Math" panose="02040503050406030204" pitchFamily="18" charset="0"/>
                                    <a:ea typeface="SimSun" panose="02010600030101010101" pitchFamily="2" charset="-122"/>
                                  </a:rPr>
                                </m:ctrlPr>
                              </m:fPr>
                              <m:num>
                                <m:r>
                                  <a:rPr lang="en-US" altLang="zh-CN" sz="2400" b="0" i="1" smtClean="0">
                                    <a:effectLst/>
                                    <a:latin typeface="Cambria Math" panose="02040503050406030204" pitchFamily="18" charset="0"/>
                                    <a:ea typeface="SimSun" panose="02010600030101010101" pitchFamily="2" charset="-122"/>
                                  </a:rPr>
                                  <m:t>9</m:t>
                                </m:r>
                              </m:num>
                              <m:den>
                                <m:r>
                                  <a:rPr lang="en-US" altLang="zh-CN" sz="2400" b="0" i="1" smtClean="0">
                                    <a:effectLst/>
                                    <a:latin typeface="Cambria Math" panose="02040503050406030204" pitchFamily="18" charset="0"/>
                                    <a:ea typeface="SimSun" panose="02010600030101010101" pitchFamily="2" charset="-122"/>
                                  </a:rPr>
                                  <m:t>7</m:t>
                                </m:r>
                              </m:den>
                            </m:f>
                            <m:r>
                              <a:rPr lang="en-US" altLang="zh-CN" sz="2400" b="0" i="1" smtClean="0">
                                <a:latin typeface="Cambria Math" panose="02040503050406030204" pitchFamily="18" charset="0"/>
                              </a:rPr>
                              <m:t>,0,0</m:t>
                            </m:r>
                            <m:r>
                              <a:rPr lang="en-US" altLang="zh-CN" sz="2400" i="1">
                                <a:latin typeface="Cambria Math" panose="02040503050406030204" pitchFamily="18" charset="0"/>
                              </a:rPr>
                              <m:t>,</m:t>
                            </m:r>
                            <m:f>
                              <m:fPr>
                                <m:type m:val="lin"/>
                                <m:ctrlPr>
                                  <a:rPr lang="en-CN" altLang="zh-CN" sz="2400" i="1" smtClean="0">
                                    <a:effectLst/>
                                    <a:latin typeface="Cambria Math" panose="02040503050406030204" pitchFamily="18" charset="0"/>
                                    <a:ea typeface="SimSun" panose="02010600030101010101" pitchFamily="2" charset="-122"/>
                                  </a:rPr>
                                </m:ctrlPr>
                              </m:fPr>
                              <m:num>
                                <m:r>
                                  <a:rPr lang="en-US" altLang="zh-CN" sz="2400" b="0" i="1" smtClean="0">
                                    <a:effectLst/>
                                    <a:latin typeface="Cambria Math" panose="02040503050406030204" pitchFamily="18" charset="0"/>
                                    <a:ea typeface="SimSun" panose="02010600030101010101" pitchFamily="2" charset="-122"/>
                                  </a:rPr>
                                  <m:t>1</m:t>
                                </m:r>
                              </m:num>
                              <m:den>
                                <m:r>
                                  <a:rPr lang="en-US" altLang="zh-CN" sz="2400" b="0" i="1" smtClean="0">
                                    <a:effectLst/>
                                    <a:latin typeface="Cambria Math" panose="02040503050406030204" pitchFamily="18" charset="0"/>
                                    <a:ea typeface="SimSun" panose="02010600030101010101" pitchFamily="2" charset="-122"/>
                                  </a:rPr>
                                  <m:t>2</m:t>
                                </m:r>
                              </m:den>
                            </m:f>
                          </m:e>
                        </m:d>
                      </m:e>
                      <m:sup>
                        <m:r>
                          <a:rPr lang="en-US" altLang="zh-CN" sz="2400" i="1">
                            <a:latin typeface="Cambria Math" panose="02040503050406030204" pitchFamily="18" charset="0"/>
                          </a:rPr>
                          <m:t>𝑇</m:t>
                        </m:r>
                      </m:sup>
                    </m:sSup>
                  </m:oMath>
                </a14:m>
                <a:r>
                  <a:rPr lang="zh-CN" altLang="en-US" sz="2400" dirty="0">
                    <a:latin typeface="+mn-ea"/>
                  </a:rPr>
                  <a:t>，最优值为</a:t>
                </a:r>
                <a14:m>
                  <m:oMath xmlns:m="http://schemas.openxmlformats.org/officeDocument/2006/math">
                    <m:r>
                      <m:rPr>
                        <m:sty m:val="p"/>
                      </m:rPr>
                      <a:rPr lang="en-US" altLang="zh-CN" sz="2400" b="0" i="0" smtClean="0">
                        <a:effectLst/>
                        <a:latin typeface="Cambria Math" panose="02040503050406030204" pitchFamily="18" charset="0"/>
                        <a:cs typeface="Times New Roman" panose="02020603050405020304" pitchFamily="18" charset="0"/>
                      </a:rPr>
                      <m:t>z</m:t>
                    </m:r>
                    <m:r>
                      <a:rPr lang="en-US" altLang="zh-CN" sz="2400" b="0" i="0" smtClean="0">
                        <a:effectLst/>
                        <a:latin typeface="Cambria Math" panose="02040503050406030204" pitchFamily="18" charset="0"/>
                        <a:cs typeface="Times New Roman" panose="02020603050405020304" pitchFamily="18" charset="0"/>
                      </a:rPr>
                      <m:t>=</m:t>
                    </m:r>
                    <m:f>
                      <m:fPr>
                        <m:ctrlPr>
                          <a:rPr lang="en-US" altLang="zh-CN" sz="2400" b="0" i="1" smtClean="0">
                            <a:effectLst/>
                            <a:latin typeface="Cambria Math" panose="02040503050406030204" pitchFamily="18" charset="0"/>
                            <a:cs typeface="Times New Roman" panose="02020603050405020304" pitchFamily="18" charset="0"/>
                          </a:rPr>
                        </m:ctrlPr>
                      </m:fPr>
                      <m:num>
                        <m:r>
                          <a:rPr lang="en-US" altLang="zh-CN" sz="2400" b="0" i="0" smtClean="0">
                            <a:effectLst/>
                            <a:latin typeface="Cambria Math" panose="02040503050406030204" pitchFamily="18" charset="0"/>
                            <a:cs typeface="Times New Roman" panose="02020603050405020304" pitchFamily="18" charset="0"/>
                          </a:rPr>
                          <m:t>39−</m:t>
                        </m:r>
                        <m:r>
                          <a:rPr lang="en-US" altLang="zh-CN" sz="2400" b="0" i="1" smtClean="0">
                            <a:effectLst/>
                            <a:latin typeface="Cambria Math" panose="02040503050406030204" pitchFamily="18" charset="0"/>
                            <a:cs typeface="Times New Roman" panose="02020603050405020304" pitchFamily="18" charset="0"/>
                          </a:rPr>
                          <m:t>43</m:t>
                        </m:r>
                        <m:r>
                          <a:rPr lang="en-US" altLang="zh-CN" sz="2400" i="1" smtClean="0">
                            <a:effectLst/>
                            <a:latin typeface="Cambria Math" panose="02040503050406030204" pitchFamily="18" charset="0"/>
                            <a:cs typeface="Times New Roman" panose="02020603050405020304" pitchFamily="18" charset="0"/>
                          </a:rPr>
                          <m:t>𝜆</m:t>
                        </m:r>
                      </m:num>
                      <m:den>
                        <m:r>
                          <a:rPr lang="en-US" altLang="zh-CN" sz="2400" b="0" i="1" smtClean="0">
                            <a:effectLst/>
                            <a:latin typeface="Cambria Math" panose="02040503050406030204" pitchFamily="18" charset="0"/>
                            <a:cs typeface="Times New Roman" panose="02020603050405020304" pitchFamily="18" charset="0"/>
                          </a:rPr>
                          <m:t>14</m:t>
                        </m:r>
                      </m:den>
                    </m:f>
                  </m:oMath>
                </a14:m>
                <a:r>
                  <a:rPr lang="en-US" altLang="zh-CN" sz="2400" dirty="0">
                    <a:latin typeface="+mn-ea"/>
                  </a:rPr>
                  <a:t>.</a:t>
                </a:r>
                <a:endParaRPr lang="zh-CN" altLang="en-US" sz="2400" dirty="0">
                  <a:latin typeface="+mn-ea"/>
                </a:endParaRPr>
              </a:p>
            </p:txBody>
          </p:sp>
        </mc:Choice>
        <mc:Fallback xmlns="">
          <p:sp>
            <p:nvSpPr>
              <p:cNvPr id="5" name="文本框 4">
                <a:extLst>
                  <a:ext uri="{FF2B5EF4-FFF2-40B4-BE49-F238E27FC236}">
                    <a16:creationId xmlns:a16="http://schemas.microsoft.com/office/drawing/2014/main" id="{1771526B-5D65-0D1C-DA86-E53E7F0C6F92}"/>
                  </a:ext>
                </a:extLst>
              </p:cNvPr>
              <p:cNvSpPr txBox="1">
                <a:spLocks noRot="1" noChangeAspect="1" noMove="1" noResize="1" noEditPoints="1" noAdjustHandles="1" noChangeArrowheads="1" noChangeShapeType="1" noTextEdit="1"/>
              </p:cNvSpPr>
              <p:nvPr/>
            </p:nvSpPr>
            <p:spPr>
              <a:xfrm>
                <a:off x="634345" y="5736875"/>
                <a:ext cx="10923310" cy="855491"/>
              </a:xfrm>
              <a:prstGeom prst="rect">
                <a:avLst/>
              </a:prstGeom>
              <a:blipFill>
                <a:blip r:embed="rId4"/>
                <a:stretch>
                  <a:fillRect l="-837" b="-57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9939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nvGraphicFramePr>
            <p:xfrm>
              <a:off x="6560847" y="1907047"/>
              <a:ext cx="5053182" cy="3739199"/>
            </p:xfrm>
            <a:graphic>
              <a:graphicData uri="http://schemas.openxmlformats.org/drawingml/2006/table">
                <a:tbl>
                  <a:tblPr firstRow="1" firstCol="1" bandRow="1"/>
                  <a:tblGrid>
                    <a:gridCol w="632580">
                      <a:extLst>
                        <a:ext uri="{9D8B030D-6E8A-4147-A177-3AD203B41FA5}">
                          <a16:colId xmlns:a16="http://schemas.microsoft.com/office/drawing/2014/main" val="2673772826"/>
                        </a:ext>
                      </a:extLst>
                    </a:gridCol>
                    <a:gridCol w="632580">
                      <a:extLst>
                        <a:ext uri="{9D8B030D-6E8A-4147-A177-3AD203B41FA5}">
                          <a16:colId xmlns:a16="http://schemas.microsoft.com/office/drawing/2014/main" val="2617236624"/>
                        </a:ext>
                      </a:extLst>
                    </a:gridCol>
                    <a:gridCol w="523862">
                      <a:extLst>
                        <a:ext uri="{9D8B030D-6E8A-4147-A177-3AD203B41FA5}">
                          <a16:colId xmlns:a16="http://schemas.microsoft.com/office/drawing/2014/main" val="4150211959"/>
                        </a:ext>
                      </a:extLst>
                    </a:gridCol>
                    <a:gridCol w="615282">
                      <a:extLst>
                        <a:ext uri="{9D8B030D-6E8A-4147-A177-3AD203B41FA5}">
                          <a16:colId xmlns:a16="http://schemas.microsoft.com/office/drawing/2014/main" val="3570847064"/>
                        </a:ext>
                      </a:extLst>
                    </a:gridCol>
                    <a:gridCol w="817874">
                      <a:extLst>
                        <a:ext uri="{9D8B030D-6E8A-4147-A177-3AD203B41FA5}">
                          <a16:colId xmlns:a16="http://schemas.microsoft.com/office/drawing/2014/main" val="956899930"/>
                        </a:ext>
                      </a:extLst>
                    </a:gridCol>
                    <a:gridCol w="568554">
                      <a:extLst>
                        <a:ext uri="{9D8B030D-6E8A-4147-A177-3AD203B41FA5}">
                          <a16:colId xmlns:a16="http://schemas.microsoft.com/office/drawing/2014/main" val="2151239723"/>
                        </a:ext>
                      </a:extLst>
                    </a:gridCol>
                    <a:gridCol w="631225">
                      <a:extLst>
                        <a:ext uri="{9D8B030D-6E8A-4147-A177-3AD203B41FA5}">
                          <a16:colId xmlns:a16="http://schemas.microsoft.com/office/drawing/2014/main" val="834012947"/>
                        </a:ext>
                      </a:extLst>
                    </a:gridCol>
                    <a:gridCol w="631225">
                      <a:extLst>
                        <a:ext uri="{9D8B030D-6E8A-4147-A177-3AD203B41FA5}">
                          <a16:colId xmlns:a16="http://schemas.microsoft.com/office/drawing/2014/main" val="3963573122"/>
                        </a:ext>
                      </a:extLst>
                    </a:gridCol>
                  </a:tblGrid>
                  <a:tr h="84810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1785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5083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kern="1200" smtClean="0">
                                    <a:solidFill>
                                      <a:schemeClr val="tx1"/>
                                    </a:solidFill>
                                    <a:effectLst/>
                                    <a:latin typeface="Cambria Math" panose="02040503050406030204" pitchFamily="18" charset="0"/>
                                    <a:ea typeface="+mn-ea"/>
                                    <a:cs typeface="+mn-cs"/>
                                  </a:rPr>
                                  <m:t>0</m:t>
                                </m:r>
                              </m:oMath>
                            </m:oMathPara>
                          </a14:m>
                          <a:endParaRPr lang="en-CN" altLang="zh-CN" sz="1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3</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smtClean="0">
                                    <a:effectLst/>
                                    <a:latin typeface="Cambria Math" panose="02040503050406030204" pitchFamily="18" charset="0"/>
                                    <a:ea typeface="SimSun" panose="02010600030101010101" pitchFamily="2" charset="-122"/>
                                  </a:rPr>
                                  <m:t>1</m:t>
                                </m:r>
                                <m:r>
                                  <a:rPr lang="en-US" altLang="zh-CN"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083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800" b="0" i="1" kern="1200" smtClean="0">
                                    <a:solidFill>
                                      <a:schemeClr val="tx1"/>
                                    </a:solidFill>
                                    <a:effectLst/>
                                    <a:latin typeface="Cambria Math" panose="02040503050406030204" pitchFamily="18" charset="0"/>
                                    <a:ea typeface="+mn-ea"/>
                                    <a:cs typeface="+mn-cs"/>
                                  </a:rPr>
                                  <m:t>0</m:t>
                                </m:r>
                              </m:oMath>
                            </m:oMathPara>
                          </a14:m>
                          <a:endParaRPr lang="en-CN" altLang="zh-CN" sz="18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4</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smtClean="0">
                                    <a:effectLst/>
                                    <a:latin typeface="Cambria Math" panose="02040503050406030204" pitchFamily="18" charset="0"/>
                                    <a:ea typeface="SimSun" panose="02010600030101010101" pitchFamily="2" charset="-122"/>
                                  </a:rPr>
                                  <m:t>1</m:t>
                                </m:r>
                                <m:r>
                                  <a:rPr lang="en-US" altLang="zh-CN" sz="1800" b="0" i="1" smtClean="0">
                                    <a:effectLst/>
                                    <a:latin typeface="Cambria Math" panose="02040503050406030204" pitchFamily="18" charset="0"/>
                                    <a:ea typeface="SimSun" panose="02010600030101010101" pitchFamily="2" charset="-122"/>
                                  </a:rPr>
                                  <m:t>2</m:t>
                                </m:r>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6</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08383">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smtClean="0">
                                    <a:effectLst/>
                                    <a:latin typeface="Cambria Math" panose="02040503050406030204" pitchFamily="18" charset="0"/>
                                    <a:ea typeface="SimSun" panose="02010600030101010101" pitchFamily="2" charset="-122"/>
                                  </a:rPr>
                                  <m:t>1</m:t>
                                </m:r>
                              </m:oMath>
                            </m:oMathPara>
                          </a14:m>
                          <a:endParaRPr lang="en-CN" altLang="zh-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4810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m:t>
                                </m:r>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m:rPr>
                                    <m:nor/>
                                  </m:rPr>
                                  <a:rPr lang="en-US" altLang="zh-CN" sz="1800" dirty="0" smtClean="0">
                                    <a:effectLst/>
                                    <a:latin typeface="SimSun" panose="02010600030101010101" pitchFamily="2" charset="-122"/>
                                    <a:ea typeface="Times New Roman" panose="02020603050405020304" pitchFamily="18" charset="0"/>
                                  </a:rPr>
                                  <m:t>0</m:t>
                                </m:r>
                              </m:oMath>
                            </m:oMathPara>
                          </a14:m>
                          <a:endParaRPr lang="en-CN" altLang="zh-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m:rPr>
                                    <m:nor/>
                                  </m:rPr>
                                  <a:rPr lang="en-US" altLang="zh-CN" sz="1800" dirty="0" smtClean="0">
                                    <a:effectLst/>
                                    <a:latin typeface="SimSun" panose="02010600030101010101" pitchFamily="2" charset="-122"/>
                                    <a:ea typeface="Times New Roman" panose="02020603050405020304" pitchFamily="18" charset="0"/>
                                  </a:rPr>
                                  <m:t>0</m:t>
                                </m:r>
                              </m:oMath>
                            </m:oMathPara>
                          </a14:m>
                          <a:endParaRPr lang="en-CN" altLang="zh-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3" name="Table 8">
                <a:extLst>
                  <a:ext uri="{FF2B5EF4-FFF2-40B4-BE49-F238E27FC236}">
                    <a16:creationId xmlns:a16="http://schemas.microsoft.com/office/drawing/2014/main" id="{9840279E-B5CC-E542-ADEC-C1D79F8DA8D1}"/>
                  </a:ext>
                </a:extLst>
              </p:cNvPr>
              <p:cNvGraphicFramePr>
                <a:graphicFrameLocks noGrp="1"/>
              </p:cNvGraphicFramePr>
              <p:nvPr>
                <p:extLst>
                  <p:ext uri="{D42A27DB-BD31-4B8C-83A1-F6EECF244321}">
                    <p14:modId xmlns:p14="http://schemas.microsoft.com/office/powerpoint/2010/main" val="3462404695"/>
                  </p:ext>
                </p:extLst>
              </p:nvPr>
            </p:nvGraphicFramePr>
            <p:xfrm>
              <a:off x="6560847" y="1907047"/>
              <a:ext cx="5053182" cy="3739199"/>
            </p:xfrm>
            <a:graphic>
              <a:graphicData uri="http://schemas.openxmlformats.org/drawingml/2006/table">
                <a:tbl>
                  <a:tblPr firstRow="1" firstCol="1" bandRow="1"/>
                  <a:tblGrid>
                    <a:gridCol w="632580">
                      <a:extLst>
                        <a:ext uri="{9D8B030D-6E8A-4147-A177-3AD203B41FA5}">
                          <a16:colId xmlns:a16="http://schemas.microsoft.com/office/drawing/2014/main" val="2673772826"/>
                        </a:ext>
                      </a:extLst>
                    </a:gridCol>
                    <a:gridCol w="632580">
                      <a:extLst>
                        <a:ext uri="{9D8B030D-6E8A-4147-A177-3AD203B41FA5}">
                          <a16:colId xmlns:a16="http://schemas.microsoft.com/office/drawing/2014/main" val="2617236624"/>
                        </a:ext>
                      </a:extLst>
                    </a:gridCol>
                    <a:gridCol w="523862">
                      <a:extLst>
                        <a:ext uri="{9D8B030D-6E8A-4147-A177-3AD203B41FA5}">
                          <a16:colId xmlns:a16="http://schemas.microsoft.com/office/drawing/2014/main" val="4150211959"/>
                        </a:ext>
                      </a:extLst>
                    </a:gridCol>
                    <a:gridCol w="615282">
                      <a:extLst>
                        <a:ext uri="{9D8B030D-6E8A-4147-A177-3AD203B41FA5}">
                          <a16:colId xmlns:a16="http://schemas.microsoft.com/office/drawing/2014/main" val="3570847064"/>
                        </a:ext>
                      </a:extLst>
                    </a:gridCol>
                    <a:gridCol w="817874">
                      <a:extLst>
                        <a:ext uri="{9D8B030D-6E8A-4147-A177-3AD203B41FA5}">
                          <a16:colId xmlns:a16="http://schemas.microsoft.com/office/drawing/2014/main" val="956899930"/>
                        </a:ext>
                      </a:extLst>
                    </a:gridCol>
                    <a:gridCol w="568554">
                      <a:extLst>
                        <a:ext uri="{9D8B030D-6E8A-4147-A177-3AD203B41FA5}">
                          <a16:colId xmlns:a16="http://schemas.microsoft.com/office/drawing/2014/main" val="2151239723"/>
                        </a:ext>
                      </a:extLst>
                    </a:gridCol>
                    <a:gridCol w="631225">
                      <a:extLst>
                        <a:ext uri="{9D8B030D-6E8A-4147-A177-3AD203B41FA5}">
                          <a16:colId xmlns:a16="http://schemas.microsoft.com/office/drawing/2014/main" val="834012947"/>
                        </a:ext>
                      </a:extLst>
                    </a:gridCol>
                    <a:gridCol w="631225">
                      <a:extLst>
                        <a:ext uri="{9D8B030D-6E8A-4147-A177-3AD203B41FA5}">
                          <a16:colId xmlns:a16="http://schemas.microsoft.com/office/drawing/2014/main" val="3963573122"/>
                        </a:ext>
                      </a:extLst>
                    </a:gridCol>
                  </a:tblGrid>
                  <a:tr h="84810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40" t="-719" r="-182993" b="-343885"/>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2079" t="-719" r="-432673" b="-343885"/>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5522" t="-719" r="-226119" b="-343885"/>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1785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2" t="-162791" r="-700000" b="-455814"/>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3023" t="-162791" r="-625581" b="-4558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2079" t="-162791" r="-432673" b="-4558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5522" t="-162791" r="-226119" b="-4558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3830" t="-162791" r="-222340" b="-4558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5825" t="-162791" r="-102913" b="-455814"/>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99038" t="-162791" r="-1923" b="-455814"/>
                          </a:stretch>
                        </a:blipFill>
                      </a:tcPr>
                    </a:tc>
                    <a:extLst>
                      <a:ext uri="{0D108BD9-81ED-4DB2-BD59-A6C34878D82A}">
                        <a16:rowId xmlns:a16="http://schemas.microsoft.com/office/drawing/2014/main" val="996163856"/>
                      </a:ext>
                    </a:extLst>
                  </a:tr>
                  <a:tr h="508383">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2" t="-272289" r="-700000" b="-37228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0962" t="-272289" r="-600000" b="-37228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3023" t="-272289" r="-625581" b="-372289"/>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2</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5522" t="-272289" r="-226119" b="-37228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3830" t="-272289" r="-222340" b="-372289"/>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08383">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962" t="-367857" r="-700000" b="-26785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0962" t="-367857" r="-600000" b="-26785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3023" t="-367857" r="-625581" b="-267857"/>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6</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08383">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00962" t="-467857" r="-600000" b="-16785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43023" t="-467857" r="-625581" b="-167857"/>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5522" t="-467857" r="-226119" b="-16785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3830" t="-467857" r="-222340" b="-167857"/>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4810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40" t="-343165" r="-182993" b="-1439"/>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2079" t="-343165" r="-432673" b="-143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95522" t="-343165" r="-226119" b="-143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563830" t="-343165" r="-222340" b="-1439"/>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05825" t="-343165" r="-102913" b="-1439"/>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
        <p:nvSpPr>
          <p:cNvPr id="4" name="文本框 3">
            <a:extLst>
              <a:ext uri="{FF2B5EF4-FFF2-40B4-BE49-F238E27FC236}">
                <a16:creationId xmlns:a16="http://schemas.microsoft.com/office/drawing/2014/main" id="{D6350B14-B8F8-71A4-BD41-9B1ADB620021}"/>
              </a:ext>
            </a:extLst>
          </p:cNvPr>
          <p:cNvSpPr txBox="1"/>
          <p:nvPr/>
        </p:nvSpPr>
        <p:spPr>
          <a:xfrm>
            <a:off x="8832917" y="1321506"/>
            <a:ext cx="2337847" cy="461665"/>
          </a:xfrm>
          <a:prstGeom prst="rect">
            <a:avLst/>
          </a:prstGeom>
          <a:noFill/>
        </p:spPr>
        <p:txBody>
          <a:bodyPr wrap="square" rtlCol="0">
            <a:spAutoFit/>
          </a:bodyPr>
          <a:lstStyle/>
          <a:p>
            <a:r>
              <a:rPr lang="zh-CN" altLang="en-US" sz="2400" dirty="0"/>
              <a:t>表</a:t>
            </a:r>
            <a:r>
              <a:rPr lang="en-US" altLang="zh-CN" sz="2400" dirty="0"/>
              <a:t>3</a:t>
            </a:r>
            <a:endParaRPr lang="zh-CN" altLang="en-US" sz="2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D0B12B2-B947-CA7E-A0A3-9FD09DC34F19}"/>
                  </a:ext>
                </a:extLst>
              </p:cNvPr>
              <p:cNvSpPr txBox="1"/>
              <p:nvPr/>
            </p:nvSpPr>
            <p:spPr>
              <a:xfrm>
                <a:off x="634344" y="237941"/>
                <a:ext cx="11130307" cy="588879"/>
              </a:xfrm>
              <a:prstGeom prst="rect">
                <a:avLst/>
              </a:prstGeom>
              <a:noFill/>
            </p:spPr>
            <p:txBody>
              <a:bodyPr wrap="square">
                <a:spAutoFit/>
              </a:bodyPr>
              <a:lstStyle/>
              <a:p>
                <a:pPr algn="just">
                  <a:lnSpc>
                    <a:spcPct val="150000"/>
                  </a:lnSpc>
                </a:pPr>
                <a:r>
                  <a:rPr lang="zh-CN" altLang="zh-CN" sz="2400" dirty="0">
                    <a:effectLst/>
                    <a:latin typeface="+mn-ea"/>
                    <a:cs typeface="Times New Roman" panose="02020603050405020304" pitchFamily="18" charset="0"/>
                  </a:rPr>
                  <a:t>当</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𝜆</m:t>
                    </m:r>
                    <m:r>
                      <a:rPr lang="en-US" altLang="zh-CN" sz="2400" b="0" i="1" smtClean="0">
                        <a:effectLst/>
                        <a:latin typeface="Cambria Math" panose="02040503050406030204" pitchFamily="18" charset="0"/>
                        <a:cs typeface="Times New Roman" panose="02020603050405020304" pitchFamily="18" charset="0"/>
                      </a:rPr>
                      <m:t>&lt;−2</m:t>
                    </m:r>
                  </m:oMath>
                </a14:m>
                <a:r>
                  <a:rPr lang="zh-CN" altLang="zh-CN" sz="2400" dirty="0">
                    <a:effectLst/>
                    <a:latin typeface="+mn-ea"/>
                    <a:cs typeface="Times New Roman" panose="02020603050405020304" pitchFamily="18" charset="0"/>
                  </a:rPr>
                  <a:t>时</a:t>
                </a:r>
                <a:r>
                  <a:rPr lang="zh-CN" altLang="en-US" sz="2400" dirty="0">
                    <a:effectLst/>
                    <a:latin typeface="+mn-ea"/>
                    <a:cs typeface="Times New Roman" panose="02020603050405020304" pitchFamily="18" charset="0"/>
                  </a:rPr>
                  <a:t>，表</a:t>
                </a:r>
                <a:r>
                  <a:rPr lang="en-US" altLang="zh-CN" sz="2400" dirty="0">
                    <a:effectLst/>
                    <a:latin typeface="+mn-ea"/>
                    <a:cs typeface="Times New Roman" panose="02020603050405020304" pitchFamily="18" charset="0"/>
                  </a:rPr>
                  <a:t>1</a:t>
                </a:r>
                <a:r>
                  <a:rPr lang="zh-CN" altLang="en-US" sz="2400" dirty="0">
                    <a:effectLst/>
                    <a:latin typeface="+mn-ea"/>
                    <a:cs typeface="Times New Roman" panose="02020603050405020304" pitchFamily="18" charset="0"/>
                  </a:rPr>
                  <a:t>中的检验数</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&lt;0</m:t>
                    </m:r>
                  </m:oMath>
                </a14:m>
                <a:r>
                  <a:rPr lang="zh-CN" altLang="en-US" sz="2400" dirty="0">
                    <a:effectLst/>
                    <a:latin typeface="+mn-ea"/>
                    <a:cs typeface="Times New Roman" panose="02020603050405020304" pitchFamily="18" charset="0"/>
                  </a:rPr>
                  <a:t>，最优解改变，用单纯形法继续计算，得表</a:t>
                </a:r>
                <a:r>
                  <a:rPr lang="en-US" altLang="zh-CN" sz="2400" dirty="0">
                    <a:effectLst/>
                    <a:latin typeface="+mn-ea"/>
                    <a:cs typeface="Times New Roman" panose="02020603050405020304" pitchFamily="18" charset="0"/>
                  </a:rPr>
                  <a:t>3</a:t>
                </a:r>
                <a:r>
                  <a:rPr lang="zh-CN" altLang="en-US" sz="2400" dirty="0">
                    <a:effectLst/>
                    <a:latin typeface="+mn-ea"/>
                    <a:cs typeface="Times New Roman" panose="02020603050405020304" pitchFamily="18" charset="0"/>
                  </a:rPr>
                  <a:t>：</a:t>
                </a:r>
                <a:endParaRPr lang="zh-CN" altLang="en-US" sz="2400" dirty="0">
                  <a:latin typeface="+mn-ea"/>
                </a:endParaRPr>
              </a:p>
            </p:txBody>
          </p:sp>
        </mc:Choice>
        <mc:Fallback xmlns="">
          <p:sp>
            <p:nvSpPr>
              <p:cNvPr id="2" name="文本框 1">
                <a:extLst>
                  <a:ext uri="{FF2B5EF4-FFF2-40B4-BE49-F238E27FC236}">
                    <a16:creationId xmlns:a16="http://schemas.microsoft.com/office/drawing/2014/main" id="{FD0B12B2-B947-CA7E-A0A3-9FD09DC34F19}"/>
                  </a:ext>
                </a:extLst>
              </p:cNvPr>
              <p:cNvSpPr txBox="1">
                <a:spLocks noRot="1" noChangeAspect="1" noMove="1" noResize="1" noEditPoints="1" noAdjustHandles="1" noChangeArrowheads="1" noChangeShapeType="1" noTextEdit="1"/>
              </p:cNvSpPr>
              <p:nvPr/>
            </p:nvSpPr>
            <p:spPr>
              <a:xfrm>
                <a:off x="634344" y="237941"/>
                <a:ext cx="11130307" cy="588879"/>
              </a:xfrm>
              <a:prstGeom prst="rect">
                <a:avLst/>
              </a:prstGeom>
              <a:blipFill>
                <a:blip r:embed="rId3"/>
                <a:stretch>
                  <a:fillRect l="-821" r="-3669" b="-237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771526B-5D65-0D1C-DA86-E53E7F0C6F92}"/>
                  </a:ext>
                </a:extLst>
              </p:cNvPr>
              <p:cNvSpPr txBox="1"/>
              <p:nvPr/>
            </p:nvSpPr>
            <p:spPr>
              <a:xfrm>
                <a:off x="634345" y="5736875"/>
                <a:ext cx="10923310" cy="594458"/>
              </a:xfrm>
              <a:prstGeom prst="rect">
                <a:avLst/>
              </a:prstGeom>
              <a:noFill/>
            </p:spPr>
            <p:txBody>
              <a:bodyPr wrap="square">
                <a:spAutoFit/>
              </a:bodyPr>
              <a:lstStyle/>
              <a:p>
                <a:pPr algn="just">
                  <a:lnSpc>
                    <a:spcPct val="150000"/>
                  </a:lnSpc>
                </a:pPr>
                <a:r>
                  <a:rPr lang="zh-CN" altLang="en-US" sz="2400" dirty="0">
                    <a:effectLst/>
                    <a:latin typeface="+mn-ea"/>
                    <a:cs typeface="Times New Roman" panose="02020603050405020304" pitchFamily="18" charset="0"/>
                  </a:rPr>
                  <a:t>最优解</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r>
                              <a:rPr lang="en-US" altLang="zh-CN" sz="2400" i="1" smtClean="0">
                                <a:effectLst/>
                                <a:latin typeface="Cambria Math" panose="02040503050406030204" pitchFamily="18" charset="0"/>
                                <a:ea typeface="SimSun" panose="02010600030101010101" pitchFamily="2" charset="-122"/>
                              </a:rPr>
                              <m:t>0</m:t>
                            </m:r>
                            <m:r>
                              <a:rPr lang="en-US" altLang="zh-CN" sz="2400" b="0" i="1" smtClean="0">
                                <a:effectLst/>
                                <a:latin typeface="Cambria Math" panose="02040503050406030204" pitchFamily="18" charset="0"/>
                                <a:ea typeface="SimSun" panose="02010600030101010101" pitchFamily="2" charset="-122"/>
                              </a:rPr>
                              <m:t>,</m:t>
                            </m:r>
                            <m:r>
                              <a:rPr lang="en-US" altLang="zh-CN" sz="2400" i="1" smtClean="0">
                                <a:effectLst/>
                                <a:latin typeface="Cambria Math" panose="02040503050406030204" pitchFamily="18" charset="0"/>
                                <a:ea typeface="SimSun" panose="02010600030101010101" pitchFamily="2" charset="-122"/>
                              </a:rPr>
                              <m:t>0</m:t>
                            </m:r>
                            <m:r>
                              <a:rPr lang="en-US" altLang="zh-CN" sz="2400" b="0" i="1" smtClean="0">
                                <a:latin typeface="Cambria Math" panose="02040503050406030204" pitchFamily="18" charset="0"/>
                              </a:rPr>
                              <m:t>,10,12</m:t>
                            </m:r>
                            <m:r>
                              <a:rPr lang="en-US" altLang="zh-CN" sz="2400" i="1">
                                <a:latin typeface="Cambria Math" panose="02040503050406030204" pitchFamily="18" charset="0"/>
                              </a:rPr>
                              <m:t>,</m:t>
                            </m:r>
                            <m:r>
                              <a:rPr lang="en-US" altLang="zh-CN" sz="2400" i="1" smtClean="0">
                                <a:effectLst/>
                                <a:latin typeface="Cambria Math" panose="02040503050406030204" pitchFamily="18" charset="0"/>
                                <a:ea typeface="SimSun" panose="02010600030101010101" pitchFamily="2" charset="-122"/>
                              </a:rPr>
                              <m:t>1</m:t>
                            </m:r>
                          </m:e>
                        </m:d>
                      </m:e>
                      <m:sup>
                        <m:r>
                          <a:rPr lang="en-US" altLang="zh-CN" sz="2400" i="1">
                            <a:latin typeface="Cambria Math" panose="02040503050406030204" pitchFamily="18" charset="0"/>
                          </a:rPr>
                          <m:t>𝑇</m:t>
                        </m:r>
                      </m:sup>
                    </m:sSup>
                  </m:oMath>
                </a14:m>
                <a:r>
                  <a:rPr lang="zh-CN" altLang="en-US" sz="2400" dirty="0">
                    <a:latin typeface="+mn-ea"/>
                  </a:rPr>
                  <a:t>，最优值为</a:t>
                </a:r>
                <a14:m>
                  <m:oMath xmlns:m="http://schemas.openxmlformats.org/officeDocument/2006/math">
                    <m:r>
                      <m:rPr>
                        <m:sty m:val="p"/>
                      </m:rPr>
                      <a:rPr lang="en-US" altLang="zh-CN" sz="2400" b="0" i="0" smtClean="0">
                        <a:effectLst/>
                        <a:latin typeface="Cambria Math" panose="02040503050406030204" pitchFamily="18" charset="0"/>
                        <a:cs typeface="Times New Roman" panose="02020603050405020304" pitchFamily="18" charset="0"/>
                      </a:rPr>
                      <m:t>z</m:t>
                    </m:r>
                    <m:r>
                      <a:rPr lang="en-US" altLang="zh-CN" sz="2400" b="0" i="0" smtClean="0">
                        <a:effectLst/>
                        <a:latin typeface="Cambria Math" panose="02040503050406030204" pitchFamily="18" charset="0"/>
                        <a:cs typeface="Times New Roman" panose="02020603050405020304" pitchFamily="18" charset="0"/>
                      </a:rPr>
                      <m:t>=</m:t>
                    </m:r>
                    <m:r>
                      <a:rPr lang="en-US" altLang="zh-CN" sz="2400" b="0" i="1" smtClean="0">
                        <a:effectLst/>
                        <a:latin typeface="Cambria Math" panose="02040503050406030204" pitchFamily="18" charset="0"/>
                        <a:cs typeface="Times New Roman" panose="02020603050405020304" pitchFamily="18" charset="0"/>
                      </a:rPr>
                      <m:t>0</m:t>
                    </m:r>
                  </m:oMath>
                </a14:m>
                <a:r>
                  <a:rPr lang="en-US" altLang="zh-CN" sz="2400" dirty="0">
                    <a:latin typeface="+mn-ea"/>
                  </a:rPr>
                  <a:t>.</a:t>
                </a:r>
                <a:endParaRPr lang="zh-CN" altLang="en-US" sz="2400" dirty="0">
                  <a:latin typeface="+mn-ea"/>
                </a:endParaRPr>
              </a:p>
            </p:txBody>
          </p:sp>
        </mc:Choice>
        <mc:Fallback xmlns="">
          <p:sp>
            <p:nvSpPr>
              <p:cNvPr id="5" name="文本框 4">
                <a:extLst>
                  <a:ext uri="{FF2B5EF4-FFF2-40B4-BE49-F238E27FC236}">
                    <a16:creationId xmlns:a16="http://schemas.microsoft.com/office/drawing/2014/main" id="{1771526B-5D65-0D1C-DA86-E53E7F0C6F92}"/>
                  </a:ext>
                </a:extLst>
              </p:cNvPr>
              <p:cNvSpPr txBox="1">
                <a:spLocks noRot="1" noChangeAspect="1" noMove="1" noResize="1" noEditPoints="1" noAdjustHandles="1" noChangeArrowheads="1" noChangeShapeType="1" noTextEdit="1"/>
              </p:cNvSpPr>
              <p:nvPr/>
            </p:nvSpPr>
            <p:spPr>
              <a:xfrm>
                <a:off x="634345" y="5736875"/>
                <a:ext cx="10923310" cy="594458"/>
              </a:xfrm>
              <a:prstGeom prst="rect">
                <a:avLst/>
              </a:prstGeom>
              <a:blipFill>
                <a:blip r:embed="rId4"/>
                <a:stretch>
                  <a:fillRect l="-837" b="-234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8">
                <a:extLst>
                  <a:ext uri="{FF2B5EF4-FFF2-40B4-BE49-F238E27FC236}">
                    <a16:creationId xmlns:a16="http://schemas.microsoft.com/office/drawing/2014/main" id="{2EEAC0F3-C4C4-7656-804F-DDC4F679879F}"/>
                  </a:ext>
                </a:extLst>
              </p:cNvPr>
              <p:cNvGraphicFramePr>
                <a:graphicFrameLocks noGrp="1"/>
              </p:cNvGraphicFramePr>
              <p:nvPr/>
            </p:nvGraphicFramePr>
            <p:xfrm>
              <a:off x="995695" y="1907046"/>
              <a:ext cx="5203802" cy="3829829"/>
            </p:xfrm>
            <a:graphic>
              <a:graphicData uri="http://schemas.openxmlformats.org/drawingml/2006/table">
                <a:tbl>
                  <a:tblPr firstRow="1" firstCol="1" bandRow="1"/>
                  <a:tblGrid>
                    <a:gridCol w="651436">
                      <a:extLst>
                        <a:ext uri="{9D8B030D-6E8A-4147-A177-3AD203B41FA5}">
                          <a16:colId xmlns:a16="http://schemas.microsoft.com/office/drawing/2014/main" val="2673772826"/>
                        </a:ext>
                      </a:extLst>
                    </a:gridCol>
                    <a:gridCol w="651436">
                      <a:extLst>
                        <a:ext uri="{9D8B030D-6E8A-4147-A177-3AD203B41FA5}">
                          <a16:colId xmlns:a16="http://schemas.microsoft.com/office/drawing/2014/main" val="2617236624"/>
                        </a:ext>
                      </a:extLst>
                    </a:gridCol>
                    <a:gridCol w="500842">
                      <a:extLst>
                        <a:ext uri="{9D8B030D-6E8A-4147-A177-3AD203B41FA5}">
                          <a16:colId xmlns:a16="http://schemas.microsoft.com/office/drawing/2014/main" val="4150211959"/>
                        </a:ext>
                      </a:extLst>
                    </a:gridCol>
                    <a:gridCol w="672257">
                      <a:extLst>
                        <a:ext uri="{9D8B030D-6E8A-4147-A177-3AD203B41FA5}">
                          <a16:colId xmlns:a16="http://schemas.microsoft.com/office/drawing/2014/main" val="3570847064"/>
                        </a:ext>
                      </a:extLst>
                    </a:gridCol>
                    <a:gridCol w="842253">
                      <a:extLst>
                        <a:ext uri="{9D8B030D-6E8A-4147-A177-3AD203B41FA5}">
                          <a16:colId xmlns:a16="http://schemas.microsoft.com/office/drawing/2014/main" val="956899930"/>
                        </a:ext>
                      </a:extLst>
                    </a:gridCol>
                    <a:gridCol w="585500">
                      <a:extLst>
                        <a:ext uri="{9D8B030D-6E8A-4147-A177-3AD203B41FA5}">
                          <a16:colId xmlns:a16="http://schemas.microsoft.com/office/drawing/2014/main" val="2151239723"/>
                        </a:ext>
                      </a:extLst>
                    </a:gridCol>
                    <a:gridCol w="650039">
                      <a:extLst>
                        <a:ext uri="{9D8B030D-6E8A-4147-A177-3AD203B41FA5}">
                          <a16:colId xmlns:a16="http://schemas.microsoft.com/office/drawing/2014/main" val="834012947"/>
                        </a:ext>
                      </a:extLst>
                    </a:gridCol>
                    <a:gridCol w="650039">
                      <a:extLst>
                        <a:ext uri="{9D8B030D-6E8A-4147-A177-3AD203B41FA5}">
                          <a16:colId xmlns:a16="http://schemas.microsoft.com/office/drawing/2014/main" val="3963573122"/>
                        </a:ext>
                      </a:extLst>
                    </a:gridCol>
                  </a:tblGrid>
                  <a:tr h="57183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𝑗</m:t>
                                    </m:r>
                                  </m:sub>
                                </m:sSub>
                                <m:r>
                                  <a:rPr lang="en-CN" sz="1800" i="1">
                                    <a:effectLst/>
                                    <a:latin typeface="Cambria Math" panose="02040503050406030204" pitchFamily="18" charset="0"/>
                                    <a:ea typeface="SimSun" panose="02010600030101010101" pitchFamily="2" charset="-122"/>
                                  </a:rPr>
                                  <m:t>→</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r>
                                  <a:rPr lang="en-US" altLang="zh-CN" sz="1800" b="0" i="1" kern="1200" smtClean="0">
                                    <a:solidFill>
                                      <a:srgbClr val="FF0000"/>
                                    </a:solidFill>
                                    <a:effectLst/>
                                    <a:latin typeface="Cambria Math" panose="02040503050406030204" pitchFamily="18" charset="0"/>
                                    <a:ea typeface="+mn-ea"/>
                                    <a:cs typeface="+mn-cs"/>
                                  </a:rPr>
                                  <m:t>)</m:t>
                                </m:r>
                              </m:oMath>
                            </m:oMathPara>
                          </a14:m>
                          <a:endParaRPr lang="en-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45408">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𝑐</m:t>
                                    </m:r>
                                  </m:e>
                                  <m:sub>
                                    <m:r>
                                      <a:rPr lang="en-CN" sz="1800" i="1">
                                        <a:effectLst/>
                                        <a:latin typeface="Cambria Math" panose="02040503050406030204" pitchFamily="18" charset="0"/>
                                        <a:ea typeface="SimSun" panose="02010600030101010101" pitchFamily="2" charset="-122"/>
                                      </a:rPr>
                                      <m:t>𝐵</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CN" sz="1800" i="1">
                                        <a:effectLst/>
                                        <a:latin typeface="Cambria Math" panose="02040503050406030204" pitchFamily="18" charset="0"/>
                                        <a:ea typeface="SimSun" panose="02010600030101010101" pitchFamily="2" charset="-122"/>
                                      </a:rPr>
                                    </m:ctrlPr>
                                  </m:accPr>
                                  <m:e>
                                    <m:r>
                                      <a:rPr lang="en-CN" sz="1800" i="1">
                                        <a:effectLst/>
                                        <a:latin typeface="Cambria Math" panose="02040503050406030204" pitchFamily="18" charset="0"/>
                                        <a:ea typeface="SimSun" panose="02010600030101010101" pitchFamily="2" charset="-122"/>
                                      </a:rPr>
                                      <m:t>𝑏</m:t>
                                    </m:r>
                                  </m:e>
                                </m:acc>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1</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3</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4</m:t>
                                    </m:r>
                                  </m:sub>
                                </m:sSub>
                              </m:oMath>
                            </m:oMathPara>
                          </a14:m>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CN" sz="1800" i="1">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163856"/>
                      </a:ext>
                    </a:extLst>
                  </a:tr>
                  <a:tr h="535437">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kern="1200" smtClean="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𝜆</m:t>
                                </m:r>
                                <m:r>
                                  <a:rPr lang="en-US" altLang="zh-CN" sz="1200" b="0" i="1" kern="1200" smtClean="0">
                                    <a:solidFill>
                                      <a:schemeClr val="tx1"/>
                                    </a:solidFill>
                                    <a:effectLst/>
                                    <a:latin typeface="Cambria Math" panose="02040503050406030204" pitchFamily="18" charset="0"/>
                                    <a:ea typeface="+mn-ea"/>
                                    <a:cs typeface="+mn-cs"/>
                                  </a:rPr>
                                  <m:t>)</m:t>
                                </m:r>
                              </m:oMath>
                            </m:oMathPara>
                          </a14:m>
                          <a:endParaRPr lang="en-CN" altLang="zh-CN" sz="1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2</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1</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35437">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4</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28</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35437">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smtClean="0">
                                        <a:effectLst/>
                                        <a:latin typeface="Cambria Math" panose="02040503050406030204" pitchFamily="18" charset="0"/>
                                        <a:ea typeface="SimSun" panose="02010600030101010101" pitchFamily="2" charset="-122"/>
                                      </a:rPr>
                                    </m:ctrlPr>
                                  </m:sSubPr>
                                  <m:e>
                                    <m:r>
                                      <a:rPr lang="en-CN" sz="1800" i="1">
                                        <a:effectLst/>
                                        <a:latin typeface="Cambria Math" panose="02040503050406030204" pitchFamily="18" charset="0"/>
                                        <a:ea typeface="SimSun" panose="02010600030101010101" pitchFamily="2" charset="-122"/>
                                      </a:rPr>
                                      <m:t>𝑥</m:t>
                                    </m:r>
                                  </m:e>
                                  <m:sub>
                                    <m:r>
                                      <a:rPr lang="en-US" sz="1800" b="0" i="1" smtClean="0">
                                        <a:effectLst/>
                                        <a:latin typeface="Cambria Math" panose="02040503050406030204" pitchFamily="18" charset="0"/>
                                        <a:ea typeface="SimSun" panose="02010600030101010101" pitchFamily="2" charset="-122"/>
                                      </a:rPr>
                                      <m:t>5</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3</m:t>
                                </m:r>
                              </m:oMath>
                            </m:oMathPara>
                          </a14:m>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7</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b="0" i="1" smtClean="0">
                                    <a:effectLst/>
                                    <a:latin typeface="Cambria Math" panose="02040503050406030204" pitchFamily="18" charset="0"/>
                                    <a:ea typeface="SimSun" panose="02010600030101010101" pitchFamily="2" charset="-122"/>
                                  </a:rPr>
                                  <m:t>0</m:t>
                                </m:r>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type m:val="lin"/>
                                    <m:ctrlPr>
                                      <a:rPr lang="en-CN" altLang="zh-CN" sz="1800" i="1" smtClean="0">
                                        <a:effectLst/>
                                        <a:latin typeface="Cambria Math" panose="02040503050406030204" pitchFamily="18" charset="0"/>
                                        <a:ea typeface="SimSun" panose="02010600030101010101" pitchFamily="2" charset="-122"/>
                                      </a:rPr>
                                    </m:ctrlPr>
                                  </m:fPr>
                                  <m:num>
                                    <m:r>
                                      <a:rPr lang="en-US" altLang="zh-CN" sz="1800" b="0" i="1" smtClean="0">
                                        <a:effectLst/>
                                        <a:latin typeface="Cambria Math" panose="02040503050406030204" pitchFamily="18" charset="0"/>
                                        <a:ea typeface="SimSun" panose="02010600030101010101" pitchFamily="2" charset="-122"/>
                                      </a:rPr>
                                      <m:t>1</m:t>
                                    </m:r>
                                  </m:num>
                                  <m:den>
                                    <m:r>
                                      <a:rPr lang="en-US" altLang="zh-CN" sz="1800" b="0" i="1" smtClean="0">
                                        <a:effectLst/>
                                        <a:latin typeface="Cambria Math" panose="02040503050406030204" pitchFamily="18" charset="0"/>
                                        <a:ea typeface="SimSun" panose="02010600030101010101" pitchFamily="2" charset="-122"/>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770178">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CN" sz="1800" i="1">
                                        <a:effectLst/>
                                        <a:latin typeface="Cambria Math" panose="02040503050406030204" pitchFamily="18" charset="0"/>
                                        <a:ea typeface="SimSun" panose="02010600030101010101" pitchFamily="2" charset="-122"/>
                                      </a:rPr>
                                    </m:ctrlPr>
                                  </m:sSubPr>
                                  <m:e>
                                    <m:r>
                                      <a:rPr lang="en-US" sz="1800" i="1">
                                        <a:effectLst/>
                                        <a:latin typeface="Cambria Math" panose="02040503050406030204" pitchFamily="18" charset="0"/>
                                        <a:ea typeface="SimSun" panose="02010600030101010101" pitchFamily="2" charset="-122"/>
                                      </a:rPr>
                                      <m:t>𝜎</m:t>
                                    </m:r>
                                  </m:e>
                                  <m:sub>
                                    <m:r>
                                      <a:rPr lang="en-US" sz="1800" i="1">
                                        <a:effectLst/>
                                        <a:latin typeface="Cambria Math" panose="02040503050406030204" pitchFamily="18" charset="0"/>
                                        <a:ea typeface="SimSun" panose="02010600030101010101" pitchFamily="2" charset="-122"/>
                                      </a:rPr>
                                      <m:t>𝑗</m:t>
                                    </m:r>
                                  </m:sub>
                                </m:sSub>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CN"/>
                        </a:p>
                      </a:txBody>
                      <a:tcPr/>
                    </a:tc>
                    <a:tc hMerge="1">
                      <a:txBody>
                        <a:bodyPr/>
                        <a:lstStyle/>
                        <a:p>
                          <a:endParaRPr lang="en-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19−</m:t>
                                    </m:r>
                                    <m:r>
                                      <a:rPr lang="en-US" altLang="zh-CN" sz="1800" i="1" kern="1200" smtClean="0">
                                        <a:solidFill>
                                          <a:srgbClr val="FF0000"/>
                                        </a:solidFill>
                                        <a:effectLst/>
                                        <a:latin typeface="Cambria Math" panose="02040503050406030204" pitchFamily="18" charset="0"/>
                                        <a:ea typeface="+mn-ea"/>
                                        <a:cs typeface="+mn-cs"/>
                                      </a:rPr>
                                      <m:t>3</m:t>
                                    </m:r>
                                    <m:r>
                                      <a:rPr lang="en-US" altLang="zh-CN" sz="1800" i="1" kern="1200">
                                        <a:solidFill>
                                          <a:srgbClr val="FF0000"/>
                                        </a:solidFill>
                                        <a:effectLst/>
                                        <a:latin typeface="Cambria Math" panose="02040503050406030204" pitchFamily="18" charset="0"/>
                                        <a:ea typeface="+mn-ea"/>
                                        <a:cs typeface="+mn-cs"/>
                                      </a:rPr>
                                      <m:t>𝜆</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altLang="zh-CN" sz="1200"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altLang="zh-CN" sz="1800" i="1" kern="1200" smtClean="0">
                                        <a:solidFill>
                                          <a:srgbClr val="FF0000"/>
                                        </a:solidFill>
                                        <a:effectLst/>
                                        <a:latin typeface="Cambria Math" panose="02040503050406030204" pitchFamily="18" charset="0"/>
                                        <a:ea typeface="+mn-ea"/>
                                        <a:cs typeface="+mn-cs"/>
                                      </a:rPr>
                                    </m:ctrlPr>
                                  </m:fPr>
                                  <m:num>
                                    <m:r>
                                      <a:rPr lang="en-US" altLang="zh-CN" sz="1800" b="0" i="1" kern="1200" smtClean="0">
                                        <a:solidFill>
                                          <a:srgbClr val="FF0000"/>
                                        </a:solidFill>
                                        <a:effectLst/>
                                        <a:latin typeface="Cambria Math" panose="02040503050406030204" pitchFamily="18" charset="0"/>
                                        <a:ea typeface="+mn-ea"/>
                                        <a:cs typeface="+mn-cs"/>
                                      </a:rPr>
                                      <m:t>2+</m:t>
                                    </m:r>
                                    <m:r>
                                      <a:rPr lang="en-US" altLang="zh-CN" sz="1800" i="1" kern="1200">
                                        <a:solidFill>
                                          <a:srgbClr val="FF0000"/>
                                        </a:solidFill>
                                        <a:effectLst/>
                                        <a:latin typeface="Cambria Math" panose="02040503050406030204" pitchFamily="18" charset="0"/>
                                        <a:ea typeface="+mn-ea"/>
                                        <a:cs typeface="+mn-cs"/>
                                      </a:rPr>
                                      <m:t>𝜆</m:t>
                                    </m:r>
                                  </m:num>
                                  <m:den>
                                    <m:r>
                                      <a:rPr lang="en-US" altLang="zh-CN" sz="1800" b="0" i="1" kern="1200" smtClean="0">
                                        <a:solidFill>
                                          <a:srgbClr val="FF0000"/>
                                        </a:solidFill>
                                        <a:effectLst/>
                                        <a:latin typeface="Cambria Math" panose="02040503050406030204" pitchFamily="18" charset="0"/>
                                        <a:ea typeface="+mn-ea"/>
                                        <a:cs typeface="+mn-cs"/>
                                      </a:rPr>
                                      <m:t>5</m:t>
                                    </m:r>
                                  </m:den>
                                </m:f>
                              </m:oMath>
                            </m:oMathPara>
                          </a14:m>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Choice>
        <mc:Fallback xmlns="">
          <p:graphicFrame>
            <p:nvGraphicFramePr>
              <p:cNvPr id="6" name="Table 8">
                <a:extLst>
                  <a:ext uri="{FF2B5EF4-FFF2-40B4-BE49-F238E27FC236}">
                    <a16:creationId xmlns:a16="http://schemas.microsoft.com/office/drawing/2014/main" id="{2EEAC0F3-C4C4-7656-804F-DDC4F679879F}"/>
                  </a:ext>
                </a:extLst>
              </p:cNvPr>
              <p:cNvGraphicFramePr>
                <a:graphicFrameLocks noGrp="1"/>
              </p:cNvGraphicFramePr>
              <p:nvPr>
                <p:extLst>
                  <p:ext uri="{D42A27DB-BD31-4B8C-83A1-F6EECF244321}">
                    <p14:modId xmlns:p14="http://schemas.microsoft.com/office/powerpoint/2010/main" val="2981928926"/>
                  </p:ext>
                </p:extLst>
              </p:nvPr>
            </p:nvGraphicFramePr>
            <p:xfrm>
              <a:off x="995695" y="1907046"/>
              <a:ext cx="5203802" cy="3829829"/>
            </p:xfrm>
            <a:graphic>
              <a:graphicData uri="http://schemas.openxmlformats.org/drawingml/2006/table">
                <a:tbl>
                  <a:tblPr firstRow="1" firstCol="1" bandRow="1"/>
                  <a:tblGrid>
                    <a:gridCol w="651436">
                      <a:extLst>
                        <a:ext uri="{9D8B030D-6E8A-4147-A177-3AD203B41FA5}">
                          <a16:colId xmlns:a16="http://schemas.microsoft.com/office/drawing/2014/main" val="2673772826"/>
                        </a:ext>
                      </a:extLst>
                    </a:gridCol>
                    <a:gridCol w="651436">
                      <a:extLst>
                        <a:ext uri="{9D8B030D-6E8A-4147-A177-3AD203B41FA5}">
                          <a16:colId xmlns:a16="http://schemas.microsoft.com/office/drawing/2014/main" val="2617236624"/>
                        </a:ext>
                      </a:extLst>
                    </a:gridCol>
                    <a:gridCol w="500842">
                      <a:extLst>
                        <a:ext uri="{9D8B030D-6E8A-4147-A177-3AD203B41FA5}">
                          <a16:colId xmlns:a16="http://schemas.microsoft.com/office/drawing/2014/main" val="4150211959"/>
                        </a:ext>
                      </a:extLst>
                    </a:gridCol>
                    <a:gridCol w="672257">
                      <a:extLst>
                        <a:ext uri="{9D8B030D-6E8A-4147-A177-3AD203B41FA5}">
                          <a16:colId xmlns:a16="http://schemas.microsoft.com/office/drawing/2014/main" val="3570847064"/>
                        </a:ext>
                      </a:extLst>
                    </a:gridCol>
                    <a:gridCol w="842253">
                      <a:extLst>
                        <a:ext uri="{9D8B030D-6E8A-4147-A177-3AD203B41FA5}">
                          <a16:colId xmlns:a16="http://schemas.microsoft.com/office/drawing/2014/main" val="956899930"/>
                        </a:ext>
                      </a:extLst>
                    </a:gridCol>
                    <a:gridCol w="585500">
                      <a:extLst>
                        <a:ext uri="{9D8B030D-6E8A-4147-A177-3AD203B41FA5}">
                          <a16:colId xmlns:a16="http://schemas.microsoft.com/office/drawing/2014/main" val="2151239723"/>
                        </a:ext>
                      </a:extLst>
                    </a:gridCol>
                    <a:gridCol w="650039">
                      <a:extLst>
                        <a:ext uri="{9D8B030D-6E8A-4147-A177-3AD203B41FA5}">
                          <a16:colId xmlns:a16="http://schemas.microsoft.com/office/drawing/2014/main" val="834012947"/>
                        </a:ext>
                      </a:extLst>
                    </a:gridCol>
                    <a:gridCol w="650039">
                      <a:extLst>
                        <a:ext uri="{9D8B030D-6E8A-4147-A177-3AD203B41FA5}">
                          <a16:colId xmlns:a16="http://schemas.microsoft.com/office/drawing/2014/main" val="3963573122"/>
                        </a:ext>
                      </a:extLst>
                    </a:gridCol>
                  </a:tblGrid>
                  <a:tr h="813562">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8" t="-746" r="-189527" b="-371642"/>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746" r="-410000" b="-371642"/>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2806" t="-746" r="-224460" b="-371642"/>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454046"/>
                      </a:ext>
                    </a:extLst>
                  </a:tr>
                  <a:tr h="545408">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35" t="-150000" r="-700935" b="-453333"/>
                          </a:stretch>
                        </a:blipFill>
                      </a:tcPr>
                    </a:tc>
                    <a:tc>
                      <a:txBody>
                        <a:bodyPr/>
                        <a:lstStyle/>
                        <a:p>
                          <a:pPr algn="ctr">
                            <a:lnSpc>
                              <a:spcPct val="150000"/>
                            </a:lnSpc>
                            <a:spcBef>
                              <a:spcPts val="600"/>
                            </a:spcBef>
                            <a:spcAft>
                              <a:spcPts val="600"/>
                            </a:spcAft>
                          </a:pPr>
                          <a:r>
                            <a:rPr lang="zh-CN" sz="1800" dirty="0">
                              <a:effectLst/>
                              <a:latin typeface="Times New Roman" panose="02020603050405020304" pitchFamily="18" charset="0"/>
                              <a:ea typeface="SimSun" panose="02010600030101010101" pitchFamily="2" charset="-122"/>
                            </a:rPr>
                            <a:t>基</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2195" t="-150000" r="-684146" b="-453333"/>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150000" r="-410000" b="-453333"/>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2806" t="-150000" r="-224460" b="-453333"/>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68750" t="-150000" r="-225000" b="-453333"/>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05660" t="-150000" r="-103774" b="-453333"/>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99065" t="-150000" r="-2804" b="-453333"/>
                          </a:stretch>
                        </a:blipFill>
                      </a:tcPr>
                    </a:tc>
                    <a:extLst>
                      <a:ext uri="{0D108BD9-81ED-4DB2-BD59-A6C34878D82A}">
                        <a16:rowId xmlns:a16="http://schemas.microsoft.com/office/drawing/2014/main" val="996163856"/>
                      </a:ext>
                    </a:extLst>
                  </a:tr>
                  <a:tr h="542354">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35" t="-252809" r="-700935" b="-35842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935" t="-252809" r="-600935" b="-358427"/>
                          </a:stretch>
                        </a:blipFill>
                      </a:tcPr>
                    </a:tc>
                    <a:tc>
                      <a:txBody>
                        <a:bodyPr/>
                        <a:lstStyle/>
                        <a:p>
                          <a:pPr algn="ctr">
                            <a:lnSpc>
                              <a:spcPct val="150000"/>
                            </a:lnSpc>
                            <a:spcBef>
                              <a:spcPts val="600"/>
                            </a:spcBef>
                            <a:spcAft>
                              <a:spcPts val="600"/>
                            </a:spcAft>
                          </a:pPr>
                          <a:r>
                            <a:rPr lang="en-US" sz="1800" dirty="0">
                              <a:effectLst/>
                              <a:latin typeface="Times New Roman" panose="02020603050405020304" pitchFamily="18" charset="0"/>
                              <a:ea typeface="Times New Roman" panose="02020603050405020304" pitchFamily="18" charset="0"/>
                            </a:rPr>
                            <a:t>2</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252809" r="-410000" b="-35842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2806" t="-252809" r="-224460" b="-358427"/>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68750" t="-252809" r="-225000" b="-358427"/>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6391595"/>
                      </a:ext>
                    </a:extLst>
                  </a:tr>
                  <a:tr h="535437">
                    <a:tc>
                      <a:txBody>
                        <a:bodyPr/>
                        <a:lstStyle/>
                        <a:p>
                          <a:pPr algn="ctr">
                            <a:lnSpc>
                              <a:spcPct val="150000"/>
                            </a:lnSpc>
                            <a:spcBef>
                              <a:spcPts val="600"/>
                            </a:spcBef>
                            <a:spcAft>
                              <a:spcPts val="600"/>
                            </a:spcAft>
                          </a:pPr>
                          <a:r>
                            <a:rPr lang="en-US" sz="1800">
                              <a:effectLst/>
                              <a:latin typeface="SimSun" panose="02010600030101010101" pitchFamily="2" charset="-122"/>
                              <a:ea typeface="Times New Roman" panose="02020603050405020304" pitchFamily="18" charset="0"/>
                            </a:rPr>
                            <a:t>0</a:t>
                          </a:r>
                          <a:endParaRPr lang="en-CN"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935" t="-356818" r="-600935" b="-262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10</a:t>
                          </a:r>
                          <a:endParaRPr lang="en-CN"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356818" r="-410000" b="-262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68750" t="-356818" r="-225000" b="-262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7645647"/>
                      </a:ext>
                    </a:extLst>
                  </a:tr>
                  <a:tr h="535437">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935" t="-456818" r="-600935" b="-162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2195" t="-456818" r="-684146" b="-162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456818" r="-410000" b="-162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92806" t="-456818" r="-224460" b="-162500"/>
                          </a:stretch>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68750" t="-456818" r="-225000" b="-162500"/>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1</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636125"/>
                      </a:ext>
                    </a:extLst>
                  </a:tr>
                  <a:tr h="857631">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8" t="-347518" r="-189527" b="-1418"/>
                          </a:stretch>
                        </a:blipFill>
                      </a:tcPr>
                    </a:tc>
                    <a:tc hMerge="1">
                      <a:txBody>
                        <a:bodyPr/>
                        <a:lstStyle/>
                        <a:p>
                          <a:endParaRPr lang="en-CN"/>
                        </a:p>
                      </a:txBody>
                      <a:tcPr/>
                    </a:tc>
                    <a:tc hMerge="1">
                      <a:txBody>
                        <a:bodyPr/>
                        <a:lstStyle/>
                        <a:p>
                          <a:endParaRPr lang="en-CN"/>
                        </a:p>
                      </a:txBody>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0000" t="-347518" r="-410000" b="-14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68750" t="-347518" r="-225000" b="-1418"/>
                          </a:stretch>
                        </a:blip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SimSun" panose="02010600030101010101" pitchFamily="2" charset="-122"/>
                              <a:ea typeface="Times New Roman" panose="02020603050405020304" pitchFamily="18" charset="0"/>
                            </a:rPr>
                            <a:t>0</a:t>
                          </a:r>
                          <a:endParaRPr lang="en-CN"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1590811"/>
                      </a:ext>
                    </a:extLst>
                  </a:tr>
                </a:tbl>
              </a:graphicData>
            </a:graphic>
          </p:graphicFrame>
        </mc:Fallback>
      </mc:AlternateContent>
      <p:sp>
        <p:nvSpPr>
          <p:cNvPr id="7" name="文本框 6">
            <a:extLst>
              <a:ext uri="{FF2B5EF4-FFF2-40B4-BE49-F238E27FC236}">
                <a16:creationId xmlns:a16="http://schemas.microsoft.com/office/drawing/2014/main" id="{FA77C39B-8651-286C-3F41-CDA536E93200}"/>
              </a:ext>
            </a:extLst>
          </p:cNvPr>
          <p:cNvSpPr txBox="1"/>
          <p:nvPr/>
        </p:nvSpPr>
        <p:spPr>
          <a:xfrm>
            <a:off x="3271101" y="1321506"/>
            <a:ext cx="2337847" cy="461665"/>
          </a:xfrm>
          <a:prstGeom prst="rect">
            <a:avLst/>
          </a:prstGeom>
          <a:noFill/>
        </p:spPr>
        <p:txBody>
          <a:bodyPr wrap="square" rtlCol="0">
            <a:spAutoFit/>
          </a:bodyPr>
          <a:lstStyle/>
          <a:p>
            <a:r>
              <a:rPr lang="zh-CN" altLang="en-US" sz="2400" dirty="0"/>
              <a:t>表</a:t>
            </a:r>
            <a:r>
              <a:rPr lang="en-US" altLang="zh-CN" sz="2400" dirty="0"/>
              <a:t>1</a:t>
            </a:r>
            <a:endParaRPr lang="zh-CN" altLang="en-US" sz="2400" dirty="0"/>
          </a:p>
        </p:txBody>
      </p:sp>
    </p:spTree>
    <p:extLst>
      <p:ext uri="{BB962C8B-B14F-4D97-AF65-F5344CB8AC3E}">
        <p14:creationId xmlns:p14="http://schemas.microsoft.com/office/powerpoint/2010/main" val="274437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DBAD0F0-8CA3-47B8-8006-60184336DFCB}"/>
              </a:ext>
            </a:extLst>
          </p:cNvPr>
          <p:cNvPicPr>
            <a:picLocks noChangeAspect="1"/>
          </p:cNvPicPr>
          <p:nvPr/>
        </p:nvPicPr>
        <p:blipFill>
          <a:blip r:embed="rId2"/>
          <a:stretch>
            <a:fillRect/>
          </a:stretch>
        </p:blipFill>
        <p:spPr>
          <a:xfrm>
            <a:off x="2147081" y="1141799"/>
            <a:ext cx="6450164" cy="4703033"/>
          </a:xfrm>
          <a:prstGeom prst="rect">
            <a:avLst/>
          </a:prstGeom>
        </p:spPr>
      </p:pic>
    </p:spTree>
    <p:extLst>
      <p:ext uri="{BB962C8B-B14F-4D97-AF65-F5344CB8AC3E}">
        <p14:creationId xmlns:p14="http://schemas.microsoft.com/office/powerpoint/2010/main" val="924538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1B353A0-8EF2-942A-4B41-ED5042A33708}"/>
                  </a:ext>
                </a:extLst>
              </p:cNvPr>
              <p:cNvSpPr txBox="1"/>
              <p:nvPr/>
            </p:nvSpPr>
            <p:spPr>
              <a:xfrm>
                <a:off x="285160" y="415033"/>
                <a:ext cx="10555665" cy="1052596"/>
              </a:xfrm>
              <a:prstGeom prst="rect">
                <a:avLst/>
              </a:prstGeom>
              <a:noFill/>
            </p:spPr>
            <p:txBody>
              <a:bodyPr wrap="square">
                <a:spAutoFit/>
              </a:bodyPr>
              <a:lstStyle/>
              <a:p>
                <a:pPr marL="269875" indent="304800" algn="just">
                  <a:lnSpc>
                    <a:spcPct val="130000"/>
                  </a:lnSpc>
                </a:pPr>
                <a:r>
                  <a:rPr lang="zh-CN" altLang="zh-CN" sz="2400" dirty="0">
                    <a:effectLst/>
                    <a:latin typeface="+mn-ea"/>
                  </a:rPr>
                  <a:t>例　分析</a:t>
                </a:r>
                <a14:m>
                  <m:oMath xmlns:m="http://schemas.openxmlformats.org/officeDocument/2006/math">
                    <m:r>
                      <a:rPr lang="en-US" altLang="zh-CN" sz="2400" i="1">
                        <a:effectLst/>
                        <a:latin typeface="Cambria Math" panose="02040503050406030204" pitchFamily="18" charset="0"/>
                      </a:rPr>
                      <m:t>𝜆</m:t>
                    </m:r>
                  </m:oMath>
                </a14:m>
                <a:r>
                  <a:rPr lang="zh-CN" altLang="zh-CN" sz="2400" dirty="0">
                    <a:effectLst/>
                    <a:latin typeface="+mn-ea"/>
                  </a:rPr>
                  <a:t>值变化时，下述参数线性规划问题最优解的变化：</a:t>
                </a:r>
              </a:p>
              <a:p>
                <a:pPr marL="635" indent="304800" algn="just">
                  <a:lnSpc>
                    <a:spcPct val="130000"/>
                  </a:lnSpc>
                </a:pPr>
                <a14:m>
                  <m:oMathPara xmlns:m="http://schemas.openxmlformats.org/officeDocument/2006/math">
                    <m:oMathParaPr>
                      <m:jc m:val="centerGroup"/>
                    </m:oMathParaPr>
                    <m:oMath xmlns:m="http://schemas.openxmlformats.org/officeDocument/2006/math">
                      <m:func>
                        <m:funcPr>
                          <m:ctrlPr>
                            <a:rPr lang="zh-CN" altLang="zh-CN" sz="2400" i="1">
                              <a:effectLst/>
                              <a:latin typeface="Cambria Math" panose="02040503050406030204" pitchFamily="18" charset="0"/>
                            </a:rPr>
                          </m:ctrlPr>
                        </m:funcPr>
                        <m:fName>
                          <m:r>
                            <m:rPr>
                              <m:sty m:val="p"/>
                            </m:rPr>
                            <a:rPr lang="en-US" altLang="zh-CN" sz="2400">
                              <a:effectLst/>
                              <a:latin typeface="Cambria Math" panose="02040503050406030204" pitchFamily="18" charset="0"/>
                            </a:rPr>
                            <m:t>min</m:t>
                          </m:r>
                        </m:fName>
                        <m:e>
                          <m:r>
                            <a:rPr lang="en-US" altLang="zh-CN" sz="2400" i="1">
                              <a:effectLst/>
                              <a:latin typeface="Cambria Math" panose="02040503050406030204" pitchFamily="18" charset="0"/>
                            </a:rPr>
                            <m:t>𝑧</m:t>
                          </m:r>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1</m:t>
                              </m:r>
                            </m:sub>
                          </m:sSub>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2</m:t>
                              </m:r>
                            </m:sub>
                          </m:sSub>
                          <m:r>
                            <a:rPr lang="en-US" altLang="zh-CN" sz="2400" i="1">
                              <a:effectLst/>
                              <a:latin typeface="Cambria Math" panose="02040503050406030204" pitchFamily="18" charset="0"/>
                            </a:rPr>
                            <m:t>+2</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3</m:t>
                              </m:r>
                            </m:sub>
                          </m:sSub>
                        </m:e>
                      </m:func>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4</m:t>
                          </m:r>
                        </m:sub>
                      </m:sSub>
                    </m:oMath>
                  </m:oMathPara>
                </a14:m>
                <a:endParaRPr lang="zh-CN" altLang="zh-CN" sz="2400" dirty="0">
                  <a:effectLst/>
                  <a:latin typeface="+mn-ea"/>
                </a:endParaRPr>
              </a:p>
            </p:txBody>
          </p:sp>
        </mc:Choice>
        <mc:Fallback xmlns="">
          <p:sp>
            <p:nvSpPr>
              <p:cNvPr id="4" name="文本框 3">
                <a:extLst>
                  <a:ext uri="{FF2B5EF4-FFF2-40B4-BE49-F238E27FC236}">
                    <a16:creationId xmlns:a16="http://schemas.microsoft.com/office/drawing/2014/main" id="{61B353A0-8EF2-942A-4B41-ED5042A33708}"/>
                  </a:ext>
                </a:extLst>
              </p:cNvPr>
              <p:cNvSpPr txBox="1">
                <a:spLocks noRot="1" noChangeAspect="1" noMove="1" noResize="1" noEditPoints="1" noAdjustHandles="1" noChangeArrowheads="1" noChangeShapeType="1" noTextEdit="1"/>
              </p:cNvSpPr>
              <p:nvPr/>
            </p:nvSpPr>
            <p:spPr>
              <a:xfrm>
                <a:off x="285160" y="415033"/>
                <a:ext cx="10555665" cy="10525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2047635-735B-B6BC-4A1C-994720AC82B0}"/>
                  </a:ext>
                </a:extLst>
              </p:cNvPr>
              <p:cNvSpPr txBox="1"/>
              <p:nvPr/>
            </p:nvSpPr>
            <p:spPr>
              <a:xfrm>
                <a:off x="1195239" y="1164702"/>
                <a:ext cx="10555665" cy="1625188"/>
              </a:xfrm>
              <a:prstGeom prst="rect">
                <a:avLst/>
              </a:prstGeom>
              <a:noFill/>
            </p:spPr>
            <p:txBody>
              <a:bodyPr wrap="square">
                <a:spAutoFit/>
              </a:bodyPr>
              <a:lstStyle/>
              <a:p>
                <a:pPr marL="269875" indent="1371600" algn="just">
                  <a:lnSpc>
                    <a:spcPct val="130000"/>
                  </a:lnSpc>
                </a:pPr>
                <a14:m>
                  <m:oMathPara xmlns:m="http://schemas.openxmlformats.org/officeDocument/2006/math">
                    <m:oMathParaPr>
                      <m:jc m:val="centerGroup"/>
                    </m:oMathParaPr>
                    <m:oMath xmlns:m="http://schemas.openxmlformats.org/officeDocument/2006/math">
                      <m:r>
                        <a:rPr lang="en-US" altLang="zh-CN" sz="2400" i="1">
                          <a:effectLst/>
                          <a:latin typeface="Cambria Math" panose="02040503050406030204" pitchFamily="18" charset="0"/>
                        </a:rPr>
                        <m:t>𝑠</m:t>
                      </m:r>
                      <m:r>
                        <a:rPr lang="en-US" altLang="zh-CN" sz="2400" i="1">
                          <a:effectLst/>
                          <a:latin typeface="Cambria Math" panose="02040503050406030204" pitchFamily="18" charset="0"/>
                        </a:rPr>
                        <m:t>.</m:t>
                      </m:r>
                      <m:r>
                        <a:rPr lang="en-US" altLang="zh-CN" sz="2400" i="1">
                          <a:effectLst/>
                          <a:latin typeface="Cambria Math" panose="02040503050406030204" pitchFamily="18" charset="0"/>
                        </a:rPr>
                        <m:t>𝑡</m:t>
                      </m:r>
                      <m:r>
                        <a:rPr lang="en-US" altLang="zh-CN" sz="2400" i="1">
                          <a:effectLst/>
                          <a:latin typeface="Cambria Math" panose="02040503050406030204" pitchFamily="18" charset="0"/>
                        </a:rPr>
                        <m:t>.</m:t>
                      </m:r>
                      <m:d>
                        <m:dPr>
                          <m:begChr m:val="{"/>
                          <m:endChr m:val=""/>
                          <m:ctrlPr>
                            <a:rPr lang="zh-CN" altLang="zh-CN" sz="2400" i="1">
                              <a:effectLst/>
                              <a:latin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rPr>
                              </m:ctrlPr>
                            </m:mPr>
                            <m:mr>
                              <m:e>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1</m:t>
                                    </m:r>
                                  </m:sub>
                                </m:sSub>
                                <m:r>
                                  <a:rPr lang="en-US" altLang="zh-CN" sz="2400" i="1">
                                    <a:effectLst/>
                                    <a:latin typeface="Cambria Math" panose="02040503050406030204" pitchFamily="18" charset="0"/>
                                  </a:rPr>
                                  <m:t>−2</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3</m:t>
                                    </m:r>
                                  </m:sub>
                                </m:sSub>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4</m:t>
                                    </m:r>
                                  </m:sub>
                                </m:sSub>
                                <m:r>
                                  <a:rPr lang="en-US" altLang="zh-CN" sz="2400" i="1">
                                    <a:effectLst/>
                                    <a:latin typeface="Cambria Math" panose="02040503050406030204" pitchFamily="18" charset="0"/>
                                  </a:rPr>
                                  <m:t>=2−3</m:t>
                                </m:r>
                                <m:r>
                                  <a:rPr lang="en-US" altLang="zh-CN" sz="2400" i="1">
                                    <a:effectLst/>
                                    <a:latin typeface="Cambria Math" panose="02040503050406030204" pitchFamily="18" charset="0"/>
                                  </a:rPr>
                                  <m:t>𝜆</m:t>
                                </m:r>
                              </m:e>
                            </m:mr>
                            <m:mr>
                              <m:e>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2</m:t>
                                    </m:r>
                                  </m:sub>
                                </m:sSub>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3</m:t>
                                    </m:r>
                                  </m:sub>
                                </m:sSub>
                                <m:r>
                                  <a:rPr lang="en-US" altLang="zh-CN" sz="2400" i="1">
                                    <a:effectLst/>
                                    <a:latin typeface="Cambria Math" panose="02040503050406030204" pitchFamily="18" charset="0"/>
                                  </a:rPr>
                                  <m:t>+</m:t>
                                </m:r>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4</m:t>
                                    </m:r>
                                  </m:sub>
                                </m:sSub>
                                <m:r>
                                  <a:rPr lang="en-US" altLang="zh-CN" sz="2400" i="1">
                                    <a:effectLst/>
                                    <a:latin typeface="Cambria Math" panose="02040503050406030204" pitchFamily="18" charset="0"/>
                                  </a:rPr>
                                  <m:t> =−1−</m:t>
                                </m:r>
                                <m:r>
                                  <a:rPr lang="en-US" altLang="zh-CN" sz="2400" i="1">
                                    <a:effectLst/>
                                    <a:latin typeface="Cambria Math" panose="02040503050406030204" pitchFamily="18" charset="0"/>
                                  </a:rPr>
                                  <m:t>𝜆</m:t>
                                </m:r>
                              </m:e>
                            </m:mr>
                            <m:mr>
                              <m:e>
                                <m:sSub>
                                  <m:sSubPr>
                                    <m:ctrlPr>
                                      <a:rPr lang="zh-CN" altLang="zh-CN" sz="2400" i="1">
                                        <a:effectLst/>
                                        <a:latin typeface="Cambria Math" panose="02040503050406030204" pitchFamily="18" charset="0"/>
                                      </a:rPr>
                                    </m:ctrlPr>
                                  </m:sSubPr>
                                  <m:e>
                                    <m:r>
                                      <a:rPr lang="en-US" altLang="zh-CN" sz="2400" i="1">
                                        <a:effectLst/>
                                        <a:latin typeface="Cambria Math" panose="02040503050406030204" pitchFamily="18" charset="0"/>
                                      </a:rPr>
                                      <m:t>𝑥</m:t>
                                    </m:r>
                                  </m:e>
                                  <m:sub>
                                    <m:r>
                                      <a:rPr lang="en-US" altLang="zh-CN" sz="2400" i="1">
                                        <a:effectLst/>
                                        <a:latin typeface="Cambria Math" panose="02040503050406030204" pitchFamily="18" charset="0"/>
                                      </a:rPr>
                                      <m:t>𝑗</m:t>
                                    </m:r>
                                  </m:sub>
                                </m:sSub>
                                <m:r>
                                  <a:rPr lang="en-US" altLang="zh-CN" sz="2400" i="1">
                                    <a:effectLst/>
                                    <a:latin typeface="Cambria Math" panose="02040503050406030204" pitchFamily="18" charset="0"/>
                                  </a:rPr>
                                  <m:t>≥0,</m:t>
                                </m:r>
                                <m:r>
                                  <a:rPr lang="en-US" altLang="zh-CN" sz="2400" i="1">
                                    <a:effectLst/>
                                    <a:latin typeface="Cambria Math" panose="02040503050406030204" pitchFamily="18" charset="0"/>
                                  </a:rPr>
                                  <m:t>𝑗</m:t>
                                </m:r>
                                <m:r>
                                  <a:rPr lang="en-US" altLang="zh-CN" sz="2400" i="1">
                                    <a:effectLst/>
                                    <a:latin typeface="Cambria Math" panose="02040503050406030204" pitchFamily="18" charset="0"/>
                                  </a:rPr>
                                  <m:t>=1,2,3,4</m:t>
                                </m:r>
                              </m:e>
                            </m:mr>
                          </m:m>
                          <m:r>
                            <a:rPr lang="en-US" altLang="zh-CN" sz="2400" i="1">
                              <a:effectLst/>
                              <a:latin typeface="Cambria Math" panose="02040503050406030204" pitchFamily="18" charset="0"/>
                            </a:rPr>
                            <m:t> </m:t>
                          </m:r>
                        </m:e>
                      </m:d>
                    </m:oMath>
                  </m:oMathPara>
                </a14:m>
                <a:endParaRPr lang="zh-CN" altLang="zh-CN" sz="2400" dirty="0">
                  <a:effectLst/>
                  <a:latin typeface="+mn-ea"/>
                </a:endParaRPr>
              </a:p>
            </p:txBody>
          </p:sp>
        </mc:Choice>
        <mc:Fallback xmlns="">
          <p:sp>
            <p:nvSpPr>
              <p:cNvPr id="5" name="文本框 4">
                <a:extLst>
                  <a:ext uri="{FF2B5EF4-FFF2-40B4-BE49-F238E27FC236}">
                    <a16:creationId xmlns:a16="http://schemas.microsoft.com/office/drawing/2014/main" id="{02047635-735B-B6BC-4A1C-994720AC82B0}"/>
                  </a:ext>
                </a:extLst>
              </p:cNvPr>
              <p:cNvSpPr txBox="1">
                <a:spLocks noRot="1" noChangeAspect="1" noMove="1" noResize="1" noEditPoints="1" noAdjustHandles="1" noChangeArrowheads="1" noChangeShapeType="1" noTextEdit="1"/>
              </p:cNvSpPr>
              <p:nvPr/>
            </p:nvSpPr>
            <p:spPr>
              <a:xfrm>
                <a:off x="1195239" y="1164702"/>
                <a:ext cx="10555665" cy="162518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36DEA7A-197C-96CD-EBEE-46BD31831BBD}"/>
                  </a:ext>
                </a:extLst>
              </p:cNvPr>
              <p:cNvSpPr txBox="1"/>
              <p:nvPr/>
            </p:nvSpPr>
            <p:spPr>
              <a:xfrm>
                <a:off x="285159" y="2895521"/>
                <a:ext cx="10555665" cy="533479"/>
              </a:xfrm>
              <a:prstGeom prst="rect">
                <a:avLst/>
              </a:prstGeom>
              <a:noFill/>
            </p:spPr>
            <p:txBody>
              <a:bodyPr wrap="square">
                <a:spAutoFit/>
              </a:bodyPr>
              <a:lstStyle/>
              <a:p>
                <a:pPr marL="269875" indent="304800" algn="just">
                  <a:lnSpc>
                    <a:spcPct val="130000"/>
                  </a:lnSpc>
                </a:pPr>
                <a:r>
                  <a:rPr lang="zh-CN" altLang="zh-CN" sz="2400" dirty="0">
                    <a:effectLst/>
                    <a:latin typeface="+mn-ea"/>
                  </a:rPr>
                  <a:t>解 　令</a:t>
                </a:r>
                <a14:m>
                  <m:oMath xmlns:m="http://schemas.openxmlformats.org/officeDocument/2006/math">
                    <m:r>
                      <a:rPr lang="en-US" altLang="zh-CN" sz="2400" i="1">
                        <a:effectLst/>
                        <a:latin typeface="Cambria Math" panose="02040503050406030204" pitchFamily="18" charset="0"/>
                      </a:rPr>
                      <m:t>𝜆</m:t>
                    </m:r>
                    <m:r>
                      <a:rPr lang="en-US" altLang="zh-CN" sz="2400" i="1">
                        <a:effectLst/>
                        <a:latin typeface="Cambria Math" panose="02040503050406030204" pitchFamily="18" charset="0"/>
                      </a:rPr>
                      <m:t>=0</m:t>
                    </m:r>
                  </m:oMath>
                </a14:m>
                <a:r>
                  <a:rPr lang="zh-CN" altLang="zh-CN" sz="2400" dirty="0">
                    <a:effectLst/>
                    <a:latin typeface="+mn-ea"/>
                  </a:rPr>
                  <a:t>求解得最终单纯形表，见表</a:t>
                </a:r>
                <a:r>
                  <a:rPr lang="en-US" altLang="zh-CN" sz="2400" dirty="0">
                    <a:effectLst/>
                    <a:latin typeface="+mn-ea"/>
                  </a:rPr>
                  <a:t>4</a:t>
                </a:r>
                <a:r>
                  <a:rPr lang="zh-CN" altLang="zh-CN" sz="2400" dirty="0">
                    <a:effectLst/>
                    <a:latin typeface="+mn-ea"/>
                  </a:rPr>
                  <a:t>。</a:t>
                </a:r>
              </a:p>
            </p:txBody>
          </p:sp>
        </mc:Choice>
        <mc:Fallback xmlns="">
          <p:sp>
            <p:nvSpPr>
              <p:cNvPr id="6" name="文本框 5">
                <a:extLst>
                  <a:ext uri="{FF2B5EF4-FFF2-40B4-BE49-F238E27FC236}">
                    <a16:creationId xmlns:a16="http://schemas.microsoft.com/office/drawing/2014/main" id="{E36DEA7A-197C-96CD-EBEE-46BD31831BBD}"/>
                  </a:ext>
                </a:extLst>
              </p:cNvPr>
              <p:cNvSpPr txBox="1">
                <a:spLocks noRot="1" noChangeAspect="1" noMove="1" noResize="1" noEditPoints="1" noAdjustHandles="1" noChangeArrowheads="1" noChangeShapeType="1" noTextEdit="1"/>
              </p:cNvSpPr>
              <p:nvPr/>
            </p:nvSpPr>
            <p:spPr>
              <a:xfrm>
                <a:off x="285159" y="2895521"/>
                <a:ext cx="10555665" cy="533479"/>
              </a:xfrm>
              <a:prstGeom prst="rect">
                <a:avLst/>
              </a:prstGeom>
              <a:blipFill>
                <a:blip r:embed="rId5"/>
                <a:stretch>
                  <a:fillRect b="-26136"/>
                </a:stretch>
              </a:blipFill>
            </p:spPr>
            <p:txBody>
              <a:bodyPr/>
              <a:lstStyle/>
              <a:p>
                <a:r>
                  <a:rPr lang="zh-CN" altLang="en-US">
                    <a:noFill/>
                  </a:rPr>
                  <a:t> </a:t>
                </a:r>
              </a:p>
            </p:txBody>
          </p:sp>
        </mc:Fallback>
      </mc:AlternateContent>
      <p:graphicFrame>
        <p:nvGraphicFramePr>
          <p:cNvPr id="33794" name="Object 3">
            <a:extLst>
              <a:ext uri="{FF2B5EF4-FFF2-40B4-BE49-F238E27FC236}">
                <a16:creationId xmlns:a16="http://schemas.microsoft.com/office/drawing/2014/main" id="{49CD8438-73B9-EA5E-12F6-AE340A8E07B1}"/>
              </a:ext>
            </a:extLst>
          </p:cNvPr>
          <p:cNvGraphicFramePr>
            <a:graphicFrameLocks noGrp="1" noChangeAspect="1"/>
          </p:cNvGraphicFramePr>
          <p:nvPr>
            <p:ph/>
          </p:nvPr>
        </p:nvGraphicFramePr>
        <p:xfrm>
          <a:off x="3044857" y="3853265"/>
          <a:ext cx="7265989" cy="6938461"/>
        </p:xfrm>
        <a:graphic>
          <a:graphicData uri="http://schemas.openxmlformats.org/presentationml/2006/ole">
            <mc:AlternateContent xmlns:mc="http://schemas.openxmlformats.org/markup-compatibility/2006">
              <mc:Choice xmlns:v="urn:schemas-microsoft-com:vml" Requires="v">
                <p:oleObj name="Document" r:id="rId6" imgW="5402923" imgH="5159705" progId="Word.Document.8">
                  <p:embed/>
                </p:oleObj>
              </mc:Choice>
              <mc:Fallback>
                <p:oleObj name="Document" r:id="rId6" imgW="5402923" imgH="5159705" progId="Word.Document.8">
                  <p:embed/>
                  <p:pic>
                    <p:nvPicPr>
                      <p:cNvPr id="33794" name="Object 3">
                        <a:extLst>
                          <a:ext uri="{FF2B5EF4-FFF2-40B4-BE49-F238E27FC236}">
                            <a16:creationId xmlns:a16="http://schemas.microsoft.com/office/drawing/2014/main" id="{49CD8438-73B9-EA5E-12F6-AE340A8E07B1}"/>
                          </a:ext>
                        </a:extLst>
                      </p:cNvPr>
                      <p:cNvPicPr>
                        <a:picLocks noChangeAspect="1" noChangeArrowheads="1"/>
                      </p:cNvPicPr>
                      <p:nvPr/>
                    </p:nvPicPr>
                    <p:blipFill>
                      <a:blip r:embed="rId7"/>
                      <a:srcRect/>
                      <a:stretch>
                        <a:fillRect/>
                      </a:stretch>
                    </p:blipFill>
                    <p:spPr bwMode="auto">
                      <a:xfrm>
                        <a:off x="3044857" y="3853265"/>
                        <a:ext cx="7265989" cy="6938461"/>
                      </a:xfrm>
                      <a:prstGeom prst="rect">
                        <a:avLst/>
                      </a:prstGeom>
                      <a:noFill/>
                      <a:ln>
                        <a:noFill/>
                      </a:ln>
                      <a:effectLst/>
                    </p:spPr>
                  </p:pic>
                </p:oleObj>
              </mc:Fallback>
            </mc:AlternateContent>
          </a:graphicData>
        </a:graphic>
      </p:graphicFrame>
      <p:sp>
        <p:nvSpPr>
          <p:cNvPr id="8" name="文本框 7">
            <a:extLst>
              <a:ext uri="{FF2B5EF4-FFF2-40B4-BE49-F238E27FC236}">
                <a16:creationId xmlns:a16="http://schemas.microsoft.com/office/drawing/2014/main" id="{AFCEFC01-CC00-D383-031A-7570867557F2}"/>
              </a:ext>
            </a:extLst>
          </p:cNvPr>
          <p:cNvSpPr txBox="1"/>
          <p:nvPr/>
        </p:nvSpPr>
        <p:spPr>
          <a:xfrm>
            <a:off x="5562991" y="3429000"/>
            <a:ext cx="6094428" cy="461665"/>
          </a:xfrm>
          <a:prstGeom prst="rect">
            <a:avLst/>
          </a:prstGeom>
          <a:noFill/>
        </p:spPr>
        <p:txBody>
          <a:bodyPr wrap="square">
            <a:spAutoFit/>
          </a:bodyPr>
          <a:lstStyle/>
          <a:p>
            <a:r>
              <a:rPr lang="zh-CN" altLang="zh-CN" sz="2400" dirty="0">
                <a:effectLst/>
                <a:latin typeface="+mn-ea"/>
              </a:rPr>
              <a:t>表</a:t>
            </a:r>
            <a:r>
              <a:rPr lang="en-US" altLang="zh-CN" sz="2400" dirty="0">
                <a:effectLst/>
                <a:latin typeface="+mn-ea"/>
              </a:rPr>
              <a:t>4</a:t>
            </a:r>
            <a:endParaRPr lang="zh-CN" altLang="en-US" sz="2400" dirty="0"/>
          </a:p>
        </p:txBody>
      </p:sp>
    </p:spTree>
    <p:extLst>
      <p:ext uri="{BB962C8B-B14F-4D97-AF65-F5344CB8AC3E}">
        <p14:creationId xmlns:p14="http://schemas.microsoft.com/office/powerpoint/2010/main" val="623756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3F32275-B104-4A11-8459-DB28C20334C7}"/>
                  </a:ext>
                </a:extLst>
              </p:cNvPr>
              <p:cNvSpPr txBox="1"/>
              <p:nvPr/>
            </p:nvSpPr>
            <p:spPr>
              <a:xfrm>
                <a:off x="549502" y="194349"/>
                <a:ext cx="11262675" cy="1850058"/>
              </a:xfrm>
              <a:prstGeom prst="rect">
                <a:avLst/>
              </a:prstGeom>
              <a:noFill/>
            </p:spPr>
            <p:txBody>
              <a:bodyPr wrap="square">
                <a:spAutoFit/>
              </a:bodyPr>
              <a:lstStyle/>
              <a:p>
                <a:pPr marL="635" indent="304800" algn="just">
                  <a:lnSpc>
                    <a:spcPct val="130000"/>
                  </a:lnSpc>
                </a:pPr>
                <a:r>
                  <a:rPr lang="en-US" altLang="zh-CN" sz="2400" dirty="0">
                    <a:effectLst/>
                    <a:latin typeface="Times New Roman" panose="02020603050405020304" pitchFamily="18" charset="0"/>
                    <a:ea typeface="宋体" panose="02010600030101010101" pitchFamily="2" charset="-122"/>
                  </a:rPr>
                  <a:t>  </a:t>
                </a:r>
                <a:r>
                  <a:rPr lang="zh-CN" altLang="zh-CN" sz="2400" dirty="0">
                    <a:effectLst/>
                    <a:latin typeface="Times New Roman" panose="02020603050405020304" pitchFamily="18" charset="0"/>
                    <a:ea typeface="宋体" panose="02010600030101010101" pitchFamily="2" charset="-122"/>
                  </a:rPr>
                  <a:t>又因</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𝑏</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𝐵</m:t>
                        </m:r>
                      </m:e>
                      <m:sup>
                        <m:r>
                          <a:rPr lang="en-US" altLang="zh-CN" sz="2400" i="1">
                            <a:effectLst/>
                            <a:latin typeface="Cambria Math" panose="02040503050406030204" pitchFamily="18" charset="0"/>
                            <a:ea typeface="宋体" panose="02010600030101010101" pitchFamily="2" charset="-122"/>
                          </a:rPr>
                          <m:t>−1</m:t>
                        </m:r>
                      </m:sup>
                    </m:sSup>
                    <m:d>
                      <m:dPr>
                        <m:ctrlPr>
                          <a:rPr lang="zh-CN" altLang="zh-CN" sz="2400" i="1">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latin typeface="Cambria Math" panose="02040503050406030204" pitchFamily="18" charset="0"/>
                                <a:ea typeface="Cambria Math" panose="02040503050406030204" pitchFamily="18" charset="0"/>
                              </a:rPr>
                            </m:ctrlPr>
                          </m:mPr>
                          <m:mr>
                            <m:e>
                              <m:r>
                                <m:rPr>
                                  <m:brk m:alnAt="7"/>
                                </m:rPr>
                                <a:rPr lang="en-US" altLang="zh-CN" sz="2400" b="0" i="1" smtClean="0">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3</m:t>
                              </m:r>
                              <m:r>
                                <a:rPr lang="en-US" altLang="zh-CN" sz="2400" i="1">
                                  <a:latin typeface="Cambria Math" panose="02040503050406030204" pitchFamily="18" charset="0"/>
                                  <a:ea typeface="宋体" panose="02010600030101010101" pitchFamily="2" charset="-122"/>
                                </a:rPr>
                                <m:t>𝜆</m:t>
                              </m:r>
                            </m:e>
                          </m:mr>
                          <m:mr>
                            <m:e>
                              <m:r>
                                <a:rPr lang="en-US" altLang="zh-CN" sz="2400" b="0" i="1" smtClean="0">
                                  <a:latin typeface="Cambria Math" panose="02040503050406030204" pitchFamily="18" charset="0"/>
                                  <a:ea typeface="宋体" panose="02010600030101010101" pitchFamily="2" charset="-122"/>
                                </a:rPr>
                                <m:t>−1−</m:t>
                              </m:r>
                              <m:r>
                                <a:rPr lang="en-US" altLang="zh-CN" sz="2400" i="1">
                                  <a:latin typeface="Cambria Math" panose="02040503050406030204" pitchFamily="18" charset="0"/>
                                  <a:ea typeface="宋体" panose="02010600030101010101" pitchFamily="2" charset="-122"/>
                                </a:rPr>
                                <m:t>𝜆</m:t>
                              </m:r>
                            </m:e>
                          </m:mr>
                        </m:m>
                      </m:e>
                    </m:d>
                    <m:r>
                      <a:rPr lang="en-US" altLang="zh-CN" sz="2400" i="1">
                        <a:effectLst/>
                        <a:latin typeface="Cambria Math" panose="02040503050406030204" pitchFamily="18" charset="0"/>
                        <a:ea typeface="宋体" panose="02010600030101010101" pitchFamily="2" charset="-122"/>
                      </a:rPr>
                      <m:t>=</m:t>
                    </m:r>
                    <m:d>
                      <m:dPr>
                        <m:ctrlPr>
                          <a:rPr lang="zh-CN" altLang="zh-CN" sz="2400" i="1">
                            <a:latin typeface="Cambria Math" panose="02040503050406030204" pitchFamily="18" charset="0"/>
                          </a:rPr>
                        </m:ctrlPr>
                      </m:dPr>
                      <m:e>
                        <m:m>
                          <m:mPr>
                            <m:mcs>
                              <m:mc>
                                <m:mcPr>
                                  <m:count m:val="2"/>
                                  <m:mcJc m:val="center"/>
                                </m:mcPr>
                              </m:mc>
                            </m:mcs>
                            <m:ctrlPr>
                              <a:rPr lang="zh-CN" altLang="zh-CN" sz="2400" i="1">
                                <a:latin typeface="Cambria Math" panose="02040503050406030204" pitchFamily="18" charset="0"/>
                              </a:rPr>
                            </m:ctrlPr>
                          </m:mPr>
                          <m:mr>
                            <m:e>
                              <m:r>
                                <a:rPr lang="en-US" altLang="zh-CN" sz="2400" i="1">
                                  <a:latin typeface="Cambria Math" panose="02040503050406030204" pitchFamily="18" charset="0"/>
                                </a:rPr>
                                <m:t>1</m:t>
                              </m:r>
                            </m:e>
                            <m:e>
                              <m:r>
                                <a:rPr lang="en-US" altLang="zh-CN" sz="2400" i="1">
                                  <a:latin typeface="Cambria Math" panose="02040503050406030204" pitchFamily="18" charset="0"/>
                                </a:rPr>
                                <m:t>−2</m:t>
                              </m:r>
                            </m:e>
                          </m:mr>
                          <m:mr>
                            <m:e>
                              <m:r>
                                <a:rPr lang="en-US" altLang="zh-CN" sz="2400" i="1">
                                  <a:latin typeface="Cambria Math" panose="02040503050406030204" pitchFamily="18" charset="0"/>
                                </a:rPr>
                                <m:t>0</m:t>
                              </m:r>
                            </m:e>
                            <m:e>
                              <m:r>
                                <a:rPr lang="en-US" altLang="zh-CN" sz="2400" i="1">
                                  <a:latin typeface="Cambria Math" panose="02040503050406030204" pitchFamily="18" charset="0"/>
                                </a:rPr>
                                <m:t>−1</m:t>
                              </m:r>
                            </m:e>
                          </m:mr>
                        </m:m>
                      </m:e>
                    </m:d>
                    <m:d>
                      <m:dPr>
                        <m:ctrlPr>
                          <a:rPr lang="zh-CN" altLang="zh-CN" sz="2400" i="1">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latin typeface="Cambria Math" panose="02040503050406030204" pitchFamily="18" charset="0"/>
                                <a:ea typeface="Cambria Math" panose="02040503050406030204" pitchFamily="18" charset="0"/>
                              </a:rPr>
                            </m:ctrlPr>
                          </m:mPr>
                          <m:mr>
                            <m:e>
                              <m:r>
                                <m:rPr>
                                  <m:brk m:alnAt="7"/>
                                </m:rPr>
                                <a:rPr lang="en-US" altLang="zh-CN" sz="2400" i="1">
                                  <a:latin typeface="Cambria Math" panose="02040503050406030204" pitchFamily="18" charset="0"/>
                                  <a:ea typeface="Cambria Math" panose="02040503050406030204" pitchFamily="18" charset="0"/>
                                </a:rPr>
                                <m:t>2</m:t>
                              </m:r>
                              <m:r>
                                <a:rPr lang="en-US" altLang="zh-CN" sz="2400" i="1">
                                  <a:latin typeface="Cambria Math" panose="02040503050406030204" pitchFamily="18" charset="0"/>
                                  <a:ea typeface="宋体" panose="02010600030101010101" pitchFamily="2" charset="-122"/>
                                </a:rPr>
                                <m:t>−3</m:t>
                              </m:r>
                              <m:r>
                                <a:rPr lang="en-US" altLang="zh-CN" sz="2400" i="1">
                                  <a:latin typeface="Cambria Math" panose="02040503050406030204" pitchFamily="18" charset="0"/>
                                  <a:ea typeface="宋体" panose="02010600030101010101" pitchFamily="2" charset="-122"/>
                                </a:rPr>
                                <m:t>𝜆</m:t>
                              </m:r>
                            </m:e>
                          </m:mr>
                          <m:mr>
                            <m:e>
                              <m:r>
                                <a:rPr lang="en-US" altLang="zh-CN" sz="2400" i="1">
                                  <a:latin typeface="Cambria Math" panose="02040503050406030204" pitchFamily="18" charset="0"/>
                                  <a:ea typeface="宋体" panose="02010600030101010101" pitchFamily="2" charset="-122"/>
                                </a:rPr>
                                <m:t>−1−</m:t>
                              </m:r>
                              <m:r>
                                <a:rPr lang="en-US" altLang="zh-CN" sz="2400" i="1">
                                  <a:latin typeface="Cambria Math" panose="02040503050406030204" pitchFamily="18" charset="0"/>
                                  <a:ea typeface="宋体" panose="02010600030101010101" pitchFamily="2" charset="-122"/>
                                </a:rPr>
                                <m:t>𝜆</m:t>
                              </m:r>
                            </m:e>
                          </m:mr>
                        </m:m>
                      </m:e>
                    </m:d>
                    <m:r>
                      <a:rPr lang="en-US" altLang="zh-CN" sz="2400" b="0" i="1" smtClean="0">
                        <a:latin typeface="Cambria Math" panose="02040503050406030204" pitchFamily="18" charset="0"/>
                        <a:ea typeface="宋体" panose="02010600030101010101" pitchFamily="2" charset="-122"/>
                      </a:rPr>
                      <m:t>=</m:t>
                    </m:r>
                    <m:d>
                      <m:dPr>
                        <m:ctrlPr>
                          <a:rPr lang="zh-CN" altLang="zh-CN" sz="2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400" i="1">
                                <a:effectLst/>
                                <a:latin typeface="Cambria Math" panose="02040503050406030204" pitchFamily="18" charset="0"/>
                                <a:ea typeface="Cambria Math" panose="02040503050406030204" pitchFamily="18" charset="0"/>
                              </a:rPr>
                            </m:ctrlPr>
                          </m:mPr>
                          <m:mr>
                            <m:e>
                              <m:r>
                                <m:rPr>
                                  <m:brk m:alnAt="7"/>
                                </m:rPr>
                                <a:rPr lang="en-US" altLang="zh-CN" sz="2400" b="0" i="1" smtClean="0">
                                  <a:effectLst/>
                                  <a:latin typeface="Cambria Math" panose="02040503050406030204" pitchFamily="18" charset="0"/>
                                  <a:ea typeface="Cambria Math" panose="02040503050406030204" pitchFamily="18" charset="0"/>
                                </a:rPr>
                                <m:t>4</m:t>
                              </m:r>
                              <m:r>
                                <a:rPr lang="en-US" altLang="zh-CN" sz="2400" i="1">
                                  <a:effectLst/>
                                  <a:latin typeface="Cambria Math" panose="02040503050406030204" pitchFamily="18" charset="0"/>
                                  <a:ea typeface="宋体" panose="02010600030101010101" pitchFamily="2" charset="-122"/>
                                </a:rPr>
                                <m:t>−</m:t>
                              </m:r>
                              <m:r>
                                <a:rPr lang="en-US" altLang="zh-CN" sz="2400" i="1">
                                  <a:effectLst/>
                                  <a:latin typeface="Cambria Math" panose="02040503050406030204" pitchFamily="18" charset="0"/>
                                  <a:ea typeface="宋体" panose="02010600030101010101" pitchFamily="2" charset="-122"/>
                                </a:rPr>
                                <m:t>𝜆</m:t>
                              </m:r>
                            </m:e>
                          </m:mr>
                          <m:mr>
                            <m:e>
                              <m:r>
                                <a:rPr lang="en-US" altLang="zh-CN" sz="2400" b="0" i="1" smtClean="0">
                                  <a:effectLst/>
                                  <a:latin typeface="Cambria Math" panose="02040503050406030204" pitchFamily="18" charset="0"/>
                                  <a:ea typeface="宋体" panose="02010600030101010101" pitchFamily="2" charset="-122"/>
                                </a:rPr>
                                <m:t>1+</m:t>
                              </m:r>
                              <m:r>
                                <a:rPr lang="en-US" altLang="zh-CN" sz="2400" i="1">
                                  <a:effectLst/>
                                  <a:latin typeface="Cambria Math" panose="02040503050406030204" pitchFamily="18" charset="0"/>
                                  <a:ea typeface="宋体" panose="02010600030101010101" pitchFamily="2" charset="-122"/>
                                </a:rPr>
                                <m:t>𝜆</m:t>
                              </m:r>
                            </m:e>
                          </m:mr>
                        </m:m>
                      </m:e>
                    </m:d>
                  </m:oMath>
                </a14:m>
                <a:r>
                  <a:rPr lang="zh-CN" altLang="zh-CN" sz="2400" dirty="0">
                    <a:effectLst/>
                    <a:latin typeface="Times New Roman" panose="02020603050405020304" pitchFamily="18" charset="0"/>
                    <a:ea typeface="宋体" panose="02010600030101010101" pitchFamily="2" charset="-122"/>
                  </a:rPr>
                  <a:t>，将其反映到最终单纯形表</a:t>
                </a:r>
                <a:r>
                  <a:rPr lang="en-US" altLang="zh-CN" sz="2400" dirty="0">
                    <a:effectLst/>
                    <a:latin typeface="Times New Roman" panose="02020603050405020304" pitchFamily="18" charset="0"/>
                    <a:ea typeface="宋体" panose="02010600030101010101" pitchFamily="2" charset="-122"/>
                  </a:rPr>
                  <a:t>4</a:t>
                </a:r>
                <a:r>
                  <a:rPr lang="zh-CN" altLang="zh-CN" sz="2400" dirty="0">
                    <a:effectLst/>
                    <a:latin typeface="Times New Roman" panose="02020603050405020304" pitchFamily="18" charset="0"/>
                    <a:ea typeface="宋体" panose="02010600030101010101" pitchFamily="2" charset="-122"/>
                  </a:rPr>
                  <a:t>中</a:t>
                </a:r>
                <a:r>
                  <a:rPr lang="zh-CN" altLang="en-US" sz="2400" dirty="0">
                    <a:effectLst/>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得到新表</a:t>
                </a:r>
                <a:r>
                  <a:rPr lang="en-US" altLang="zh-CN" sz="2400" dirty="0">
                    <a:effectLst/>
                    <a:latin typeface="Times New Roman" panose="02020603050405020304" pitchFamily="18" charset="0"/>
                    <a:ea typeface="宋体" panose="02010600030101010101" pitchFamily="2" charset="-122"/>
                  </a:rPr>
                  <a:t>5</a:t>
                </a:r>
                <a:r>
                  <a:rPr lang="zh-CN" altLang="zh-CN" sz="2400" dirty="0">
                    <a:effectLst/>
                    <a:latin typeface="Times New Roman" panose="02020603050405020304" pitchFamily="18" charset="0"/>
                    <a:ea typeface="宋体" panose="02010600030101010101" pitchFamily="2" charset="-122"/>
                  </a:rPr>
                  <a:t>。表</a:t>
                </a:r>
                <a:r>
                  <a:rPr lang="en-US" altLang="zh-CN" sz="2400" dirty="0">
                    <a:effectLst/>
                    <a:latin typeface="Times New Roman" panose="02020603050405020304" pitchFamily="18" charset="0"/>
                    <a:ea typeface="宋体" panose="02010600030101010101" pitchFamily="2" charset="-122"/>
                  </a:rPr>
                  <a:t>5</a:t>
                </a:r>
                <a:r>
                  <a:rPr lang="zh-CN" altLang="zh-CN" sz="2400" dirty="0">
                    <a:effectLst/>
                    <a:latin typeface="Times New Roman" panose="02020603050405020304" pitchFamily="18" charset="0"/>
                    <a:ea typeface="宋体" panose="02010600030101010101" pitchFamily="2" charset="-122"/>
                  </a:rPr>
                  <a:t>中最优基不变的条件是</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−1≤</m:t>
                    </m:r>
                    <m:r>
                      <a:rPr lang="en-US" altLang="zh-CN" sz="2400" i="1">
                        <a:effectLst/>
                        <a:latin typeface="Cambria Math" panose="02040503050406030204" pitchFamily="18" charset="0"/>
                        <a:ea typeface="宋体" panose="02010600030101010101" pitchFamily="2" charset="-122"/>
                      </a:rPr>
                      <m:t>𝜆</m:t>
                    </m:r>
                    <m:r>
                      <a:rPr lang="en-US" altLang="zh-CN" sz="2400" i="1">
                        <a:effectLst/>
                        <a:latin typeface="Cambria Math" panose="02040503050406030204" pitchFamily="18" charset="0"/>
                        <a:ea typeface="宋体" panose="02010600030101010101" pitchFamily="2" charset="-122"/>
                      </a:rPr>
                      <m:t>≤4</m:t>
                    </m:r>
                  </m:oMath>
                </a14:m>
                <a:r>
                  <a:rPr lang="zh-CN" altLang="zh-CN" sz="2400" dirty="0">
                    <a:effectLst/>
                    <a:latin typeface="Times New Roman" panose="02020603050405020304" pitchFamily="18" charset="0"/>
                    <a:ea typeface="宋体" panose="02010600030101010101" pitchFamily="2" charset="-122"/>
                  </a:rPr>
                  <a:t>，这时表中最优解为</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宋体" panose="02010600030101010101" pitchFamily="2" charset="-122"/>
                          </a:rPr>
                          <m:t>𝑥</m:t>
                        </m:r>
                      </m:e>
                      <m:sup>
                        <m:r>
                          <a:rPr lang="en-US" altLang="zh-CN" sz="2400" i="1">
                            <a:effectLst/>
                            <a:latin typeface="Cambria Math" panose="02040503050406030204" pitchFamily="18" charset="0"/>
                            <a:ea typeface="宋体" panose="02010600030101010101" pitchFamily="2" charset="-122"/>
                          </a:rPr>
                          <m:t>∗</m:t>
                        </m:r>
                      </m:sup>
                    </m:sSup>
                    <m:r>
                      <a:rPr lang="en-US" altLang="zh-CN" sz="2400" i="1">
                        <a:effectLst/>
                        <a:latin typeface="Cambria Math" panose="02040503050406030204" pitchFamily="18" charset="0"/>
                        <a:ea typeface="宋体" panose="02010600030101010101" pitchFamily="2" charset="-122"/>
                      </a:rPr>
                      <m:t>=</m:t>
                    </m:r>
                    <m:sSup>
                      <m:sSupPr>
                        <m:ctrlPr>
                          <a:rPr lang="zh-CN" altLang="zh-CN" sz="2400" i="1">
                            <a:effectLst/>
                            <a:latin typeface="Cambria Math" panose="02040503050406030204" pitchFamily="18" charset="0"/>
                            <a:ea typeface="Cambria Math" panose="02040503050406030204" pitchFamily="18" charset="0"/>
                          </a:rPr>
                        </m:ctrlPr>
                      </m:sSupPr>
                      <m:e>
                        <m:d>
                          <m:dPr>
                            <m:ctrlPr>
                              <a:rPr lang="zh-CN" altLang="zh-CN" sz="2400" i="1">
                                <a:effectLst/>
                                <a:latin typeface="Cambria Math" panose="02040503050406030204" pitchFamily="18" charset="0"/>
                                <a:ea typeface="Cambria Math" panose="02040503050406030204" pitchFamily="18" charset="0"/>
                              </a:rPr>
                            </m:ctrlPr>
                          </m:dPr>
                          <m:e>
                            <m:r>
                              <a:rPr lang="en-US" altLang="zh-CN" sz="2400" i="1">
                                <a:effectLst/>
                                <a:latin typeface="Cambria Math" panose="02040503050406030204" pitchFamily="18" charset="0"/>
                                <a:ea typeface="宋体" panose="02010600030101010101" pitchFamily="2" charset="-122"/>
                              </a:rPr>
                              <m:t>4−</m:t>
                            </m:r>
                            <m:r>
                              <a:rPr lang="en-US" altLang="zh-CN" sz="2400" i="1">
                                <a:effectLst/>
                                <a:latin typeface="Cambria Math" panose="02040503050406030204" pitchFamily="18" charset="0"/>
                                <a:ea typeface="宋体" panose="02010600030101010101" pitchFamily="2" charset="-122"/>
                              </a:rPr>
                              <m:t>𝜆</m:t>
                            </m:r>
                            <m:r>
                              <a:rPr lang="en-US" altLang="zh-CN" sz="2400" i="1">
                                <a:effectLst/>
                                <a:latin typeface="Cambria Math" panose="02040503050406030204" pitchFamily="18" charset="0"/>
                                <a:ea typeface="宋体" panose="02010600030101010101" pitchFamily="2" charset="-122"/>
                              </a:rPr>
                              <m:t>,0,1+</m:t>
                            </m:r>
                            <m:r>
                              <a:rPr lang="en-US" altLang="zh-CN" sz="2400" i="1">
                                <a:effectLst/>
                                <a:latin typeface="Cambria Math" panose="02040503050406030204" pitchFamily="18" charset="0"/>
                                <a:ea typeface="宋体" panose="02010600030101010101" pitchFamily="2" charset="-122"/>
                              </a:rPr>
                              <m:t>𝜆</m:t>
                            </m:r>
                            <m:r>
                              <a:rPr lang="en-US" altLang="zh-CN" sz="2400" i="1">
                                <a:effectLst/>
                                <a:latin typeface="Cambria Math" panose="02040503050406030204" pitchFamily="18" charset="0"/>
                                <a:ea typeface="宋体" panose="02010600030101010101" pitchFamily="2" charset="-122"/>
                              </a:rPr>
                              <m:t>,0</m:t>
                            </m:r>
                          </m:e>
                        </m:d>
                      </m:e>
                      <m:sup>
                        <m:r>
                          <a:rPr lang="en-US" altLang="zh-CN" sz="2400" i="1">
                            <a:effectLst/>
                            <a:latin typeface="Cambria Math" panose="02040503050406030204" pitchFamily="18" charset="0"/>
                            <a:ea typeface="宋体" panose="02010600030101010101" pitchFamily="2" charset="-122"/>
                          </a:rPr>
                          <m:t>𝑇</m:t>
                        </m:r>
                      </m:sup>
                    </m:sSup>
                  </m:oMath>
                </a14:m>
                <a:r>
                  <a:rPr lang="zh-CN" altLang="zh-CN" sz="2400" dirty="0">
                    <a:effectLst/>
                    <a:latin typeface="Times New Roman" panose="02020603050405020304" pitchFamily="18" charset="0"/>
                    <a:ea typeface="宋体" panose="02010600030101010101" pitchFamily="2" charset="-122"/>
                  </a:rPr>
                  <a:t>，最优值为</a:t>
                </a:r>
                <a14:m>
                  <m:oMath xmlns:m="http://schemas.openxmlformats.org/officeDocument/2006/math">
                    <m:r>
                      <a:rPr lang="en-US" altLang="zh-CN" sz="2400" i="1">
                        <a:effectLst/>
                        <a:latin typeface="Cambria Math" panose="02040503050406030204" pitchFamily="18" charset="0"/>
                        <a:ea typeface="宋体" panose="02010600030101010101" pitchFamily="2" charset="-122"/>
                      </a:rPr>
                      <m:t>𝑧</m:t>
                    </m:r>
                    <m:r>
                      <a:rPr lang="en-US" altLang="zh-CN" sz="2400" i="1">
                        <a:effectLst/>
                        <a:latin typeface="Cambria Math" panose="02040503050406030204" pitchFamily="18" charset="0"/>
                        <a:ea typeface="宋体" panose="02010600030101010101" pitchFamily="2" charset="-122"/>
                      </a:rPr>
                      <m:t>=6+</m:t>
                    </m:r>
                    <m:r>
                      <a:rPr lang="en-US" altLang="zh-CN" sz="2400" i="1">
                        <a:effectLst/>
                        <a:latin typeface="Cambria Math" panose="02040503050406030204" pitchFamily="18" charset="0"/>
                        <a:ea typeface="宋体" panose="02010600030101010101" pitchFamily="2" charset="-122"/>
                      </a:rPr>
                      <m:t>𝜆</m:t>
                    </m:r>
                  </m:oMath>
                </a14:m>
                <a:r>
                  <a:rPr lang="zh-CN" altLang="zh-CN" sz="2400" dirty="0">
                    <a:effectLst/>
                    <a:latin typeface="Times New Roman" panose="02020603050405020304" pitchFamily="18" charset="0"/>
                    <a:ea typeface="宋体" panose="02010600030101010101" pitchFamily="2" charset="-122"/>
                  </a:rPr>
                  <a:t>．</a:t>
                </a:r>
              </a:p>
            </p:txBody>
          </p:sp>
        </mc:Choice>
        <mc:Fallback xmlns="">
          <p:sp>
            <p:nvSpPr>
              <p:cNvPr id="4" name="文本框 3">
                <a:extLst>
                  <a:ext uri="{FF2B5EF4-FFF2-40B4-BE49-F238E27FC236}">
                    <a16:creationId xmlns:a16="http://schemas.microsoft.com/office/drawing/2014/main" id="{13F32275-B104-4A11-8459-DB28C20334C7}"/>
                  </a:ext>
                </a:extLst>
              </p:cNvPr>
              <p:cNvSpPr txBox="1">
                <a:spLocks noRot="1" noChangeAspect="1" noMove="1" noResize="1" noEditPoints="1" noAdjustHandles="1" noChangeArrowheads="1" noChangeShapeType="1" noTextEdit="1"/>
              </p:cNvSpPr>
              <p:nvPr/>
            </p:nvSpPr>
            <p:spPr>
              <a:xfrm>
                <a:off x="549502" y="194349"/>
                <a:ext cx="11262675" cy="1850058"/>
              </a:xfrm>
              <a:prstGeom prst="rect">
                <a:avLst/>
              </a:prstGeom>
              <a:blipFill>
                <a:blip r:embed="rId3"/>
                <a:stretch>
                  <a:fillRect l="-812" r="-812" b="-5611"/>
                </a:stretch>
              </a:blipFill>
            </p:spPr>
            <p:txBody>
              <a:bodyPr/>
              <a:lstStyle/>
              <a:p>
                <a:r>
                  <a:rPr lang="zh-CN" altLang="en-US">
                    <a:noFill/>
                  </a:rPr>
                  <a:t> </a:t>
                </a:r>
              </a:p>
            </p:txBody>
          </p:sp>
        </mc:Fallback>
      </mc:AlternateContent>
      <p:graphicFrame>
        <p:nvGraphicFramePr>
          <p:cNvPr id="34818" name="Object 3">
            <a:extLst>
              <a:ext uri="{FF2B5EF4-FFF2-40B4-BE49-F238E27FC236}">
                <a16:creationId xmlns:a16="http://schemas.microsoft.com/office/drawing/2014/main" id="{5C5BD6B6-0763-7AB7-BF06-F1F19D59054E}"/>
              </a:ext>
            </a:extLst>
          </p:cNvPr>
          <p:cNvGraphicFramePr>
            <a:graphicFrameLocks noChangeAspect="1"/>
          </p:cNvGraphicFramePr>
          <p:nvPr/>
        </p:nvGraphicFramePr>
        <p:xfrm>
          <a:off x="2615268" y="2315377"/>
          <a:ext cx="7880350" cy="8842375"/>
        </p:xfrm>
        <a:graphic>
          <a:graphicData uri="http://schemas.openxmlformats.org/presentationml/2006/ole">
            <mc:AlternateContent xmlns:mc="http://schemas.openxmlformats.org/markup-compatibility/2006">
              <mc:Choice xmlns:v="urn:schemas-microsoft-com:vml" Requires="v">
                <p:oleObj name="Document" r:id="rId4" imgW="5412644" imgH="6074138" progId="Word.Document.8">
                  <p:embed/>
                </p:oleObj>
              </mc:Choice>
              <mc:Fallback>
                <p:oleObj name="Document" r:id="rId4" imgW="5412644" imgH="6074138" progId="Word.Document.8">
                  <p:embed/>
                  <p:pic>
                    <p:nvPicPr>
                      <p:cNvPr id="34818" name="Object 3">
                        <a:extLst>
                          <a:ext uri="{FF2B5EF4-FFF2-40B4-BE49-F238E27FC236}">
                            <a16:creationId xmlns:a16="http://schemas.microsoft.com/office/drawing/2014/main" id="{5C5BD6B6-0763-7AB7-BF06-F1F19D59054E}"/>
                          </a:ext>
                        </a:extLst>
                      </p:cNvPr>
                      <p:cNvPicPr>
                        <a:picLocks noChangeAspect="1" noChangeArrowheads="1"/>
                      </p:cNvPicPr>
                      <p:nvPr/>
                    </p:nvPicPr>
                    <p:blipFill>
                      <a:blip r:embed="rId5"/>
                      <a:srcRect/>
                      <a:stretch>
                        <a:fillRect/>
                      </a:stretch>
                    </p:blipFill>
                    <p:spPr bwMode="auto">
                      <a:xfrm>
                        <a:off x="2615268" y="2315377"/>
                        <a:ext cx="7880350" cy="884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文本框 4">
            <a:extLst>
              <a:ext uri="{FF2B5EF4-FFF2-40B4-BE49-F238E27FC236}">
                <a16:creationId xmlns:a16="http://schemas.microsoft.com/office/drawing/2014/main" id="{AD451D3C-B28C-6C56-515B-FAAA15295E19}"/>
              </a:ext>
            </a:extLst>
          </p:cNvPr>
          <p:cNvSpPr txBox="1"/>
          <p:nvPr/>
        </p:nvSpPr>
        <p:spPr>
          <a:xfrm>
            <a:off x="5063370" y="2184723"/>
            <a:ext cx="6094428" cy="461665"/>
          </a:xfrm>
          <a:prstGeom prst="rect">
            <a:avLst/>
          </a:prstGeom>
          <a:noFill/>
        </p:spPr>
        <p:txBody>
          <a:bodyPr wrap="square">
            <a:spAutoFit/>
          </a:bodyPr>
          <a:lstStyle/>
          <a:p>
            <a:r>
              <a:rPr lang="zh-CN" altLang="zh-CN" sz="2400" dirty="0">
                <a:effectLst/>
                <a:latin typeface="+mn-ea"/>
              </a:rPr>
              <a:t>表</a:t>
            </a:r>
            <a:r>
              <a:rPr lang="en-US" altLang="zh-CN" sz="2400" dirty="0">
                <a:effectLst/>
                <a:latin typeface="+mn-ea"/>
              </a:rPr>
              <a:t>5</a:t>
            </a:r>
            <a:endParaRPr lang="zh-CN" altLang="en-US" sz="2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F374577-1F4D-810C-0748-FE03D479140E}"/>
                  </a:ext>
                </a:extLst>
              </p:cNvPr>
              <p:cNvSpPr txBox="1"/>
              <p:nvPr/>
            </p:nvSpPr>
            <p:spPr>
              <a:xfrm>
                <a:off x="256094" y="5553203"/>
                <a:ext cx="11849493" cy="532453"/>
              </a:xfrm>
              <a:prstGeom prst="rect">
                <a:avLst/>
              </a:prstGeom>
              <a:noFill/>
            </p:spPr>
            <p:txBody>
              <a:bodyPr wrap="square">
                <a:spAutoFit/>
              </a:bodyPr>
              <a:lstStyle/>
              <a:p>
                <a:pPr marL="635" indent="304800" algn="just">
                  <a:lnSpc>
                    <a:spcPct val="130000"/>
                  </a:lnSpc>
                </a:pPr>
                <a:r>
                  <a:rPr lang="en-US" altLang="zh-CN" sz="2400" dirty="0"/>
                  <a:t>当</a:t>
                </a:r>
                <a14:m>
                  <m:oMath xmlns:m="http://schemas.openxmlformats.org/officeDocument/2006/math">
                    <m:r>
                      <a:rPr lang="en-US" altLang="zh-CN" sz="2400" i="1">
                        <a:latin typeface="Cambria Math" panose="02040503050406030204" pitchFamily="18" charset="0"/>
                      </a:rPr>
                      <m:t>𝜆</m:t>
                    </m:r>
                    <m:r>
                      <a:rPr lang="en-US" altLang="zh-CN" sz="2400" i="1">
                        <a:latin typeface="Cambria Math" panose="02040503050406030204" pitchFamily="18" charset="0"/>
                      </a:rPr>
                      <m:t>&gt;4</m:t>
                    </m:r>
                  </m:oMath>
                </a14:m>
                <a:r>
                  <a:rPr lang="en-US" altLang="zh-CN" sz="2400" dirty="0"/>
                  <a:t>时，表5中的基变量</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oMath>
                </a14:m>
                <a:r>
                  <a:rPr lang="en-US" altLang="zh-CN" sz="2400" dirty="0"/>
                  <a:t>将小于0，这时可用对偶单纯形法继续求解得表6.</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5F374577-1F4D-810C-0748-FE03D479140E}"/>
                  </a:ext>
                </a:extLst>
              </p:cNvPr>
              <p:cNvSpPr txBox="1">
                <a:spLocks noRot="1" noChangeAspect="1" noMove="1" noResize="1" noEditPoints="1" noAdjustHandles="1" noChangeArrowheads="1" noChangeShapeType="1" noTextEdit="1"/>
              </p:cNvSpPr>
              <p:nvPr/>
            </p:nvSpPr>
            <p:spPr>
              <a:xfrm>
                <a:off x="256094" y="5553203"/>
                <a:ext cx="11849493" cy="532453"/>
              </a:xfrm>
              <a:prstGeom prst="rect">
                <a:avLst/>
              </a:prstGeom>
              <a:blipFill>
                <a:blip r:embed="rId6"/>
                <a:stretch>
                  <a:fillRect b="-275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261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Object 2">
            <a:extLst>
              <a:ext uri="{FF2B5EF4-FFF2-40B4-BE49-F238E27FC236}">
                <a16:creationId xmlns:a16="http://schemas.microsoft.com/office/drawing/2014/main" id="{D807851D-42EA-0EEC-3525-A64AE2EF7925}"/>
              </a:ext>
            </a:extLst>
          </p:cNvPr>
          <p:cNvGraphicFramePr>
            <a:graphicFrameLocks noChangeAspect="1"/>
          </p:cNvGraphicFramePr>
          <p:nvPr>
            <p:extLst>
              <p:ext uri="{D42A27DB-BD31-4B8C-83A1-F6EECF244321}">
                <p14:modId xmlns:p14="http://schemas.microsoft.com/office/powerpoint/2010/main" val="2605852461"/>
              </p:ext>
            </p:extLst>
          </p:nvPr>
        </p:nvGraphicFramePr>
        <p:xfrm>
          <a:off x="2868613" y="2301875"/>
          <a:ext cx="7620000" cy="3646488"/>
        </p:xfrm>
        <a:graphic>
          <a:graphicData uri="http://schemas.openxmlformats.org/presentationml/2006/ole">
            <mc:AlternateContent xmlns:mc="http://schemas.openxmlformats.org/markup-compatibility/2006">
              <mc:Choice xmlns:v="urn:schemas-microsoft-com:vml" Requires="v">
                <p:oleObj name="Document" r:id="rId2" imgW="5422004" imgH="2598933" progId="Word.Document.12">
                  <p:embed/>
                </p:oleObj>
              </mc:Choice>
              <mc:Fallback>
                <p:oleObj name="Document" r:id="rId2" imgW="5422004" imgH="2598933" progId="Word.Document.12">
                  <p:embed/>
                  <p:pic>
                    <p:nvPicPr>
                      <p:cNvPr id="35842" name="Object 2">
                        <a:extLst>
                          <a:ext uri="{FF2B5EF4-FFF2-40B4-BE49-F238E27FC236}">
                            <a16:creationId xmlns:a16="http://schemas.microsoft.com/office/drawing/2014/main" id="{D807851D-42EA-0EEC-3525-A64AE2EF7925}"/>
                          </a:ext>
                        </a:extLst>
                      </p:cNvPr>
                      <p:cNvPicPr>
                        <a:picLocks noChangeAspect="1" noChangeArrowheads="1"/>
                      </p:cNvPicPr>
                      <p:nvPr/>
                    </p:nvPicPr>
                    <p:blipFill>
                      <a:blip r:embed="rId3"/>
                      <a:srcRect/>
                      <a:stretch>
                        <a:fillRect/>
                      </a:stretch>
                    </p:blipFill>
                    <p:spPr bwMode="auto">
                      <a:xfrm>
                        <a:off x="2868613" y="2301875"/>
                        <a:ext cx="7620000" cy="364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a:extLst>
              <a:ext uri="{FF2B5EF4-FFF2-40B4-BE49-F238E27FC236}">
                <a16:creationId xmlns:a16="http://schemas.microsoft.com/office/drawing/2014/main" id="{EFCAE37B-3C96-40A2-F8E0-678CD93AA8FE}"/>
              </a:ext>
            </a:extLst>
          </p:cNvPr>
          <p:cNvSpPr txBox="1"/>
          <p:nvPr/>
        </p:nvSpPr>
        <p:spPr>
          <a:xfrm>
            <a:off x="5084976" y="2382624"/>
            <a:ext cx="6094428" cy="461665"/>
          </a:xfrm>
          <a:prstGeom prst="rect">
            <a:avLst/>
          </a:prstGeom>
          <a:noFill/>
        </p:spPr>
        <p:txBody>
          <a:bodyPr wrap="square">
            <a:spAutoFit/>
          </a:bodyPr>
          <a:lstStyle/>
          <a:p>
            <a:r>
              <a:rPr lang="zh-CN" altLang="zh-CN" sz="2400" dirty="0">
                <a:effectLst/>
                <a:latin typeface="+mn-ea"/>
              </a:rPr>
              <a:t>表</a:t>
            </a:r>
            <a:r>
              <a:rPr lang="en-US" altLang="zh-CN" sz="2400" dirty="0">
                <a:effectLst/>
                <a:latin typeface="+mn-ea"/>
              </a:rPr>
              <a:t>6</a:t>
            </a:r>
            <a:endParaRPr lang="zh-CN" altLang="en-US" sz="2400"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C874FC5-F1BE-216F-AE46-E265204010E1}"/>
                  </a:ext>
                </a:extLst>
              </p:cNvPr>
              <p:cNvSpPr txBox="1"/>
              <p:nvPr/>
            </p:nvSpPr>
            <p:spPr>
              <a:xfrm>
                <a:off x="141402" y="373458"/>
                <a:ext cx="11849493" cy="859018"/>
              </a:xfrm>
              <a:prstGeom prst="rect">
                <a:avLst/>
              </a:prstGeom>
              <a:noFill/>
            </p:spPr>
            <p:txBody>
              <a:bodyPr wrap="square">
                <a:spAutoFit/>
              </a:bodyPr>
              <a:lstStyle/>
              <a:p>
                <a:pPr marL="635" indent="304800" algn="just">
                  <a:lnSpc>
                    <a:spcPct val="130000"/>
                  </a:lnSpc>
                </a:pPr>
                <a:r>
                  <a:rPr lang="en-US" altLang="zh-CN" sz="2400" dirty="0"/>
                  <a:t>表6中的最优解为</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r>
                              <a:rPr lang="en-US" altLang="zh-CN" sz="2400" i="1">
                                <a:latin typeface="Cambria Math" panose="02040503050406030204" pitchFamily="18" charset="0"/>
                              </a:rPr>
                              <m:t>0,0,</m:t>
                            </m:r>
                            <m:f>
                              <m:fPr>
                                <m:ctrlPr>
                                  <a:rPr lang="zh-CN" altLang="zh-CN" sz="2400" i="1">
                                    <a:latin typeface="Cambria Math" panose="02040503050406030204" pitchFamily="18" charset="0"/>
                                  </a:rPr>
                                </m:ctrlPr>
                              </m:fPr>
                              <m:num>
                                <m:r>
                                  <a:rPr lang="en-US" altLang="zh-CN" sz="2400" b="0" i="1" smtClean="0">
                                    <a:latin typeface="Cambria Math" panose="02040503050406030204" pitchFamily="18" charset="0"/>
                                  </a:rPr>
                                  <m:t>4</m:t>
                                </m:r>
                                <m:r>
                                  <a:rPr lang="en-US" altLang="zh-CN" sz="2400" i="1">
                                    <a:latin typeface="Cambria Math" panose="02040503050406030204" pitchFamily="18" charset="0"/>
                                  </a:rPr>
                                  <m:t>𝜆</m:t>
                                </m:r>
                                <m:r>
                                  <a:rPr lang="en-US" altLang="zh-CN" sz="2400" b="0" i="1" smtClean="0">
                                    <a:latin typeface="Cambria Math" panose="02040503050406030204" pitchFamily="18" charset="0"/>
                                  </a:rPr>
                                  <m:t>−1</m:t>
                                </m:r>
                              </m:num>
                              <m:den>
                                <m:r>
                                  <a:rPr lang="en-US" altLang="zh-CN" sz="2400" i="1">
                                    <a:latin typeface="Cambria Math" panose="02040503050406030204" pitchFamily="18" charset="0"/>
                                  </a:rPr>
                                  <m:t>3</m:t>
                                </m:r>
                              </m:den>
                            </m:f>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𝜆</m:t>
                                </m:r>
                                <m:r>
                                  <a:rPr lang="en-US" altLang="zh-CN" sz="2400" i="1">
                                    <a:latin typeface="Cambria Math" panose="02040503050406030204" pitchFamily="18" charset="0"/>
                                  </a:rPr>
                                  <m:t>−4</m:t>
                                </m:r>
                              </m:num>
                              <m:den>
                                <m:r>
                                  <a:rPr lang="en-US" altLang="zh-CN" sz="2400" i="1">
                                    <a:latin typeface="Cambria Math" panose="02040503050406030204" pitchFamily="18" charset="0"/>
                                  </a:rPr>
                                  <m:t>3</m:t>
                                </m:r>
                              </m:den>
                            </m:f>
                          </m:e>
                        </m:d>
                      </m:e>
                      <m:sup>
                        <m:r>
                          <a:rPr lang="en-US" altLang="zh-CN" sz="2400" i="1">
                            <a:latin typeface="Cambria Math" panose="02040503050406030204" pitchFamily="18" charset="0"/>
                          </a:rPr>
                          <m:t>𝑇</m:t>
                        </m:r>
                      </m:sup>
                    </m:sSup>
                  </m:oMath>
                </a14:m>
                <a:r>
                  <a:rPr lang="en-US" altLang="zh-CN" sz="2400" dirty="0"/>
                  <a:t>，最优值为</a:t>
                </a:r>
                <a14:m>
                  <m:oMath xmlns:m="http://schemas.openxmlformats.org/officeDocument/2006/math">
                    <m:r>
                      <a:rPr lang="en-US" altLang="zh-CN" sz="2400" i="1">
                        <a:latin typeface="Cambria Math" panose="02040503050406030204" pitchFamily="18" charset="0"/>
                      </a:rPr>
                      <m:t>𝑧</m:t>
                    </m:r>
                    <m:r>
                      <a:rPr lang="en-US" altLang="zh-CN" sz="2400" i="1">
                        <a:latin typeface="Cambria Math" panose="02040503050406030204" pitchFamily="18" charset="0"/>
                      </a:rPr>
                      <m:t>=3</m:t>
                    </m:r>
                    <m:r>
                      <a:rPr lang="en-US" altLang="zh-CN" sz="2400" i="1">
                        <a:latin typeface="Cambria Math" panose="02040503050406030204" pitchFamily="18" charset="0"/>
                      </a:rPr>
                      <m:t>𝜆</m:t>
                    </m:r>
                    <m:r>
                      <a:rPr lang="en-US" altLang="zh-CN" sz="2400" i="1">
                        <a:latin typeface="Cambria Math" panose="02040503050406030204" pitchFamily="18" charset="0"/>
                      </a:rPr>
                      <m:t>−2</m:t>
                    </m:r>
                  </m:oMath>
                </a14:m>
                <a:r>
                  <a:rPr lang="en-US" altLang="zh-CN" sz="2400" dirty="0"/>
                  <a:t>．</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EC874FC5-F1BE-216F-AE46-E265204010E1}"/>
                  </a:ext>
                </a:extLst>
              </p:cNvPr>
              <p:cNvSpPr txBox="1">
                <a:spLocks noRot="1" noChangeAspect="1" noMove="1" noResize="1" noEditPoints="1" noAdjustHandles="1" noChangeArrowheads="1" noChangeShapeType="1" noTextEdit="1"/>
              </p:cNvSpPr>
              <p:nvPr/>
            </p:nvSpPr>
            <p:spPr>
              <a:xfrm>
                <a:off x="141402" y="373458"/>
                <a:ext cx="11849493" cy="859018"/>
              </a:xfrm>
              <a:prstGeom prst="rect">
                <a:avLst/>
              </a:prstGeom>
              <a:blipFill>
                <a:blip r:embed="rId5"/>
                <a:stretch>
                  <a:fillRect b="-6383"/>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a:extLst>
              <a:ext uri="{FF2B5EF4-FFF2-40B4-BE49-F238E27FC236}">
                <a16:creationId xmlns:a16="http://schemas.microsoft.com/office/drawing/2014/main" id="{247EA81C-CC97-943C-560D-C2CAAB745D79}"/>
              </a:ext>
            </a:extLst>
          </p:cNvPr>
          <p:cNvSpPr>
            <a:spLocks noGrp="1"/>
          </p:cNvSpPr>
          <p:nvPr>
            <p:ph idx="1"/>
          </p:nvPr>
        </p:nvSpPr>
        <p:spPr>
          <a:xfrm>
            <a:off x="1981200" y="571501"/>
            <a:ext cx="8229600" cy="5554663"/>
          </a:xfrm>
        </p:spPr>
        <p:txBody>
          <a:bodyPr/>
          <a:lstStyle/>
          <a:p>
            <a:pPr>
              <a:buFontTx/>
              <a:buNone/>
            </a:pPr>
            <a:r>
              <a:rPr lang="en-US" altLang="zh-CN"/>
              <a:t> </a:t>
            </a:r>
            <a:endParaRPr lang="zh-CN" altLang="en-US"/>
          </a:p>
        </p:txBody>
      </p:sp>
      <p:graphicFrame>
        <p:nvGraphicFramePr>
          <p:cNvPr id="37890" name="Object 2">
            <a:extLst>
              <a:ext uri="{FF2B5EF4-FFF2-40B4-BE49-F238E27FC236}">
                <a16:creationId xmlns:a16="http://schemas.microsoft.com/office/drawing/2014/main" id="{8BE3A341-4F03-9640-BADB-9BB8C7069939}"/>
              </a:ext>
            </a:extLst>
          </p:cNvPr>
          <p:cNvGraphicFramePr>
            <a:graphicFrameLocks noChangeAspect="1"/>
          </p:cNvGraphicFramePr>
          <p:nvPr>
            <p:extLst>
              <p:ext uri="{D42A27DB-BD31-4B8C-83A1-F6EECF244321}">
                <p14:modId xmlns:p14="http://schemas.microsoft.com/office/powerpoint/2010/main" val="3257577757"/>
              </p:ext>
            </p:extLst>
          </p:nvPr>
        </p:nvGraphicFramePr>
        <p:xfrm>
          <a:off x="6007100" y="2881313"/>
          <a:ext cx="7650163" cy="3500437"/>
        </p:xfrm>
        <a:graphic>
          <a:graphicData uri="http://schemas.openxmlformats.org/presentationml/2006/ole">
            <mc:AlternateContent xmlns:mc="http://schemas.openxmlformats.org/markup-compatibility/2006">
              <mc:Choice xmlns:v="urn:schemas-microsoft-com:vml" Requires="v">
                <p:oleObj name="Document" r:id="rId2" imgW="5422004" imgH="2486249" progId="Word.Document.12">
                  <p:embed/>
                </p:oleObj>
              </mc:Choice>
              <mc:Fallback>
                <p:oleObj name="Document" r:id="rId2" imgW="5422004" imgH="2486249" progId="Word.Document.12">
                  <p:embed/>
                  <p:pic>
                    <p:nvPicPr>
                      <p:cNvPr id="37890" name="Object 2">
                        <a:extLst>
                          <a:ext uri="{FF2B5EF4-FFF2-40B4-BE49-F238E27FC236}">
                            <a16:creationId xmlns:a16="http://schemas.microsoft.com/office/drawing/2014/main" id="{8BE3A341-4F03-9640-BADB-9BB8C7069939}"/>
                          </a:ext>
                        </a:extLst>
                      </p:cNvPr>
                      <p:cNvPicPr>
                        <a:picLocks noChangeAspect="1" noChangeArrowheads="1"/>
                      </p:cNvPicPr>
                      <p:nvPr/>
                    </p:nvPicPr>
                    <p:blipFill>
                      <a:blip r:embed="rId3"/>
                      <a:srcRect/>
                      <a:stretch>
                        <a:fillRect/>
                      </a:stretch>
                    </p:blipFill>
                    <p:spPr bwMode="auto">
                      <a:xfrm>
                        <a:off x="6007100" y="2881313"/>
                        <a:ext cx="7650163" cy="3500437"/>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67F6189-EC62-E2E0-1841-9994FEEC1B7D}"/>
                  </a:ext>
                </a:extLst>
              </p:cNvPr>
              <p:cNvSpPr txBox="1"/>
              <p:nvPr/>
            </p:nvSpPr>
            <p:spPr>
              <a:xfrm>
                <a:off x="171253" y="571501"/>
                <a:ext cx="11849493" cy="1018227"/>
              </a:xfrm>
              <a:prstGeom prst="rect">
                <a:avLst/>
              </a:prstGeom>
              <a:noFill/>
            </p:spPr>
            <p:txBody>
              <a:bodyPr wrap="square">
                <a:spAutoFit/>
              </a:bodyPr>
              <a:lstStyle/>
              <a:p>
                <a:pPr marL="635" indent="304800" algn="just">
                  <a:lnSpc>
                    <a:spcPct val="130000"/>
                  </a:lnSpc>
                </a:pPr>
                <a:r>
                  <a:rPr lang="en-US" altLang="zh-CN" sz="2400" dirty="0"/>
                  <a:t>当</a:t>
                </a:r>
                <a14:m>
                  <m:oMath xmlns:m="http://schemas.openxmlformats.org/officeDocument/2006/math">
                    <m:r>
                      <a:rPr lang="en-US" altLang="zh-CN" sz="2400" i="1">
                        <a:latin typeface="Cambria Math" panose="02040503050406030204" pitchFamily="18" charset="0"/>
                      </a:rPr>
                      <m:t>𝜆</m:t>
                    </m:r>
                    <m:r>
                      <a:rPr lang="en-US" altLang="zh-CN" sz="2400" b="0" i="1" smtClean="0">
                        <a:latin typeface="Cambria Math" panose="02040503050406030204" pitchFamily="18" charset="0"/>
                      </a:rPr>
                      <m:t>&lt;−1</m:t>
                    </m:r>
                  </m:oMath>
                </a14:m>
                <a:r>
                  <a:rPr lang="en-US" altLang="zh-CN" sz="2400" dirty="0"/>
                  <a:t>时，表5中的基变量</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Sub>
                  </m:oMath>
                </a14:m>
                <a:r>
                  <a:rPr lang="en-US" altLang="zh-CN" sz="2400" dirty="0"/>
                  <a:t>将小于0，这时可用对偶单纯形法继续求解得表7．表7中的最优解为</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d>
                          <m:dPr>
                            <m:ctrlPr>
                              <a:rPr lang="zh-CN" altLang="zh-CN" sz="2400" i="1">
                                <a:latin typeface="Cambria Math" panose="02040503050406030204" pitchFamily="18" charset="0"/>
                              </a:rPr>
                            </m:ctrlPr>
                          </m:dPr>
                          <m:e>
                            <m:r>
                              <a:rPr lang="en-US" altLang="zh-CN" sz="2400" b="0" i="1" smtClean="0">
                                <a:latin typeface="Cambria Math" panose="02040503050406030204" pitchFamily="18" charset="0"/>
                              </a:rPr>
                              <m:t>2−3</m:t>
                            </m:r>
                            <m:r>
                              <a:rPr lang="en-US" altLang="zh-CN" sz="2400" i="1" smtClean="0">
                                <a:latin typeface="Cambria Math" panose="02040503050406030204" pitchFamily="18" charset="0"/>
                              </a:rPr>
                              <m:t>𝜆</m:t>
                            </m:r>
                            <m:r>
                              <a:rPr lang="en-US" altLang="zh-CN" sz="2400" i="1">
                                <a:latin typeface="Cambria Math" panose="02040503050406030204" pitchFamily="18" charset="0"/>
                              </a:rPr>
                              <m:t>,</m:t>
                            </m:r>
                            <m:r>
                              <a:rPr lang="en-US" altLang="zh-CN" sz="2400" b="0" i="1" smtClean="0">
                                <a:latin typeface="Cambria Math" panose="02040503050406030204" pitchFamily="18" charset="0"/>
                              </a:rPr>
                              <m:t>−1−</m:t>
                            </m:r>
                            <m:r>
                              <a:rPr lang="en-US" altLang="zh-CN" sz="2400" i="1" smtClean="0">
                                <a:latin typeface="Cambria Math" panose="02040503050406030204" pitchFamily="18" charset="0"/>
                              </a:rPr>
                              <m:t>𝜆</m:t>
                            </m:r>
                            <m:r>
                              <a:rPr lang="en-US" altLang="zh-CN" sz="2400" i="1">
                                <a:latin typeface="Cambria Math" panose="02040503050406030204" pitchFamily="18" charset="0"/>
                              </a:rPr>
                              <m:t>,</m:t>
                            </m:r>
                            <m:r>
                              <a:rPr lang="en-US" altLang="zh-CN" sz="2400" b="0" i="1" smtClean="0">
                                <a:latin typeface="Cambria Math" panose="02040503050406030204" pitchFamily="18" charset="0"/>
                              </a:rPr>
                              <m:t>0</m:t>
                            </m:r>
                            <m:r>
                              <a:rPr lang="en-US" altLang="zh-CN" sz="2400" i="1">
                                <a:latin typeface="Cambria Math" panose="02040503050406030204" pitchFamily="18" charset="0"/>
                              </a:rPr>
                              <m:t>,</m:t>
                            </m:r>
                            <m:r>
                              <a:rPr lang="en-US" altLang="zh-CN" sz="2400" b="0" i="1" smtClean="0">
                                <a:latin typeface="Cambria Math" panose="02040503050406030204" pitchFamily="18" charset="0"/>
                              </a:rPr>
                              <m:t>0</m:t>
                            </m:r>
                            <m:r>
                              <a:rPr lang="zh-CN" altLang="zh-CN" sz="2400" i="1" smtClean="0">
                                <a:latin typeface="Cambria Math" panose="02040503050406030204" pitchFamily="18" charset="0"/>
                              </a:rPr>
                              <m:t> </m:t>
                            </m:r>
                          </m:e>
                        </m:d>
                      </m:e>
                      <m:sup>
                        <m:r>
                          <a:rPr lang="en-US" altLang="zh-CN" sz="2400" i="1">
                            <a:latin typeface="Cambria Math" panose="02040503050406030204" pitchFamily="18" charset="0"/>
                          </a:rPr>
                          <m:t>𝑇</m:t>
                        </m:r>
                      </m:sup>
                    </m:sSup>
                  </m:oMath>
                </a14:m>
                <a:r>
                  <a:rPr lang="en-US" altLang="zh-CN" sz="2400" dirty="0"/>
                  <a:t>，最优值为</a:t>
                </a:r>
                <a14:m>
                  <m:oMath xmlns:m="http://schemas.openxmlformats.org/officeDocument/2006/math">
                    <m:r>
                      <a:rPr lang="en-US" altLang="zh-CN" sz="2400" i="1">
                        <a:latin typeface="Cambria Math" panose="02040503050406030204" pitchFamily="18" charset="0"/>
                      </a:rPr>
                      <m:t>𝑧</m:t>
                    </m:r>
                    <m:r>
                      <a:rPr lang="en-US" altLang="zh-CN" sz="2400" i="1">
                        <a:latin typeface="Cambria Math" panose="02040503050406030204" pitchFamily="18" charset="0"/>
                      </a:rPr>
                      <m:t>=1−4</m:t>
                    </m:r>
                    <m:r>
                      <a:rPr lang="en-US" altLang="zh-CN" sz="2400" i="1" smtClean="0">
                        <a:latin typeface="Cambria Math" panose="02040503050406030204" pitchFamily="18" charset="0"/>
                      </a:rPr>
                      <m:t>𝜆</m:t>
                    </m:r>
                  </m:oMath>
                </a14:m>
                <a:r>
                  <a:rPr lang="en-US" altLang="zh-CN" sz="2400" dirty="0"/>
                  <a:t>．</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367F6189-EC62-E2E0-1841-9994FEEC1B7D}"/>
                  </a:ext>
                </a:extLst>
              </p:cNvPr>
              <p:cNvSpPr txBox="1">
                <a:spLocks noRot="1" noChangeAspect="1" noMove="1" noResize="1" noEditPoints="1" noAdjustHandles="1" noChangeArrowheads="1" noChangeShapeType="1" noTextEdit="1"/>
              </p:cNvSpPr>
              <p:nvPr/>
            </p:nvSpPr>
            <p:spPr>
              <a:xfrm>
                <a:off x="171253" y="571501"/>
                <a:ext cx="11849493" cy="1018227"/>
              </a:xfrm>
              <a:prstGeom prst="rect">
                <a:avLst/>
              </a:prstGeom>
              <a:blipFill>
                <a:blip r:embed="rId5"/>
                <a:stretch>
                  <a:fillRect l="-772" r="-823" b="-1377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0482066-E583-0150-7C57-B1017D932562}"/>
              </a:ext>
            </a:extLst>
          </p:cNvPr>
          <p:cNvSpPr txBox="1"/>
          <p:nvPr/>
        </p:nvSpPr>
        <p:spPr>
          <a:xfrm>
            <a:off x="8651303" y="2412642"/>
            <a:ext cx="6094428" cy="461665"/>
          </a:xfrm>
          <a:prstGeom prst="rect">
            <a:avLst/>
          </a:prstGeom>
          <a:noFill/>
        </p:spPr>
        <p:txBody>
          <a:bodyPr wrap="square">
            <a:spAutoFit/>
          </a:bodyPr>
          <a:lstStyle/>
          <a:p>
            <a:r>
              <a:rPr lang="zh-CN" altLang="zh-CN" sz="2400" dirty="0">
                <a:effectLst/>
                <a:latin typeface="+mn-ea"/>
              </a:rPr>
              <a:t>表</a:t>
            </a:r>
            <a:r>
              <a:rPr lang="en-US" altLang="zh-CN" sz="2400" dirty="0">
                <a:effectLst/>
                <a:latin typeface="+mn-ea"/>
              </a:rPr>
              <a:t>7</a:t>
            </a:r>
            <a:endParaRPr lang="zh-CN" altLang="en-US" sz="2400" dirty="0"/>
          </a:p>
        </p:txBody>
      </p:sp>
      <p:graphicFrame>
        <p:nvGraphicFramePr>
          <p:cNvPr id="3" name="Object 3">
            <a:extLst>
              <a:ext uri="{FF2B5EF4-FFF2-40B4-BE49-F238E27FC236}">
                <a16:creationId xmlns:a16="http://schemas.microsoft.com/office/drawing/2014/main" id="{F2A66ED1-37FE-B61C-3C44-AD1CF804683C}"/>
              </a:ext>
            </a:extLst>
          </p:cNvPr>
          <p:cNvGraphicFramePr>
            <a:graphicFrameLocks noChangeAspect="1"/>
          </p:cNvGraphicFramePr>
          <p:nvPr/>
        </p:nvGraphicFramePr>
        <p:xfrm>
          <a:off x="171253" y="2699112"/>
          <a:ext cx="7412825" cy="8317775"/>
        </p:xfrm>
        <a:graphic>
          <a:graphicData uri="http://schemas.openxmlformats.org/presentationml/2006/ole">
            <mc:AlternateContent xmlns:mc="http://schemas.openxmlformats.org/markup-compatibility/2006">
              <mc:Choice xmlns:v="urn:schemas-microsoft-com:vml" Requires="v">
                <p:oleObj name="Document" r:id="rId6" imgW="5412644" imgH="6074138" progId="Word.Document.8">
                  <p:embed/>
                </p:oleObj>
              </mc:Choice>
              <mc:Fallback>
                <p:oleObj name="Document" r:id="rId6" imgW="5412644" imgH="6074138" progId="Word.Document.8">
                  <p:embed/>
                  <p:pic>
                    <p:nvPicPr>
                      <p:cNvPr id="3" name="Object 3">
                        <a:extLst>
                          <a:ext uri="{FF2B5EF4-FFF2-40B4-BE49-F238E27FC236}">
                            <a16:creationId xmlns:a16="http://schemas.microsoft.com/office/drawing/2014/main" id="{F2A66ED1-37FE-B61C-3C44-AD1CF804683C}"/>
                          </a:ext>
                        </a:extLst>
                      </p:cNvPr>
                      <p:cNvPicPr>
                        <a:picLocks noChangeAspect="1" noChangeArrowheads="1"/>
                      </p:cNvPicPr>
                      <p:nvPr/>
                    </p:nvPicPr>
                    <p:blipFill>
                      <a:blip r:embed="rId7"/>
                      <a:srcRect/>
                      <a:stretch>
                        <a:fillRect/>
                      </a:stretch>
                    </p:blipFill>
                    <p:spPr bwMode="auto">
                      <a:xfrm>
                        <a:off x="171253" y="2699112"/>
                        <a:ext cx="7412825" cy="8317775"/>
                      </a:xfrm>
                      <a:prstGeom prst="rect">
                        <a:avLst/>
                      </a:prstGeom>
                      <a:noFill/>
                      <a:ln>
                        <a:noFill/>
                      </a:ln>
                      <a:effectLst/>
                    </p:spPr>
                  </p:pic>
                </p:oleObj>
              </mc:Fallback>
            </mc:AlternateContent>
          </a:graphicData>
        </a:graphic>
      </p:graphicFrame>
      <p:sp>
        <p:nvSpPr>
          <p:cNvPr id="5" name="文本框 4">
            <a:extLst>
              <a:ext uri="{FF2B5EF4-FFF2-40B4-BE49-F238E27FC236}">
                <a16:creationId xmlns:a16="http://schemas.microsoft.com/office/drawing/2014/main" id="{B71C1B01-E00A-89FE-5DED-EF8514F751A2}"/>
              </a:ext>
            </a:extLst>
          </p:cNvPr>
          <p:cNvSpPr txBox="1"/>
          <p:nvPr/>
        </p:nvSpPr>
        <p:spPr>
          <a:xfrm>
            <a:off x="2590833" y="2412643"/>
            <a:ext cx="5580012" cy="461665"/>
          </a:xfrm>
          <a:prstGeom prst="rect">
            <a:avLst/>
          </a:prstGeom>
          <a:noFill/>
        </p:spPr>
        <p:txBody>
          <a:bodyPr wrap="square">
            <a:spAutoFit/>
          </a:bodyPr>
          <a:lstStyle/>
          <a:p>
            <a:r>
              <a:rPr lang="zh-CN" altLang="zh-CN" sz="2400" dirty="0">
                <a:effectLst/>
                <a:latin typeface="+mn-ea"/>
              </a:rPr>
              <a:t>表</a:t>
            </a:r>
            <a:r>
              <a:rPr lang="en-US" altLang="zh-CN" sz="2400" dirty="0">
                <a:effectLst/>
                <a:latin typeface="+mn-ea"/>
              </a:rPr>
              <a:t>5</a:t>
            </a:r>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3">
            <a:extLst>
              <a:ext uri="{FF2B5EF4-FFF2-40B4-BE49-F238E27FC236}">
                <a16:creationId xmlns:a16="http://schemas.microsoft.com/office/drawing/2014/main" id="{C06BD35C-1622-9828-74BC-C67C132D960A}"/>
              </a:ext>
            </a:extLst>
          </p:cNvPr>
          <p:cNvGraphicFramePr>
            <a:graphicFrameLocks noChangeAspect="1"/>
          </p:cNvGraphicFramePr>
          <p:nvPr/>
        </p:nvGraphicFramePr>
        <p:xfrm>
          <a:off x="2100263" y="642938"/>
          <a:ext cx="9164637" cy="7054850"/>
        </p:xfrm>
        <a:graphic>
          <a:graphicData uri="http://schemas.openxmlformats.org/presentationml/2006/ole">
            <mc:AlternateContent xmlns:mc="http://schemas.openxmlformats.org/markup-compatibility/2006">
              <mc:Choice xmlns:v="urn:schemas-microsoft-com:vml" Requires="v">
                <p:oleObj name="Document" r:id="rId2" imgW="5428845" imgH="4177230" progId="Word.Document.12">
                  <p:embed/>
                </p:oleObj>
              </mc:Choice>
              <mc:Fallback>
                <p:oleObj name="Document" r:id="rId2" imgW="5428845" imgH="4177230" progId="Word.Document.12">
                  <p:embed/>
                  <p:pic>
                    <p:nvPicPr>
                      <p:cNvPr id="38914" name="Object 3">
                        <a:extLst>
                          <a:ext uri="{FF2B5EF4-FFF2-40B4-BE49-F238E27FC236}">
                            <a16:creationId xmlns:a16="http://schemas.microsoft.com/office/drawing/2014/main" id="{C06BD35C-1622-9828-74BC-C67C132D960A}"/>
                          </a:ext>
                        </a:extLst>
                      </p:cNvPr>
                      <p:cNvPicPr>
                        <a:picLocks noChangeAspect="1" noChangeArrowheads="1"/>
                      </p:cNvPicPr>
                      <p:nvPr/>
                    </p:nvPicPr>
                    <p:blipFill>
                      <a:blip r:embed="rId3"/>
                      <a:srcRect/>
                      <a:stretch>
                        <a:fillRect/>
                      </a:stretch>
                    </p:blipFill>
                    <p:spPr bwMode="auto">
                      <a:xfrm>
                        <a:off x="2100263" y="642938"/>
                        <a:ext cx="9164637" cy="705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2130</TotalTime>
  <Words>3296</Words>
  <Application>Microsoft Office PowerPoint</Application>
  <PresentationFormat>宽屏</PresentationFormat>
  <Paragraphs>755</Paragraphs>
  <Slides>41</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5" baseType="lpstr">
      <vt:lpstr>Heiti TC Light</vt:lpstr>
      <vt:lpstr>Helvetica Neue</vt:lpstr>
      <vt:lpstr>SimSong</vt:lpstr>
      <vt:lpstr>DengXian</vt:lpstr>
      <vt:lpstr>黑体</vt:lpstr>
      <vt:lpstr>宋体</vt:lpstr>
      <vt:lpstr>宋体</vt:lpstr>
      <vt:lpstr>Arial</vt:lpstr>
      <vt:lpstr>Calibri</vt:lpstr>
      <vt:lpstr>Calibri Light</vt:lpstr>
      <vt:lpstr>Cambria Math</vt:lpstr>
      <vt:lpstr>Times New Roman</vt:lpstr>
      <vt:lpstr>Office 主题​​</vt:lpstr>
      <vt:lpstr>Document</vt:lpstr>
      <vt:lpstr>第四章 灵敏度分析和参数线性规划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参数线性规划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 Leon</dc:creator>
  <cp:lastModifiedBy>Wei Zhang</cp:lastModifiedBy>
  <cp:revision>85</cp:revision>
  <dcterms:created xsi:type="dcterms:W3CDTF">2020-12-20T03:05:31Z</dcterms:created>
  <dcterms:modified xsi:type="dcterms:W3CDTF">2025-10-27T09:59:36Z</dcterms:modified>
</cp:coreProperties>
</file>