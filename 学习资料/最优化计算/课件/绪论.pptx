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2"/>
  </p:notesMasterIdLst>
  <p:sldIdLst>
    <p:sldId id="283" r:id="rId2"/>
    <p:sldId id="284" r:id="rId3"/>
    <p:sldId id="312" r:id="rId4"/>
    <p:sldId id="479" r:id="rId5"/>
    <p:sldId id="258" r:id="rId6"/>
    <p:sldId id="260" r:id="rId7"/>
    <p:sldId id="264" r:id="rId8"/>
    <p:sldId id="282" r:id="rId9"/>
    <p:sldId id="285" r:id="rId10"/>
    <p:sldId id="481" r:id="rId11"/>
    <p:sldId id="482" r:id="rId12"/>
    <p:sldId id="287" r:id="rId13"/>
    <p:sldId id="266" r:id="rId14"/>
    <p:sldId id="267" r:id="rId15"/>
    <p:sldId id="322" r:id="rId16"/>
    <p:sldId id="323" r:id="rId17"/>
    <p:sldId id="291" r:id="rId18"/>
    <p:sldId id="289" r:id="rId19"/>
    <p:sldId id="290" r:id="rId20"/>
    <p:sldId id="297" r:id="rId21"/>
    <p:sldId id="298" r:id="rId22"/>
    <p:sldId id="319" r:id="rId23"/>
    <p:sldId id="325" r:id="rId24"/>
    <p:sldId id="320" r:id="rId25"/>
    <p:sldId id="292" r:id="rId26"/>
    <p:sldId id="313" r:id="rId27"/>
    <p:sldId id="293" r:id="rId28"/>
    <p:sldId id="469" r:id="rId29"/>
    <p:sldId id="470" r:id="rId30"/>
    <p:sldId id="471" r:id="rId31"/>
    <p:sldId id="299" r:id="rId32"/>
    <p:sldId id="472" r:id="rId33"/>
    <p:sldId id="473" r:id="rId34"/>
    <p:sldId id="474" r:id="rId35"/>
    <p:sldId id="475" r:id="rId36"/>
    <p:sldId id="476" r:id="rId37"/>
    <p:sldId id="477" r:id="rId38"/>
    <p:sldId id="478" r:id="rId39"/>
    <p:sldId id="480" r:id="rId40"/>
    <p:sldId id="306" r:id="rId41"/>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7923" autoAdjust="0"/>
  </p:normalViewPr>
  <p:slideViewPr>
    <p:cSldViewPr>
      <p:cViewPr varScale="1">
        <p:scale>
          <a:sx n="82" d="100"/>
          <a:sy n="82" d="100"/>
        </p:scale>
        <p:origin x="1282"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4" y="0"/>
            <a:ext cx="2971800" cy="457200"/>
          </a:xfrm>
          <a:prstGeom prst="rect">
            <a:avLst/>
          </a:prstGeom>
        </p:spPr>
        <p:txBody>
          <a:bodyPr vert="horz" lIns="91440" tIns="45720" rIns="91440" bIns="45720" rtlCol="0"/>
          <a:lstStyle>
            <a:lvl1pPr algn="r">
              <a:defRPr sz="1200"/>
            </a:lvl1pPr>
          </a:lstStyle>
          <a:p>
            <a:fld id="{4B5F578C-FAAF-476B-91BE-5847A790E2D6}" type="datetimeFigureOut">
              <a:rPr lang="zh-CN" altLang="en-US" smtClean="0"/>
              <a:t>2025/9/15</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1"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4"/>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4" y="8685214"/>
            <a:ext cx="2971800" cy="457200"/>
          </a:xfrm>
          <a:prstGeom prst="rect">
            <a:avLst/>
          </a:prstGeom>
        </p:spPr>
        <p:txBody>
          <a:bodyPr vert="horz" lIns="91440" tIns="45720" rIns="91440" bIns="45720" rtlCol="0" anchor="b"/>
          <a:lstStyle>
            <a:lvl1pPr algn="r">
              <a:defRPr sz="1200"/>
            </a:lvl1pPr>
          </a:lstStyle>
          <a:p>
            <a:fld id="{7C47DD18-4BEF-4445-86AF-82D0C2978767}"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C47DD18-4BEF-4445-86AF-82D0C2978767}" type="slidenum">
              <a:rPr lang="zh-CN" altLang="en-US" smtClean="0"/>
              <a:t>10</a:t>
            </a:fld>
            <a:endParaRPr lang="zh-CN" altLang="en-US"/>
          </a:p>
        </p:txBody>
      </p:sp>
    </p:spTree>
    <p:extLst>
      <p:ext uri="{BB962C8B-B14F-4D97-AF65-F5344CB8AC3E}">
        <p14:creationId xmlns:p14="http://schemas.microsoft.com/office/powerpoint/2010/main" val="36487168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C47DD18-4BEF-4445-86AF-82D0C2978767}" type="slidenum">
              <a:rPr lang="zh-CN" altLang="en-US" smtClean="0"/>
              <a:t>13</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AB6B066E-A57C-4220-B017-3766FBEEE3F6}" type="datetimeFigureOut">
              <a:rPr lang="zh-CN" altLang="en-US" smtClean="0"/>
              <a:t>2025/9/15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8851AF-A0DC-459C-BA7B-1647CC7D29E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B6B066E-A57C-4220-B017-3766FBEEE3F6}" type="datetimeFigureOut">
              <a:rPr lang="zh-CN" altLang="en-US" smtClean="0"/>
              <a:t>2025/9/15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8851AF-A0DC-459C-BA7B-1647CC7D29E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AB6B066E-A57C-4220-B017-3766FBEEE3F6}" type="datetimeFigureOut">
              <a:rPr lang="zh-CN" altLang="en-US" smtClean="0"/>
              <a:t>2025/9/15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8851AF-A0DC-459C-BA7B-1647CC7D29E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AB6B066E-A57C-4220-B017-3766FBEEE3F6}" type="datetimeFigureOut">
              <a:rPr lang="zh-CN" altLang="en-US" smtClean="0"/>
              <a:t>2025/9/15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E8851AF-A0DC-459C-BA7B-1647CC7D29E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AB6B066E-A57C-4220-B017-3766FBEEE3F6}" type="datetimeFigureOut">
              <a:rPr lang="zh-CN" altLang="en-US" smtClean="0"/>
              <a:t>2025/9/15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E8851AF-A0DC-459C-BA7B-1647CC7D29E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AB6B066E-A57C-4220-B017-3766FBEEE3F6}" type="datetimeFigureOut">
              <a:rPr lang="zh-CN" altLang="en-US" smtClean="0"/>
              <a:t>2025/9/15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E8851AF-A0DC-459C-BA7B-1647CC7D29E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B6B066E-A57C-4220-B017-3766FBEEE3F6}" type="datetimeFigureOut">
              <a:rPr lang="zh-CN" altLang="en-US" smtClean="0"/>
              <a:t>2025/9/15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E8851AF-A0DC-459C-BA7B-1647CC7D29E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AB6B066E-A57C-4220-B017-3766FBEEE3F6}" type="datetimeFigureOut">
              <a:rPr lang="zh-CN" altLang="en-US" smtClean="0"/>
              <a:t>2025/9/15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E8851AF-A0DC-459C-BA7B-1647CC7D29E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AB6B066E-A57C-4220-B017-3766FBEEE3F6}" type="datetimeFigureOut">
              <a:rPr lang="zh-CN" altLang="en-US" smtClean="0"/>
              <a:t>2025/9/15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E8851AF-A0DC-459C-BA7B-1647CC7D29E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B6B066E-A57C-4220-B017-3766FBEEE3F6}" type="datetimeFigureOut">
              <a:rPr lang="zh-CN" altLang="en-US" smtClean="0"/>
              <a:t>2025/9/15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8851AF-A0DC-459C-BA7B-1647CC7D29E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B6B066E-A57C-4220-B017-3766FBEEE3F6}" type="datetimeFigureOut">
              <a:rPr lang="zh-CN" altLang="en-US" smtClean="0"/>
              <a:t>2025/9/15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8851AF-A0DC-459C-BA7B-1647CC7D29E6}"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2D4FD38B-F934-45DB-AA34-03D50F38208B}" type="slidenum">
              <a:rPr lang="en-US" altLang="zh-CN"/>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6B066E-A57C-4220-B017-3766FBEEE3F6}" type="datetimeFigureOut">
              <a:rPr lang="zh-CN" altLang="en-US" smtClean="0"/>
              <a:t>2025/9/15</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8851AF-A0DC-459C-BA7B-1647CC7D29E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410.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30.png"/></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oleObject" Target="../embeddings/oleObject4.bin"/><Relationship Id="rId18" Type="http://schemas.openxmlformats.org/officeDocument/2006/relationships/image" Target="../media/image25.wmf"/><Relationship Id="rId3" Type="http://schemas.openxmlformats.org/officeDocument/2006/relationships/image" Target="../media/image14.wmf"/><Relationship Id="rId21" Type="http://schemas.openxmlformats.org/officeDocument/2006/relationships/oleObject" Target="../embeddings/oleObject8.bin"/><Relationship Id="rId7" Type="http://schemas.openxmlformats.org/officeDocument/2006/relationships/image" Target="../media/image16.wmf"/><Relationship Id="rId12" Type="http://schemas.openxmlformats.org/officeDocument/2006/relationships/image" Target="../media/image22.png"/><Relationship Id="rId17" Type="http://schemas.openxmlformats.org/officeDocument/2006/relationships/oleObject" Target="../embeddings/oleObject6.bin"/><Relationship Id="rId2" Type="http://schemas.openxmlformats.org/officeDocument/2006/relationships/oleObject" Target="../embeddings/oleObject1.bin"/><Relationship Id="rId16" Type="http://schemas.openxmlformats.org/officeDocument/2006/relationships/image" Target="../media/image24.wmf"/><Relationship Id="rId20" Type="http://schemas.openxmlformats.org/officeDocument/2006/relationships/image" Target="../media/image26.wmf"/><Relationship Id="rId1" Type="http://schemas.openxmlformats.org/officeDocument/2006/relationships/slideLayout" Target="../slideLayouts/slideLayout2.xml"/><Relationship Id="rId6" Type="http://schemas.openxmlformats.org/officeDocument/2006/relationships/oleObject" Target="../embeddings/oleObject3.bin"/><Relationship Id="rId11" Type="http://schemas.openxmlformats.org/officeDocument/2006/relationships/image" Target="../media/image21.png"/><Relationship Id="rId5" Type="http://schemas.openxmlformats.org/officeDocument/2006/relationships/image" Target="../media/image15.wmf"/><Relationship Id="rId15" Type="http://schemas.openxmlformats.org/officeDocument/2006/relationships/oleObject" Target="../embeddings/oleObject5.bin"/><Relationship Id="rId10" Type="http://schemas.openxmlformats.org/officeDocument/2006/relationships/image" Target="../media/image20.png"/><Relationship Id="rId19" Type="http://schemas.openxmlformats.org/officeDocument/2006/relationships/oleObject" Target="../embeddings/oleObject7.bin"/><Relationship Id="rId4" Type="http://schemas.openxmlformats.org/officeDocument/2006/relationships/oleObject" Target="../embeddings/oleObject2.bin"/><Relationship Id="rId9" Type="http://schemas.openxmlformats.org/officeDocument/2006/relationships/image" Target="../media/image19.png"/><Relationship Id="rId14" Type="http://schemas.openxmlformats.org/officeDocument/2006/relationships/image" Target="../media/image23.wmf"/></Relationships>
</file>

<file path=ppt/slides/_rels/slide18.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oleObject" Target="../embeddings/oleObject9.bin"/><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oleObject" Target="../embeddings/oleObject10.bin"/><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oleObject" Target="../embeddings/oleObject11.bin"/><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oleObject" Target="../embeddings/oleObject12.bin"/><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330.png"/><Relationship Id="rId2" Type="http://schemas.openxmlformats.org/officeDocument/2006/relationships/image" Target="../media/image3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90.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33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50.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11.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78277"/>
            <a:ext cx="9144000" cy="637972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04" y="44624"/>
            <a:ext cx="8723041"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D60CB8B-F26F-410A-98C1-3251DF0F8463}"/>
              </a:ext>
            </a:extLst>
          </p:cNvPr>
          <p:cNvSpPr>
            <a:spLocks noGrp="1"/>
          </p:cNvSpPr>
          <p:nvPr>
            <p:ph idx="1"/>
          </p:nvPr>
        </p:nvSpPr>
        <p:spPr>
          <a:xfrm>
            <a:off x="457200" y="908720"/>
            <a:ext cx="8229600" cy="4525963"/>
          </a:xfrm>
        </p:spPr>
        <p:txBody>
          <a:bodyPr>
            <a:noAutofit/>
          </a:bodyPr>
          <a:lstStyle/>
          <a:p>
            <a:pPr marL="0" indent="0" algn="l">
              <a:buNone/>
            </a:pPr>
            <a:r>
              <a:rPr lang="en-US" altLang="zh-CN" sz="2400" b="0" i="0" u="none" strike="noStrike" baseline="0" dirty="0">
                <a:latin typeface="NimbusRomNo9L-Regu"/>
              </a:rPr>
              <a:t>5. 《Algorithms for Convex Optimization》, </a:t>
            </a:r>
            <a:r>
              <a:rPr lang="en-US" altLang="zh-CN" sz="2400" b="0" i="0" u="none" strike="noStrike" baseline="0" dirty="0" err="1">
                <a:latin typeface="NimbusRomNo9L-Regu"/>
              </a:rPr>
              <a:t>Nisheeth</a:t>
            </a:r>
            <a:r>
              <a:rPr lang="en-US" altLang="zh-CN" sz="2400" b="0" i="0" u="none" strike="noStrike" baseline="0" dirty="0">
                <a:latin typeface="NimbusRomNo9L-Regu"/>
              </a:rPr>
              <a:t> K. </a:t>
            </a:r>
            <a:r>
              <a:rPr lang="en-US" altLang="zh-CN" sz="2400" b="0" i="0" u="none" strike="noStrike" baseline="0" dirty="0" err="1">
                <a:latin typeface="NimbusRomNo9L-Regu"/>
              </a:rPr>
              <a:t>Vishnoi</a:t>
            </a:r>
            <a:endParaRPr lang="en-US" altLang="zh-CN" sz="2400" b="0" i="0" u="none" strike="noStrike" baseline="0" dirty="0">
              <a:latin typeface="NimbusRomNo9L-Regu"/>
            </a:endParaRPr>
          </a:p>
          <a:p>
            <a:pPr marL="0" indent="0" algn="l">
              <a:buNone/>
            </a:pPr>
            <a:endParaRPr lang="en-US" altLang="zh-CN" sz="2400" b="0" i="0" u="none" strike="noStrike" baseline="0" dirty="0">
              <a:latin typeface="NimbusRomNo9L-Regu"/>
            </a:endParaRPr>
          </a:p>
          <a:p>
            <a:pPr marL="0" indent="0" algn="l">
              <a:buNone/>
            </a:pPr>
            <a:r>
              <a:rPr lang="en-US" altLang="zh-CN" sz="2400" dirty="0">
                <a:latin typeface="NimbusRomNo9L-Regu"/>
              </a:rPr>
              <a:t>       </a:t>
            </a:r>
            <a:r>
              <a:rPr lang="en-US" altLang="zh-CN" sz="2000" b="0" i="0" u="none" strike="noStrike" baseline="0" dirty="0">
                <a:latin typeface="NimbusRomNo9L-Regu"/>
              </a:rPr>
              <a:t>This material will be published by Cambridge University Press as</a:t>
            </a:r>
          </a:p>
          <a:p>
            <a:pPr marL="0" indent="0" algn="l">
              <a:buNone/>
            </a:pPr>
            <a:r>
              <a:rPr lang="en-US" altLang="zh-CN" sz="2000" b="0" i="0" u="none" strike="noStrike" baseline="0" dirty="0">
                <a:latin typeface="NimbusRomNo9L-Regu"/>
              </a:rPr>
              <a:t>       Algorithms for Convex Optimization by </a:t>
            </a:r>
            <a:r>
              <a:rPr lang="en-US" altLang="zh-CN" sz="2000" b="0" i="0" u="none" strike="noStrike" baseline="0" dirty="0" err="1">
                <a:latin typeface="NimbusRomNo9L-Regu"/>
              </a:rPr>
              <a:t>Nisheeth</a:t>
            </a:r>
            <a:r>
              <a:rPr lang="en-US" altLang="zh-CN" sz="2000" b="0" i="0" u="none" strike="noStrike" baseline="0" dirty="0">
                <a:latin typeface="NimbusRomNo9L-Regu"/>
              </a:rPr>
              <a:t> K. </a:t>
            </a:r>
            <a:r>
              <a:rPr lang="en-US" altLang="zh-CN" sz="2000" b="0" i="0" u="none" strike="noStrike" baseline="0" dirty="0" err="1">
                <a:latin typeface="NimbusRomNo9L-Regu"/>
              </a:rPr>
              <a:t>Vishnoi</a:t>
            </a:r>
            <a:r>
              <a:rPr lang="en-US" altLang="zh-CN" sz="2000" b="0" i="0" u="none" strike="noStrike" baseline="0" dirty="0">
                <a:latin typeface="NimbusRomNo9L-Regu"/>
              </a:rPr>
              <a:t>. This</a:t>
            </a:r>
          </a:p>
          <a:p>
            <a:pPr marL="0" indent="0" algn="l">
              <a:buNone/>
            </a:pPr>
            <a:r>
              <a:rPr lang="en-US" altLang="zh-CN" sz="2000" b="0" i="0" u="none" strike="noStrike" baseline="0" dirty="0">
                <a:latin typeface="NimbusRomNo9L-Regu"/>
              </a:rPr>
              <a:t>      pre-publication version is free to view and download for personal use</a:t>
            </a:r>
          </a:p>
          <a:p>
            <a:pPr marL="0" indent="0" algn="l">
              <a:buNone/>
            </a:pPr>
            <a:r>
              <a:rPr lang="en-US" altLang="zh-CN" sz="2000" b="0" i="0" u="none" strike="noStrike" baseline="0" dirty="0">
                <a:latin typeface="NimbusRomNo9L-Regu"/>
              </a:rPr>
              <a:t>           only. Not for re-distribution, re-sale or use in derivative works.</a:t>
            </a:r>
          </a:p>
          <a:p>
            <a:pPr marL="0" indent="0" algn="l">
              <a:buNone/>
            </a:pPr>
            <a:r>
              <a:rPr lang="en-US" altLang="zh-CN" sz="2000" b="0" i="0" u="none" strike="noStrike" baseline="0" dirty="0">
                <a:latin typeface="rtcxr"/>
              </a:rPr>
              <a:t>                                         ©</a:t>
            </a:r>
            <a:r>
              <a:rPr lang="en-US" altLang="zh-CN" sz="2000" b="0" i="0" u="none" strike="noStrike" baseline="0" dirty="0" err="1">
                <a:latin typeface="NimbusRomNo9L-Regu"/>
              </a:rPr>
              <a:t>Nisheeth</a:t>
            </a:r>
            <a:r>
              <a:rPr lang="en-US" altLang="zh-CN" sz="2000" b="0" i="0" u="none" strike="noStrike" baseline="0" dirty="0">
                <a:latin typeface="NimbusRomNo9L-Regu"/>
              </a:rPr>
              <a:t> K. </a:t>
            </a:r>
            <a:r>
              <a:rPr lang="en-US" altLang="zh-CN" sz="2000" b="0" i="0" u="none" strike="noStrike" baseline="0" dirty="0" err="1">
                <a:latin typeface="NimbusRomNo9L-Regu"/>
              </a:rPr>
              <a:t>Vishnoi</a:t>
            </a:r>
            <a:r>
              <a:rPr lang="en-US" altLang="zh-CN" sz="2000" b="0" i="0" u="none" strike="noStrike" baseline="0" dirty="0">
                <a:latin typeface="NimbusRomNo9L-Regu"/>
              </a:rPr>
              <a:t> 2020.</a:t>
            </a:r>
          </a:p>
          <a:p>
            <a:pPr marL="0" indent="0" algn="l">
              <a:buNone/>
            </a:pPr>
            <a:endParaRPr lang="en-US" altLang="zh-CN" sz="2000" dirty="0">
              <a:latin typeface="NimbusRomNo9L-Regu"/>
            </a:endParaRPr>
          </a:p>
          <a:p>
            <a:pPr marL="0" indent="0" algn="l">
              <a:buNone/>
            </a:pPr>
            <a:r>
              <a:rPr lang="en-US" altLang="zh-CN" sz="2000" dirty="0">
                <a:latin typeface="NimbusRomNo9L-Regu"/>
              </a:rPr>
              <a:t>6. </a:t>
            </a:r>
            <a:endParaRPr lang="zh-CN" altLang="en-US" sz="2000" dirty="0"/>
          </a:p>
        </p:txBody>
      </p:sp>
      <p:pic>
        <p:nvPicPr>
          <p:cNvPr id="4" name="图片 3">
            <a:extLst>
              <a:ext uri="{FF2B5EF4-FFF2-40B4-BE49-F238E27FC236}">
                <a16:creationId xmlns:a16="http://schemas.microsoft.com/office/drawing/2014/main" id="{14F30869-6F24-FA28-AC54-8D7A9E1B0FA5}"/>
              </a:ext>
            </a:extLst>
          </p:cNvPr>
          <p:cNvPicPr>
            <a:picLocks noChangeAspect="1"/>
          </p:cNvPicPr>
          <p:nvPr/>
        </p:nvPicPr>
        <p:blipFill>
          <a:blip r:embed="rId2"/>
          <a:stretch>
            <a:fillRect/>
          </a:stretch>
        </p:blipFill>
        <p:spPr>
          <a:xfrm>
            <a:off x="1115616" y="3861048"/>
            <a:ext cx="5134521" cy="1948869"/>
          </a:xfrm>
          <a:prstGeom prst="rect">
            <a:avLst/>
          </a:prstGeom>
        </p:spPr>
      </p:pic>
    </p:spTree>
    <p:extLst>
      <p:ext uri="{BB962C8B-B14F-4D97-AF65-F5344CB8AC3E}">
        <p14:creationId xmlns:p14="http://schemas.microsoft.com/office/powerpoint/2010/main" val="4286853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F9FD7705-F869-F10C-CF17-FBB99E31C2B8}"/>
              </a:ext>
            </a:extLst>
          </p:cNvPr>
          <p:cNvPicPr>
            <a:picLocks noChangeAspect="1"/>
          </p:cNvPicPr>
          <p:nvPr/>
        </p:nvPicPr>
        <p:blipFill>
          <a:blip r:embed="rId2"/>
          <a:stretch>
            <a:fillRect/>
          </a:stretch>
        </p:blipFill>
        <p:spPr>
          <a:xfrm>
            <a:off x="881062" y="1347787"/>
            <a:ext cx="7381875" cy="4162425"/>
          </a:xfrm>
          <a:prstGeom prst="rect">
            <a:avLst/>
          </a:prstGeom>
        </p:spPr>
      </p:pic>
      <p:sp>
        <p:nvSpPr>
          <p:cNvPr id="6" name="文本框 5">
            <a:extLst>
              <a:ext uri="{FF2B5EF4-FFF2-40B4-BE49-F238E27FC236}">
                <a16:creationId xmlns:a16="http://schemas.microsoft.com/office/drawing/2014/main" id="{D3BF9D94-45FF-484D-1B25-66D09981E285}"/>
              </a:ext>
            </a:extLst>
          </p:cNvPr>
          <p:cNvSpPr txBox="1"/>
          <p:nvPr/>
        </p:nvSpPr>
        <p:spPr>
          <a:xfrm>
            <a:off x="755576" y="548680"/>
            <a:ext cx="4320480" cy="369332"/>
          </a:xfrm>
          <a:prstGeom prst="rect">
            <a:avLst/>
          </a:prstGeom>
          <a:noFill/>
        </p:spPr>
        <p:txBody>
          <a:bodyPr wrap="square" rtlCol="0">
            <a:spAutoFit/>
          </a:bodyPr>
          <a:lstStyle/>
          <a:p>
            <a:r>
              <a:rPr lang="en-US" altLang="zh-CN" dirty="0"/>
              <a:t>Zhihuishu.com</a:t>
            </a:r>
            <a:endParaRPr lang="zh-CN" altLang="en-US" dirty="0"/>
          </a:p>
        </p:txBody>
      </p:sp>
    </p:spTree>
    <p:extLst>
      <p:ext uri="{BB962C8B-B14F-4D97-AF65-F5344CB8AC3E}">
        <p14:creationId xmlns:p14="http://schemas.microsoft.com/office/powerpoint/2010/main" val="33426526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827584" y="692696"/>
            <a:ext cx="7776864" cy="2739211"/>
          </a:xfrm>
          <a:prstGeom prst="rect">
            <a:avLst/>
          </a:prstGeom>
        </p:spPr>
        <p:txBody>
          <a:bodyPr wrap="square">
            <a:spAutoFit/>
          </a:bodyPr>
          <a:lstStyle/>
          <a:p>
            <a:r>
              <a:rPr lang="zh-CN" altLang="zh-CN" sz="2800" b="1" dirty="0">
                <a:solidFill>
                  <a:schemeClr val="tx2"/>
                </a:solidFill>
              </a:rPr>
              <a:t>问题一：运输问题</a:t>
            </a:r>
            <a:endParaRPr lang="zh-CN" altLang="zh-CN" sz="2800" dirty="0">
              <a:solidFill>
                <a:schemeClr val="tx2"/>
              </a:solidFill>
            </a:endParaRPr>
          </a:p>
          <a:p>
            <a:r>
              <a:rPr lang="en-US" altLang="zh-CN" sz="2400" dirty="0"/>
              <a:t>        </a:t>
            </a:r>
            <a:r>
              <a:rPr lang="zh-CN" altLang="zh-CN" sz="2400" dirty="0"/>
              <a:t>某公司有</a:t>
            </a:r>
            <a:r>
              <a:rPr lang="en-US" altLang="zh-CN" sz="2400" dirty="0"/>
              <a:t>6</a:t>
            </a:r>
            <a:r>
              <a:rPr lang="zh-CN" altLang="zh-CN" sz="2400" dirty="0"/>
              <a:t>个建筑工地要开工，每个工地的位置（用平面坐标</a:t>
            </a:r>
            <a:r>
              <a:rPr lang="en-US" altLang="zh-CN" sz="2400" dirty="0" err="1"/>
              <a:t>x,y</a:t>
            </a:r>
            <a:r>
              <a:rPr lang="zh-CN" altLang="zh-CN" sz="2400" dirty="0"/>
              <a:t>表示，距离单位</a:t>
            </a:r>
            <a:r>
              <a:rPr lang="en-US" altLang="zh-CN" sz="2400" dirty="0"/>
              <a:t>:km</a:t>
            </a:r>
            <a:r>
              <a:rPr lang="zh-CN" altLang="zh-CN" sz="2400" dirty="0"/>
              <a:t>）及水泥日用量</a:t>
            </a:r>
            <a:r>
              <a:rPr lang="en-US" altLang="zh-CN" sz="2400" dirty="0"/>
              <a:t>d(t)</a:t>
            </a:r>
            <a:r>
              <a:rPr lang="zh-CN" altLang="zh-CN" sz="2400" dirty="0"/>
              <a:t>由表</a:t>
            </a:r>
            <a:r>
              <a:rPr lang="en-US" altLang="zh-CN" sz="2400" dirty="0"/>
              <a:t>1</a:t>
            </a:r>
            <a:r>
              <a:rPr lang="zh-CN" altLang="zh-CN" sz="2400" dirty="0"/>
              <a:t>给出。目前有两个临时料场位于</a:t>
            </a:r>
            <a:r>
              <a:rPr lang="en-US" altLang="zh-CN" sz="2400" dirty="0"/>
              <a:t>A(5,1), B(2,7)</a:t>
            </a:r>
            <a:r>
              <a:rPr lang="zh-CN" altLang="zh-CN" sz="2400" dirty="0"/>
              <a:t>，日储量各有</a:t>
            </a:r>
            <a:r>
              <a:rPr lang="en-US" altLang="zh-CN" sz="2400" dirty="0"/>
              <a:t>20t.</a:t>
            </a:r>
            <a:r>
              <a:rPr lang="zh-CN" altLang="zh-CN" sz="2400" dirty="0"/>
              <a:t>假设从料场到工地之间均有直线道路相连，试制定每天的供应计划，即从</a:t>
            </a:r>
            <a:r>
              <a:rPr lang="en-US" altLang="zh-CN" sz="2400" dirty="0"/>
              <a:t>A,B</a:t>
            </a:r>
            <a:r>
              <a:rPr lang="zh-CN" altLang="zh-CN" sz="2400" dirty="0"/>
              <a:t>两个料场分别向各工地运送多少吨水泥，使总的吨公里数最小。</a:t>
            </a:r>
            <a:endParaRPr lang="zh-CN" altLang="en-US" sz="2400" dirty="0"/>
          </a:p>
        </p:txBody>
      </p:sp>
      <p:graphicFrame>
        <p:nvGraphicFramePr>
          <p:cNvPr id="7" name="表格 6"/>
          <p:cNvGraphicFramePr>
            <a:graphicFrameLocks noGrp="1"/>
          </p:cNvGraphicFramePr>
          <p:nvPr/>
        </p:nvGraphicFramePr>
        <p:xfrm>
          <a:off x="1547667" y="3573016"/>
          <a:ext cx="6552725" cy="1776084"/>
        </p:xfrm>
        <a:graphic>
          <a:graphicData uri="http://schemas.openxmlformats.org/drawingml/2006/table">
            <a:tbl>
              <a:tblPr firstRow="1" firstCol="1" bandRow="1">
                <a:tableStyleId>{5C22544A-7EE6-4342-B048-85BDC9FD1C3A}</a:tableStyleId>
              </a:tblPr>
              <a:tblGrid>
                <a:gridCol w="935774">
                  <a:extLst>
                    <a:ext uri="{9D8B030D-6E8A-4147-A177-3AD203B41FA5}">
                      <a16:colId xmlns:a16="http://schemas.microsoft.com/office/drawing/2014/main" val="20000"/>
                    </a:ext>
                  </a:extLst>
                </a:gridCol>
                <a:gridCol w="935774">
                  <a:extLst>
                    <a:ext uri="{9D8B030D-6E8A-4147-A177-3AD203B41FA5}">
                      <a16:colId xmlns:a16="http://schemas.microsoft.com/office/drawing/2014/main" val="20001"/>
                    </a:ext>
                  </a:extLst>
                </a:gridCol>
                <a:gridCol w="935774">
                  <a:extLst>
                    <a:ext uri="{9D8B030D-6E8A-4147-A177-3AD203B41FA5}">
                      <a16:colId xmlns:a16="http://schemas.microsoft.com/office/drawing/2014/main" val="20002"/>
                    </a:ext>
                  </a:extLst>
                </a:gridCol>
                <a:gridCol w="935774">
                  <a:extLst>
                    <a:ext uri="{9D8B030D-6E8A-4147-A177-3AD203B41FA5}">
                      <a16:colId xmlns:a16="http://schemas.microsoft.com/office/drawing/2014/main" val="20003"/>
                    </a:ext>
                  </a:extLst>
                </a:gridCol>
                <a:gridCol w="936543">
                  <a:extLst>
                    <a:ext uri="{9D8B030D-6E8A-4147-A177-3AD203B41FA5}">
                      <a16:colId xmlns:a16="http://schemas.microsoft.com/office/drawing/2014/main" val="20004"/>
                    </a:ext>
                  </a:extLst>
                </a:gridCol>
                <a:gridCol w="936543">
                  <a:extLst>
                    <a:ext uri="{9D8B030D-6E8A-4147-A177-3AD203B41FA5}">
                      <a16:colId xmlns:a16="http://schemas.microsoft.com/office/drawing/2014/main" val="20005"/>
                    </a:ext>
                  </a:extLst>
                </a:gridCol>
                <a:gridCol w="936543">
                  <a:extLst>
                    <a:ext uri="{9D8B030D-6E8A-4147-A177-3AD203B41FA5}">
                      <a16:colId xmlns:a16="http://schemas.microsoft.com/office/drawing/2014/main" val="20006"/>
                    </a:ext>
                  </a:extLst>
                </a:gridCol>
              </a:tblGrid>
              <a:tr h="444021">
                <a:tc>
                  <a:txBody>
                    <a:bodyPr/>
                    <a:lstStyle/>
                    <a:p>
                      <a:pPr algn="just">
                        <a:lnSpc>
                          <a:spcPct val="150000"/>
                        </a:lnSpc>
                        <a:spcAft>
                          <a:spcPts val="0"/>
                        </a:spcAft>
                      </a:pPr>
                      <a:r>
                        <a:rPr lang="zh-CN" sz="2000" kern="100" dirty="0">
                          <a:effectLst/>
                        </a:rPr>
                        <a:t>工地</a:t>
                      </a:r>
                      <a:endParaRPr lang="zh-CN" sz="2000" kern="100" dirty="0">
                        <a:effectLst/>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gn="just">
                        <a:lnSpc>
                          <a:spcPct val="150000"/>
                        </a:lnSpc>
                        <a:spcAft>
                          <a:spcPts val="0"/>
                        </a:spcAft>
                      </a:pPr>
                      <a:r>
                        <a:rPr lang="en-US" sz="2000" kern="100" dirty="0">
                          <a:effectLst/>
                        </a:rPr>
                        <a:t>1</a:t>
                      </a:r>
                      <a:endParaRPr lang="zh-CN" sz="2000" kern="100" dirty="0">
                        <a:effectLst/>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gn="just">
                        <a:lnSpc>
                          <a:spcPct val="150000"/>
                        </a:lnSpc>
                        <a:spcAft>
                          <a:spcPts val="0"/>
                        </a:spcAft>
                      </a:pPr>
                      <a:r>
                        <a:rPr lang="en-US" sz="2000" kern="100">
                          <a:effectLst/>
                        </a:rPr>
                        <a:t>2</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gn="just">
                        <a:lnSpc>
                          <a:spcPct val="150000"/>
                        </a:lnSpc>
                        <a:spcAft>
                          <a:spcPts val="0"/>
                        </a:spcAft>
                      </a:pPr>
                      <a:r>
                        <a:rPr lang="en-US" sz="2000" kern="100">
                          <a:effectLst/>
                        </a:rPr>
                        <a:t>3</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gn="just">
                        <a:lnSpc>
                          <a:spcPct val="150000"/>
                        </a:lnSpc>
                        <a:spcAft>
                          <a:spcPts val="0"/>
                        </a:spcAft>
                      </a:pPr>
                      <a:r>
                        <a:rPr lang="en-US" sz="2000" kern="100">
                          <a:effectLst/>
                        </a:rPr>
                        <a:t>4</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gn="just">
                        <a:lnSpc>
                          <a:spcPct val="150000"/>
                        </a:lnSpc>
                        <a:spcAft>
                          <a:spcPts val="0"/>
                        </a:spcAft>
                      </a:pPr>
                      <a:r>
                        <a:rPr lang="en-US" sz="2000" kern="100">
                          <a:effectLst/>
                        </a:rPr>
                        <a:t>5</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gn="just">
                        <a:lnSpc>
                          <a:spcPct val="150000"/>
                        </a:lnSpc>
                        <a:spcAft>
                          <a:spcPts val="0"/>
                        </a:spcAft>
                      </a:pPr>
                      <a:r>
                        <a:rPr lang="en-US" sz="2000" kern="100">
                          <a:effectLst/>
                        </a:rPr>
                        <a:t>6</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tc>
                <a:extLst>
                  <a:ext uri="{0D108BD9-81ED-4DB2-BD59-A6C34878D82A}">
                    <a16:rowId xmlns:a16="http://schemas.microsoft.com/office/drawing/2014/main" val="10000"/>
                  </a:ext>
                </a:extLst>
              </a:tr>
              <a:tr h="444021">
                <a:tc>
                  <a:txBody>
                    <a:bodyPr/>
                    <a:lstStyle/>
                    <a:p>
                      <a:pPr algn="just">
                        <a:lnSpc>
                          <a:spcPct val="150000"/>
                        </a:lnSpc>
                        <a:spcAft>
                          <a:spcPts val="0"/>
                        </a:spcAft>
                      </a:pPr>
                      <a:r>
                        <a:rPr lang="en-US" sz="2000" kern="100">
                          <a:effectLst/>
                        </a:rPr>
                        <a:t>x</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gn="just">
                        <a:lnSpc>
                          <a:spcPct val="150000"/>
                        </a:lnSpc>
                        <a:spcAft>
                          <a:spcPts val="0"/>
                        </a:spcAft>
                      </a:pPr>
                      <a:r>
                        <a:rPr lang="en-US" sz="2000" kern="100">
                          <a:effectLst/>
                        </a:rPr>
                        <a:t>1.25</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gn="just">
                        <a:lnSpc>
                          <a:spcPct val="150000"/>
                        </a:lnSpc>
                        <a:spcAft>
                          <a:spcPts val="0"/>
                        </a:spcAft>
                      </a:pPr>
                      <a:r>
                        <a:rPr lang="en-US" sz="2000" kern="100">
                          <a:effectLst/>
                        </a:rPr>
                        <a:t>8.75</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gn="just">
                        <a:lnSpc>
                          <a:spcPct val="150000"/>
                        </a:lnSpc>
                        <a:spcAft>
                          <a:spcPts val="0"/>
                        </a:spcAft>
                      </a:pPr>
                      <a:r>
                        <a:rPr lang="en-US" sz="2000" kern="100">
                          <a:effectLst/>
                        </a:rPr>
                        <a:t>0.5</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gn="just">
                        <a:lnSpc>
                          <a:spcPct val="150000"/>
                        </a:lnSpc>
                        <a:spcAft>
                          <a:spcPts val="0"/>
                        </a:spcAft>
                      </a:pPr>
                      <a:r>
                        <a:rPr lang="en-US" sz="2000" kern="100">
                          <a:effectLst/>
                        </a:rPr>
                        <a:t>5.75</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gn="just">
                        <a:lnSpc>
                          <a:spcPct val="150000"/>
                        </a:lnSpc>
                        <a:spcAft>
                          <a:spcPts val="0"/>
                        </a:spcAft>
                      </a:pPr>
                      <a:r>
                        <a:rPr lang="en-US" sz="2000" kern="100">
                          <a:effectLst/>
                        </a:rPr>
                        <a:t>3</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gn="just">
                        <a:lnSpc>
                          <a:spcPct val="150000"/>
                        </a:lnSpc>
                        <a:spcAft>
                          <a:spcPts val="0"/>
                        </a:spcAft>
                      </a:pPr>
                      <a:r>
                        <a:rPr lang="en-US" sz="2000" kern="100">
                          <a:effectLst/>
                        </a:rPr>
                        <a:t>7.25</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tc>
                <a:extLst>
                  <a:ext uri="{0D108BD9-81ED-4DB2-BD59-A6C34878D82A}">
                    <a16:rowId xmlns:a16="http://schemas.microsoft.com/office/drawing/2014/main" val="10001"/>
                  </a:ext>
                </a:extLst>
              </a:tr>
              <a:tr h="444021">
                <a:tc>
                  <a:txBody>
                    <a:bodyPr/>
                    <a:lstStyle/>
                    <a:p>
                      <a:pPr algn="just">
                        <a:lnSpc>
                          <a:spcPct val="150000"/>
                        </a:lnSpc>
                        <a:spcAft>
                          <a:spcPts val="0"/>
                        </a:spcAft>
                      </a:pPr>
                      <a:r>
                        <a:rPr lang="en-US" sz="2000" kern="100">
                          <a:effectLst/>
                        </a:rPr>
                        <a:t>y</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gn="just">
                        <a:lnSpc>
                          <a:spcPct val="150000"/>
                        </a:lnSpc>
                        <a:spcAft>
                          <a:spcPts val="0"/>
                        </a:spcAft>
                      </a:pPr>
                      <a:r>
                        <a:rPr lang="en-US" sz="2000" kern="100">
                          <a:effectLst/>
                        </a:rPr>
                        <a:t>1.25</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gn="just">
                        <a:lnSpc>
                          <a:spcPct val="150000"/>
                        </a:lnSpc>
                        <a:spcAft>
                          <a:spcPts val="0"/>
                        </a:spcAft>
                      </a:pPr>
                      <a:r>
                        <a:rPr lang="en-US" sz="2000" kern="100">
                          <a:effectLst/>
                        </a:rPr>
                        <a:t>0.75</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gn="just">
                        <a:lnSpc>
                          <a:spcPct val="150000"/>
                        </a:lnSpc>
                        <a:spcAft>
                          <a:spcPts val="0"/>
                        </a:spcAft>
                      </a:pPr>
                      <a:r>
                        <a:rPr lang="en-US" sz="2000" kern="100" dirty="0">
                          <a:effectLst/>
                        </a:rPr>
                        <a:t>4.75</a:t>
                      </a:r>
                      <a:endParaRPr lang="zh-CN" sz="2000" kern="100" dirty="0">
                        <a:effectLst/>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gn="just">
                        <a:lnSpc>
                          <a:spcPct val="150000"/>
                        </a:lnSpc>
                        <a:spcAft>
                          <a:spcPts val="0"/>
                        </a:spcAft>
                      </a:pPr>
                      <a:r>
                        <a:rPr lang="en-US" sz="2000" kern="100">
                          <a:effectLst/>
                        </a:rPr>
                        <a:t>5</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gn="just">
                        <a:lnSpc>
                          <a:spcPct val="150000"/>
                        </a:lnSpc>
                        <a:spcAft>
                          <a:spcPts val="0"/>
                        </a:spcAft>
                      </a:pPr>
                      <a:r>
                        <a:rPr lang="en-US" sz="2000" kern="100">
                          <a:effectLst/>
                        </a:rPr>
                        <a:t>6.5</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gn="just">
                        <a:lnSpc>
                          <a:spcPct val="150000"/>
                        </a:lnSpc>
                        <a:spcAft>
                          <a:spcPts val="0"/>
                        </a:spcAft>
                      </a:pPr>
                      <a:r>
                        <a:rPr lang="en-US" sz="2000" kern="100">
                          <a:effectLst/>
                        </a:rPr>
                        <a:t>7.75</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tc>
                <a:extLst>
                  <a:ext uri="{0D108BD9-81ED-4DB2-BD59-A6C34878D82A}">
                    <a16:rowId xmlns:a16="http://schemas.microsoft.com/office/drawing/2014/main" val="10002"/>
                  </a:ext>
                </a:extLst>
              </a:tr>
              <a:tr h="444021">
                <a:tc>
                  <a:txBody>
                    <a:bodyPr/>
                    <a:lstStyle/>
                    <a:p>
                      <a:pPr algn="just">
                        <a:lnSpc>
                          <a:spcPct val="150000"/>
                        </a:lnSpc>
                        <a:spcAft>
                          <a:spcPts val="0"/>
                        </a:spcAft>
                      </a:pPr>
                      <a:r>
                        <a:rPr lang="en-US" sz="2000" kern="100">
                          <a:effectLst/>
                        </a:rPr>
                        <a:t>d</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gn="just">
                        <a:lnSpc>
                          <a:spcPct val="150000"/>
                        </a:lnSpc>
                        <a:spcAft>
                          <a:spcPts val="0"/>
                        </a:spcAft>
                      </a:pPr>
                      <a:r>
                        <a:rPr lang="en-US" sz="2000" kern="100">
                          <a:effectLst/>
                        </a:rPr>
                        <a:t>3</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gn="just">
                        <a:lnSpc>
                          <a:spcPct val="150000"/>
                        </a:lnSpc>
                        <a:spcAft>
                          <a:spcPts val="0"/>
                        </a:spcAft>
                      </a:pPr>
                      <a:r>
                        <a:rPr lang="en-US" sz="2000" kern="100">
                          <a:effectLst/>
                        </a:rPr>
                        <a:t>5</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gn="just">
                        <a:lnSpc>
                          <a:spcPct val="150000"/>
                        </a:lnSpc>
                        <a:spcAft>
                          <a:spcPts val="0"/>
                        </a:spcAft>
                      </a:pPr>
                      <a:r>
                        <a:rPr lang="en-US" sz="2000" kern="100">
                          <a:effectLst/>
                        </a:rPr>
                        <a:t>4</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gn="just">
                        <a:lnSpc>
                          <a:spcPct val="150000"/>
                        </a:lnSpc>
                        <a:spcAft>
                          <a:spcPts val="0"/>
                        </a:spcAft>
                      </a:pPr>
                      <a:r>
                        <a:rPr lang="en-US" sz="2000" kern="100">
                          <a:effectLst/>
                        </a:rPr>
                        <a:t>7</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gn="just">
                        <a:lnSpc>
                          <a:spcPct val="150000"/>
                        </a:lnSpc>
                        <a:spcAft>
                          <a:spcPts val="0"/>
                        </a:spcAft>
                      </a:pPr>
                      <a:r>
                        <a:rPr lang="en-US" sz="2000" kern="100">
                          <a:effectLst/>
                        </a:rPr>
                        <a:t>6</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gn="just">
                        <a:lnSpc>
                          <a:spcPct val="150000"/>
                        </a:lnSpc>
                        <a:spcAft>
                          <a:spcPts val="0"/>
                        </a:spcAft>
                      </a:pPr>
                      <a:r>
                        <a:rPr lang="en-US" sz="2000" kern="100" dirty="0">
                          <a:effectLst/>
                        </a:rPr>
                        <a:t>11</a:t>
                      </a:r>
                      <a:endParaRPr lang="zh-CN" sz="2000" kern="100" dirty="0">
                        <a:effectLst/>
                        <a:latin typeface="Calibri" panose="020F0502020204030204"/>
                        <a:ea typeface="宋体" panose="02010600030101010101" pitchFamily="2" charset="-122"/>
                        <a:cs typeface="Times New Roman" panose="02020603050405020304"/>
                      </a:endParaRPr>
                    </a:p>
                  </a:txBody>
                  <a:tcPr marL="68580" marR="68580" marT="0" marB="0"/>
                </a:tc>
                <a:extLst>
                  <a:ext uri="{0D108BD9-81ED-4DB2-BD59-A6C34878D82A}">
                    <a16:rowId xmlns:a16="http://schemas.microsoft.com/office/drawing/2014/main" val="10003"/>
                  </a:ext>
                </a:extLst>
              </a:tr>
            </a:tbl>
          </a:graphicData>
        </a:graphic>
      </p:graphicFrame>
      <p:sp>
        <p:nvSpPr>
          <p:cNvPr id="8" name="Rectangle 2"/>
          <p:cNvSpPr>
            <a:spLocks noChangeArrowheads="1"/>
          </p:cNvSpPr>
          <p:nvPr/>
        </p:nvSpPr>
        <p:spPr bwMode="auto">
          <a:xfrm>
            <a:off x="2267744" y="5445224"/>
            <a:ext cx="417646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表</a:t>
            </a:r>
            <a:r>
              <a:rPr kumimoji="0" lang="en-US" altLang="zh-CN"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1 </a:t>
            </a:r>
            <a:r>
              <a:rPr kumimoji="0" lang="zh-CN" altLang="en-US"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工地的位置</a:t>
            </a:r>
            <a:r>
              <a:rPr kumimoji="0" lang="en-US" altLang="zh-CN"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a:t>
            </a:r>
            <a:r>
              <a:rPr kumimoji="0" lang="en-US" altLang="zh-CN" b="0" i="0" u="none" strike="noStrike" cap="none" normalizeH="0" baseline="0" dirty="0" err="1">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x,y</a:t>
            </a:r>
            <a:r>
              <a:rPr kumimoji="0" lang="en-US" altLang="zh-CN"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a:t>
            </a:r>
            <a:r>
              <a:rPr kumimoji="0" lang="zh-CN" altLang="en-US"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及水泥日用量</a:t>
            </a:r>
            <a:r>
              <a:rPr kumimoji="0" lang="en-US" altLang="zh-CN"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d</a:t>
            </a:r>
            <a:endParaRPr kumimoji="0" lang="en-US" altLang="zh-CN"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zh-CN"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F62FF814-FCEB-6342-4C4B-ADA78DB9D039}"/>
              </a:ext>
            </a:extLst>
          </p:cNvPr>
          <p:cNvPicPr>
            <a:picLocks noChangeAspect="1"/>
          </p:cNvPicPr>
          <p:nvPr/>
        </p:nvPicPr>
        <p:blipFill>
          <a:blip r:embed="rId2"/>
          <a:stretch>
            <a:fillRect/>
          </a:stretch>
        </p:blipFill>
        <p:spPr>
          <a:xfrm>
            <a:off x="609600" y="381000"/>
            <a:ext cx="7924800" cy="6096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矩形 3"/>
              <p:cNvSpPr/>
              <p:nvPr/>
            </p:nvSpPr>
            <p:spPr>
              <a:xfrm>
                <a:off x="539552" y="399333"/>
                <a:ext cx="7614592" cy="3231654"/>
              </a:xfrm>
              <a:prstGeom prst="rect">
                <a:avLst/>
              </a:prstGeom>
            </p:spPr>
            <p:txBody>
              <a:bodyPr wrap="square">
                <a:spAutoFit/>
              </a:bodyPr>
              <a:lstStyle/>
              <a:p>
                <a:r>
                  <a:rPr lang="zh-CN" altLang="zh-CN" sz="2400" b="1" dirty="0">
                    <a:solidFill>
                      <a:schemeClr val="tx2"/>
                    </a:solidFill>
                  </a:rPr>
                  <a:t>问题</a:t>
                </a:r>
                <a:r>
                  <a:rPr lang="zh-CN" altLang="en-US" sz="2400" b="1" dirty="0">
                    <a:solidFill>
                      <a:schemeClr val="tx2"/>
                    </a:solidFill>
                  </a:rPr>
                  <a:t>二</a:t>
                </a:r>
                <a:r>
                  <a:rPr lang="zh-CN" altLang="zh-CN" sz="2400" b="1" dirty="0">
                    <a:solidFill>
                      <a:schemeClr val="tx2"/>
                    </a:solidFill>
                  </a:rPr>
                  <a:t>：压缩感知</a:t>
                </a:r>
                <a:endParaRPr lang="zh-CN" altLang="zh-CN" sz="2400" dirty="0">
                  <a:solidFill>
                    <a:schemeClr val="tx2"/>
                  </a:solidFill>
                </a:endParaRPr>
              </a:p>
              <a:p>
                <a:r>
                  <a:rPr lang="en-US" altLang="zh-CN" sz="2000" dirty="0"/>
                  <a:t>          </a:t>
                </a:r>
                <a:r>
                  <a:rPr lang="zh-CN" altLang="zh-CN" sz="2000" dirty="0"/>
                  <a:t>假设原始信号（图</a:t>
                </a:r>
                <a:r>
                  <a:rPr lang="en-US" altLang="zh-CN" sz="2000" dirty="0"/>
                  <a:t>1</a:t>
                </a:r>
                <a:r>
                  <a:rPr lang="zh-CN" altLang="zh-CN" sz="2000" dirty="0"/>
                  <a:t>）是长度为</a:t>
                </a:r>
                <a:r>
                  <a:rPr lang="en-US" altLang="zh-CN" sz="2000" dirty="0"/>
                  <a:t>n=300</a:t>
                </a:r>
                <a:r>
                  <a:rPr lang="zh-CN" altLang="zh-CN" sz="2000" dirty="0"/>
                  <a:t>的稀疏信号</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a:rPr>
                          <m:t>𝑥</m:t>
                        </m:r>
                      </m:e>
                      <m:sub>
                        <m:r>
                          <a:rPr lang="en-US" altLang="zh-CN" sz="2000" i="1">
                            <a:latin typeface="Cambria Math"/>
                          </a:rPr>
                          <m:t>0</m:t>
                        </m:r>
                      </m:sub>
                    </m:sSub>
                    <m:r>
                      <a:rPr lang="en-US" altLang="zh-CN" sz="2000" i="1">
                        <a:latin typeface="Cambria Math"/>
                      </a:rPr>
                      <m:t>∈</m:t>
                    </m:r>
                    <m:sSup>
                      <m:sSupPr>
                        <m:ctrlPr>
                          <a:rPr lang="zh-CN" altLang="zh-CN" sz="2000" i="1">
                            <a:latin typeface="Cambria Math" panose="02040503050406030204" pitchFamily="18" charset="0"/>
                          </a:rPr>
                        </m:ctrlPr>
                      </m:sSupPr>
                      <m:e>
                        <m:r>
                          <a:rPr lang="en-US" altLang="zh-CN" sz="2000" i="1">
                            <a:latin typeface="Cambria Math"/>
                          </a:rPr>
                          <m:t>𝑅</m:t>
                        </m:r>
                      </m:e>
                      <m:sup>
                        <m:r>
                          <a:rPr lang="en-US" altLang="zh-CN" sz="2000" i="1">
                            <a:latin typeface="Cambria Math"/>
                          </a:rPr>
                          <m:t>𝑛</m:t>
                        </m:r>
                      </m:sup>
                    </m:sSup>
                  </m:oMath>
                </a14:m>
                <a:r>
                  <a:rPr lang="zh-CN" altLang="zh-CN" sz="2000" dirty="0"/>
                  <a:t>，其稀疏性是指向量中非零元素的个数，记为</a:t>
                </a:r>
                <a14:m>
                  <m:oMath xmlns:m="http://schemas.openxmlformats.org/officeDocument/2006/math">
                    <m:sSub>
                      <m:sSubPr>
                        <m:ctrlPr>
                          <a:rPr lang="zh-CN" altLang="zh-CN" sz="2000" i="1">
                            <a:latin typeface="Cambria Math" panose="02040503050406030204" pitchFamily="18" charset="0"/>
                          </a:rPr>
                        </m:ctrlPr>
                      </m:sSubPr>
                      <m:e>
                        <m:r>
                          <a:rPr lang="en-US" altLang="zh-CN" sz="2000">
                            <a:latin typeface="Cambria Math"/>
                          </a:rPr>
                          <m:t>|</m:t>
                        </m:r>
                        <m:d>
                          <m:dPr>
                            <m:begChr m:val="|"/>
                            <m:endChr m:val="|"/>
                            <m:ctrlPr>
                              <a:rPr lang="zh-CN" altLang="zh-CN" sz="2000" i="1">
                                <a:latin typeface="Cambria Math" panose="02040503050406030204" pitchFamily="18" charset="0"/>
                              </a:rPr>
                            </m:ctrlPr>
                          </m:dPr>
                          <m:e>
                            <m:sSub>
                              <m:sSubPr>
                                <m:ctrlPr>
                                  <a:rPr lang="zh-CN" altLang="zh-CN" sz="2000" i="1">
                                    <a:latin typeface="Cambria Math" panose="02040503050406030204" pitchFamily="18" charset="0"/>
                                  </a:rPr>
                                </m:ctrlPr>
                              </m:sSubPr>
                              <m:e>
                                <m:r>
                                  <a:rPr lang="en-US" altLang="zh-CN" sz="2000" i="1">
                                    <a:latin typeface="Cambria Math"/>
                                  </a:rPr>
                                  <m:t>𝑥</m:t>
                                </m:r>
                              </m:e>
                              <m:sub>
                                <m:r>
                                  <a:rPr lang="en-US" altLang="zh-CN" sz="2000" i="1">
                                    <a:latin typeface="Cambria Math"/>
                                  </a:rPr>
                                  <m:t>0</m:t>
                                </m:r>
                              </m:sub>
                            </m:sSub>
                          </m:e>
                        </m:d>
                        <m:r>
                          <a:rPr lang="en-US" altLang="zh-CN" sz="2000" i="1">
                            <a:latin typeface="Cambria Math"/>
                          </a:rPr>
                          <m:t>|</m:t>
                        </m:r>
                      </m:e>
                      <m:sub>
                        <m:r>
                          <a:rPr lang="en-US" altLang="zh-CN" sz="2000" i="1">
                            <a:latin typeface="Cambria Math"/>
                          </a:rPr>
                          <m:t>0</m:t>
                        </m:r>
                      </m:sub>
                    </m:sSub>
                  </m:oMath>
                </a14:m>
                <a:r>
                  <a:rPr lang="zh-CN" altLang="zh-CN" sz="2000" dirty="0"/>
                  <a:t>，这里</a:t>
                </a:r>
                <a14:m>
                  <m:oMath xmlns:m="http://schemas.openxmlformats.org/officeDocument/2006/math">
                    <m:sSub>
                      <m:sSubPr>
                        <m:ctrlPr>
                          <a:rPr lang="zh-CN" altLang="zh-CN" sz="2000" i="1">
                            <a:latin typeface="Cambria Math" panose="02040503050406030204" pitchFamily="18" charset="0"/>
                          </a:rPr>
                        </m:ctrlPr>
                      </m:sSubPr>
                      <m:e>
                        <m:r>
                          <a:rPr lang="en-US" altLang="zh-CN" sz="2000">
                            <a:latin typeface="Cambria Math"/>
                          </a:rPr>
                          <m:t>|</m:t>
                        </m:r>
                        <m:d>
                          <m:dPr>
                            <m:begChr m:val="|"/>
                            <m:endChr m:val="|"/>
                            <m:ctrlPr>
                              <a:rPr lang="zh-CN" altLang="zh-CN" sz="2000" i="1">
                                <a:latin typeface="Cambria Math" panose="02040503050406030204" pitchFamily="18" charset="0"/>
                              </a:rPr>
                            </m:ctrlPr>
                          </m:dPr>
                          <m:e>
                            <m:sSub>
                              <m:sSubPr>
                                <m:ctrlPr>
                                  <a:rPr lang="zh-CN" altLang="zh-CN" sz="2000" i="1">
                                    <a:latin typeface="Cambria Math" panose="02040503050406030204" pitchFamily="18" charset="0"/>
                                  </a:rPr>
                                </m:ctrlPr>
                              </m:sSubPr>
                              <m:e>
                                <m:r>
                                  <a:rPr lang="en-US" altLang="zh-CN" sz="2000" i="1">
                                    <a:latin typeface="Cambria Math"/>
                                  </a:rPr>
                                  <m:t>𝑥</m:t>
                                </m:r>
                              </m:e>
                              <m:sub>
                                <m:r>
                                  <a:rPr lang="en-US" altLang="zh-CN" sz="2000" i="1">
                                    <a:latin typeface="Cambria Math"/>
                                  </a:rPr>
                                  <m:t>0</m:t>
                                </m:r>
                              </m:sub>
                            </m:sSub>
                          </m:e>
                        </m:d>
                        <m:r>
                          <a:rPr lang="en-US" altLang="zh-CN" sz="2000" i="1">
                            <a:latin typeface="Cambria Math"/>
                          </a:rPr>
                          <m:t>|</m:t>
                        </m:r>
                      </m:e>
                      <m:sub>
                        <m:r>
                          <a:rPr lang="en-US" altLang="zh-CN" sz="2000" i="1">
                            <a:latin typeface="Cambria Math"/>
                          </a:rPr>
                          <m:t>0</m:t>
                        </m:r>
                      </m:sub>
                    </m:sSub>
                  </m:oMath>
                </a14:m>
                <a:r>
                  <a:rPr lang="en-US" altLang="zh-CN" sz="2000" dirty="0"/>
                  <a:t>=15</a:t>
                </a:r>
                <a:r>
                  <a:rPr lang="zh-CN" altLang="zh-CN" sz="2000" dirty="0"/>
                  <a:t>。人们希望仅通过测量较少的观测数据</a:t>
                </a:r>
                <a14:m>
                  <m:oMath xmlns:m="http://schemas.openxmlformats.org/officeDocument/2006/math">
                    <m:r>
                      <m:rPr>
                        <m:sty m:val="p"/>
                      </m:rPr>
                      <a:rPr lang="en-US" altLang="zh-CN" sz="2000">
                        <a:latin typeface="Cambria Math"/>
                      </a:rPr>
                      <m:t>y</m:t>
                    </m:r>
                    <m:r>
                      <a:rPr lang="en-US" altLang="zh-CN" sz="2000" i="1">
                        <a:latin typeface="Cambria Math"/>
                      </a:rPr>
                      <m:t>∈</m:t>
                    </m:r>
                    <m:sSup>
                      <m:sSupPr>
                        <m:ctrlPr>
                          <a:rPr lang="zh-CN" altLang="zh-CN" sz="2000" i="1">
                            <a:latin typeface="Cambria Math" panose="02040503050406030204" pitchFamily="18" charset="0"/>
                          </a:rPr>
                        </m:ctrlPr>
                      </m:sSupPr>
                      <m:e>
                        <m:r>
                          <a:rPr lang="en-US" altLang="zh-CN" sz="2000" i="1">
                            <a:latin typeface="Cambria Math"/>
                          </a:rPr>
                          <m:t>𝑅</m:t>
                        </m:r>
                      </m:e>
                      <m:sup>
                        <m:r>
                          <a:rPr lang="en-US" altLang="zh-CN" sz="2000" i="1">
                            <a:latin typeface="Cambria Math"/>
                          </a:rPr>
                          <m:t>𝑚</m:t>
                        </m:r>
                      </m:sup>
                    </m:sSup>
                  </m:oMath>
                </a14:m>
                <a:r>
                  <a:rPr lang="en-US" altLang="zh-CN" sz="2000" dirty="0"/>
                  <a:t>(</a:t>
                </a:r>
                <a14:m>
                  <m:oMath xmlns:m="http://schemas.openxmlformats.org/officeDocument/2006/math">
                    <m:r>
                      <m:rPr>
                        <m:sty m:val="p"/>
                      </m:rPr>
                      <a:rPr lang="en-US" altLang="zh-CN" sz="2000">
                        <a:latin typeface="Cambria Math"/>
                      </a:rPr>
                      <m:t>m</m:t>
                    </m:r>
                    <m:r>
                      <a:rPr lang="en-US" altLang="zh-CN" sz="2000">
                        <a:latin typeface="Cambria Math"/>
                      </a:rPr>
                      <m:t>=100</m:t>
                    </m:r>
                  </m:oMath>
                </a14:m>
                <a:r>
                  <a:rPr lang="en-US" altLang="zh-CN" sz="2000" dirty="0"/>
                  <a:t>)</a:t>
                </a:r>
                <a:r>
                  <a:rPr lang="zh-CN" altLang="zh-CN" sz="2000" dirty="0"/>
                  <a:t>（图</a:t>
                </a:r>
                <a:r>
                  <a:rPr lang="en-US" altLang="zh-CN" sz="2000" dirty="0"/>
                  <a:t>2</a:t>
                </a:r>
                <a:r>
                  <a:rPr lang="zh-CN" altLang="zh-CN" sz="2000" dirty="0"/>
                  <a:t>）就能从中恢复出原始信号</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a:rPr>
                          <m:t>𝑥</m:t>
                        </m:r>
                      </m:e>
                      <m:sub>
                        <m:r>
                          <a:rPr lang="en-US" altLang="zh-CN" sz="2000" i="1">
                            <a:latin typeface="Cambria Math"/>
                          </a:rPr>
                          <m:t>0</m:t>
                        </m:r>
                      </m:sub>
                    </m:sSub>
                  </m:oMath>
                </a14:m>
                <a:r>
                  <a:rPr lang="zh-CN" altLang="zh-CN" sz="2000" dirty="0"/>
                  <a:t>来，这便是压缩感知的含义。假定观测数据</a:t>
                </a:r>
                <a14:m>
                  <m:oMath xmlns:m="http://schemas.openxmlformats.org/officeDocument/2006/math">
                    <m:r>
                      <m:rPr>
                        <m:sty m:val="p"/>
                      </m:rPr>
                      <a:rPr lang="en-US" altLang="zh-CN" sz="2000">
                        <a:latin typeface="Cambria Math"/>
                      </a:rPr>
                      <m:t>y</m:t>
                    </m:r>
                  </m:oMath>
                </a14:m>
                <a:r>
                  <a:rPr lang="zh-CN" altLang="zh-CN" sz="2000" dirty="0"/>
                  <a:t>是这样获取的：令</a:t>
                </a:r>
                <a14:m>
                  <m:oMath xmlns:m="http://schemas.openxmlformats.org/officeDocument/2006/math">
                    <m:r>
                      <m:rPr>
                        <m:sty m:val="p"/>
                      </m:rPr>
                      <a:rPr lang="en-US" altLang="zh-CN" sz="2000">
                        <a:latin typeface="Cambria Math"/>
                      </a:rPr>
                      <m:t>A</m:t>
                    </m:r>
                    <m:r>
                      <a:rPr lang="en-US" altLang="zh-CN" sz="2000">
                        <a:latin typeface="Cambria Math"/>
                      </a:rPr>
                      <m:t>∈</m:t>
                    </m:r>
                    <m:sSup>
                      <m:sSupPr>
                        <m:ctrlPr>
                          <a:rPr lang="zh-CN" altLang="zh-CN" sz="2000" i="1">
                            <a:latin typeface="Cambria Math" panose="02040503050406030204" pitchFamily="18" charset="0"/>
                          </a:rPr>
                        </m:ctrlPr>
                      </m:sSupPr>
                      <m:e>
                        <m:r>
                          <a:rPr lang="en-US" altLang="zh-CN" sz="2000" i="1">
                            <a:latin typeface="Cambria Math"/>
                          </a:rPr>
                          <m:t>𝑅</m:t>
                        </m:r>
                      </m:e>
                      <m:sup>
                        <m:r>
                          <a:rPr lang="en-US" altLang="zh-CN" sz="2000" i="1">
                            <a:latin typeface="Cambria Math"/>
                          </a:rPr>
                          <m:t>𝑚</m:t>
                        </m:r>
                        <m:r>
                          <a:rPr lang="en-US" altLang="zh-CN" sz="2000" i="1">
                            <a:latin typeface="Cambria Math"/>
                          </a:rPr>
                          <m:t>×</m:t>
                        </m:r>
                        <m:r>
                          <a:rPr lang="en-US" altLang="zh-CN" sz="2000" i="1">
                            <a:latin typeface="Cambria Math"/>
                          </a:rPr>
                          <m:t>𝑛</m:t>
                        </m:r>
                      </m:sup>
                    </m:sSup>
                  </m:oMath>
                </a14:m>
                <a:r>
                  <a:rPr lang="zh-CN" altLang="zh-CN" sz="2000" dirty="0"/>
                  <a:t>为从</a:t>
                </a:r>
                <a:r>
                  <a:rPr lang="en-US" altLang="zh-CN" sz="2000" dirty="0"/>
                  <a:t>n</a:t>
                </a:r>
                <a:r>
                  <a:rPr lang="zh-CN" altLang="zh-CN" sz="2000" dirty="0"/>
                  <a:t>维离散余弦变换矩阵Φ中随机抽取的</a:t>
                </a:r>
                <a14:m>
                  <m:oMath xmlns:m="http://schemas.openxmlformats.org/officeDocument/2006/math">
                    <m:r>
                      <m:rPr>
                        <m:sty m:val="p"/>
                      </m:rPr>
                      <a:rPr lang="en-US" altLang="zh-CN" sz="2000">
                        <a:latin typeface="Cambria Math"/>
                      </a:rPr>
                      <m:t>m</m:t>
                    </m:r>
                  </m:oMath>
                </a14:m>
                <a:r>
                  <a:rPr lang="zh-CN" altLang="zh-CN" sz="2000" dirty="0"/>
                  <a:t>行，将</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a:rPr>
                          <m:t>𝑥</m:t>
                        </m:r>
                      </m:e>
                      <m:sub>
                        <m:r>
                          <a:rPr lang="en-US" altLang="zh-CN" sz="2000" i="1">
                            <a:latin typeface="Cambria Math"/>
                          </a:rPr>
                          <m:t>0</m:t>
                        </m:r>
                      </m:sub>
                    </m:sSub>
                  </m:oMath>
                </a14:m>
                <a:r>
                  <a:rPr lang="zh-CN" altLang="zh-CN" sz="2000" dirty="0"/>
                  <a:t>用线性变化</a:t>
                </a:r>
                <a14:m>
                  <m:oMath xmlns:m="http://schemas.openxmlformats.org/officeDocument/2006/math">
                    <m:r>
                      <m:rPr>
                        <m:sty m:val="p"/>
                      </m:rPr>
                      <a:rPr lang="en-US" altLang="zh-CN" sz="2000">
                        <a:latin typeface="Cambria Math"/>
                      </a:rPr>
                      <m:t>A</m:t>
                    </m:r>
                  </m:oMath>
                </a14:m>
                <a:r>
                  <a:rPr lang="zh-CN" altLang="zh-CN" sz="2000" dirty="0"/>
                  <a:t>编码得到压缩信号</a:t>
                </a:r>
                <a14:m>
                  <m:oMath xmlns:m="http://schemas.openxmlformats.org/officeDocument/2006/math">
                    <m:r>
                      <m:rPr>
                        <m:sty m:val="p"/>
                      </m:rPr>
                      <a:rPr lang="en-US" altLang="zh-CN" sz="2000">
                        <a:latin typeface="Cambria Math"/>
                      </a:rPr>
                      <m:t>y</m:t>
                    </m:r>
                    <m:r>
                      <a:rPr lang="en-US" altLang="zh-CN" sz="2000">
                        <a:latin typeface="Cambria Math"/>
                      </a:rPr>
                      <m:t>=</m:t>
                    </m:r>
                    <m:r>
                      <m:rPr>
                        <m:sty m:val="p"/>
                      </m:rPr>
                      <a:rPr lang="en-US" altLang="zh-CN" sz="2000">
                        <a:latin typeface="Cambria Math"/>
                      </a:rPr>
                      <m:t>A</m:t>
                    </m:r>
                    <m:sSub>
                      <m:sSubPr>
                        <m:ctrlPr>
                          <a:rPr lang="zh-CN" altLang="zh-CN" sz="2000" i="1">
                            <a:latin typeface="Cambria Math" panose="02040503050406030204" pitchFamily="18" charset="0"/>
                          </a:rPr>
                        </m:ctrlPr>
                      </m:sSubPr>
                      <m:e>
                        <m:r>
                          <a:rPr lang="en-US" altLang="zh-CN" sz="2000" i="1">
                            <a:latin typeface="Cambria Math"/>
                          </a:rPr>
                          <m:t>𝑥</m:t>
                        </m:r>
                      </m:e>
                      <m:sub>
                        <m:r>
                          <a:rPr lang="en-US" altLang="zh-CN" sz="2000" i="1">
                            <a:latin typeface="Cambria Math"/>
                          </a:rPr>
                          <m:t>0</m:t>
                        </m:r>
                      </m:sub>
                    </m:sSub>
                  </m:oMath>
                </a14:m>
                <a:r>
                  <a:rPr lang="zh-CN" altLang="zh-CN" sz="2000" dirty="0"/>
                  <a:t>，数</a:t>
                </a:r>
                <a14:m>
                  <m:oMath xmlns:m="http://schemas.openxmlformats.org/officeDocument/2006/math">
                    <m:r>
                      <m:rPr>
                        <m:sty m:val="p"/>
                      </m:rPr>
                      <a:rPr lang="en-US" altLang="zh-CN" sz="2000">
                        <a:latin typeface="Cambria Math"/>
                      </a:rPr>
                      <m:t>m</m:t>
                    </m:r>
                  </m:oMath>
                </a14:m>
                <a:r>
                  <a:rPr lang="zh-CN" altLang="zh-CN" sz="2000" dirty="0"/>
                  <a:t>被称为采样值。</a:t>
                </a:r>
              </a:p>
              <a:p>
                <a:r>
                  <a:rPr lang="zh-CN" altLang="zh-CN" sz="2000" b="1" dirty="0"/>
                  <a:t>问</a:t>
                </a:r>
                <a:r>
                  <a:rPr lang="zh-CN" altLang="zh-CN" sz="2000" dirty="0"/>
                  <a:t>：在已知</a:t>
                </a:r>
                <a14:m>
                  <m:oMath xmlns:m="http://schemas.openxmlformats.org/officeDocument/2006/math">
                    <m:r>
                      <m:rPr>
                        <m:sty m:val="p"/>
                      </m:rPr>
                      <a:rPr lang="en-US" altLang="zh-CN" sz="2000">
                        <a:latin typeface="Cambria Math"/>
                      </a:rPr>
                      <m:t>A</m:t>
                    </m:r>
                  </m:oMath>
                </a14:m>
                <a:r>
                  <a:rPr lang="zh-CN" altLang="zh-CN" sz="2000" dirty="0"/>
                  <a:t>的前提下能否利用</a:t>
                </a:r>
                <a14:m>
                  <m:oMath xmlns:m="http://schemas.openxmlformats.org/officeDocument/2006/math">
                    <m:r>
                      <m:rPr>
                        <m:sty m:val="p"/>
                      </m:rPr>
                      <a:rPr lang="en-US" altLang="zh-CN" sz="2000">
                        <a:latin typeface="Cambria Math"/>
                      </a:rPr>
                      <m:t>y</m:t>
                    </m:r>
                    <m:r>
                      <a:rPr lang="en-US" altLang="zh-CN" sz="2000">
                        <a:latin typeface="Cambria Math"/>
                      </a:rPr>
                      <m:t>=</m:t>
                    </m:r>
                    <m:r>
                      <m:rPr>
                        <m:sty m:val="p"/>
                      </m:rPr>
                      <a:rPr lang="en-US" altLang="zh-CN" sz="2000">
                        <a:latin typeface="Cambria Math"/>
                      </a:rPr>
                      <m:t>A</m:t>
                    </m:r>
                    <m:sSub>
                      <m:sSubPr>
                        <m:ctrlPr>
                          <a:rPr lang="zh-CN" altLang="zh-CN" sz="2000" i="1">
                            <a:latin typeface="Cambria Math" panose="02040503050406030204" pitchFamily="18" charset="0"/>
                          </a:rPr>
                        </m:ctrlPr>
                      </m:sSubPr>
                      <m:e>
                        <m:r>
                          <a:rPr lang="en-US" altLang="zh-CN" sz="2000" i="1">
                            <a:latin typeface="Cambria Math"/>
                          </a:rPr>
                          <m:t>𝑥</m:t>
                        </m:r>
                      </m:e>
                      <m:sub>
                        <m:r>
                          <a:rPr lang="en-US" altLang="zh-CN" sz="2000" i="1">
                            <a:latin typeface="Cambria Math"/>
                          </a:rPr>
                          <m:t>0</m:t>
                        </m:r>
                      </m:sub>
                    </m:sSub>
                  </m:oMath>
                </a14:m>
                <a:r>
                  <a:rPr lang="zh-CN" altLang="zh-CN" sz="2000" dirty="0"/>
                  <a:t>将稀疏信号</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a:rPr>
                          <m:t>𝑥</m:t>
                        </m:r>
                      </m:e>
                      <m:sub>
                        <m:r>
                          <a:rPr lang="en-US" altLang="zh-CN" sz="2000" i="1">
                            <a:latin typeface="Cambria Math"/>
                          </a:rPr>
                          <m:t>0</m:t>
                        </m:r>
                      </m:sub>
                    </m:sSub>
                  </m:oMath>
                </a14:m>
                <a:r>
                  <a:rPr lang="en-US" altLang="zh-CN" sz="2000" dirty="0"/>
                  <a:t> </a:t>
                </a:r>
                <a:r>
                  <a:rPr lang="zh-CN" altLang="zh-CN" sz="2000" dirty="0"/>
                  <a:t>恢复？</a:t>
                </a:r>
              </a:p>
              <a:p>
                <a:r>
                  <a:rPr lang="en-US" altLang="zh-CN" sz="2000" dirty="0"/>
                  <a:t>         </a:t>
                </a:r>
                <a:endParaRPr lang="zh-CN" altLang="zh-CN" sz="2000" dirty="0"/>
              </a:p>
            </p:txBody>
          </p:sp>
        </mc:Choice>
        <mc:Fallback xmlns="">
          <p:sp>
            <p:nvSpPr>
              <p:cNvPr id="4" name="矩形 3"/>
              <p:cNvSpPr>
                <a:spLocks noRot="1" noChangeAspect="1" noMove="1" noResize="1" noEditPoints="1" noAdjustHandles="1" noChangeArrowheads="1" noChangeShapeType="1" noTextEdit="1"/>
              </p:cNvSpPr>
              <p:nvPr/>
            </p:nvSpPr>
            <p:spPr>
              <a:xfrm>
                <a:off x="539552" y="399333"/>
                <a:ext cx="7614592" cy="3231654"/>
              </a:xfrm>
              <a:prstGeom prst="rect">
                <a:avLst/>
              </a:prstGeom>
              <a:blipFill rotWithShape="0">
                <a:blip r:embed="rId2"/>
                <a:stretch>
                  <a:fillRect l="-1281" t="-2264" r="-320"/>
                </a:stretch>
              </a:blipFill>
            </p:spPr>
            <p:txBody>
              <a:bodyPr/>
              <a:lstStyle/>
              <a:p>
                <a:r>
                  <a:rPr lang="zh-CN" altLang="en-US">
                    <a:noFill/>
                  </a:rPr>
                  <a:t> </a:t>
                </a:r>
                <a:endParaRPr lang="zh-CN" altLang="en-US">
                  <a:noFill/>
                </a:endParaRPr>
              </a:p>
            </p:txBody>
          </p:sp>
        </mc:Fallback>
      </mc:AlternateContent>
      <p:pic>
        <p:nvPicPr>
          <p:cNvPr id="5" name="图片 4"/>
          <p:cNvPicPr/>
          <p:nvPr/>
        </p:nvPicPr>
        <p:blipFill>
          <a:blip r:embed="rId3" cstate="print">
            <a:extLst>
              <a:ext uri="{28A0092B-C50C-407E-A947-70E740481C1C}">
                <a14:useLocalDpi xmlns:a14="http://schemas.microsoft.com/office/drawing/2010/main" val="0"/>
              </a:ext>
            </a:extLst>
          </a:blip>
          <a:stretch>
            <a:fillRect/>
          </a:stretch>
        </p:blipFill>
        <p:spPr>
          <a:xfrm>
            <a:off x="755575" y="3598360"/>
            <a:ext cx="2846065" cy="2229930"/>
          </a:xfrm>
          <a:prstGeom prst="rect">
            <a:avLst/>
          </a:prstGeom>
        </p:spPr>
      </p:pic>
      <p:pic>
        <p:nvPicPr>
          <p:cNvPr id="6" name="图片 5"/>
          <p:cNvPicPr/>
          <p:nvPr/>
        </p:nvPicPr>
        <p:blipFill>
          <a:blip r:embed="rId4">
            <a:extLst>
              <a:ext uri="{28A0092B-C50C-407E-A947-70E740481C1C}">
                <a14:useLocalDpi xmlns:a14="http://schemas.microsoft.com/office/drawing/2010/main" val="0"/>
              </a:ext>
            </a:extLst>
          </a:blip>
          <a:stretch>
            <a:fillRect/>
          </a:stretch>
        </p:blipFill>
        <p:spPr>
          <a:xfrm>
            <a:off x="4929286" y="3501008"/>
            <a:ext cx="2883074" cy="2327282"/>
          </a:xfrm>
          <a:prstGeom prst="rect">
            <a:avLst/>
          </a:prstGeom>
        </p:spPr>
      </p:pic>
      <mc:AlternateContent xmlns:mc="http://schemas.openxmlformats.org/markup-compatibility/2006" xmlns:a14="http://schemas.microsoft.com/office/drawing/2010/main">
        <mc:Choice Requires="a14">
          <p:sp>
            <p:nvSpPr>
              <p:cNvPr id="7" name="矩形 6"/>
              <p:cNvSpPr/>
              <p:nvPr/>
            </p:nvSpPr>
            <p:spPr>
              <a:xfrm>
                <a:off x="1315640" y="6142052"/>
                <a:ext cx="6928767" cy="369332"/>
              </a:xfrm>
              <a:prstGeom prst="rect">
                <a:avLst/>
              </a:prstGeom>
            </p:spPr>
            <p:txBody>
              <a:bodyPr wrap="square">
                <a:spAutoFit/>
              </a:bodyPr>
              <a:lstStyle/>
              <a:p>
                <a:r>
                  <a:rPr lang="zh-CN" altLang="zh-CN" dirty="0"/>
                  <a:t> </a:t>
                </a:r>
                <a:r>
                  <a:rPr lang="en-US" altLang="zh-CN" dirty="0"/>
                  <a:t>   </a:t>
                </a:r>
                <a:r>
                  <a:rPr lang="zh-CN" altLang="zh-CN" dirty="0"/>
                  <a:t>图</a:t>
                </a:r>
                <a:r>
                  <a:rPr lang="en-US" altLang="zh-CN" dirty="0"/>
                  <a:t>1 </a:t>
                </a:r>
                <a:r>
                  <a:rPr lang="zh-CN" altLang="zh-CN" dirty="0"/>
                  <a:t>原始信号</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a:rPr>
                          <m:t>𝑥</m:t>
                        </m:r>
                      </m:e>
                      <m:sub>
                        <m:r>
                          <a:rPr lang="en-US" altLang="zh-CN" i="1">
                            <a:latin typeface="Cambria Math"/>
                          </a:rPr>
                          <m:t>0</m:t>
                        </m:r>
                      </m:sub>
                    </m:sSub>
                    <m:r>
                      <a:rPr lang="en-US" altLang="zh-CN" i="1">
                        <a:latin typeface="Cambria Math"/>
                      </a:rPr>
                      <m:t> </m:t>
                    </m:r>
                  </m:oMath>
                </a14:m>
                <a:r>
                  <a:rPr lang="en-US" altLang="zh-CN" dirty="0"/>
                  <a:t>                                                 </a:t>
                </a:r>
                <a:r>
                  <a:rPr lang="zh-CN" altLang="zh-CN" dirty="0"/>
                  <a:t>图</a:t>
                </a:r>
                <a:r>
                  <a:rPr lang="en-US" altLang="zh-CN" dirty="0"/>
                  <a:t>2 </a:t>
                </a:r>
                <a:r>
                  <a:rPr lang="zh-CN" altLang="zh-CN" dirty="0"/>
                  <a:t>观测数据</a:t>
                </a:r>
                <a14:m>
                  <m:oMath xmlns:m="http://schemas.openxmlformats.org/officeDocument/2006/math">
                    <m:r>
                      <m:rPr>
                        <m:sty m:val="p"/>
                      </m:rPr>
                      <a:rPr lang="en-US" altLang="zh-CN">
                        <a:latin typeface="Cambria Math"/>
                      </a:rPr>
                      <m:t>y</m:t>
                    </m:r>
                  </m:oMath>
                </a14:m>
                <a:endParaRPr lang="zh-CN" altLang="zh-CN" dirty="0"/>
              </a:p>
            </p:txBody>
          </p:sp>
        </mc:Choice>
        <mc:Fallback xmlns="">
          <p:sp>
            <p:nvSpPr>
              <p:cNvPr id="7" name="矩形 6"/>
              <p:cNvSpPr>
                <a:spLocks noRot="1" noChangeAspect="1" noMove="1" noResize="1" noEditPoints="1" noAdjustHandles="1" noChangeArrowheads="1" noChangeShapeType="1" noTextEdit="1"/>
              </p:cNvSpPr>
              <p:nvPr/>
            </p:nvSpPr>
            <p:spPr>
              <a:xfrm>
                <a:off x="1315640" y="6142052"/>
                <a:ext cx="6928767" cy="369332"/>
              </a:xfrm>
              <a:prstGeom prst="rect">
                <a:avLst/>
              </a:prstGeom>
              <a:blipFill rotWithShape="1">
                <a:blip r:embed="rId5"/>
                <a:stretch>
                  <a:fillRect t="-13333" b="-28333"/>
                </a:stretch>
              </a:blipFill>
            </p:spPr>
            <p:txBody>
              <a:bodyPr/>
              <a:lstStyle/>
              <a:p>
                <a:r>
                  <a:rPr lang="zh-CN" altLang="en-US">
                    <a:noFill/>
                  </a:rPr>
                  <a:t> </a:t>
                </a:r>
                <a:endParaRPr lang="zh-CN" altLang="en-US">
                  <a:noFill/>
                </a:endParaRPr>
              </a:p>
            </p:txBody>
          </p:sp>
        </mc:Fallback>
      </mc:AlternateContent>
      <mc:AlternateContent xmlns:mc="http://schemas.openxmlformats.org/markup-compatibility/2006" xmlns:a14="http://schemas.microsoft.com/office/drawing/2010/main">
        <mc:Choice Requires="a14">
          <p:sp>
            <p:nvSpPr>
              <p:cNvPr id="8" name="矩形 7"/>
              <p:cNvSpPr/>
              <p:nvPr/>
            </p:nvSpPr>
            <p:spPr>
              <a:xfrm>
                <a:off x="467544" y="3917521"/>
                <a:ext cx="7758608" cy="1494255"/>
              </a:xfrm>
              <a:prstGeom prst="rect">
                <a:avLst/>
              </a:prstGeom>
            </p:spPr>
            <p:txBody>
              <a:bodyPr wrap="square">
                <a:spAutoFit/>
              </a:bodyPr>
              <a:lstStyle/>
              <a:p>
                <a:r>
                  <a:rPr lang="zh-CN" altLang="zh-CN" sz="2800" dirty="0"/>
                  <a:t>数学模型：</a:t>
                </a:r>
              </a:p>
              <a:p>
                <a:pPr algn="ctr" latinLnBrk="1"/>
                <a14:m>
                  <m:oMath xmlns:m="http://schemas.openxmlformats.org/officeDocument/2006/math">
                    <m:m>
                      <m:mPr>
                        <m:mcs>
                          <m:mc>
                            <m:mcPr>
                              <m:count m:val="1"/>
                              <m:mcJc m:val="center"/>
                            </m:mcPr>
                          </m:mc>
                        </m:mcs>
                        <m:ctrlPr>
                          <a:rPr lang="zh-CN" altLang="zh-CN" sz="2800" i="1">
                            <a:latin typeface="Cambria Math" panose="02040503050406030204" pitchFamily="18" charset="0"/>
                          </a:rPr>
                        </m:ctrlPr>
                      </m:mPr>
                      <m:mr>
                        <m:e>
                          <m:func>
                            <m:funcPr>
                              <m:ctrlPr>
                                <a:rPr lang="zh-CN" altLang="zh-CN" sz="2800" i="1">
                                  <a:latin typeface="Cambria Math" panose="02040503050406030204" pitchFamily="18" charset="0"/>
                                </a:rPr>
                              </m:ctrlPr>
                            </m:funcPr>
                            <m:fName>
                              <m:limLow>
                                <m:limLowPr>
                                  <m:ctrlPr>
                                    <a:rPr lang="zh-CN" altLang="zh-CN" sz="2800" i="1">
                                      <a:latin typeface="Cambria Math" panose="02040503050406030204" pitchFamily="18" charset="0"/>
                                    </a:rPr>
                                  </m:ctrlPr>
                                </m:limLowPr>
                                <m:e>
                                  <m:r>
                                    <m:rPr>
                                      <m:sty m:val="p"/>
                                    </m:rPr>
                                    <a:rPr lang="en-US" altLang="zh-CN" sz="2800">
                                      <a:latin typeface="Cambria Math"/>
                                    </a:rPr>
                                    <m:t>min</m:t>
                                  </m:r>
                                </m:e>
                                <m:lim>
                                  <m:r>
                                    <a:rPr lang="en-US" altLang="zh-CN" sz="2800" i="1">
                                      <a:latin typeface="Cambria Math"/>
                                    </a:rPr>
                                    <m:t>𝑥</m:t>
                                  </m:r>
                                  <m:r>
                                    <a:rPr lang="en-US" altLang="zh-CN" sz="2800" i="1">
                                      <a:latin typeface="Cambria Math"/>
                                    </a:rPr>
                                    <m:t>∈</m:t>
                                  </m:r>
                                  <m:sSup>
                                    <m:sSupPr>
                                      <m:ctrlPr>
                                        <a:rPr lang="zh-CN" altLang="zh-CN" sz="2800" i="1">
                                          <a:latin typeface="Cambria Math" panose="02040503050406030204" pitchFamily="18" charset="0"/>
                                        </a:rPr>
                                      </m:ctrlPr>
                                    </m:sSupPr>
                                    <m:e>
                                      <m:r>
                                        <a:rPr lang="en-US" altLang="zh-CN" sz="2800" i="1">
                                          <a:latin typeface="Cambria Math"/>
                                        </a:rPr>
                                        <m:t>𝑅</m:t>
                                      </m:r>
                                    </m:e>
                                    <m:sup>
                                      <m:r>
                                        <a:rPr lang="en-US" altLang="zh-CN" sz="2800" i="1">
                                          <a:latin typeface="Cambria Math"/>
                                        </a:rPr>
                                        <m:t>𝑛</m:t>
                                      </m:r>
                                    </m:sup>
                                  </m:sSup>
                                </m:lim>
                              </m:limLow>
                            </m:fName>
                            <m:e>
                              <m:sSub>
                                <m:sSubPr>
                                  <m:ctrlPr>
                                    <a:rPr lang="zh-CN" altLang="zh-CN" sz="2800" i="1">
                                      <a:latin typeface="Cambria Math" panose="02040503050406030204" pitchFamily="18" charset="0"/>
                                    </a:rPr>
                                  </m:ctrlPr>
                                </m:sSubPr>
                                <m:e>
                                  <m:r>
                                    <a:rPr lang="en-US" altLang="zh-CN" sz="2800" i="1">
                                      <a:latin typeface="Cambria Math"/>
                                    </a:rPr>
                                    <m:t>|</m:t>
                                  </m:r>
                                  <m:d>
                                    <m:dPr>
                                      <m:begChr m:val="|"/>
                                      <m:endChr m:val="|"/>
                                      <m:ctrlPr>
                                        <a:rPr lang="zh-CN" altLang="zh-CN" sz="2800" i="1">
                                          <a:latin typeface="Cambria Math" panose="02040503050406030204" pitchFamily="18" charset="0"/>
                                        </a:rPr>
                                      </m:ctrlPr>
                                    </m:dPr>
                                    <m:e>
                                      <m:r>
                                        <a:rPr lang="en-US" altLang="zh-CN" sz="2800" i="1">
                                          <a:latin typeface="Cambria Math"/>
                                        </a:rPr>
                                        <m:t>𝑥</m:t>
                                      </m:r>
                                    </m:e>
                                  </m:d>
                                  <m:r>
                                    <a:rPr lang="en-US" altLang="zh-CN" sz="2800" i="1">
                                      <a:latin typeface="Cambria Math"/>
                                    </a:rPr>
                                    <m:t>|</m:t>
                                  </m:r>
                                </m:e>
                                <m:sub>
                                  <m:r>
                                    <a:rPr lang="en-US" altLang="zh-CN" sz="2800" i="1">
                                      <a:latin typeface="Cambria Math"/>
                                    </a:rPr>
                                    <m:t>0</m:t>
                                  </m:r>
                                </m:sub>
                              </m:sSub>
                            </m:e>
                          </m:func>
                        </m:e>
                      </m:mr>
                      <m:mr>
                        <m:e>
                          <m:r>
                            <a:rPr lang="en-US" altLang="zh-CN" sz="2800" i="1">
                              <a:latin typeface="Cambria Math"/>
                            </a:rPr>
                            <m:t>𝑠</m:t>
                          </m:r>
                          <m:r>
                            <a:rPr lang="en-US" altLang="zh-CN" sz="2800" i="1">
                              <a:latin typeface="Cambria Math"/>
                            </a:rPr>
                            <m:t>.</m:t>
                          </m:r>
                          <m:r>
                            <a:rPr lang="en-US" altLang="zh-CN" sz="2800" i="1">
                              <a:latin typeface="Cambria Math"/>
                            </a:rPr>
                            <m:t>𝑡</m:t>
                          </m:r>
                          <m:r>
                            <a:rPr lang="en-US" altLang="zh-CN" sz="2800" i="1">
                              <a:latin typeface="Cambria Math"/>
                            </a:rPr>
                            <m:t>.  </m:t>
                          </m:r>
                          <m:r>
                            <a:rPr lang="en-US" altLang="zh-CN" sz="2800" i="1">
                              <a:latin typeface="Cambria Math"/>
                            </a:rPr>
                            <m:t>𝐴𝑥</m:t>
                          </m:r>
                          <m:r>
                            <a:rPr lang="en-US" altLang="zh-CN" sz="2800" i="1">
                              <a:latin typeface="Cambria Math"/>
                            </a:rPr>
                            <m:t>=</m:t>
                          </m:r>
                          <m:r>
                            <a:rPr lang="en-US" altLang="zh-CN" sz="2800" i="1">
                              <a:latin typeface="Cambria Math"/>
                            </a:rPr>
                            <m:t>𝑦</m:t>
                          </m:r>
                        </m:e>
                      </m:mr>
                    </m:m>
                  </m:oMath>
                </a14:m>
                <a:r>
                  <a:rPr lang="en-US" altLang="zh-CN" sz="2800" dirty="0"/>
                  <a:t>                                                                </a:t>
                </a:r>
                <a:endParaRPr lang="zh-CN" altLang="zh-CN" sz="2800" dirty="0"/>
              </a:p>
            </p:txBody>
          </p:sp>
        </mc:Choice>
        <mc:Fallback xmlns="">
          <p:sp>
            <p:nvSpPr>
              <p:cNvPr id="8" name="矩形 7"/>
              <p:cNvSpPr>
                <a:spLocks noRot="1" noChangeAspect="1" noMove="1" noResize="1" noEditPoints="1" noAdjustHandles="1" noChangeArrowheads="1" noChangeShapeType="1" noTextEdit="1"/>
              </p:cNvSpPr>
              <p:nvPr/>
            </p:nvSpPr>
            <p:spPr>
              <a:xfrm>
                <a:off x="467544" y="3917521"/>
                <a:ext cx="7758608" cy="1494255"/>
              </a:xfrm>
              <a:prstGeom prst="rect">
                <a:avLst/>
              </a:prstGeom>
              <a:blipFill rotWithShape="1">
                <a:blip r:embed="rId6"/>
                <a:stretch>
                  <a:fillRect l="-1651" t="-5714"/>
                </a:stretch>
              </a:blipFill>
            </p:spPr>
            <p:txBody>
              <a:bodyPr/>
              <a:lstStyle/>
              <a:p>
                <a:r>
                  <a:rPr lang="zh-CN" altLang="en-US">
                    <a:noFill/>
                  </a:rPr>
                  <a:t> </a:t>
                </a:r>
                <a:endParaRPr lang="zh-CN" altLang="en-US">
                  <a:noFill/>
                </a:endParaRP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5"/>
                                        </p:tgtEl>
                                        <p:attrNameLst>
                                          <p:attrName>ppt_x</p:attrName>
                                        </p:attrNameLst>
                                      </p:cBhvr>
                                      <p:tavLst>
                                        <p:tav tm="0">
                                          <p:val>
                                            <p:strVal val="ppt_x"/>
                                          </p:val>
                                        </p:tav>
                                        <p:tav tm="100000">
                                          <p:val>
                                            <p:strVal val="ppt_x"/>
                                          </p:val>
                                        </p:tav>
                                      </p:tavLst>
                                    </p:anim>
                                    <p:anim calcmode="lin" valueType="num">
                                      <p:cBhvr additive="base">
                                        <p:cTn id="7" dur="500"/>
                                        <p:tgtEl>
                                          <p:spTgt spid="5"/>
                                        </p:tgtEl>
                                        <p:attrNameLst>
                                          <p:attrName>ppt_y</p:attrName>
                                        </p:attrNameLst>
                                      </p:cBhvr>
                                      <p:tavLst>
                                        <p:tav tm="0">
                                          <p:val>
                                            <p:strVal val="ppt_y"/>
                                          </p:val>
                                        </p:tav>
                                        <p:tav tm="100000">
                                          <p:val>
                                            <p:strVal val="1+ppt_h/2"/>
                                          </p:val>
                                        </p:tav>
                                      </p:tavLst>
                                    </p:anim>
                                    <p:set>
                                      <p:cBhvr>
                                        <p:cTn id="8" dur="1" fill="hold">
                                          <p:stCondLst>
                                            <p:cond delay="499"/>
                                          </p:stCondLst>
                                        </p:cTn>
                                        <p:tgtEl>
                                          <p:spTgt spid="5"/>
                                        </p:tgtEl>
                                        <p:attrNameLst>
                                          <p:attrName>style.visibility</p:attrName>
                                        </p:attrNameLst>
                                      </p:cBhvr>
                                      <p:to>
                                        <p:strVal val="hidden"/>
                                      </p:to>
                                    </p:set>
                                  </p:childTnLst>
                                </p:cTn>
                              </p:par>
                              <p:par>
                                <p:cTn id="9" presetID="2" presetClass="exit" presetSubtype="4" fill="hold" nodeType="withEffect">
                                  <p:stCondLst>
                                    <p:cond delay="0"/>
                                  </p:stCondLst>
                                  <p:childTnLst>
                                    <p:anim calcmode="lin" valueType="num">
                                      <p:cBhvr additive="base">
                                        <p:cTn id="10" dur="500"/>
                                        <p:tgtEl>
                                          <p:spTgt spid="6"/>
                                        </p:tgtEl>
                                        <p:attrNameLst>
                                          <p:attrName>ppt_x</p:attrName>
                                        </p:attrNameLst>
                                      </p:cBhvr>
                                      <p:tavLst>
                                        <p:tav tm="0">
                                          <p:val>
                                            <p:strVal val="ppt_x"/>
                                          </p:val>
                                        </p:tav>
                                        <p:tav tm="100000">
                                          <p:val>
                                            <p:strVal val="ppt_x"/>
                                          </p:val>
                                        </p:tav>
                                      </p:tavLst>
                                    </p:anim>
                                    <p:anim calcmode="lin" valueType="num">
                                      <p:cBhvr additive="base">
                                        <p:cTn id="11" dur="500"/>
                                        <p:tgtEl>
                                          <p:spTgt spid="6"/>
                                        </p:tgtEl>
                                        <p:attrNameLst>
                                          <p:attrName>ppt_y</p:attrName>
                                        </p:attrNameLst>
                                      </p:cBhvr>
                                      <p:tavLst>
                                        <p:tav tm="0">
                                          <p:val>
                                            <p:strVal val="ppt_y"/>
                                          </p:val>
                                        </p:tav>
                                        <p:tav tm="100000">
                                          <p:val>
                                            <p:strVal val="1+ppt_h/2"/>
                                          </p:val>
                                        </p:tav>
                                      </p:tavLst>
                                    </p:anim>
                                    <p:set>
                                      <p:cBhvr>
                                        <p:cTn id="12" dur="1" fill="hold">
                                          <p:stCondLst>
                                            <p:cond delay="499"/>
                                          </p:stCondLst>
                                        </p:cTn>
                                        <p:tgtEl>
                                          <p:spTgt spid="6"/>
                                        </p:tgtEl>
                                        <p:attrNameLst>
                                          <p:attrName>style.visibility</p:attrName>
                                        </p:attrNameLst>
                                      </p:cBhvr>
                                      <p:to>
                                        <p:strVal val="hidden"/>
                                      </p:to>
                                    </p:set>
                                  </p:childTnLst>
                                </p:cTn>
                              </p:par>
                              <p:par>
                                <p:cTn id="13" presetID="2" presetClass="exit" presetSubtype="4" fill="hold" grpId="0" nodeType="withEffect">
                                  <p:stCondLst>
                                    <p:cond delay="0"/>
                                  </p:stCondLst>
                                  <p:childTnLst>
                                    <p:anim calcmode="lin" valueType="num">
                                      <p:cBhvr additive="base">
                                        <p:cTn id="14" dur="500"/>
                                        <p:tgtEl>
                                          <p:spTgt spid="7"/>
                                        </p:tgtEl>
                                        <p:attrNameLst>
                                          <p:attrName>ppt_x</p:attrName>
                                        </p:attrNameLst>
                                      </p:cBhvr>
                                      <p:tavLst>
                                        <p:tav tm="0">
                                          <p:val>
                                            <p:strVal val="ppt_x"/>
                                          </p:val>
                                        </p:tav>
                                        <p:tav tm="100000">
                                          <p:val>
                                            <p:strVal val="ppt_x"/>
                                          </p:val>
                                        </p:tav>
                                      </p:tavLst>
                                    </p:anim>
                                    <p:anim calcmode="lin" valueType="num">
                                      <p:cBhvr additive="base">
                                        <p:cTn id="15" dur="500"/>
                                        <p:tgtEl>
                                          <p:spTgt spid="7"/>
                                        </p:tgtEl>
                                        <p:attrNameLst>
                                          <p:attrName>ppt_y</p:attrName>
                                        </p:attrNameLst>
                                      </p:cBhvr>
                                      <p:tavLst>
                                        <p:tav tm="0">
                                          <p:val>
                                            <p:strVal val="ppt_y"/>
                                          </p:val>
                                        </p:tav>
                                        <p:tav tm="100000">
                                          <p:val>
                                            <p:strVal val="1+ppt_h/2"/>
                                          </p:val>
                                        </p:tav>
                                      </p:tavLst>
                                    </p:anim>
                                    <p:set>
                                      <p:cBhvr>
                                        <p:cTn id="16" dur="1" fill="hold">
                                          <p:stCondLst>
                                            <p:cond delay="499"/>
                                          </p:stCondLst>
                                        </p:cTn>
                                        <p:tgtEl>
                                          <p:spTgt spid="7"/>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矩形 3"/>
              <p:cNvSpPr/>
              <p:nvPr/>
            </p:nvSpPr>
            <p:spPr>
              <a:xfrm>
                <a:off x="539552" y="548680"/>
                <a:ext cx="7758608" cy="1494255"/>
              </a:xfrm>
              <a:prstGeom prst="rect">
                <a:avLst/>
              </a:prstGeom>
            </p:spPr>
            <p:txBody>
              <a:bodyPr wrap="square">
                <a:spAutoFit/>
              </a:bodyPr>
              <a:lstStyle/>
              <a:p>
                <a:r>
                  <a:rPr lang="zh-CN" altLang="zh-CN" sz="2800" dirty="0"/>
                  <a:t>数学模型：</a:t>
                </a:r>
              </a:p>
              <a:p>
                <a:pPr algn="r" latinLnBrk="1"/>
                <a14:m>
                  <m:oMath xmlns:m="http://schemas.openxmlformats.org/officeDocument/2006/math">
                    <m:m>
                      <m:mPr>
                        <m:mcs>
                          <m:mc>
                            <m:mcPr>
                              <m:count m:val="1"/>
                              <m:mcJc m:val="center"/>
                            </m:mcPr>
                          </m:mc>
                        </m:mcs>
                        <m:ctrlPr>
                          <a:rPr lang="zh-CN" altLang="zh-CN" sz="2800" i="1">
                            <a:latin typeface="Cambria Math" panose="02040503050406030204" pitchFamily="18" charset="0"/>
                          </a:rPr>
                        </m:ctrlPr>
                      </m:mPr>
                      <m:mr>
                        <m:e>
                          <m:func>
                            <m:funcPr>
                              <m:ctrlPr>
                                <a:rPr lang="zh-CN" altLang="zh-CN" sz="2800" i="1">
                                  <a:latin typeface="Cambria Math" panose="02040503050406030204" pitchFamily="18" charset="0"/>
                                </a:rPr>
                              </m:ctrlPr>
                            </m:funcPr>
                            <m:fName>
                              <m:limLow>
                                <m:limLowPr>
                                  <m:ctrlPr>
                                    <a:rPr lang="zh-CN" altLang="zh-CN" sz="2800" i="1">
                                      <a:latin typeface="Cambria Math" panose="02040503050406030204" pitchFamily="18" charset="0"/>
                                    </a:rPr>
                                  </m:ctrlPr>
                                </m:limLowPr>
                                <m:e>
                                  <m:r>
                                    <m:rPr>
                                      <m:sty m:val="p"/>
                                    </m:rPr>
                                    <a:rPr lang="en-US" altLang="zh-CN" sz="2800">
                                      <a:latin typeface="Cambria Math"/>
                                    </a:rPr>
                                    <m:t>min</m:t>
                                  </m:r>
                                </m:e>
                                <m:lim>
                                  <m:r>
                                    <a:rPr lang="en-US" altLang="zh-CN" sz="2800" i="1">
                                      <a:latin typeface="Cambria Math"/>
                                    </a:rPr>
                                    <m:t>𝑥</m:t>
                                  </m:r>
                                  <m:r>
                                    <a:rPr lang="en-US" altLang="zh-CN" sz="2800" i="1">
                                      <a:latin typeface="Cambria Math"/>
                                    </a:rPr>
                                    <m:t>∈</m:t>
                                  </m:r>
                                  <m:sSup>
                                    <m:sSupPr>
                                      <m:ctrlPr>
                                        <a:rPr lang="zh-CN" altLang="zh-CN" sz="2800" i="1">
                                          <a:latin typeface="Cambria Math" panose="02040503050406030204" pitchFamily="18" charset="0"/>
                                        </a:rPr>
                                      </m:ctrlPr>
                                    </m:sSupPr>
                                    <m:e>
                                      <m:r>
                                        <a:rPr lang="en-US" altLang="zh-CN" sz="2800" i="1">
                                          <a:latin typeface="Cambria Math"/>
                                        </a:rPr>
                                        <m:t>𝑅</m:t>
                                      </m:r>
                                    </m:e>
                                    <m:sup>
                                      <m:r>
                                        <a:rPr lang="en-US" altLang="zh-CN" sz="2800" i="1">
                                          <a:latin typeface="Cambria Math"/>
                                        </a:rPr>
                                        <m:t>𝑛</m:t>
                                      </m:r>
                                    </m:sup>
                                  </m:sSup>
                                </m:lim>
                              </m:limLow>
                            </m:fName>
                            <m:e>
                              <m:sSub>
                                <m:sSubPr>
                                  <m:ctrlPr>
                                    <a:rPr lang="zh-CN" altLang="zh-CN" sz="2800" i="1">
                                      <a:latin typeface="Cambria Math" panose="02040503050406030204" pitchFamily="18" charset="0"/>
                                    </a:rPr>
                                  </m:ctrlPr>
                                </m:sSubPr>
                                <m:e>
                                  <m:r>
                                    <a:rPr lang="en-US" altLang="zh-CN" sz="2800" i="1">
                                      <a:latin typeface="Cambria Math"/>
                                    </a:rPr>
                                    <m:t>|</m:t>
                                  </m:r>
                                  <m:d>
                                    <m:dPr>
                                      <m:begChr m:val="|"/>
                                      <m:endChr m:val="|"/>
                                      <m:ctrlPr>
                                        <a:rPr lang="zh-CN" altLang="zh-CN" sz="2800" i="1">
                                          <a:latin typeface="Cambria Math" panose="02040503050406030204" pitchFamily="18" charset="0"/>
                                        </a:rPr>
                                      </m:ctrlPr>
                                    </m:dPr>
                                    <m:e>
                                      <m:r>
                                        <a:rPr lang="en-US" altLang="zh-CN" sz="2800" i="1">
                                          <a:latin typeface="Cambria Math"/>
                                        </a:rPr>
                                        <m:t>𝑥</m:t>
                                      </m:r>
                                    </m:e>
                                  </m:d>
                                  <m:r>
                                    <a:rPr lang="en-US" altLang="zh-CN" sz="2800" i="1">
                                      <a:latin typeface="Cambria Math"/>
                                    </a:rPr>
                                    <m:t>|</m:t>
                                  </m:r>
                                </m:e>
                                <m:sub>
                                  <m:r>
                                    <a:rPr lang="en-US" altLang="zh-CN" sz="2800" i="1">
                                      <a:latin typeface="Cambria Math"/>
                                    </a:rPr>
                                    <m:t>0</m:t>
                                  </m:r>
                                </m:sub>
                              </m:sSub>
                            </m:e>
                          </m:func>
                        </m:e>
                      </m:mr>
                      <m:mr>
                        <m:e>
                          <m:r>
                            <a:rPr lang="en-US" altLang="zh-CN" sz="2800" i="1">
                              <a:latin typeface="Cambria Math"/>
                            </a:rPr>
                            <m:t>𝑠</m:t>
                          </m:r>
                          <m:r>
                            <a:rPr lang="en-US" altLang="zh-CN" sz="2800" i="1">
                              <a:latin typeface="Cambria Math"/>
                            </a:rPr>
                            <m:t>.</m:t>
                          </m:r>
                          <m:r>
                            <a:rPr lang="en-US" altLang="zh-CN" sz="2800" i="1">
                              <a:latin typeface="Cambria Math"/>
                            </a:rPr>
                            <m:t>𝑡</m:t>
                          </m:r>
                          <m:r>
                            <a:rPr lang="en-US" altLang="zh-CN" sz="2800" i="1">
                              <a:latin typeface="Cambria Math"/>
                            </a:rPr>
                            <m:t>.  </m:t>
                          </m:r>
                          <m:r>
                            <a:rPr lang="en-US" altLang="zh-CN" sz="2800" i="1">
                              <a:latin typeface="Cambria Math"/>
                            </a:rPr>
                            <m:t>𝐴𝑥</m:t>
                          </m:r>
                          <m:r>
                            <a:rPr lang="en-US" altLang="zh-CN" sz="2800" i="1">
                              <a:latin typeface="Cambria Math"/>
                            </a:rPr>
                            <m:t>=</m:t>
                          </m:r>
                          <m:r>
                            <a:rPr lang="en-US" altLang="zh-CN" sz="2800" i="1">
                              <a:latin typeface="Cambria Math"/>
                            </a:rPr>
                            <m:t>𝑦</m:t>
                          </m:r>
                        </m:e>
                      </m:mr>
                    </m:m>
                  </m:oMath>
                </a14:m>
                <a:r>
                  <a:rPr lang="en-US" altLang="zh-CN" sz="2800" dirty="0"/>
                  <a:t>                    (</a:t>
                </a:r>
                <a:r>
                  <a:rPr lang="en-US" altLang="zh-CN" sz="2800" dirty="0">
                    <a:solidFill>
                      <a:srgbClr val="FF0000"/>
                    </a:solidFill>
                  </a:rPr>
                  <a:t>NP-hard</a:t>
                </a:r>
                <a:r>
                  <a:rPr lang="en-US" altLang="zh-CN" sz="2800" dirty="0"/>
                  <a:t>)                                                                </a:t>
                </a:r>
                <a:endParaRPr lang="zh-CN" altLang="zh-CN" sz="2800" dirty="0"/>
              </a:p>
            </p:txBody>
          </p:sp>
        </mc:Choice>
        <mc:Fallback xmlns="">
          <p:sp>
            <p:nvSpPr>
              <p:cNvPr id="4" name="矩形 3"/>
              <p:cNvSpPr>
                <a:spLocks noRot="1" noChangeAspect="1" noMove="1" noResize="1" noEditPoints="1" noAdjustHandles="1" noChangeArrowheads="1" noChangeShapeType="1" noTextEdit="1"/>
              </p:cNvSpPr>
              <p:nvPr/>
            </p:nvSpPr>
            <p:spPr>
              <a:xfrm>
                <a:off x="539552" y="548680"/>
                <a:ext cx="7758608" cy="1494255"/>
              </a:xfrm>
              <a:prstGeom prst="rect">
                <a:avLst/>
              </a:prstGeom>
              <a:blipFill rotWithShape="0">
                <a:blip r:embed="rId2"/>
                <a:stretch>
                  <a:fillRect l="-1651" t="-5714" r="-68632"/>
                </a:stretch>
              </a:blipFill>
            </p:spPr>
            <p:txBody>
              <a:bodyPr/>
              <a:lstStyle/>
              <a:p>
                <a:r>
                  <a:rPr lang="zh-CN" altLang="en-US">
                    <a:noFill/>
                  </a:rPr>
                  <a:t> </a:t>
                </a:r>
                <a:endParaRPr lang="zh-CN" altLang="en-US">
                  <a:noFill/>
                </a:endParaRPr>
              </a:p>
            </p:txBody>
          </p:sp>
        </mc:Fallback>
      </mc:AlternateContent>
      <mc:AlternateContent xmlns:mc="http://schemas.openxmlformats.org/markup-compatibility/2006" xmlns:a14="http://schemas.microsoft.com/office/drawing/2010/main">
        <mc:Choice Requires="a14">
          <p:sp>
            <p:nvSpPr>
              <p:cNvPr id="14" name="矩形 13"/>
              <p:cNvSpPr/>
              <p:nvPr/>
            </p:nvSpPr>
            <p:spPr>
              <a:xfrm>
                <a:off x="525488" y="2204864"/>
                <a:ext cx="7758608" cy="4230582"/>
              </a:xfrm>
              <a:prstGeom prst="rect">
                <a:avLst/>
              </a:prstGeom>
            </p:spPr>
            <p:txBody>
              <a:bodyPr wrap="square">
                <a:spAutoFit/>
              </a:bodyPr>
              <a:lstStyle/>
              <a:p>
                <a:r>
                  <a:rPr lang="zh-CN" altLang="en-US" sz="2800" dirty="0"/>
                  <a:t>基追踪问题</a:t>
                </a:r>
                <a:r>
                  <a:rPr lang="zh-CN" altLang="zh-CN" sz="2800" dirty="0"/>
                  <a:t>：</a:t>
                </a:r>
              </a:p>
              <a:p>
                <a:pPr algn="ctr" latinLnBrk="1"/>
                <a14:m>
                  <m:oMathPara xmlns:m="http://schemas.openxmlformats.org/officeDocument/2006/math">
                    <m:oMathParaPr>
                      <m:jc m:val="centerGroup"/>
                    </m:oMathParaPr>
                    <m:oMath xmlns:m="http://schemas.openxmlformats.org/officeDocument/2006/math">
                      <m:m>
                        <m:mPr>
                          <m:mcs>
                            <m:mc>
                              <m:mcPr>
                                <m:count m:val="1"/>
                                <m:mcJc m:val="center"/>
                              </m:mcPr>
                            </m:mc>
                          </m:mcs>
                          <m:ctrlPr>
                            <a:rPr lang="zh-CN" altLang="zh-CN" sz="2800" i="1">
                              <a:latin typeface="Cambria Math" panose="02040503050406030204" pitchFamily="18" charset="0"/>
                            </a:rPr>
                          </m:ctrlPr>
                        </m:mPr>
                        <m:mr>
                          <m:e>
                            <m:func>
                              <m:funcPr>
                                <m:ctrlPr>
                                  <a:rPr lang="zh-CN" altLang="zh-CN" sz="2800" i="1">
                                    <a:latin typeface="Cambria Math" panose="02040503050406030204" pitchFamily="18" charset="0"/>
                                  </a:rPr>
                                </m:ctrlPr>
                              </m:funcPr>
                              <m:fName>
                                <m:limLow>
                                  <m:limLowPr>
                                    <m:ctrlPr>
                                      <a:rPr lang="zh-CN" altLang="zh-CN" sz="2800" i="1">
                                        <a:latin typeface="Cambria Math" panose="02040503050406030204" pitchFamily="18" charset="0"/>
                                      </a:rPr>
                                    </m:ctrlPr>
                                  </m:limLowPr>
                                  <m:e>
                                    <m:r>
                                      <m:rPr>
                                        <m:sty m:val="p"/>
                                      </m:rPr>
                                      <a:rPr lang="en-US" altLang="zh-CN" sz="2800">
                                        <a:latin typeface="Cambria Math"/>
                                      </a:rPr>
                                      <m:t>min</m:t>
                                    </m:r>
                                  </m:e>
                                  <m:lim>
                                    <m:r>
                                      <a:rPr lang="en-US" altLang="zh-CN" sz="2800" i="1">
                                        <a:latin typeface="Cambria Math"/>
                                      </a:rPr>
                                      <m:t>𝑥</m:t>
                                    </m:r>
                                    <m:r>
                                      <a:rPr lang="en-US" altLang="zh-CN" sz="2800" i="1">
                                        <a:latin typeface="Cambria Math"/>
                                      </a:rPr>
                                      <m:t>∈</m:t>
                                    </m:r>
                                    <m:sSup>
                                      <m:sSupPr>
                                        <m:ctrlPr>
                                          <a:rPr lang="zh-CN" altLang="zh-CN" sz="2800" i="1">
                                            <a:latin typeface="Cambria Math" panose="02040503050406030204" pitchFamily="18" charset="0"/>
                                          </a:rPr>
                                        </m:ctrlPr>
                                      </m:sSupPr>
                                      <m:e>
                                        <m:r>
                                          <a:rPr lang="en-US" altLang="zh-CN" sz="2800" i="1">
                                            <a:latin typeface="Cambria Math"/>
                                          </a:rPr>
                                          <m:t>𝑅</m:t>
                                        </m:r>
                                      </m:e>
                                      <m:sup>
                                        <m:r>
                                          <a:rPr lang="en-US" altLang="zh-CN" sz="2800" i="1">
                                            <a:latin typeface="Cambria Math"/>
                                          </a:rPr>
                                          <m:t>𝑛</m:t>
                                        </m:r>
                                      </m:sup>
                                    </m:sSup>
                                  </m:lim>
                                </m:limLow>
                              </m:fName>
                              <m:e>
                                <m:sSub>
                                  <m:sSubPr>
                                    <m:ctrlPr>
                                      <a:rPr lang="zh-CN" altLang="zh-CN" sz="2800" i="1">
                                        <a:latin typeface="Cambria Math" panose="02040503050406030204" pitchFamily="18" charset="0"/>
                                      </a:rPr>
                                    </m:ctrlPr>
                                  </m:sSubPr>
                                  <m:e>
                                    <m:r>
                                      <a:rPr lang="en-US" altLang="zh-CN" sz="2800" i="1">
                                        <a:latin typeface="Cambria Math"/>
                                      </a:rPr>
                                      <m:t>|</m:t>
                                    </m:r>
                                    <m:d>
                                      <m:dPr>
                                        <m:begChr m:val="|"/>
                                        <m:endChr m:val="|"/>
                                        <m:ctrlPr>
                                          <a:rPr lang="zh-CN" altLang="zh-CN" sz="2800" i="1">
                                            <a:latin typeface="Cambria Math" panose="02040503050406030204" pitchFamily="18" charset="0"/>
                                          </a:rPr>
                                        </m:ctrlPr>
                                      </m:dPr>
                                      <m:e>
                                        <m:r>
                                          <a:rPr lang="en-US" altLang="zh-CN" sz="2800" i="1">
                                            <a:latin typeface="Cambria Math"/>
                                          </a:rPr>
                                          <m:t>𝑥</m:t>
                                        </m:r>
                                      </m:e>
                                    </m:d>
                                    <m:r>
                                      <a:rPr lang="en-US" altLang="zh-CN" sz="2800" i="1">
                                        <a:latin typeface="Cambria Math"/>
                                      </a:rPr>
                                      <m:t>|</m:t>
                                    </m:r>
                                  </m:e>
                                  <m:sub>
                                    <m:r>
                                      <a:rPr lang="en-US" altLang="zh-CN" sz="2800" i="1">
                                        <a:latin typeface="Cambria Math" panose="02040503050406030204" pitchFamily="18" charset="0"/>
                                      </a:rPr>
                                      <m:t>1</m:t>
                                    </m:r>
                                  </m:sub>
                                </m:sSub>
                              </m:e>
                            </m:func>
                          </m:e>
                        </m:mr>
                        <m:mr>
                          <m:e>
                            <m:r>
                              <a:rPr lang="en-US" altLang="zh-CN" sz="2800" i="1">
                                <a:latin typeface="Cambria Math"/>
                              </a:rPr>
                              <m:t>𝑠</m:t>
                            </m:r>
                            <m:r>
                              <a:rPr lang="en-US" altLang="zh-CN" sz="2800" i="1">
                                <a:latin typeface="Cambria Math"/>
                              </a:rPr>
                              <m:t>.</m:t>
                            </m:r>
                            <m:r>
                              <a:rPr lang="en-US" altLang="zh-CN" sz="2800" i="1">
                                <a:latin typeface="Cambria Math"/>
                              </a:rPr>
                              <m:t>𝑡</m:t>
                            </m:r>
                            <m:r>
                              <a:rPr lang="en-US" altLang="zh-CN" sz="2800" i="1">
                                <a:latin typeface="Cambria Math"/>
                              </a:rPr>
                              <m:t>.  </m:t>
                            </m:r>
                            <m:r>
                              <a:rPr lang="en-US" altLang="zh-CN" sz="2800" i="1">
                                <a:latin typeface="Cambria Math"/>
                              </a:rPr>
                              <m:t>𝐴𝑥</m:t>
                            </m:r>
                            <m:r>
                              <a:rPr lang="en-US" altLang="zh-CN" sz="2800" i="1">
                                <a:latin typeface="Cambria Math"/>
                              </a:rPr>
                              <m:t>=</m:t>
                            </m:r>
                            <m:r>
                              <a:rPr lang="en-US" altLang="zh-CN" sz="2800" i="1">
                                <a:latin typeface="Cambria Math"/>
                              </a:rPr>
                              <m:t>𝑦</m:t>
                            </m:r>
                          </m:e>
                        </m:mr>
                      </m:m>
                    </m:oMath>
                  </m:oMathPara>
                </a14:m>
                <a:endParaRPr lang="en-US" altLang="zh-CN" sz="2800" dirty="0"/>
              </a:p>
              <a:p>
                <a:pPr latinLnBrk="1"/>
                <a:endParaRPr lang="en-US" altLang="zh-CN" sz="2800" dirty="0"/>
              </a:p>
              <a:p>
                <a:pPr latinLnBrk="1"/>
                <a:r>
                  <a:rPr lang="zh-CN" altLang="en-US" sz="2800" dirty="0"/>
                  <a:t>等价于一个线性规划问题</a:t>
                </a:r>
                <a:endParaRPr lang="en-US" altLang="zh-CN" sz="2800" dirty="0"/>
              </a:p>
              <a:p>
                <a:pPr latinLnBrk="1"/>
                <a:r>
                  <a:rPr lang="en-US" altLang="zh-CN" sz="2800" dirty="0"/>
                  <a:t>     </a:t>
                </a:r>
              </a:p>
              <a:p>
                <a:pPr latinLnBrk="1"/>
                <a:r>
                  <a:rPr lang="en-US" altLang="zh-CN" sz="2800" dirty="0"/>
                  <a:t>                                   </a:t>
                </a:r>
                <a14:m>
                  <m:oMath xmlns:m="http://schemas.openxmlformats.org/officeDocument/2006/math">
                    <m:m>
                      <m:mPr>
                        <m:mcs>
                          <m:mc>
                            <m:mcPr>
                              <m:count m:val="1"/>
                              <m:mcJc m:val="center"/>
                            </m:mcPr>
                          </m:mc>
                        </m:mcs>
                        <m:ctrlPr>
                          <a:rPr lang="zh-CN" altLang="zh-CN" sz="2800" i="1">
                            <a:latin typeface="Cambria Math" panose="02040503050406030204" pitchFamily="18" charset="0"/>
                          </a:rPr>
                        </m:ctrlPr>
                      </m:mPr>
                      <m:mr>
                        <m:e>
                          <m:func>
                            <m:funcPr>
                              <m:ctrlPr>
                                <a:rPr lang="zh-CN" altLang="zh-CN" sz="2800" i="1">
                                  <a:latin typeface="Cambria Math" panose="02040503050406030204" pitchFamily="18" charset="0"/>
                                </a:rPr>
                              </m:ctrlPr>
                            </m:funcPr>
                            <m:fName>
                              <m:limLow>
                                <m:limLowPr>
                                  <m:ctrlPr>
                                    <a:rPr lang="zh-CN" altLang="zh-CN" sz="2800" i="1">
                                      <a:latin typeface="Cambria Math" panose="02040503050406030204" pitchFamily="18" charset="0"/>
                                    </a:rPr>
                                  </m:ctrlPr>
                                </m:limLowPr>
                                <m:e>
                                  <m:r>
                                    <m:rPr>
                                      <m:sty m:val="p"/>
                                    </m:rPr>
                                    <a:rPr lang="en-US" altLang="zh-CN" sz="2800">
                                      <a:latin typeface="Cambria Math"/>
                                    </a:rPr>
                                    <m:t>min</m:t>
                                  </m:r>
                                </m:e>
                                <m:lim>
                                  <m:r>
                                    <a:rPr lang="en-US" altLang="zh-CN" sz="2800" b="0" i="1" smtClean="0">
                                      <a:latin typeface="Cambria Math" panose="02040503050406030204" pitchFamily="18" charset="0"/>
                                    </a:rPr>
                                    <m:t>𝑢</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𝑣</m:t>
                                  </m:r>
                                  <m:r>
                                    <a:rPr lang="en-US" altLang="zh-CN" sz="2800" i="1">
                                      <a:latin typeface="Cambria Math"/>
                                    </a:rPr>
                                    <m:t>∈</m:t>
                                  </m:r>
                                  <m:sSup>
                                    <m:sSupPr>
                                      <m:ctrlPr>
                                        <a:rPr lang="zh-CN" altLang="zh-CN" sz="2800" i="1">
                                          <a:latin typeface="Cambria Math" panose="02040503050406030204" pitchFamily="18" charset="0"/>
                                        </a:rPr>
                                      </m:ctrlPr>
                                    </m:sSupPr>
                                    <m:e>
                                      <m:r>
                                        <a:rPr lang="en-US" altLang="zh-CN" sz="2800" i="1">
                                          <a:latin typeface="Cambria Math"/>
                                        </a:rPr>
                                        <m:t>𝑅</m:t>
                                      </m:r>
                                    </m:e>
                                    <m:sup>
                                      <m:r>
                                        <a:rPr lang="en-US" altLang="zh-CN" sz="2800" i="1">
                                          <a:latin typeface="Cambria Math"/>
                                        </a:rPr>
                                        <m:t>𝑛</m:t>
                                      </m:r>
                                    </m:sup>
                                  </m:sSup>
                                </m:lim>
                              </m:limLow>
                            </m:fName>
                            <m:e>
                              <m:sSup>
                                <m:sSupPr>
                                  <m:ctrlPr>
                                    <a:rPr lang="en-US" altLang="zh-CN" sz="2800" i="1" smtClean="0">
                                      <a:latin typeface="Cambria Math" panose="02040503050406030204" pitchFamily="18" charset="0"/>
                                    </a:rPr>
                                  </m:ctrlPr>
                                </m:sSupPr>
                                <m:e>
                                  <m:r>
                                    <a:rPr lang="en-US" altLang="zh-CN" sz="2800" b="0" i="1" smtClean="0">
                                      <a:latin typeface="Cambria Math" panose="02040503050406030204" pitchFamily="18" charset="0"/>
                                    </a:rPr>
                                    <m:t>1</m:t>
                                  </m:r>
                                </m:e>
                                <m:sup>
                                  <m:r>
                                    <a:rPr lang="en-US" altLang="zh-CN" sz="2800" b="0" i="1" smtClean="0">
                                      <a:latin typeface="Cambria Math" panose="02040503050406030204" pitchFamily="18" charset="0"/>
                                    </a:rPr>
                                    <m:t>𝑇</m:t>
                                  </m:r>
                                </m:sup>
                              </m:sSup>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𝑢</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𝑣</m:t>
                              </m:r>
                              <m:r>
                                <a:rPr lang="en-US" altLang="zh-CN" sz="2800" b="0" i="1" smtClean="0">
                                  <a:latin typeface="Cambria Math" panose="02040503050406030204" pitchFamily="18" charset="0"/>
                                </a:rPr>
                                <m:t>)</m:t>
                              </m:r>
                            </m:e>
                          </m:func>
                        </m:e>
                      </m:mr>
                      <m:mr>
                        <m:e>
                          <m:eqArr>
                            <m:eqArrPr>
                              <m:ctrlPr>
                                <a:rPr lang="en-US" altLang="zh-CN" sz="2800" i="1">
                                  <a:latin typeface="Cambria Math" panose="02040503050406030204" pitchFamily="18" charset="0"/>
                                </a:rPr>
                              </m:ctrlPr>
                            </m:eqArrPr>
                            <m:e>
                              <m:r>
                                <a:rPr lang="en-US" altLang="zh-CN" sz="2800" i="1">
                                  <a:latin typeface="Cambria Math"/>
                                </a:rPr>
                                <m:t>𝑠</m:t>
                              </m:r>
                              <m:r>
                                <a:rPr lang="en-US" altLang="zh-CN" sz="2800" i="1">
                                  <a:latin typeface="Cambria Math"/>
                                </a:rPr>
                                <m:t>.</m:t>
                              </m:r>
                              <m:r>
                                <a:rPr lang="en-US" altLang="zh-CN" sz="2800" i="1">
                                  <a:latin typeface="Cambria Math"/>
                                </a:rPr>
                                <m:t>𝑡</m:t>
                              </m:r>
                              <m:r>
                                <a:rPr lang="en-US" altLang="zh-CN" sz="2800" i="1">
                                  <a:latin typeface="Cambria Math"/>
                                </a:rPr>
                                <m:t>.  </m:t>
                              </m:r>
                              <m:r>
                                <a:rPr lang="en-US" altLang="zh-CN" sz="2800" i="1">
                                  <a:latin typeface="Cambria Math"/>
                                </a:rPr>
                                <m:t>𝐴</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𝑢</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𝑣</m:t>
                              </m:r>
                              <m:r>
                                <a:rPr lang="en-US" altLang="zh-CN" sz="2800" b="0" i="1" smtClean="0">
                                  <a:latin typeface="Cambria Math" panose="02040503050406030204" pitchFamily="18" charset="0"/>
                                </a:rPr>
                                <m:t>)=</m:t>
                              </m:r>
                              <m:r>
                                <a:rPr lang="en-US" altLang="zh-CN" sz="2800" i="1">
                                  <a:latin typeface="Cambria Math"/>
                                </a:rPr>
                                <m:t>𝑦</m:t>
                              </m:r>
                            </m:e>
                            <m:e>
                              <m:r>
                                <a:rPr lang="en-US" altLang="zh-CN" sz="2800" b="0" i="1" smtClean="0">
                                  <a:latin typeface="Cambria Math" panose="02040503050406030204" pitchFamily="18" charset="0"/>
                                </a:rPr>
                                <m:t>       </m:t>
                              </m:r>
                              <m:r>
                                <a:rPr lang="en-US" altLang="zh-CN" sz="2800" b="0" i="1" smtClean="0">
                                  <a:latin typeface="Cambria Math" panose="02040503050406030204" pitchFamily="18" charset="0"/>
                                </a:rPr>
                                <m:t>𝑢</m:t>
                              </m:r>
                              <m:r>
                                <a:rPr lang="en-US" altLang="zh-CN" sz="2800" b="0" i="1" smtClean="0">
                                  <a:latin typeface="Cambria Math" panose="02040503050406030204" pitchFamily="18" charset="0"/>
                                  <a:ea typeface="Cambria Math" panose="02040503050406030204" pitchFamily="18" charset="0"/>
                                </a:rPr>
                                <m:t>≥0, </m:t>
                              </m:r>
                              <m:r>
                                <a:rPr lang="en-US" altLang="zh-CN" sz="2800" b="0" i="1" smtClean="0">
                                  <a:latin typeface="Cambria Math" panose="02040503050406030204" pitchFamily="18" charset="0"/>
                                  <a:ea typeface="Cambria Math" panose="02040503050406030204" pitchFamily="18" charset="0"/>
                                </a:rPr>
                                <m:t>𝑣</m:t>
                              </m:r>
                              <m:r>
                                <a:rPr lang="en-US" altLang="zh-CN" sz="2800" b="0" i="1" smtClean="0">
                                  <a:latin typeface="Cambria Math" panose="02040503050406030204" pitchFamily="18" charset="0"/>
                                  <a:ea typeface="Cambria Math" panose="02040503050406030204" pitchFamily="18" charset="0"/>
                                </a:rPr>
                                <m:t>≥0.</m:t>
                              </m:r>
                            </m:e>
                          </m:eqArr>
                        </m:e>
                      </m:mr>
                    </m:m>
                  </m:oMath>
                </a14:m>
                <a:r>
                  <a:rPr lang="en-US" altLang="zh-CN" sz="2800" dirty="0"/>
                  <a:t>                                                           </a:t>
                </a:r>
                <a:endParaRPr lang="zh-CN" altLang="zh-CN" sz="2800" dirty="0"/>
              </a:p>
            </p:txBody>
          </p:sp>
        </mc:Choice>
        <mc:Fallback xmlns="">
          <p:sp>
            <p:nvSpPr>
              <p:cNvPr id="14" name="矩形 13"/>
              <p:cNvSpPr>
                <a:spLocks noRot="1" noChangeAspect="1" noMove="1" noResize="1" noEditPoints="1" noAdjustHandles="1" noChangeArrowheads="1" noChangeShapeType="1" noTextEdit="1"/>
              </p:cNvSpPr>
              <p:nvPr/>
            </p:nvSpPr>
            <p:spPr>
              <a:xfrm>
                <a:off x="525488" y="2204864"/>
                <a:ext cx="7758608" cy="4230582"/>
              </a:xfrm>
              <a:prstGeom prst="rect">
                <a:avLst/>
              </a:prstGeom>
              <a:blipFill rotWithShape="0">
                <a:blip r:embed="rId3"/>
                <a:stretch>
                  <a:fillRect l="-1571" t="-2161"/>
                </a:stretch>
              </a:blipFill>
            </p:spPr>
            <p:txBody>
              <a:bodyPr/>
              <a:lstStyle/>
              <a:p>
                <a:r>
                  <a:rPr lang="zh-CN" altLang="en-US">
                    <a:noFill/>
                  </a:rPr>
                  <a:t> </a:t>
                </a:r>
                <a:endParaRPr lang="zh-CN" altLang="en-US">
                  <a:noFill/>
                </a:endParaRP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95536" y="476672"/>
            <a:ext cx="4358373" cy="461665"/>
          </a:xfrm>
          <a:prstGeom prst="rect">
            <a:avLst/>
          </a:prstGeom>
        </p:spPr>
        <p:txBody>
          <a:bodyPr wrap="none">
            <a:spAutoFit/>
          </a:bodyPr>
          <a:lstStyle/>
          <a:p>
            <a:r>
              <a:rPr lang="zh-CN" altLang="zh-CN" sz="2400" b="1" dirty="0">
                <a:solidFill>
                  <a:schemeClr val="tx2"/>
                </a:solidFill>
              </a:rPr>
              <a:t>问题</a:t>
            </a:r>
            <a:r>
              <a:rPr lang="zh-CN" altLang="en-US" sz="2400" b="1" dirty="0">
                <a:solidFill>
                  <a:schemeClr val="tx2"/>
                </a:solidFill>
              </a:rPr>
              <a:t>三</a:t>
            </a:r>
            <a:r>
              <a:rPr lang="zh-CN" altLang="zh-CN" sz="2400" b="1" dirty="0">
                <a:solidFill>
                  <a:schemeClr val="tx2"/>
                </a:solidFill>
              </a:rPr>
              <a:t>：</a:t>
            </a:r>
            <a:r>
              <a:rPr lang="en-US" altLang="zh-CN" sz="2400" b="1" dirty="0">
                <a:solidFill>
                  <a:schemeClr val="tx2"/>
                </a:solidFill>
              </a:rPr>
              <a:t>Regularized Regression</a:t>
            </a:r>
            <a:endParaRPr lang="zh-CN" altLang="zh-CN" sz="2400" dirty="0">
              <a:solidFill>
                <a:schemeClr val="tx2"/>
              </a:solidFill>
            </a:endParaRP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67744" y="1124744"/>
            <a:ext cx="4200525" cy="1038225"/>
          </a:xfrm>
          <a:prstGeom prst="rect">
            <a:avLst/>
          </a:prstGeom>
        </p:spPr>
      </p:pic>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9552" y="2996952"/>
            <a:ext cx="6829425" cy="1638300"/>
          </a:xfrm>
          <a:prstGeom prst="rect">
            <a:avLst/>
          </a:prstGeom>
        </p:spPr>
      </p:pic>
      <p:sp>
        <p:nvSpPr>
          <p:cNvPr id="7" name="矩形 6"/>
          <p:cNvSpPr/>
          <p:nvPr/>
        </p:nvSpPr>
        <p:spPr>
          <a:xfrm>
            <a:off x="539552" y="2492896"/>
            <a:ext cx="2356286" cy="369332"/>
          </a:xfrm>
          <a:prstGeom prst="rect">
            <a:avLst/>
          </a:prstGeom>
        </p:spPr>
        <p:txBody>
          <a:bodyPr wrap="none">
            <a:spAutoFit/>
          </a:bodyPr>
          <a:lstStyle/>
          <a:p>
            <a:r>
              <a:rPr lang="zh-CN" altLang="en-US" b="1" dirty="0">
                <a:solidFill>
                  <a:schemeClr val="accent6">
                    <a:lumMod val="75000"/>
                  </a:schemeClr>
                </a:solidFill>
              </a:rPr>
              <a:t>如，</a:t>
            </a:r>
            <a:r>
              <a:rPr lang="en-US" altLang="zh-CN" b="1" i="1" dirty="0">
                <a:solidFill>
                  <a:schemeClr val="accent6">
                    <a:lumMod val="75000"/>
                  </a:schemeClr>
                </a:solidFill>
              </a:rPr>
              <a:t>l_</a:t>
            </a:r>
            <a:r>
              <a:rPr lang="en-US" altLang="zh-CN" b="1" dirty="0">
                <a:solidFill>
                  <a:schemeClr val="accent6">
                    <a:lumMod val="75000"/>
                  </a:schemeClr>
                </a:solidFill>
              </a:rPr>
              <a:t>1 Regularization</a:t>
            </a:r>
            <a:endParaRPr lang="zh-CN" altLang="zh-CN" dirty="0">
              <a:solidFill>
                <a:schemeClr val="accent6">
                  <a:lumMod val="75000"/>
                </a:schemeClr>
              </a:solidFill>
            </a:endParaRPr>
          </a:p>
        </p:txBody>
      </p:sp>
      <p:sp>
        <p:nvSpPr>
          <p:cNvPr id="8" name="矩形 7"/>
          <p:cNvSpPr/>
          <p:nvPr/>
        </p:nvSpPr>
        <p:spPr>
          <a:xfrm>
            <a:off x="573494" y="4815433"/>
            <a:ext cx="3863173" cy="369332"/>
          </a:xfrm>
          <a:prstGeom prst="rect">
            <a:avLst/>
          </a:prstGeom>
        </p:spPr>
        <p:txBody>
          <a:bodyPr wrap="none">
            <a:spAutoFit/>
          </a:bodyPr>
          <a:lstStyle/>
          <a:p>
            <a:r>
              <a:rPr lang="zh-CN" altLang="en-US" b="1" dirty="0">
                <a:solidFill>
                  <a:schemeClr val="accent6">
                    <a:lumMod val="75000"/>
                  </a:schemeClr>
                </a:solidFill>
              </a:rPr>
              <a:t>如，</a:t>
            </a:r>
            <a:r>
              <a:rPr lang="en-US" altLang="zh-CN" b="1" i="1" dirty="0">
                <a:solidFill>
                  <a:schemeClr val="accent6">
                    <a:lumMod val="75000"/>
                  </a:schemeClr>
                </a:solidFill>
              </a:rPr>
              <a:t>total variation </a:t>
            </a:r>
            <a:r>
              <a:rPr lang="en-US" altLang="zh-CN" b="1" i="1" dirty="0" err="1">
                <a:solidFill>
                  <a:schemeClr val="accent6">
                    <a:lumMod val="75000"/>
                  </a:schemeClr>
                </a:solidFill>
              </a:rPr>
              <a:t>denoising</a:t>
            </a:r>
            <a:r>
              <a:rPr lang="en-US" altLang="zh-CN" b="1" i="1" dirty="0">
                <a:solidFill>
                  <a:schemeClr val="accent6">
                    <a:lumMod val="75000"/>
                  </a:schemeClr>
                </a:solidFill>
              </a:rPr>
              <a:t> problem</a:t>
            </a:r>
            <a:endParaRPr lang="zh-CN" altLang="zh-CN" dirty="0">
              <a:solidFill>
                <a:schemeClr val="accent6">
                  <a:lumMod val="75000"/>
                </a:schemeClr>
              </a:solidFill>
            </a:endParaRPr>
          </a:p>
        </p:txBody>
      </p:sp>
      <p:pic>
        <p:nvPicPr>
          <p:cNvPr id="9" name="图片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39752" y="5353059"/>
            <a:ext cx="5448300" cy="133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a:extLst>
              <a:ext uri="{FF2B5EF4-FFF2-40B4-BE49-F238E27FC236}">
                <a16:creationId xmlns:a16="http://schemas.microsoft.com/office/drawing/2014/main" id="{D0175CE7-779F-1174-2239-A500AFCB7452}"/>
              </a:ext>
            </a:extLst>
          </p:cNvPr>
          <p:cNvPicPr>
            <a:picLocks noGrp="1" noChangeAspect="1"/>
          </p:cNvPicPr>
          <p:nvPr>
            <p:ph idx="1"/>
          </p:nvPr>
        </p:nvPicPr>
        <p:blipFill>
          <a:blip r:embed="rId3"/>
          <a:stretch>
            <a:fillRect/>
          </a:stretch>
        </p:blipFill>
        <p:spPr>
          <a:xfrm>
            <a:off x="971600" y="1282849"/>
            <a:ext cx="7488832" cy="5069067"/>
          </a:xfrm>
          <a:prstGeom prst="rect">
            <a:avLst/>
          </a:prstGeom>
        </p:spPr>
      </p:pic>
      <p:sp>
        <p:nvSpPr>
          <p:cNvPr id="6" name="矩形 5">
            <a:extLst>
              <a:ext uri="{FF2B5EF4-FFF2-40B4-BE49-F238E27FC236}">
                <a16:creationId xmlns:a16="http://schemas.microsoft.com/office/drawing/2014/main" id="{E9545CB2-1930-45A3-D9BF-5CF3F268A161}"/>
              </a:ext>
            </a:extLst>
          </p:cNvPr>
          <p:cNvSpPr/>
          <p:nvPr/>
        </p:nvSpPr>
        <p:spPr>
          <a:xfrm>
            <a:off x="395536" y="476672"/>
            <a:ext cx="3278462" cy="461665"/>
          </a:xfrm>
          <a:prstGeom prst="rect">
            <a:avLst/>
          </a:prstGeom>
        </p:spPr>
        <p:txBody>
          <a:bodyPr wrap="none">
            <a:spAutoFit/>
          </a:bodyPr>
          <a:lstStyle/>
          <a:p>
            <a:r>
              <a:rPr lang="zh-CN" altLang="zh-CN" sz="2400" b="1" dirty="0">
                <a:solidFill>
                  <a:schemeClr val="tx2"/>
                </a:solidFill>
              </a:rPr>
              <a:t>问题</a:t>
            </a:r>
            <a:r>
              <a:rPr lang="zh-CN" altLang="en-US" sz="2400" b="1" dirty="0">
                <a:solidFill>
                  <a:schemeClr val="tx2"/>
                </a:solidFill>
              </a:rPr>
              <a:t>四</a:t>
            </a:r>
            <a:r>
              <a:rPr lang="zh-CN" altLang="zh-CN" sz="2400" b="1" dirty="0">
                <a:solidFill>
                  <a:schemeClr val="tx2"/>
                </a:solidFill>
              </a:rPr>
              <a:t>：</a:t>
            </a:r>
            <a:r>
              <a:rPr lang="zh-CN" altLang="en-US" sz="2400" b="1" dirty="0">
                <a:solidFill>
                  <a:schemeClr val="tx2"/>
                </a:solidFill>
              </a:rPr>
              <a:t>机组组合问题</a:t>
            </a:r>
            <a:endParaRPr lang="zh-CN" altLang="zh-CN" sz="2400" dirty="0">
              <a:solidFill>
                <a:schemeClr val="tx2"/>
              </a:solidFill>
            </a:endParaRPr>
          </a:p>
        </p:txBody>
      </p:sp>
    </p:spTree>
    <p:extLst>
      <p:ext uri="{BB962C8B-B14F-4D97-AF65-F5344CB8AC3E}">
        <p14:creationId xmlns:p14="http://schemas.microsoft.com/office/powerpoint/2010/main" val="16097315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E666E8-4FC5-0698-CEB8-8FC7AAFA6E7B}"/>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2BEF32C2-F2D8-140F-6247-EB8C7A56E8BC}"/>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D2732066-51A2-449C-34BC-3118B87AFA2E}"/>
              </a:ext>
            </a:extLst>
          </p:cNvPr>
          <p:cNvPicPr>
            <a:picLocks noChangeAspect="1"/>
          </p:cNvPicPr>
          <p:nvPr/>
        </p:nvPicPr>
        <p:blipFill>
          <a:blip r:embed="rId2"/>
          <a:stretch>
            <a:fillRect/>
          </a:stretch>
        </p:blipFill>
        <p:spPr>
          <a:xfrm>
            <a:off x="230832" y="1022878"/>
            <a:ext cx="8229600" cy="4452499"/>
          </a:xfrm>
          <a:prstGeom prst="rect">
            <a:avLst/>
          </a:prstGeom>
        </p:spPr>
      </p:pic>
    </p:spTree>
    <p:extLst>
      <p:ext uri="{BB962C8B-B14F-4D97-AF65-F5344CB8AC3E}">
        <p14:creationId xmlns:p14="http://schemas.microsoft.com/office/powerpoint/2010/main" val="1824581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01DFDD71-F4D2-913F-8F5E-914F68ACB3C6}"/>
              </a:ext>
            </a:extLst>
          </p:cNvPr>
          <p:cNvPicPr>
            <a:picLocks noChangeAspect="1"/>
          </p:cNvPicPr>
          <p:nvPr/>
        </p:nvPicPr>
        <p:blipFill>
          <a:blip r:embed="rId2"/>
          <a:stretch>
            <a:fillRect/>
          </a:stretch>
        </p:blipFill>
        <p:spPr>
          <a:xfrm>
            <a:off x="1414462" y="1412776"/>
            <a:ext cx="6315075" cy="4476750"/>
          </a:xfrm>
          <a:prstGeom prst="rect">
            <a:avLst/>
          </a:prstGeom>
        </p:spPr>
      </p:pic>
      <p:sp>
        <p:nvSpPr>
          <p:cNvPr id="7" name="文本框 6">
            <a:extLst>
              <a:ext uri="{FF2B5EF4-FFF2-40B4-BE49-F238E27FC236}">
                <a16:creationId xmlns:a16="http://schemas.microsoft.com/office/drawing/2014/main" id="{094E8E60-8B48-C24E-B7FA-B2AC100BA756}"/>
              </a:ext>
            </a:extLst>
          </p:cNvPr>
          <p:cNvSpPr txBox="1"/>
          <p:nvPr/>
        </p:nvSpPr>
        <p:spPr>
          <a:xfrm>
            <a:off x="2123728" y="886513"/>
            <a:ext cx="5472608" cy="523220"/>
          </a:xfrm>
          <a:prstGeom prst="rect">
            <a:avLst/>
          </a:prstGeom>
          <a:noFill/>
        </p:spPr>
        <p:txBody>
          <a:bodyPr wrap="square">
            <a:spAutoFit/>
          </a:bodyPr>
          <a:lstStyle/>
          <a:p>
            <a:r>
              <a:rPr lang="en-US" altLang="zh-CN" sz="2800" dirty="0">
                <a:latin typeface="+mn-ea"/>
              </a:rPr>
              <a:t>《</a:t>
            </a:r>
            <a:r>
              <a:rPr lang="zh-CN" altLang="en-US" sz="2800" dirty="0">
                <a:latin typeface="+mn-ea"/>
              </a:rPr>
              <a:t>最优化：建模、算法与理论</a:t>
            </a:r>
            <a:r>
              <a:rPr lang="en-US" altLang="zh-CN" sz="2800" dirty="0">
                <a:latin typeface="+mn-ea"/>
              </a:rPr>
              <a:t>》</a:t>
            </a:r>
            <a:endParaRPr lang="zh-CN" altLang="en-US" sz="2800" dirty="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39552" y="218291"/>
            <a:ext cx="7344816" cy="1200329"/>
          </a:xfrm>
          <a:prstGeom prst="rect">
            <a:avLst/>
          </a:prstGeom>
          <a:noFill/>
        </p:spPr>
        <p:txBody>
          <a:bodyPr wrap="square" rtlCol="0">
            <a:spAutoFit/>
          </a:bodyPr>
          <a:lstStyle/>
          <a:p>
            <a:r>
              <a:rPr lang="en-US" altLang="zh-CN" sz="2400" dirty="0">
                <a:solidFill>
                  <a:srgbClr val="FF0000"/>
                </a:solidFill>
              </a:rPr>
              <a:t>Mathematically speaking, optimization is the minimization or maximization of a function subject to constraints on its variables.</a:t>
            </a:r>
            <a:endParaRPr lang="zh-CN" altLang="en-US" sz="2400" dirty="0">
              <a:solidFill>
                <a:srgbClr val="FF0000"/>
              </a:solidFill>
            </a:endParaRPr>
          </a:p>
        </p:txBody>
      </p:sp>
      <mc:AlternateContent xmlns:mc="http://schemas.openxmlformats.org/markup-compatibility/2006" xmlns:a14="http://schemas.microsoft.com/office/drawing/2010/main">
        <mc:Choice Requires="a14">
          <p:sp>
            <p:nvSpPr>
              <p:cNvPr id="7" name="TextBox 3"/>
              <p:cNvSpPr txBox="1"/>
              <p:nvPr/>
            </p:nvSpPr>
            <p:spPr>
              <a:xfrm>
                <a:off x="251520" y="3784241"/>
                <a:ext cx="5012265" cy="27426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unc>
                        <m:funcPr>
                          <m:ctrlPr>
                            <a:rPr lang="en-US" altLang="zh-CN" sz="3200" i="1" smtClean="0">
                              <a:latin typeface="Cambria Math" panose="02040503050406030204" pitchFamily="18" charset="0"/>
                            </a:rPr>
                          </m:ctrlPr>
                        </m:funcPr>
                        <m:fName>
                          <m:limLow>
                            <m:limLowPr>
                              <m:ctrlPr>
                                <a:rPr lang="en-US" altLang="zh-CN" sz="3200" i="1" smtClean="0">
                                  <a:latin typeface="Cambria Math" panose="02040503050406030204" pitchFamily="18" charset="0"/>
                                </a:rPr>
                              </m:ctrlPr>
                            </m:limLowPr>
                            <m:e>
                              <m:r>
                                <m:rPr>
                                  <m:sty m:val="p"/>
                                </m:rPr>
                                <a:rPr lang="en-US" altLang="zh-CN" sz="3200" i="0" smtClean="0">
                                  <a:latin typeface="Cambria Math"/>
                                </a:rPr>
                                <m:t>min</m:t>
                              </m:r>
                            </m:e>
                            <m:lim>
                              <m:r>
                                <a:rPr lang="en-US" altLang="zh-CN" sz="3200" b="0" i="1" smtClean="0">
                                  <a:latin typeface="Cambria Math"/>
                                </a:rPr>
                                <m:t>𝑥</m:t>
                              </m:r>
                              <m:r>
                                <a:rPr lang="en-US" altLang="zh-CN" sz="3200" b="0" i="1" smtClean="0">
                                  <a:latin typeface="Cambria Math"/>
                                  <a:ea typeface="Cambria Math"/>
                                </a:rPr>
                                <m:t>∈</m:t>
                              </m:r>
                              <m:sSup>
                                <m:sSupPr>
                                  <m:ctrlPr>
                                    <a:rPr lang="en-US" altLang="zh-CN" sz="3200" b="0" i="1" smtClean="0">
                                      <a:latin typeface="Cambria Math" panose="02040503050406030204" pitchFamily="18" charset="0"/>
                                      <a:ea typeface="Cambria Math"/>
                                    </a:rPr>
                                  </m:ctrlPr>
                                </m:sSupPr>
                                <m:e>
                                  <m:r>
                                    <a:rPr lang="en-US" altLang="zh-CN" sz="3200" b="0" i="1" smtClean="0">
                                      <a:latin typeface="Cambria Math"/>
                                      <a:ea typeface="Cambria Math"/>
                                    </a:rPr>
                                    <m:t>𝑅</m:t>
                                  </m:r>
                                </m:e>
                                <m:sup>
                                  <m:r>
                                    <a:rPr lang="en-US" altLang="zh-CN" sz="3200" b="0" i="1" smtClean="0">
                                      <a:latin typeface="Cambria Math"/>
                                      <a:ea typeface="Cambria Math"/>
                                    </a:rPr>
                                    <m:t>𝑛</m:t>
                                  </m:r>
                                </m:sup>
                              </m:sSup>
                            </m:lim>
                          </m:limLow>
                        </m:fName>
                        <m:e>
                          <m:r>
                            <a:rPr lang="en-US" altLang="zh-CN" sz="3200" b="0" i="1" smtClean="0">
                              <a:latin typeface="Cambria Math"/>
                            </a:rPr>
                            <m:t>𝑓</m:t>
                          </m:r>
                          <m:r>
                            <a:rPr lang="en-US" altLang="zh-CN" sz="3200" b="0" i="1" smtClean="0">
                              <a:latin typeface="Cambria Math"/>
                            </a:rPr>
                            <m:t>(</m:t>
                          </m:r>
                          <m:r>
                            <a:rPr lang="en-US" altLang="zh-CN" sz="3200" b="0" i="1" smtClean="0">
                              <a:latin typeface="Cambria Math"/>
                            </a:rPr>
                            <m:t>𝑥</m:t>
                          </m:r>
                          <m:r>
                            <a:rPr lang="en-US" altLang="zh-CN" sz="3200" b="0" i="1" smtClean="0">
                              <a:latin typeface="Cambria Math"/>
                            </a:rPr>
                            <m:t>)</m:t>
                          </m:r>
                        </m:e>
                      </m:func>
                    </m:oMath>
                  </m:oMathPara>
                </a14:m>
                <a:endParaRPr lang="en-US" altLang="zh-CN" sz="3200" dirty="0">
                  <a:latin typeface="Times New Roman" panose="02020603050405020304" pitchFamily="18" charset="0"/>
                  <a:cs typeface="Times New Roman" panose="02020603050405020304" pitchFamily="18" charset="0"/>
                </a:endParaRPr>
              </a:p>
              <a:p>
                <a:endParaRPr lang="en-US" altLang="zh-CN" sz="3200" dirty="0">
                  <a:latin typeface="Times New Roman" panose="02020603050405020304" pitchFamily="18" charset="0"/>
                  <a:cs typeface="Times New Roman" panose="02020603050405020304" pitchFamily="18" charset="0"/>
                </a:endParaRPr>
              </a:p>
              <a:p>
                <a:r>
                  <a:rPr lang="en-US" altLang="zh-CN" sz="3200" dirty="0" err="1">
                    <a:latin typeface="Times New Roman" panose="02020603050405020304" pitchFamily="18" charset="0"/>
                    <a:cs typeface="Times New Roman" panose="02020603050405020304" pitchFamily="18" charset="0"/>
                  </a:rPr>
                  <a:t>s.t.</a:t>
                </a:r>
                <a:r>
                  <a:rPr lang="en-US" altLang="zh-CN" sz="32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3200" i="1" smtClean="0">
                            <a:latin typeface="Cambria Math" panose="02040503050406030204" pitchFamily="18" charset="0"/>
                          </a:rPr>
                        </m:ctrlPr>
                      </m:sSubPr>
                      <m:e>
                        <m:r>
                          <a:rPr lang="en-US" altLang="zh-CN" sz="3200" b="0" i="1" smtClean="0">
                            <a:latin typeface="Cambria Math" panose="02040503050406030204" pitchFamily="18" charset="0"/>
                          </a:rPr>
                          <m:t>h</m:t>
                        </m:r>
                      </m:e>
                      <m:sub>
                        <m:r>
                          <a:rPr lang="en-US" altLang="zh-CN" sz="3200" b="0" i="1" smtClean="0">
                            <a:latin typeface="Cambria Math"/>
                          </a:rPr>
                          <m:t>𝑖</m:t>
                        </m:r>
                      </m:sub>
                    </m:sSub>
                    <m:d>
                      <m:dPr>
                        <m:ctrlPr>
                          <a:rPr lang="en-US" altLang="zh-CN" sz="3200" b="0" i="1" smtClean="0">
                            <a:latin typeface="Cambria Math" panose="02040503050406030204" pitchFamily="18" charset="0"/>
                          </a:rPr>
                        </m:ctrlPr>
                      </m:dPr>
                      <m:e>
                        <m:r>
                          <a:rPr lang="en-US" altLang="zh-CN" sz="3200" b="0" i="1" smtClean="0">
                            <a:latin typeface="Cambria Math"/>
                          </a:rPr>
                          <m:t>𝑥</m:t>
                        </m:r>
                      </m:e>
                    </m:d>
                    <m:r>
                      <a:rPr lang="en-US" altLang="zh-CN" sz="3200" b="0" i="1" smtClean="0">
                        <a:latin typeface="Cambria Math"/>
                      </a:rPr>
                      <m:t>=0,  </m:t>
                    </m:r>
                    <m:r>
                      <a:rPr lang="en-US" altLang="zh-CN" sz="3200" b="0" i="1" smtClean="0">
                        <a:latin typeface="Cambria Math" panose="02040503050406030204" pitchFamily="18" charset="0"/>
                      </a:rPr>
                      <m:t> </m:t>
                    </m:r>
                    <m:r>
                      <a:rPr lang="en-US" altLang="zh-CN" sz="3200" b="0" i="1" smtClean="0">
                        <a:latin typeface="Cambria Math"/>
                      </a:rPr>
                      <m:t>𝑖</m:t>
                    </m:r>
                  </m:oMath>
                </a14:m>
                <a:r>
                  <a:rPr lang="en-US" altLang="zh-CN" sz="3200" b="0" dirty="0">
                    <a:latin typeface="Times New Roman" panose="02020603050405020304" pitchFamily="18" charset="0"/>
                    <a:ea typeface="Cambria Math"/>
                    <a:cs typeface="Times New Roman" panose="02020603050405020304" pitchFamily="18" charset="0"/>
                  </a:rPr>
                  <a:t>=1,2,…,m</a:t>
                </a:r>
              </a:p>
              <a:p>
                <a:r>
                  <a:rPr lang="en-US" altLang="zh-CN" sz="32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3200" i="1">
                            <a:latin typeface="Cambria Math" panose="02040503050406030204" pitchFamily="18" charset="0"/>
                          </a:rPr>
                        </m:ctrlPr>
                      </m:sSubPr>
                      <m:e>
                        <m:r>
                          <a:rPr lang="en-US" altLang="zh-CN" sz="3200" b="0" i="1" smtClean="0">
                            <a:latin typeface="Cambria Math" panose="02040503050406030204" pitchFamily="18" charset="0"/>
                          </a:rPr>
                          <m:t>𝑔</m:t>
                        </m:r>
                      </m:e>
                      <m:sub>
                        <m:r>
                          <a:rPr lang="en-US" altLang="zh-CN" sz="3200" b="0" i="1" smtClean="0">
                            <a:latin typeface="Cambria Math" panose="02040503050406030204" pitchFamily="18" charset="0"/>
                          </a:rPr>
                          <m:t>𝑗</m:t>
                        </m:r>
                      </m:sub>
                    </m:sSub>
                    <m:d>
                      <m:dPr>
                        <m:ctrlPr>
                          <a:rPr lang="en-US" altLang="zh-CN" sz="3200" i="1">
                            <a:latin typeface="Cambria Math" panose="02040503050406030204" pitchFamily="18" charset="0"/>
                          </a:rPr>
                        </m:ctrlPr>
                      </m:dPr>
                      <m:e>
                        <m:r>
                          <a:rPr lang="en-US" altLang="zh-CN" sz="3200" i="1">
                            <a:latin typeface="Cambria Math"/>
                          </a:rPr>
                          <m:t>𝑥</m:t>
                        </m:r>
                      </m:e>
                    </m:d>
                    <m:r>
                      <a:rPr lang="en-US" altLang="zh-CN" sz="3200" i="1" smtClean="0">
                        <a:latin typeface="Cambria Math"/>
                        <a:ea typeface="Cambria Math"/>
                      </a:rPr>
                      <m:t>≥</m:t>
                    </m:r>
                    <m:r>
                      <a:rPr lang="en-US" altLang="zh-CN" sz="3200" i="1">
                        <a:latin typeface="Cambria Math"/>
                      </a:rPr>
                      <m:t>0, </m:t>
                    </m:r>
                    <m:r>
                      <a:rPr lang="en-US" altLang="zh-CN" sz="3200" b="0" i="1" smtClean="0">
                        <a:latin typeface="Cambria Math" panose="02040503050406030204" pitchFamily="18" charset="0"/>
                      </a:rPr>
                      <m:t>  </m:t>
                    </m:r>
                    <m:r>
                      <a:rPr lang="en-US" altLang="zh-CN" sz="3200" i="1">
                        <a:latin typeface="Cambria Math"/>
                      </a:rPr>
                      <m:t> </m:t>
                    </m:r>
                  </m:oMath>
                </a14:m>
                <a:r>
                  <a:rPr lang="en-US" altLang="zh-CN" sz="3200" dirty="0">
                    <a:latin typeface="Times New Roman" panose="02020603050405020304" pitchFamily="18" charset="0"/>
                    <a:ea typeface="Cambria Math"/>
                    <a:cs typeface="Times New Roman" panose="02020603050405020304" pitchFamily="18" charset="0"/>
                  </a:rPr>
                  <a:t>j=1,2,…,</a:t>
                </a:r>
                <a:r>
                  <a:rPr lang="en-US" altLang="zh-CN" sz="3200" i="1" dirty="0">
                    <a:latin typeface="Times New Roman" panose="02020603050405020304" pitchFamily="18" charset="0"/>
                    <a:ea typeface="Cambria Math"/>
                    <a:cs typeface="Times New Roman" panose="02020603050405020304" pitchFamily="18" charset="0"/>
                  </a:rPr>
                  <a:t>l</a:t>
                </a:r>
              </a:p>
              <a:p>
                <a:endParaRPr lang="zh-CN" altLang="en-US" sz="3200" dirty="0">
                  <a:latin typeface="Times New Roman" panose="02020603050405020304" pitchFamily="18" charset="0"/>
                  <a:cs typeface="Times New Roman" panose="02020603050405020304" pitchFamily="18" charset="0"/>
                </a:endParaRPr>
              </a:p>
            </p:txBody>
          </p:sp>
        </mc:Choice>
        <mc:Fallback xmlns="">
          <p:sp>
            <p:nvSpPr>
              <p:cNvPr id="7" name="TextBox 3"/>
              <p:cNvSpPr txBox="1">
                <a:spLocks noRot="1" noChangeAspect="1" noMove="1" noResize="1" noEditPoints="1" noAdjustHandles="1" noChangeArrowheads="1" noChangeShapeType="1" noTextEdit="1"/>
              </p:cNvSpPr>
              <p:nvPr/>
            </p:nvSpPr>
            <p:spPr>
              <a:xfrm>
                <a:off x="251520" y="3784241"/>
                <a:ext cx="5012265" cy="2742674"/>
              </a:xfrm>
              <a:prstGeom prst="rect">
                <a:avLst/>
              </a:prstGeom>
              <a:blipFill>
                <a:blip r:embed="rId3"/>
                <a:stretch>
                  <a:fillRect l="-304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65149B5D-EE2E-463C-8D5D-919E0BCE87F4}"/>
                  </a:ext>
                </a:extLst>
              </p:cNvPr>
              <p:cNvSpPr txBox="1"/>
              <p:nvPr/>
            </p:nvSpPr>
            <p:spPr>
              <a:xfrm>
                <a:off x="4860032" y="4050243"/>
                <a:ext cx="4572000" cy="221067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unc>
                        <m:funcPr>
                          <m:ctrlPr>
                            <a:rPr lang="en-US" altLang="zh-CN" sz="3200" i="1" smtClean="0">
                              <a:latin typeface="Cambria Math" panose="02040503050406030204" pitchFamily="18" charset="0"/>
                            </a:rPr>
                          </m:ctrlPr>
                        </m:funcPr>
                        <m:fName>
                          <m:limLow>
                            <m:limLowPr>
                              <m:ctrlPr>
                                <a:rPr lang="en-US" altLang="zh-CN" sz="3200" i="1" smtClean="0">
                                  <a:latin typeface="Cambria Math" panose="02040503050406030204" pitchFamily="18" charset="0"/>
                                </a:rPr>
                              </m:ctrlPr>
                            </m:limLowPr>
                            <m:e>
                              <m:r>
                                <m:rPr>
                                  <m:sty m:val="p"/>
                                </m:rPr>
                                <a:rPr lang="en-US" altLang="zh-CN" sz="3200" i="0" smtClean="0">
                                  <a:latin typeface="Cambria Math"/>
                                </a:rPr>
                                <m:t>min</m:t>
                              </m:r>
                            </m:e>
                            <m:lim>
                              <m:r>
                                <a:rPr lang="en-US" altLang="zh-CN" sz="3200" b="0" i="1" smtClean="0">
                                  <a:latin typeface="Cambria Math"/>
                                </a:rPr>
                                <m:t>𝑥</m:t>
                              </m:r>
                              <m:r>
                                <a:rPr lang="en-US" altLang="zh-CN" sz="3200" b="0" i="1" smtClean="0">
                                  <a:latin typeface="Cambria Math"/>
                                  <a:ea typeface="Cambria Math"/>
                                </a:rPr>
                                <m:t>∈</m:t>
                              </m:r>
                              <m:r>
                                <a:rPr lang="en-US" altLang="zh-CN" sz="3200" b="0" i="1" smtClean="0">
                                  <a:latin typeface="Cambria Math" panose="02040503050406030204" pitchFamily="18" charset="0"/>
                                  <a:ea typeface="Cambria Math"/>
                                </a:rPr>
                                <m:t>𝐾</m:t>
                              </m:r>
                            </m:lim>
                          </m:limLow>
                        </m:fName>
                        <m:e>
                          <m:r>
                            <a:rPr lang="en-US" altLang="zh-CN" sz="3200" b="0" i="1" smtClean="0">
                              <a:latin typeface="Cambria Math"/>
                            </a:rPr>
                            <m:t>𝑓</m:t>
                          </m:r>
                          <m:r>
                            <a:rPr lang="en-US" altLang="zh-CN" sz="3200" b="0" i="1" smtClean="0">
                              <a:latin typeface="Cambria Math"/>
                            </a:rPr>
                            <m:t>(</m:t>
                          </m:r>
                          <m:r>
                            <a:rPr lang="en-US" altLang="zh-CN" sz="3200" b="0" i="1" smtClean="0">
                              <a:latin typeface="Cambria Math"/>
                            </a:rPr>
                            <m:t>𝑥</m:t>
                          </m:r>
                          <m:r>
                            <a:rPr lang="en-US" altLang="zh-CN" sz="3200" b="0" i="1" smtClean="0">
                              <a:latin typeface="Cambria Math"/>
                            </a:rPr>
                            <m:t>)</m:t>
                          </m:r>
                        </m:e>
                      </m:func>
                    </m:oMath>
                  </m:oMathPara>
                </a14:m>
                <a:endParaRPr lang="en-US" altLang="zh-CN" sz="3200" dirty="0"/>
              </a:p>
              <a:p>
                <a:endParaRPr lang="en-US" altLang="zh-CN" sz="3200" b="0" i="1" dirty="0">
                  <a:latin typeface="Cambria Math" panose="02040503050406030204" pitchFamily="18" charset="0"/>
                </a:endParaRPr>
              </a:p>
              <a:p>
                <a:r>
                  <a:rPr lang="en-US" altLang="zh-CN" sz="3200" b="0" dirty="0"/>
                  <a:t>             where </a:t>
                </a:r>
                <a14:m>
                  <m:oMath xmlns:m="http://schemas.openxmlformats.org/officeDocument/2006/math">
                    <m:r>
                      <a:rPr lang="en-US" altLang="zh-CN" sz="3200" b="0" i="1" smtClean="0">
                        <a:latin typeface="Cambria Math" panose="02040503050406030204" pitchFamily="18" charset="0"/>
                      </a:rPr>
                      <m:t>𝐾</m:t>
                    </m:r>
                    <m:r>
                      <a:rPr lang="en-US" altLang="zh-CN" sz="3200" b="0" i="1" smtClean="0">
                        <a:latin typeface="Cambria Math" panose="02040503050406030204" pitchFamily="18" charset="0"/>
                      </a:rPr>
                      <m:t>⊆</m:t>
                    </m:r>
                    <m:sSup>
                      <m:sSupPr>
                        <m:ctrlPr>
                          <a:rPr lang="en-US" altLang="zh-CN" sz="3200" b="0" i="1" smtClean="0">
                            <a:latin typeface="Cambria Math" panose="02040503050406030204" pitchFamily="18" charset="0"/>
                          </a:rPr>
                        </m:ctrlPr>
                      </m:sSupPr>
                      <m:e>
                        <m:r>
                          <a:rPr lang="en-US" altLang="zh-CN" sz="3200" b="0" i="1" smtClean="0">
                            <a:latin typeface="Cambria Math" panose="02040503050406030204" pitchFamily="18" charset="0"/>
                          </a:rPr>
                          <m:t>𝑅</m:t>
                        </m:r>
                      </m:e>
                      <m:sup>
                        <m:r>
                          <a:rPr lang="en-US" altLang="zh-CN" sz="3200" b="0" i="1" smtClean="0">
                            <a:latin typeface="Cambria Math" panose="02040503050406030204" pitchFamily="18" charset="0"/>
                          </a:rPr>
                          <m:t>𝑛</m:t>
                        </m:r>
                      </m:sup>
                    </m:sSup>
                  </m:oMath>
                </a14:m>
                <a:endParaRPr lang="en-US" altLang="zh-CN" sz="3200" dirty="0"/>
              </a:p>
              <a:p>
                <a:endParaRPr lang="zh-CN" altLang="en-US" sz="3200" dirty="0"/>
              </a:p>
            </p:txBody>
          </p:sp>
        </mc:Choice>
        <mc:Fallback xmlns="">
          <p:sp>
            <p:nvSpPr>
              <p:cNvPr id="2" name="文本框 1">
                <a:extLst>
                  <a:ext uri="{FF2B5EF4-FFF2-40B4-BE49-F238E27FC236}">
                    <a16:creationId xmlns:a16="http://schemas.microsoft.com/office/drawing/2014/main" id="{65149B5D-EE2E-463C-8D5D-919E0BCE87F4}"/>
                  </a:ext>
                </a:extLst>
              </p:cNvPr>
              <p:cNvSpPr txBox="1">
                <a:spLocks noRot="1" noChangeAspect="1" noMove="1" noResize="1" noEditPoints="1" noAdjustHandles="1" noChangeArrowheads="1" noChangeShapeType="1" noTextEdit="1"/>
              </p:cNvSpPr>
              <p:nvPr/>
            </p:nvSpPr>
            <p:spPr>
              <a:xfrm>
                <a:off x="4860032" y="4050243"/>
                <a:ext cx="4572000" cy="2210670"/>
              </a:xfrm>
              <a:prstGeom prst="rect">
                <a:avLst/>
              </a:prstGeom>
              <a:blipFill>
                <a:blip r:embed="rId4"/>
                <a:stretch>
                  <a:fillRect/>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0A1CF11C-C4ED-428A-819B-FB2F5EB5F560}"/>
              </a:ext>
            </a:extLst>
          </p:cNvPr>
          <p:cNvSpPr txBox="1"/>
          <p:nvPr/>
        </p:nvSpPr>
        <p:spPr>
          <a:xfrm>
            <a:off x="5148064" y="4312233"/>
            <a:ext cx="936104" cy="954107"/>
          </a:xfrm>
          <a:prstGeom prst="rect">
            <a:avLst/>
          </a:prstGeom>
          <a:noFill/>
        </p:spPr>
        <p:txBody>
          <a:bodyPr wrap="square" rtlCol="0">
            <a:spAutoFit/>
          </a:bodyPr>
          <a:lstStyle/>
          <a:p>
            <a:r>
              <a:rPr lang="zh-CN" altLang="en-US" sz="2800" b="1" dirty="0">
                <a:solidFill>
                  <a:srgbClr val="FF0000"/>
                </a:solidFill>
              </a:rPr>
              <a:t>或</a:t>
            </a:r>
            <a:endParaRPr lang="en-US" altLang="zh-CN" sz="2800" b="1" dirty="0">
              <a:solidFill>
                <a:srgbClr val="FF0000"/>
              </a:solidFill>
            </a:endParaRPr>
          </a:p>
          <a:p>
            <a:r>
              <a:rPr lang="zh-CN" altLang="en-US" sz="2800" b="1" dirty="0">
                <a:solidFill>
                  <a:srgbClr val="FF0000"/>
                </a:solidFill>
              </a:rPr>
              <a:t>者</a:t>
            </a:r>
          </a:p>
        </p:txBody>
      </p:sp>
      <p:sp>
        <p:nvSpPr>
          <p:cNvPr id="9" name="文本框 8">
            <a:extLst>
              <a:ext uri="{FF2B5EF4-FFF2-40B4-BE49-F238E27FC236}">
                <a16:creationId xmlns:a16="http://schemas.microsoft.com/office/drawing/2014/main" id="{38AADFB9-5740-2E19-F012-2D986B8E959A}"/>
              </a:ext>
            </a:extLst>
          </p:cNvPr>
          <p:cNvSpPr txBox="1"/>
          <p:nvPr/>
        </p:nvSpPr>
        <p:spPr>
          <a:xfrm>
            <a:off x="524745" y="1418620"/>
            <a:ext cx="7869967" cy="1691810"/>
          </a:xfrm>
          <a:prstGeom prst="rect">
            <a:avLst/>
          </a:prstGeom>
          <a:noFill/>
        </p:spPr>
        <p:txBody>
          <a:bodyPr wrap="square">
            <a:spAutoFit/>
          </a:bodyPr>
          <a:lstStyle/>
          <a:p>
            <a:pPr algn="just" fontAlgn="auto">
              <a:lnSpc>
                <a:spcPct val="150000"/>
              </a:lnSpc>
            </a:pPr>
            <a:r>
              <a:rPr lang="zh-CN" altLang="en-US" sz="2400" b="1" i="0" dirty="0">
                <a:solidFill>
                  <a:srgbClr val="333333"/>
                </a:solidFill>
                <a:effectLst/>
                <a:latin typeface="宋体" panose="02010600030101010101" pitchFamily="2" charset="-122"/>
                <a:ea typeface="宋体" panose="02010600030101010101" pitchFamily="2" charset="-122"/>
              </a:rPr>
              <a:t>    所谓最优化问题，指在某些约束条件下，决定某些可选择的变量应该取何值，使所选定的目标函数达到最优的问题。通常可以表示为以下的数学规划形式</a:t>
            </a:r>
            <a:endParaRPr lang="zh-CN" altLang="en-US" sz="2400" b="1" dirty="0">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P spid="3" grpId="0"/>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179512" y="116632"/>
            <a:ext cx="8229600" cy="1143000"/>
          </a:xfrm>
        </p:spPr>
        <p:txBody>
          <a:bodyPr>
            <a:normAutofit/>
          </a:bodyPr>
          <a:lstStyle/>
          <a:p>
            <a:pPr algn="l"/>
            <a:r>
              <a:rPr lang="zh-CN" altLang="en-US" sz="3200" b="1" dirty="0"/>
              <a:t>最优化问题的三要素</a:t>
            </a:r>
          </a:p>
        </p:txBody>
      </p:sp>
      <p:sp>
        <p:nvSpPr>
          <p:cNvPr id="5" name="内容占位符 2"/>
          <p:cNvSpPr>
            <a:spLocks noGrp="1"/>
          </p:cNvSpPr>
          <p:nvPr>
            <p:ph idx="1"/>
          </p:nvPr>
        </p:nvSpPr>
        <p:spPr>
          <a:xfrm>
            <a:off x="304068" y="1110755"/>
            <a:ext cx="8229600" cy="2088232"/>
          </a:xfrm>
        </p:spPr>
        <p:txBody>
          <a:bodyPr>
            <a:normAutofit/>
          </a:bodyPr>
          <a:lstStyle/>
          <a:p>
            <a:r>
              <a:rPr lang="zh-CN" altLang="en-US" sz="2800" b="1" dirty="0"/>
              <a:t>决策变量</a:t>
            </a:r>
            <a:endParaRPr lang="en-US" altLang="zh-CN" sz="2800" b="1" dirty="0"/>
          </a:p>
          <a:p>
            <a:r>
              <a:rPr lang="zh-CN" altLang="en-US" sz="2800" b="1" dirty="0"/>
              <a:t>目标函数</a:t>
            </a:r>
            <a:endParaRPr lang="en-US" altLang="zh-CN" sz="2800" b="1" dirty="0"/>
          </a:p>
          <a:p>
            <a:r>
              <a:rPr lang="zh-CN" altLang="en-US" sz="2800" b="1" dirty="0"/>
              <a:t>约束条件</a:t>
            </a:r>
          </a:p>
        </p:txBody>
      </p:sp>
      <mc:AlternateContent xmlns:mc="http://schemas.openxmlformats.org/markup-compatibility/2006" xmlns:a14="http://schemas.microsoft.com/office/drawing/2010/main">
        <mc:Choice Requires="a14">
          <p:sp>
            <p:nvSpPr>
              <p:cNvPr id="7" name="TextBox 3"/>
              <p:cNvSpPr txBox="1"/>
              <p:nvPr/>
            </p:nvSpPr>
            <p:spPr>
              <a:xfrm>
                <a:off x="2267744" y="3284984"/>
                <a:ext cx="5012265" cy="27426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unc>
                        <m:funcPr>
                          <m:ctrlPr>
                            <a:rPr lang="en-US" altLang="zh-CN" sz="3200" i="1" smtClean="0">
                              <a:latin typeface="Cambria Math" panose="02040503050406030204" pitchFamily="18" charset="0"/>
                            </a:rPr>
                          </m:ctrlPr>
                        </m:funcPr>
                        <m:fName>
                          <m:limLow>
                            <m:limLowPr>
                              <m:ctrlPr>
                                <a:rPr lang="en-US" altLang="zh-CN" sz="3200" i="1" smtClean="0">
                                  <a:latin typeface="Cambria Math" panose="02040503050406030204" pitchFamily="18" charset="0"/>
                                </a:rPr>
                              </m:ctrlPr>
                            </m:limLowPr>
                            <m:e>
                              <m:r>
                                <m:rPr>
                                  <m:sty m:val="p"/>
                                </m:rPr>
                                <a:rPr lang="en-US" altLang="zh-CN" sz="3200" i="0" smtClean="0">
                                  <a:latin typeface="Cambria Math"/>
                                </a:rPr>
                                <m:t>min</m:t>
                              </m:r>
                            </m:e>
                            <m:lim>
                              <m:r>
                                <a:rPr lang="en-US" altLang="zh-CN" sz="3200" b="0" i="1" smtClean="0">
                                  <a:latin typeface="Cambria Math"/>
                                </a:rPr>
                                <m:t>𝑥</m:t>
                              </m:r>
                              <m:r>
                                <a:rPr lang="en-US" altLang="zh-CN" sz="3200" b="0" i="1" smtClean="0">
                                  <a:latin typeface="Cambria Math"/>
                                  <a:ea typeface="Cambria Math"/>
                                </a:rPr>
                                <m:t>∈</m:t>
                              </m:r>
                              <m:sSup>
                                <m:sSupPr>
                                  <m:ctrlPr>
                                    <a:rPr lang="en-US" altLang="zh-CN" sz="3200" b="0" i="1" smtClean="0">
                                      <a:latin typeface="Cambria Math" panose="02040503050406030204" pitchFamily="18" charset="0"/>
                                      <a:ea typeface="Cambria Math"/>
                                    </a:rPr>
                                  </m:ctrlPr>
                                </m:sSupPr>
                                <m:e>
                                  <m:r>
                                    <a:rPr lang="en-US" altLang="zh-CN" sz="3200" b="0" i="1" smtClean="0">
                                      <a:latin typeface="Cambria Math"/>
                                      <a:ea typeface="Cambria Math"/>
                                    </a:rPr>
                                    <m:t>𝑅</m:t>
                                  </m:r>
                                </m:e>
                                <m:sup>
                                  <m:r>
                                    <a:rPr lang="en-US" altLang="zh-CN" sz="3200" b="0" i="1" smtClean="0">
                                      <a:latin typeface="Cambria Math"/>
                                      <a:ea typeface="Cambria Math"/>
                                    </a:rPr>
                                    <m:t>𝑛</m:t>
                                  </m:r>
                                </m:sup>
                              </m:sSup>
                            </m:lim>
                          </m:limLow>
                        </m:fName>
                        <m:e>
                          <m:r>
                            <a:rPr lang="en-US" altLang="zh-CN" sz="3200" b="0" i="1" smtClean="0">
                              <a:latin typeface="Cambria Math"/>
                            </a:rPr>
                            <m:t>𝑓</m:t>
                          </m:r>
                          <m:r>
                            <a:rPr lang="en-US" altLang="zh-CN" sz="3200" b="0" i="1" smtClean="0">
                              <a:latin typeface="Cambria Math"/>
                            </a:rPr>
                            <m:t>(</m:t>
                          </m:r>
                          <m:r>
                            <a:rPr lang="en-US" altLang="zh-CN" sz="3200" b="0" i="1" smtClean="0">
                              <a:latin typeface="Cambria Math"/>
                            </a:rPr>
                            <m:t>𝑥</m:t>
                          </m:r>
                          <m:r>
                            <a:rPr lang="en-US" altLang="zh-CN" sz="3200" b="0" i="1" smtClean="0">
                              <a:latin typeface="Cambria Math"/>
                            </a:rPr>
                            <m:t>)</m:t>
                          </m:r>
                        </m:e>
                      </m:func>
                    </m:oMath>
                  </m:oMathPara>
                </a14:m>
                <a:endParaRPr lang="en-US" altLang="zh-CN" sz="3200" dirty="0">
                  <a:latin typeface="Times New Roman" panose="02020603050405020304" pitchFamily="18" charset="0"/>
                  <a:cs typeface="Times New Roman" panose="02020603050405020304" pitchFamily="18" charset="0"/>
                </a:endParaRPr>
              </a:p>
              <a:p>
                <a:endParaRPr lang="en-US" altLang="zh-CN" sz="3200" dirty="0">
                  <a:latin typeface="Times New Roman" panose="02020603050405020304" pitchFamily="18" charset="0"/>
                  <a:cs typeface="Times New Roman" panose="02020603050405020304" pitchFamily="18" charset="0"/>
                </a:endParaRPr>
              </a:p>
              <a:p>
                <a:r>
                  <a:rPr lang="en-US" altLang="zh-CN" sz="3200" dirty="0" err="1">
                    <a:latin typeface="Times New Roman" panose="02020603050405020304" pitchFamily="18" charset="0"/>
                    <a:cs typeface="Times New Roman" panose="02020603050405020304" pitchFamily="18" charset="0"/>
                  </a:rPr>
                  <a:t>s.t.</a:t>
                </a:r>
                <a:r>
                  <a:rPr lang="en-US" altLang="zh-CN" sz="32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3200" i="1" smtClean="0">
                            <a:latin typeface="Cambria Math" panose="02040503050406030204" pitchFamily="18" charset="0"/>
                          </a:rPr>
                        </m:ctrlPr>
                      </m:sSubPr>
                      <m:e>
                        <m:r>
                          <a:rPr lang="en-US" altLang="zh-CN" sz="3200" b="0" i="1" smtClean="0">
                            <a:latin typeface="Cambria Math" panose="02040503050406030204" pitchFamily="18" charset="0"/>
                          </a:rPr>
                          <m:t>h</m:t>
                        </m:r>
                      </m:e>
                      <m:sub>
                        <m:r>
                          <a:rPr lang="en-US" altLang="zh-CN" sz="3200" b="0" i="1" smtClean="0">
                            <a:latin typeface="Cambria Math"/>
                          </a:rPr>
                          <m:t>𝑖</m:t>
                        </m:r>
                      </m:sub>
                    </m:sSub>
                    <m:d>
                      <m:dPr>
                        <m:ctrlPr>
                          <a:rPr lang="en-US" altLang="zh-CN" sz="3200" b="0" i="1" smtClean="0">
                            <a:latin typeface="Cambria Math" panose="02040503050406030204" pitchFamily="18" charset="0"/>
                          </a:rPr>
                        </m:ctrlPr>
                      </m:dPr>
                      <m:e>
                        <m:r>
                          <a:rPr lang="en-US" altLang="zh-CN" sz="3200" b="0" i="1" smtClean="0">
                            <a:latin typeface="Cambria Math"/>
                          </a:rPr>
                          <m:t>𝑥</m:t>
                        </m:r>
                      </m:e>
                    </m:d>
                    <m:r>
                      <a:rPr lang="en-US" altLang="zh-CN" sz="3200" b="0" i="1" smtClean="0">
                        <a:latin typeface="Cambria Math"/>
                      </a:rPr>
                      <m:t>=0,  </m:t>
                    </m:r>
                    <m:r>
                      <a:rPr lang="en-US" altLang="zh-CN" sz="3200" b="0" i="1" smtClean="0">
                        <a:latin typeface="Cambria Math" panose="02040503050406030204" pitchFamily="18" charset="0"/>
                      </a:rPr>
                      <m:t> </m:t>
                    </m:r>
                    <m:r>
                      <a:rPr lang="en-US" altLang="zh-CN" sz="3200" b="0" i="1" smtClean="0">
                        <a:latin typeface="Cambria Math"/>
                      </a:rPr>
                      <m:t>𝑖</m:t>
                    </m:r>
                  </m:oMath>
                </a14:m>
                <a:r>
                  <a:rPr lang="en-US" altLang="zh-CN" sz="3200" b="0" dirty="0">
                    <a:latin typeface="Times New Roman" panose="02020603050405020304" pitchFamily="18" charset="0"/>
                    <a:ea typeface="Cambria Math"/>
                    <a:cs typeface="Times New Roman" panose="02020603050405020304" pitchFamily="18" charset="0"/>
                  </a:rPr>
                  <a:t>=1,2,…,m</a:t>
                </a:r>
              </a:p>
              <a:p>
                <a:r>
                  <a:rPr lang="en-US" altLang="zh-CN" sz="32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3200" i="1">
                            <a:latin typeface="Cambria Math" panose="02040503050406030204" pitchFamily="18" charset="0"/>
                          </a:rPr>
                        </m:ctrlPr>
                      </m:sSubPr>
                      <m:e>
                        <m:r>
                          <a:rPr lang="en-US" altLang="zh-CN" sz="3200" b="0" i="1" smtClean="0">
                            <a:latin typeface="Cambria Math" panose="02040503050406030204" pitchFamily="18" charset="0"/>
                          </a:rPr>
                          <m:t>𝑔</m:t>
                        </m:r>
                      </m:e>
                      <m:sub>
                        <m:r>
                          <a:rPr lang="en-US" altLang="zh-CN" sz="3200" b="0" i="1" smtClean="0">
                            <a:latin typeface="Cambria Math" panose="02040503050406030204" pitchFamily="18" charset="0"/>
                          </a:rPr>
                          <m:t>𝑗</m:t>
                        </m:r>
                      </m:sub>
                    </m:sSub>
                    <m:d>
                      <m:dPr>
                        <m:ctrlPr>
                          <a:rPr lang="en-US" altLang="zh-CN" sz="3200" i="1">
                            <a:latin typeface="Cambria Math" panose="02040503050406030204" pitchFamily="18" charset="0"/>
                          </a:rPr>
                        </m:ctrlPr>
                      </m:dPr>
                      <m:e>
                        <m:r>
                          <a:rPr lang="en-US" altLang="zh-CN" sz="3200" i="1">
                            <a:latin typeface="Cambria Math"/>
                          </a:rPr>
                          <m:t>𝑥</m:t>
                        </m:r>
                      </m:e>
                    </m:d>
                    <m:r>
                      <a:rPr lang="en-US" altLang="zh-CN" sz="3200" i="1" smtClean="0">
                        <a:latin typeface="Cambria Math"/>
                        <a:ea typeface="Cambria Math"/>
                      </a:rPr>
                      <m:t>≥</m:t>
                    </m:r>
                    <m:r>
                      <a:rPr lang="en-US" altLang="zh-CN" sz="3200" i="1">
                        <a:latin typeface="Cambria Math"/>
                      </a:rPr>
                      <m:t>0,  </m:t>
                    </m:r>
                  </m:oMath>
                </a14:m>
                <a:r>
                  <a:rPr lang="en-US" altLang="zh-CN" sz="3200" dirty="0">
                    <a:latin typeface="Times New Roman" panose="02020603050405020304" pitchFamily="18" charset="0"/>
                    <a:ea typeface="Cambria Math"/>
                    <a:cs typeface="Times New Roman" panose="02020603050405020304" pitchFamily="18" charset="0"/>
                  </a:rPr>
                  <a:t>j=1,2,…,</a:t>
                </a:r>
                <a:r>
                  <a:rPr lang="en-US" altLang="zh-CN" sz="3200" i="1" dirty="0">
                    <a:latin typeface="Times New Roman" panose="02020603050405020304" pitchFamily="18" charset="0"/>
                    <a:ea typeface="Cambria Math"/>
                    <a:cs typeface="Times New Roman" panose="02020603050405020304" pitchFamily="18" charset="0"/>
                  </a:rPr>
                  <a:t>l</a:t>
                </a:r>
              </a:p>
              <a:p>
                <a:endParaRPr lang="zh-CN" altLang="en-US" sz="3200" dirty="0">
                  <a:latin typeface="Times New Roman" panose="02020603050405020304" pitchFamily="18" charset="0"/>
                  <a:cs typeface="Times New Roman" panose="02020603050405020304" pitchFamily="18" charset="0"/>
                </a:endParaRPr>
              </a:p>
            </p:txBody>
          </p:sp>
        </mc:Choice>
        <mc:Fallback xmlns="">
          <p:sp>
            <p:nvSpPr>
              <p:cNvPr id="7" name="TextBox 3"/>
              <p:cNvSpPr txBox="1">
                <a:spLocks noRot="1" noChangeAspect="1" noMove="1" noResize="1" noEditPoints="1" noAdjustHandles="1" noChangeArrowheads="1" noChangeShapeType="1" noTextEdit="1"/>
              </p:cNvSpPr>
              <p:nvPr/>
            </p:nvSpPr>
            <p:spPr>
              <a:xfrm>
                <a:off x="2267744" y="3284984"/>
                <a:ext cx="5012265" cy="2742674"/>
              </a:xfrm>
              <a:prstGeom prst="rect">
                <a:avLst/>
              </a:prstGeom>
              <a:blipFill rotWithShape="0">
                <a:blip r:embed="rId2"/>
                <a:stretch>
                  <a:fillRect l="-3041"/>
                </a:stretch>
              </a:blipFill>
            </p:spPr>
            <p:txBody>
              <a:bodyPr/>
              <a:lstStyle/>
              <a:p>
                <a:r>
                  <a:rPr lang="zh-CN" altLang="en-US">
                    <a:noFill/>
                  </a:rPr>
                  <a:t> </a:t>
                </a:r>
                <a:endParaRPr lang="zh-CN" altLang="en-US">
                  <a:noFill/>
                </a:endParaRPr>
              </a:p>
            </p:txBody>
          </p:sp>
        </mc:Fallback>
      </mc:AlternateContent>
      <p:sp>
        <p:nvSpPr>
          <p:cNvPr id="2" name="椭圆形标注 1"/>
          <p:cNvSpPr/>
          <p:nvPr/>
        </p:nvSpPr>
        <p:spPr>
          <a:xfrm>
            <a:off x="4773876" y="2622923"/>
            <a:ext cx="1584176" cy="576064"/>
          </a:xfrm>
          <a:prstGeom prst="wedgeEllipseCallout">
            <a:avLst/>
          </a:prstGeom>
        </p:spPr>
        <p:style>
          <a:lnRef idx="1">
            <a:schemeClr val="accent2"/>
          </a:lnRef>
          <a:fillRef idx="2">
            <a:schemeClr val="accent2"/>
          </a:fillRef>
          <a:effectRef idx="1">
            <a:schemeClr val="accent2"/>
          </a:effectRef>
          <a:fontRef idx="minor">
            <a:schemeClr val="dk1"/>
          </a:fontRef>
        </p:style>
        <p:txBody>
          <a:bodyPr rtlCol="0" anchor="ctr"/>
          <a:lstStyle/>
          <a:p>
            <a:r>
              <a:rPr lang="zh-CN" altLang="en-US" b="1"/>
              <a:t>目标函数</a:t>
            </a:r>
            <a:endParaRPr lang="en-US" altLang="zh-CN" b="1" dirty="0"/>
          </a:p>
        </p:txBody>
      </p:sp>
      <p:sp>
        <p:nvSpPr>
          <p:cNvPr id="9" name="爆炸形 2 8"/>
          <p:cNvSpPr/>
          <p:nvPr/>
        </p:nvSpPr>
        <p:spPr>
          <a:xfrm>
            <a:off x="2411760" y="3789040"/>
            <a:ext cx="1656184" cy="532034"/>
          </a:xfrm>
          <a:prstGeom prst="irregularSeal2">
            <a:avLst/>
          </a:prstGeom>
        </p:spPr>
        <p:style>
          <a:lnRef idx="2">
            <a:schemeClr val="accent3"/>
          </a:lnRef>
          <a:fillRef idx="1">
            <a:schemeClr val="lt1"/>
          </a:fillRef>
          <a:effectRef idx="0">
            <a:schemeClr val="accent3"/>
          </a:effectRef>
          <a:fontRef idx="minor">
            <a:schemeClr val="dk1"/>
          </a:fontRef>
        </p:style>
        <p:txBody>
          <a:bodyPr rtlCol="0" anchor="ctr"/>
          <a:lstStyle/>
          <a:p>
            <a:r>
              <a:rPr lang="zh-CN" altLang="en-US" b="1" dirty="0"/>
              <a:t>决策变量</a:t>
            </a:r>
            <a:endParaRPr lang="en-US" altLang="zh-CN" b="1" dirty="0"/>
          </a:p>
        </p:txBody>
      </p:sp>
      <p:sp>
        <p:nvSpPr>
          <p:cNvPr id="10" name="云形标注 9"/>
          <p:cNvSpPr/>
          <p:nvPr/>
        </p:nvSpPr>
        <p:spPr>
          <a:xfrm>
            <a:off x="7020272" y="4055057"/>
            <a:ext cx="1872208" cy="792088"/>
          </a:xfrm>
          <a:prstGeom prst="cloudCallout">
            <a:avLst/>
          </a:prstGeom>
        </p:spPr>
        <p:style>
          <a:lnRef idx="1">
            <a:schemeClr val="accent4"/>
          </a:lnRef>
          <a:fillRef idx="2">
            <a:schemeClr val="accent4"/>
          </a:fillRef>
          <a:effectRef idx="1">
            <a:schemeClr val="accent4"/>
          </a:effectRef>
          <a:fontRef idx="minor">
            <a:schemeClr val="dk1"/>
          </a:fontRef>
        </p:style>
        <p:txBody>
          <a:bodyPr rtlCol="0" anchor="ctr"/>
          <a:lstStyle/>
          <a:p>
            <a:r>
              <a:rPr lang="zh-CN" altLang="en-US" b="1" dirty="0"/>
              <a:t>约束条件</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animBg="1"/>
      <p:bldP spid="9" grpId="0" animBg="1"/>
      <p:bldP spid="1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BFBA77E3-BFBA-9E28-773F-25EA97A5DA54}"/>
                  </a:ext>
                </a:extLst>
              </p:cNvPr>
              <p:cNvSpPr txBox="1"/>
              <p:nvPr/>
            </p:nvSpPr>
            <p:spPr>
              <a:xfrm>
                <a:off x="590872" y="980728"/>
                <a:ext cx="8085584" cy="5488810"/>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zh-CN" altLang="en-US" sz="2400" b="1" i="0" dirty="0">
                    <a:solidFill>
                      <a:srgbClr val="121212"/>
                    </a:solidFill>
                    <a:effectLst/>
                    <a:latin typeface="宋体" panose="02010600030101010101" pitchFamily="2" charset="-122"/>
                    <a:ea typeface="宋体" panose="02010600030101010101" pitchFamily="2" charset="-122"/>
                  </a:rPr>
                  <a:t>有约束 </a:t>
                </a:r>
                <a:r>
                  <a:rPr lang="en-US" altLang="zh-CN" sz="2400" b="1" i="0" dirty="0">
                    <a:solidFill>
                      <a:srgbClr val="121212"/>
                    </a:solidFill>
                    <a:effectLst/>
                    <a:latin typeface="宋体" panose="02010600030101010101" pitchFamily="2" charset="-122"/>
                    <a:ea typeface="宋体" panose="02010600030101010101" pitchFamily="2" charset="-122"/>
                  </a:rPr>
                  <a:t>vs </a:t>
                </a:r>
                <a:r>
                  <a:rPr lang="zh-CN" altLang="en-US" sz="2400" b="1" i="0" dirty="0">
                    <a:solidFill>
                      <a:srgbClr val="121212"/>
                    </a:solidFill>
                    <a:effectLst/>
                    <a:latin typeface="宋体" panose="02010600030101010101" pitchFamily="2" charset="-122"/>
                    <a:ea typeface="宋体" panose="02010600030101010101" pitchFamily="2" charset="-122"/>
                  </a:rPr>
                  <a:t>无约束</a:t>
                </a:r>
                <a:r>
                  <a:rPr lang="en-US" altLang="zh-CN" sz="2400" b="1" i="0" dirty="0">
                    <a:solidFill>
                      <a:srgbClr val="121212"/>
                    </a:solidFill>
                    <a:effectLst/>
                    <a:latin typeface="宋体" panose="02010600030101010101" pitchFamily="2" charset="-122"/>
                    <a:ea typeface="宋体" panose="02010600030101010101" pitchFamily="2" charset="-122"/>
                  </a:rPr>
                  <a:t>:</a:t>
                </a:r>
              </a:p>
              <a:p>
                <a:pPr algn="just">
                  <a:lnSpc>
                    <a:spcPct val="150000"/>
                  </a:lnSpc>
                </a:pPr>
                <a:r>
                  <a:rPr lang="en-US" altLang="zh-CN" sz="2400" b="1" i="0" dirty="0">
                    <a:solidFill>
                      <a:srgbClr val="121212"/>
                    </a:solidFill>
                    <a:effectLst/>
                    <a:latin typeface="宋体" panose="02010600030101010101" pitchFamily="2" charset="-122"/>
                    <a:ea typeface="宋体" panose="02010600030101010101" pitchFamily="2" charset="-122"/>
                  </a:rPr>
                  <a:t>  </a:t>
                </a:r>
                <a:r>
                  <a:rPr lang="zh-CN" altLang="en-US" sz="2400" i="0" dirty="0">
                    <a:solidFill>
                      <a:srgbClr val="121212"/>
                    </a:solidFill>
                    <a:effectLst/>
                    <a:latin typeface="宋体" panose="02010600030101010101" pitchFamily="2" charset="-122"/>
                    <a:ea typeface="宋体" panose="02010600030101010101" pitchFamily="2" charset="-122"/>
                  </a:rPr>
                  <a:t>例，有约束优化问题 </a:t>
                </a:r>
                <a:endParaRPr lang="en-US" altLang="zh-CN" sz="2400" i="0" dirty="0">
                  <a:solidFill>
                    <a:srgbClr val="121212"/>
                  </a:solidFill>
                  <a:effectLst/>
                  <a:latin typeface="宋体" panose="02010600030101010101" pitchFamily="2" charset="-122"/>
                  <a:ea typeface="宋体" panose="02010600030101010101" pitchFamily="2" charset="-122"/>
                </a:endParaRPr>
              </a:p>
              <a:p>
                <a:pPr algn="just">
                  <a:lnSpc>
                    <a:spcPct val="150000"/>
                  </a:lnSpc>
                </a:pPr>
                <a14:m>
                  <m:oMathPara xmlns:m="http://schemas.openxmlformats.org/officeDocument/2006/math">
                    <m:oMathParaPr>
                      <m:jc m:val="centerGroup"/>
                    </m:oMathParaPr>
                    <m:oMath xmlns:m="http://schemas.openxmlformats.org/officeDocument/2006/math">
                      <m:func>
                        <m:funcPr>
                          <m:ctrlPr>
                            <a:rPr lang="en-US" altLang="zh-CN" sz="2400" i="1" smtClean="0">
                              <a:latin typeface="Cambria Math" panose="02040503050406030204" pitchFamily="18" charset="0"/>
                            </a:rPr>
                          </m:ctrlPr>
                        </m:funcPr>
                        <m:fName>
                          <m:limLow>
                            <m:limLowPr>
                              <m:ctrlPr>
                                <a:rPr lang="en-US" altLang="zh-CN" sz="2400" i="1">
                                  <a:latin typeface="Cambria Math" panose="02040503050406030204" pitchFamily="18" charset="0"/>
                                </a:rPr>
                              </m:ctrlPr>
                            </m:limLowPr>
                            <m:e>
                              <m:r>
                                <m:rPr>
                                  <m:sty m:val="p"/>
                                </m:rPr>
                                <a:rPr lang="en-US" altLang="zh-CN" sz="2400" b="0">
                                  <a:latin typeface="Cambria Math" panose="02040503050406030204"/>
                                </a:rPr>
                                <m:t>min</m:t>
                              </m:r>
                            </m:e>
                            <m:lim>
                              <m:r>
                                <a:rPr lang="en-US" altLang="zh-CN" sz="2400" b="0" i="1">
                                  <a:latin typeface="Cambria Math" panose="02040503050406030204"/>
                                </a:rPr>
                                <m:t>𝑥</m:t>
                              </m:r>
                              <m:r>
                                <a:rPr lang="en-US" altLang="zh-CN" sz="2400" b="0" i="1">
                                  <a:latin typeface="Cambria Math" panose="02040503050406030204"/>
                                  <a:ea typeface="Cambria Math" panose="02040503050406030204"/>
                                </a:rPr>
                                <m:t>∈</m:t>
                              </m:r>
                              <m:sSup>
                                <m:sSupPr>
                                  <m:ctrlPr>
                                    <a:rPr lang="en-US" altLang="zh-CN" sz="2400" i="1">
                                      <a:latin typeface="Cambria Math" panose="02040503050406030204" pitchFamily="18" charset="0"/>
                                      <a:ea typeface="Cambria Math" panose="02040503050406030204"/>
                                    </a:rPr>
                                  </m:ctrlPr>
                                </m:sSupPr>
                                <m:e>
                                  <m:r>
                                    <a:rPr lang="en-US" altLang="zh-CN" sz="2400" b="0" i="1">
                                      <a:latin typeface="Cambria Math" panose="02040503050406030204"/>
                                      <a:ea typeface="Cambria Math" panose="02040503050406030204"/>
                                    </a:rPr>
                                    <m:t>𝑅</m:t>
                                  </m:r>
                                </m:e>
                                <m:sup>
                                  <m:r>
                                    <a:rPr lang="en-US" altLang="zh-CN" sz="2400" b="0" i="1" smtClean="0">
                                      <a:latin typeface="Cambria Math" panose="02040503050406030204" pitchFamily="18" charset="0"/>
                                      <a:ea typeface="Cambria Math" panose="02040503050406030204"/>
                                    </a:rPr>
                                    <m:t>3</m:t>
                                  </m:r>
                                </m:sup>
                              </m:sSup>
                            </m:lim>
                          </m:limLow>
                        </m:fName>
                        <m:e>
                          <m:r>
                            <a:rPr kumimoji="1" lang="en-US" altLang="zh-CN" sz="2400" b="0" i="1">
                              <a:latin typeface="Cambria Math" panose="02040503050406030204" pitchFamily="18" charset="0"/>
                              <a:ea typeface="宋体" panose="02010600030101010101" pitchFamily="2" charset="-122"/>
                              <a:cs typeface="Cambria Math" panose="02040503050406030204" pitchFamily="18" charset="0"/>
                            </a:rPr>
                            <m:t>𝑓</m:t>
                          </m:r>
                          <m:r>
                            <a:rPr kumimoji="1" lang="en-US" altLang="zh-CN" sz="2400" b="0" i="1">
                              <a:latin typeface="Cambria Math" panose="02040503050406030204" pitchFamily="18" charset="0"/>
                              <a:ea typeface="MS Mincho" panose="02020609040205080304" charset="-128"/>
                              <a:cs typeface="Cambria Math" panose="02040503050406030204" pitchFamily="18" charset="0"/>
                            </a:rPr>
                            <m:t>(</m:t>
                          </m:r>
                          <m:r>
                            <a:rPr kumimoji="1" lang="en-US" altLang="zh-CN" sz="2400" b="0" i="1">
                              <a:latin typeface="Cambria Math" panose="02040503050406030204" pitchFamily="18" charset="0"/>
                              <a:ea typeface="宋体" panose="02010600030101010101" pitchFamily="2" charset="-122"/>
                              <a:cs typeface="Cambria Math" panose="02040503050406030204" pitchFamily="18" charset="0"/>
                            </a:rPr>
                            <m:t>𝑥</m:t>
                          </m:r>
                          <m:r>
                            <a:rPr kumimoji="1" lang="en-US" altLang="zh-CN" sz="2400" b="0" i="1">
                              <a:latin typeface="Cambria Math" panose="02040503050406030204" pitchFamily="18" charset="0"/>
                              <a:ea typeface="MS Mincho" panose="02020609040205080304" charset="-128"/>
                              <a:cs typeface="Cambria Math" panose="02040503050406030204" pitchFamily="18" charset="0"/>
                            </a:rPr>
                            <m:t>)=3</m:t>
                          </m:r>
                          <m:sSubSup>
                            <m:sSubSup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sSubSupPr>
                            <m:e>
                              <m:r>
                                <a:rPr kumimoji="1" lang="en-US" altLang="zh-CN" sz="2400" b="0" i="1">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b="0" i="1">
                                  <a:latin typeface="Cambria Math" panose="02040503050406030204" pitchFamily="18" charset="0"/>
                                  <a:ea typeface="MS Mincho" panose="02020609040205080304" charset="-128"/>
                                  <a:cs typeface="Cambria Math" panose="02040503050406030204" pitchFamily="18" charset="0"/>
                                </a:rPr>
                                <m:t>1</m:t>
                              </m:r>
                            </m:sub>
                            <m:sup>
                              <m:r>
                                <a:rPr kumimoji="1" lang="en-US" altLang="zh-CN" sz="2400" b="0" i="1">
                                  <a:latin typeface="Cambria Math" panose="02040503050406030204" pitchFamily="18" charset="0"/>
                                  <a:ea typeface="MS Mincho" panose="02020609040205080304" charset="-128"/>
                                  <a:cs typeface="Cambria Math" panose="02040503050406030204" pitchFamily="18" charset="0"/>
                                </a:rPr>
                                <m:t>2</m:t>
                              </m:r>
                            </m:sup>
                          </m:sSubSup>
                          <m:r>
                            <a:rPr kumimoji="1" lang="en-US" altLang="zh-CN" sz="2400" b="0" i="1">
                              <a:latin typeface="Cambria Math" panose="02040503050406030204" pitchFamily="18" charset="0"/>
                              <a:ea typeface="MS Mincho" panose="02020609040205080304" charset="-128"/>
                              <a:cs typeface="Cambria Math" panose="02040503050406030204" pitchFamily="18" charset="0"/>
                            </a:rPr>
                            <m:t>+2</m:t>
                          </m:r>
                          <m:sSubSup>
                            <m:sSubSup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sSubSupPr>
                            <m:e>
                              <m:r>
                                <a:rPr kumimoji="1" lang="en-US" altLang="zh-CN" sz="2400" b="0" i="1">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b="0" i="1">
                                  <a:latin typeface="Cambria Math" panose="02040503050406030204" pitchFamily="18" charset="0"/>
                                  <a:ea typeface="MS Mincho" panose="02020609040205080304" charset="-128"/>
                                  <a:cs typeface="Cambria Math" panose="02040503050406030204" pitchFamily="18" charset="0"/>
                                </a:rPr>
                                <m:t>2</m:t>
                              </m:r>
                            </m:sub>
                            <m:sup>
                              <m:r>
                                <a:rPr kumimoji="1" lang="en-US" altLang="zh-CN" sz="2400" b="0" i="1">
                                  <a:latin typeface="Cambria Math" panose="02040503050406030204" pitchFamily="18" charset="0"/>
                                  <a:ea typeface="MS Mincho" panose="02020609040205080304" charset="-128"/>
                                  <a:cs typeface="Cambria Math" panose="02040503050406030204" pitchFamily="18" charset="0"/>
                                </a:rPr>
                                <m:t>2</m:t>
                              </m:r>
                            </m:sup>
                          </m:sSubSup>
                          <m:r>
                            <a:rPr kumimoji="1" lang="en-US" altLang="zh-CN" sz="2400" b="0" i="1">
                              <a:latin typeface="Cambria Math" panose="02040503050406030204" pitchFamily="18" charset="0"/>
                              <a:ea typeface="MS Mincho" panose="02020609040205080304" charset="-128"/>
                              <a:cs typeface="Cambria Math" panose="02040503050406030204" pitchFamily="18" charset="0"/>
                            </a:rPr>
                            <m:t>+</m:t>
                          </m:r>
                          <m:sSubSup>
                            <m:sSubSup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sSubSupPr>
                            <m:e>
                              <m:r>
                                <a:rPr kumimoji="1" lang="en-US" altLang="zh-CN" sz="2400" b="0" i="1">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b="0" i="1">
                                  <a:latin typeface="Cambria Math" panose="02040503050406030204" pitchFamily="18" charset="0"/>
                                  <a:ea typeface="MS Mincho" panose="02020609040205080304" charset="-128"/>
                                  <a:cs typeface="Cambria Math" panose="02040503050406030204" pitchFamily="18" charset="0"/>
                                </a:rPr>
                                <m:t>3</m:t>
                              </m:r>
                            </m:sub>
                            <m:sup>
                              <m:r>
                                <a:rPr kumimoji="1" lang="en-US" altLang="zh-CN" sz="2400" b="0" i="1">
                                  <a:latin typeface="Cambria Math" panose="02040503050406030204" pitchFamily="18" charset="0"/>
                                  <a:ea typeface="MS Mincho" panose="02020609040205080304" charset="-128"/>
                                  <a:cs typeface="Cambria Math" panose="02040503050406030204" pitchFamily="18" charset="0"/>
                                </a:rPr>
                                <m:t>2</m:t>
                              </m:r>
                            </m:sup>
                          </m:sSubSup>
                        </m:e>
                      </m:func>
                    </m:oMath>
                  </m:oMathPara>
                </a14:m>
                <a:endParaRPr lang="en-US" altLang="zh-CN" sz="2400" i="0" dirty="0">
                  <a:solidFill>
                    <a:srgbClr val="121212"/>
                  </a:solidFill>
                  <a:effectLst/>
                  <a:latin typeface="宋体" panose="02010600030101010101" pitchFamily="2" charset="-122"/>
                  <a:ea typeface="宋体" panose="02010600030101010101" pitchFamily="2" charset="-122"/>
                </a:endParaRPr>
              </a:p>
              <a:p>
                <a:pPr algn="just">
                  <a:lnSpc>
                    <a:spcPct val="150000"/>
                  </a:lnSpc>
                </a:pPr>
                <a:r>
                  <a:rPr lang="en-US" altLang="zh-CN" sz="2400" dirty="0">
                    <a:latin typeface="宋体" panose="02010600030101010101" pitchFamily="2" charset="-122"/>
                    <a:ea typeface="宋体" panose="02010600030101010101" pitchFamily="2" charset="-122"/>
                  </a:rPr>
                  <a:t>                     </a:t>
                </a:r>
                <a14:m>
                  <m:oMath xmlns:m="http://schemas.openxmlformats.org/officeDocument/2006/math">
                    <m:r>
                      <a:rPr lang="en-US" altLang="zh-CN" sz="2400" b="0" i="1" smtClean="0">
                        <a:latin typeface="Cambria Math" panose="02040503050406030204" pitchFamily="18" charset="0"/>
                      </a:rPr>
                      <m:t>𝑠</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𝑡</m:t>
                    </m:r>
                    <m:r>
                      <a:rPr lang="en-US" altLang="zh-CN" sz="2400" b="0" i="1" smtClean="0">
                        <a:latin typeface="Cambria Math" panose="02040503050406030204" pitchFamily="18" charset="0"/>
                      </a:rPr>
                      <m:t>.</m:t>
                    </m:r>
                  </m:oMath>
                </a14:m>
                <a:r>
                  <a:rPr lang="en-US" altLang="zh-CN" sz="2400" dirty="0">
                    <a:solidFill>
                      <a:srgbClr val="121212"/>
                    </a:solidFill>
                    <a:latin typeface="宋体" panose="02010600030101010101" pitchFamily="2" charset="-122"/>
                    <a:ea typeface="宋体" panose="02010600030101010101" pitchFamily="2" charset="-122"/>
                  </a:rPr>
                  <a:t>  </a:t>
                </a:r>
                <a14:m>
                  <m:oMath xmlns:m="http://schemas.openxmlformats.org/officeDocument/2006/math">
                    <m:sSub>
                      <m:sSubPr>
                        <m:ctrlPr>
                          <a:rPr lang="en-US" altLang="zh-CN" sz="2400" i="1">
                            <a:latin typeface="Cambria Math" panose="02040503050406030204" pitchFamily="18" charset="0"/>
                          </a:rPr>
                        </m:ctrlPr>
                      </m:sSubPr>
                      <m:e>
                        <m:r>
                          <a:rPr lang="en-US" altLang="zh-CN" sz="2400" b="0" i="1">
                            <a:latin typeface="Cambria Math" panose="02040503050406030204" pitchFamily="18" charset="0"/>
                          </a:rPr>
                          <m:t>𝑥</m:t>
                        </m:r>
                      </m:e>
                      <m:sub>
                        <m:r>
                          <a:rPr lang="en-US" altLang="zh-CN" sz="2400" b="0" i="1">
                            <a:latin typeface="Cambria Math" panose="02040503050406030204" pitchFamily="18" charset="0"/>
                          </a:rPr>
                          <m:t>1</m:t>
                        </m:r>
                      </m:sub>
                    </m:sSub>
                    <m:r>
                      <a:rPr lang="en-US" altLang="zh-CN" sz="2400" b="0" i="1" smtClean="0">
                        <a:latin typeface="Cambria Math" panose="02040503050406030204" pitchFamily="18" charset="0"/>
                        <a:ea typeface="Cambria Math" panose="02040503050406030204" pitchFamily="18" charset="0"/>
                      </a:rPr>
                      <m:t>≥1</m:t>
                    </m:r>
                    <m:r>
                      <a:rPr lang="en-US" altLang="zh-CN" sz="2400" b="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b="0" i="1">
                            <a:latin typeface="Cambria Math" panose="02040503050406030204" pitchFamily="18" charset="0"/>
                          </a:rPr>
                          <m:t>𝑥</m:t>
                        </m:r>
                      </m:e>
                      <m:sub>
                        <m:r>
                          <a:rPr lang="en-US" altLang="zh-CN" sz="2400" b="0" i="1">
                            <a:latin typeface="Cambria Math" panose="02040503050406030204" pitchFamily="18" charset="0"/>
                          </a:rPr>
                          <m:t>2</m:t>
                        </m:r>
                      </m:sub>
                    </m:sSub>
                    <m:r>
                      <a:rPr lang="en-US" altLang="zh-CN" sz="2400" b="0" i="1" smtClean="0">
                        <a:latin typeface="Cambria Math" panose="02040503050406030204" pitchFamily="18" charset="0"/>
                        <a:ea typeface="Cambria Math" panose="02040503050406030204" pitchFamily="18" charset="0"/>
                      </a:rPr>
                      <m:t>≥−2</m:t>
                    </m:r>
                    <m:r>
                      <a:rPr lang="en-US" altLang="zh-CN" sz="2400" b="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b="0" i="1">
                            <a:latin typeface="Cambria Math" panose="02040503050406030204" pitchFamily="18" charset="0"/>
                          </a:rPr>
                          <m:t>𝑥</m:t>
                        </m:r>
                      </m:e>
                      <m:sub>
                        <m:r>
                          <a:rPr lang="en-US" altLang="zh-CN" sz="2400" b="0" i="1">
                            <a:latin typeface="Cambria Math" panose="02040503050406030204" pitchFamily="18" charset="0"/>
                          </a:rPr>
                          <m:t>3</m:t>
                        </m:r>
                      </m:sub>
                    </m:sSub>
                    <m:r>
                      <a:rPr lang="en-US" altLang="zh-CN" sz="2400" b="0" i="1" smtClean="0">
                        <a:solidFill>
                          <a:schemeClr val="tx1"/>
                        </a:solidFill>
                        <a:latin typeface="Cambria Math" panose="02040503050406030204" pitchFamily="18" charset="0"/>
                        <a:ea typeface="Cambria Math" panose="02040503050406030204" pitchFamily="18" charset="0"/>
                      </a:rPr>
                      <m:t>≤−</m:t>
                    </m:r>
                  </m:oMath>
                </a14:m>
                <a:r>
                  <a:rPr lang="en-US" altLang="zh-CN" sz="2400" i="0" dirty="0">
                    <a:solidFill>
                      <a:schemeClr val="tx1"/>
                    </a:solidFill>
                    <a:effectLst/>
                    <a:latin typeface="宋体" panose="02010600030101010101" pitchFamily="2" charset="-122"/>
                    <a:ea typeface="宋体" panose="02010600030101010101" pitchFamily="2" charset="-122"/>
                  </a:rPr>
                  <a:t>1</a:t>
                </a:r>
                <a:endParaRPr lang="en-US" altLang="zh-CN" sz="2400" i="0" dirty="0">
                  <a:solidFill>
                    <a:srgbClr val="121212"/>
                  </a:solidFill>
                  <a:effectLst/>
                  <a:latin typeface="宋体" panose="02010600030101010101" pitchFamily="2" charset="-122"/>
                  <a:ea typeface="宋体" panose="02010600030101010101" pitchFamily="2" charset="-122"/>
                </a:endParaRPr>
              </a:p>
              <a:p>
                <a:pPr algn="just">
                  <a:lnSpc>
                    <a:spcPct val="150000"/>
                  </a:lnSpc>
                </a:pPr>
                <a:r>
                  <a:rPr lang="zh-CN" altLang="en-US" sz="2400" dirty="0">
                    <a:solidFill>
                      <a:srgbClr val="121212"/>
                    </a:solidFill>
                    <a:latin typeface="宋体" panose="02010600030101010101" pitchFamily="2" charset="-122"/>
                    <a:ea typeface="宋体" panose="02010600030101010101" pitchFamily="2" charset="-122"/>
                  </a:rPr>
                  <a:t>无</a:t>
                </a:r>
                <a:r>
                  <a:rPr lang="zh-CN" altLang="en-US" sz="2400" i="0" dirty="0">
                    <a:solidFill>
                      <a:srgbClr val="121212"/>
                    </a:solidFill>
                    <a:effectLst/>
                    <a:latin typeface="宋体" panose="02010600030101010101" pitchFamily="2" charset="-122"/>
                    <a:ea typeface="宋体" panose="02010600030101010101" pitchFamily="2" charset="-122"/>
                  </a:rPr>
                  <a:t>约束优化问题 </a:t>
                </a:r>
                <a14:m>
                  <m:oMath xmlns:m="http://schemas.openxmlformats.org/officeDocument/2006/math">
                    <m:func>
                      <m:funcPr>
                        <m:ctrlPr>
                          <a:rPr lang="en-US" altLang="zh-CN" sz="2400" i="1" smtClean="0">
                            <a:latin typeface="Cambria Math" panose="02040503050406030204" pitchFamily="18" charset="0"/>
                          </a:rPr>
                        </m:ctrlPr>
                      </m:funcPr>
                      <m:fName>
                        <m:limLow>
                          <m:limLowPr>
                            <m:ctrlPr>
                              <a:rPr lang="en-US" altLang="zh-CN" sz="2400" i="1">
                                <a:latin typeface="Cambria Math" panose="02040503050406030204" pitchFamily="18" charset="0"/>
                              </a:rPr>
                            </m:ctrlPr>
                          </m:limLowPr>
                          <m:e>
                            <m:r>
                              <m:rPr>
                                <m:sty m:val="p"/>
                              </m:rPr>
                              <a:rPr lang="en-US" altLang="zh-CN" sz="2400">
                                <a:latin typeface="Cambria Math" panose="02040503050406030204"/>
                              </a:rPr>
                              <m:t>min</m:t>
                            </m:r>
                          </m:e>
                          <m:lim>
                            <m:r>
                              <a:rPr lang="en-US" altLang="zh-CN" sz="2400" i="1" smtClean="0">
                                <a:latin typeface="Cambria Math" panose="02040503050406030204"/>
                              </a:rPr>
                              <m:t>𝑥</m:t>
                            </m:r>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2</m:t>
                                </m:r>
                              </m:sub>
                            </m:sSub>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3</m:t>
                                </m:r>
                              </m:sub>
                            </m:sSub>
                            <m:r>
                              <a:rPr lang="en-US" altLang="zh-CN" sz="2400" b="0" i="1" smtClean="0">
                                <a:latin typeface="Cambria Math" panose="02040503050406030204" pitchFamily="18" charset="0"/>
                              </a:rPr>
                              <m:t>)</m:t>
                            </m:r>
                            <m:r>
                              <a:rPr lang="en-US" altLang="zh-CN" sz="2400" i="1">
                                <a:latin typeface="Cambria Math" panose="02040503050406030204"/>
                                <a:ea typeface="Cambria Math" panose="02040503050406030204"/>
                              </a:rPr>
                              <m:t>∈</m:t>
                            </m:r>
                            <m:sSup>
                              <m:sSupPr>
                                <m:ctrlPr>
                                  <a:rPr lang="en-US" altLang="zh-CN" sz="2400" i="1">
                                    <a:latin typeface="Cambria Math" panose="02040503050406030204" pitchFamily="18" charset="0"/>
                                    <a:ea typeface="Cambria Math" panose="02040503050406030204"/>
                                  </a:rPr>
                                </m:ctrlPr>
                              </m:sSupPr>
                              <m:e>
                                <m:r>
                                  <a:rPr lang="en-US" altLang="zh-CN" sz="2400" i="1">
                                    <a:latin typeface="Cambria Math" panose="02040503050406030204"/>
                                    <a:ea typeface="Cambria Math" panose="02040503050406030204"/>
                                  </a:rPr>
                                  <m:t>𝑅</m:t>
                                </m:r>
                              </m:e>
                              <m:sup>
                                <m:r>
                                  <a:rPr lang="en-US" altLang="zh-CN" sz="2400" b="0" i="1" smtClean="0">
                                    <a:latin typeface="Cambria Math" panose="02040503050406030204" pitchFamily="18" charset="0"/>
                                    <a:ea typeface="Cambria Math" panose="02040503050406030204"/>
                                  </a:rPr>
                                  <m:t>3</m:t>
                                </m:r>
                              </m:sup>
                            </m:sSup>
                          </m:lim>
                        </m:limLow>
                      </m:fName>
                      <m:e>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𝑓</m:t>
                        </m:r>
                        <m:r>
                          <a:rPr kumimoji="1" lang="en-US" altLang="zh-CN" sz="2400" i="1">
                            <a:latin typeface="Cambria Math" panose="02040503050406030204" pitchFamily="18" charset="0"/>
                            <a:ea typeface="MS Mincho" panose="02020609040205080304" charset="-128"/>
                            <a:cs typeface="Cambria Math" panose="02040503050406030204" pitchFamily="18" charset="0"/>
                          </a:rPr>
                          <m:t>(</m:t>
                        </m:r>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𝑥</m:t>
                        </m:r>
                        <m:r>
                          <a:rPr kumimoji="1" lang="en-US" altLang="zh-CN" sz="2400" i="1">
                            <a:latin typeface="Cambria Math" panose="02040503050406030204" pitchFamily="18" charset="0"/>
                            <a:ea typeface="MS Mincho" panose="02020609040205080304" charset="-128"/>
                            <a:cs typeface="Cambria Math" panose="02040503050406030204" pitchFamily="18" charset="0"/>
                          </a:rPr>
                          <m:t>)=3</m:t>
                        </m:r>
                        <m:sSubSup>
                          <m:sSubSup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sSubSupPr>
                          <m:e>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latin typeface="Cambria Math" panose="02040503050406030204" pitchFamily="18" charset="0"/>
                                <a:ea typeface="MS Mincho" panose="02020609040205080304" charset="-128"/>
                                <a:cs typeface="Cambria Math" panose="02040503050406030204" pitchFamily="18" charset="0"/>
                              </a:rPr>
                              <m:t>1</m:t>
                            </m:r>
                          </m:sub>
                          <m:sup>
                            <m:r>
                              <a:rPr kumimoji="1" lang="en-US" altLang="zh-CN" sz="2400" i="1">
                                <a:latin typeface="Cambria Math" panose="02040503050406030204" pitchFamily="18" charset="0"/>
                                <a:ea typeface="MS Mincho" panose="02020609040205080304" charset="-128"/>
                                <a:cs typeface="Cambria Math" panose="02040503050406030204" pitchFamily="18" charset="0"/>
                              </a:rPr>
                              <m:t>2</m:t>
                            </m:r>
                          </m:sup>
                        </m:sSubSup>
                        <m:r>
                          <a:rPr kumimoji="1" lang="en-US" altLang="zh-CN" sz="2400" i="1">
                            <a:latin typeface="Cambria Math" panose="02040503050406030204" pitchFamily="18" charset="0"/>
                            <a:ea typeface="MS Mincho" panose="02020609040205080304" charset="-128"/>
                            <a:cs typeface="Cambria Math" panose="02040503050406030204" pitchFamily="18" charset="0"/>
                          </a:rPr>
                          <m:t>+2</m:t>
                        </m:r>
                        <m:sSubSup>
                          <m:sSubSup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sSubSupPr>
                          <m:e>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latin typeface="Cambria Math" panose="02040503050406030204" pitchFamily="18" charset="0"/>
                                <a:ea typeface="MS Mincho" panose="02020609040205080304" charset="-128"/>
                                <a:cs typeface="Cambria Math" panose="02040503050406030204" pitchFamily="18" charset="0"/>
                              </a:rPr>
                              <m:t>2</m:t>
                            </m:r>
                          </m:sub>
                          <m:sup>
                            <m:r>
                              <a:rPr kumimoji="1" lang="en-US" altLang="zh-CN" sz="2400" i="1">
                                <a:latin typeface="Cambria Math" panose="02040503050406030204" pitchFamily="18" charset="0"/>
                                <a:ea typeface="MS Mincho" panose="02020609040205080304" charset="-128"/>
                                <a:cs typeface="Cambria Math" panose="02040503050406030204" pitchFamily="18" charset="0"/>
                              </a:rPr>
                              <m:t>2</m:t>
                            </m:r>
                          </m:sup>
                        </m:sSubSup>
                        <m:r>
                          <a:rPr kumimoji="1" lang="en-US" altLang="zh-CN" sz="2400" i="1">
                            <a:latin typeface="Cambria Math" panose="02040503050406030204" pitchFamily="18" charset="0"/>
                            <a:ea typeface="MS Mincho" panose="02020609040205080304" charset="-128"/>
                            <a:cs typeface="Cambria Math" panose="02040503050406030204" pitchFamily="18" charset="0"/>
                          </a:rPr>
                          <m:t>+</m:t>
                        </m:r>
                        <m:sSubSup>
                          <m:sSubSup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sSubSupPr>
                          <m:e>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latin typeface="Cambria Math" panose="02040503050406030204" pitchFamily="18" charset="0"/>
                                <a:ea typeface="MS Mincho" panose="02020609040205080304" charset="-128"/>
                                <a:cs typeface="Cambria Math" panose="02040503050406030204" pitchFamily="18" charset="0"/>
                              </a:rPr>
                              <m:t>3</m:t>
                            </m:r>
                          </m:sub>
                          <m:sup>
                            <m:r>
                              <a:rPr kumimoji="1" lang="en-US" altLang="zh-CN" sz="2400" i="1">
                                <a:latin typeface="Cambria Math" panose="02040503050406030204" pitchFamily="18" charset="0"/>
                                <a:ea typeface="MS Mincho" panose="02020609040205080304" charset="-128"/>
                                <a:cs typeface="Cambria Math" panose="02040503050406030204" pitchFamily="18" charset="0"/>
                              </a:rPr>
                              <m:t>2</m:t>
                            </m:r>
                          </m:sup>
                        </m:sSubSup>
                      </m:e>
                    </m:func>
                  </m:oMath>
                </a14:m>
                <a:r>
                  <a:rPr lang="en-US" altLang="zh-CN" sz="2400" dirty="0">
                    <a:latin typeface="宋体" panose="02010600030101010101" pitchFamily="2" charset="-122"/>
                    <a:ea typeface="宋体" panose="02010600030101010101" pitchFamily="2" charset="-122"/>
                    <a:cs typeface="Cambria Math" panose="02040503050406030204" pitchFamily="18" charset="0"/>
                  </a:rPr>
                  <a:t> </a:t>
                </a:r>
                <a:endParaRPr lang="en-US" altLang="zh-CN" sz="2400" b="1" i="0" dirty="0">
                  <a:solidFill>
                    <a:srgbClr val="121212"/>
                  </a:solidFill>
                  <a:effectLst/>
                  <a:latin typeface="宋体" panose="02010600030101010101" pitchFamily="2" charset="-122"/>
                  <a:ea typeface="宋体" panose="02010600030101010101" pitchFamily="2" charset="-122"/>
                </a:endParaRPr>
              </a:p>
              <a:p>
                <a:pPr marL="285750" indent="-285750" algn="just">
                  <a:lnSpc>
                    <a:spcPct val="150000"/>
                  </a:lnSpc>
                  <a:buFont typeface="Wingdings" panose="05000000000000000000" pitchFamily="2" charset="2"/>
                  <a:buChar char="Ø"/>
                </a:pPr>
                <a:r>
                  <a:rPr lang="zh-CN" altLang="en-US" sz="2400" b="1" i="0" dirty="0">
                    <a:solidFill>
                      <a:srgbClr val="121212"/>
                    </a:solidFill>
                    <a:effectLst/>
                    <a:latin typeface="宋体" panose="02010600030101010101" pitchFamily="2" charset="-122"/>
                    <a:ea typeface="宋体" panose="02010600030101010101" pitchFamily="2" charset="-122"/>
                  </a:rPr>
                  <a:t>连续优化 </a:t>
                </a:r>
                <a:r>
                  <a:rPr lang="en-US" altLang="zh-CN" sz="2400" b="1" i="0" dirty="0">
                    <a:solidFill>
                      <a:srgbClr val="121212"/>
                    </a:solidFill>
                    <a:effectLst/>
                    <a:latin typeface="宋体" panose="02010600030101010101" pitchFamily="2" charset="-122"/>
                    <a:ea typeface="宋体" panose="02010600030101010101" pitchFamily="2" charset="-122"/>
                  </a:rPr>
                  <a:t>vs </a:t>
                </a:r>
                <a:r>
                  <a:rPr lang="zh-CN" altLang="en-US" sz="2400" b="1" i="0" dirty="0">
                    <a:solidFill>
                      <a:srgbClr val="121212"/>
                    </a:solidFill>
                    <a:effectLst/>
                    <a:latin typeface="宋体" panose="02010600030101010101" pitchFamily="2" charset="-122"/>
                    <a:ea typeface="宋体" panose="02010600030101010101" pitchFamily="2" charset="-122"/>
                  </a:rPr>
                  <a:t>离散优化</a:t>
                </a:r>
                <a:r>
                  <a:rPr lang="en-US" altLang="zh-CN" sz="2400" b="1" i="0" dirty="0">
                    <a:solidFill>
                      <a:srgbClr val="121212"/>
                    </a:solidFill>
                    <a:effectLst/>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根据决策变量</a:t>
                </a:r>
                <a14:m>
                  <m:oMath xmlns:m="http://schemas.openxmlformats.org/officeDocument/2006/math">
                    <m:r>
                      <a:rPr lang="en-US" altLang="zh-CN" sz="2400" i="1" smtClean="0">
                        <a:latin typeface="Cambria Math" panose="02040503050406030204"/>
                      </a:rPr>
                      <m:t>𝑥</m:t>
                    </m:r>
                  </m:oMath>
                </a14:m>
                <a:r>
                  <a:rPr lang="zh-CN" altLang="en-US" sz="2400" dirty="0">
                    <a:latin typeface="宋体" panose="02010600030101010101" pitchFamily="2" charset="-122"/>
                    <a:ea typeface="宋体" panose="02010600030101010101" pitchFamily="2" charset="-122"/>
                  </a:rPr>
                  <a:t>取值类型，可以将最优化问题分为连续优化问题和离散优化问题。决策变量</a:t>
                </a:r>
                <a14:m>
                  <m:oMath xmlns:m="http://schemas.openxmlformats.org/officeDocument/2006/math">
                    <m:r>
                      <a:rPr lang="en-US" altLang="zh-CN" sz="2400" i="1">
                        <a:latin typeface="Cambria Math" panose="02040503050406030204"/>
                      </a:rPr>
                      <m:t>𝑥</m:t>
                    </m:r>
                  </m:oMath>
                </a14:m>
                <a:r>
                  <a:rPr lang="zh-CN" altLang="en-US" sz="2400" dirty="0">
                    <a:latin typeface="宋体" panose="02010600030101010101" pitchFamily="2" charset="-122"/>
                    <a:ea typeface="宋体" panose="02010600030101010101" pitchFamily="2" charset="-122"/>
                  </a:rPr>
                  <a:t>为连续变量，此时的最优化问题为连续优化问题。决策变量</a:t>
                </a:r>
                <a14:m>
                  <m:oMath xmlns:m="http://schemas.openxmlformats.org/officeDocument/2006/math">
                    <m:r>
                      <a:rPr lang="en-US" altLang="zh-CN" sz="2400" i="1">
                        <a:latin typeface="Cambria Math" panose="02040503050406030204"/>
                      </a:rPr>
                      <m:t>𝑥</m:t>
                    </m:r>
                  </m:oMath>
                </a14:m>
                <a:r>
                  <a:rPr lang="zh-CN" altLang="en-US" sz="2400" dirty="0">
                    <a:latin typeface="宋体" panose="02010600030101010101" pitchFamily="2" charset="-122"/>
                    <a:ea typeface="宋体" panose="02010600030101010101" pitchFamily="2" charset="-122"/>
                  </a:rPr>
                  <a:t>是离散的，此时最优化问题为离散化问题。</a:t>
                </a:r>
                <a:endParaRPr lang="zh-CN" altLang="en-US" sz="2400" b="1" i="0" dirty="0">
                  <a:solidFill>
                    <a:srgbClr val="121212"/>
                  </a:solidFill>
                  <a:effectLst/>
                  <a:latin typeface="宋体" panose="02010600030101010101" pitchFamily="2" charset="-122"/>
                  <a:ea typeface="宋体" panose="02010600030101010101" pitchFamily="2" charset="-122"/>
                </a:endParaRPr>
              </a:p>
            </p:txBody>
          </p:sp>
        </mc:Choice>
        <mc:Fallback xmlns="">
          <p:sp>
            <p:nvSpPr>
              <p:cNvPr id="4" name="文本框 3">
                <a:extLst>
                  <a:ext uri="{FF2B5EF4-FFF2-40B4-BE49-F238E27FC236}">
                    <a16:creationId xmlns:a16="http://schemas.microsoft.com/office/drawing/2014/main" id="{BFBA77E3-BFBA-9E28-773F-25EA97A5DA54}"/>
                  </a:ext>
                </a:extLst>
              </p:cNvPr>
              <p:cNvSpPr txBox="1">
                <a:spLocks noRot="1" noChangeAspect="1" noMove="1" noResize="1" noEditPoints="1" noAdjustHandles="1" noChangeArrowheads="1" noChangeShapeType="1" noTextEdit="1"/>
              </p:cNvSpPr>
              <p:nvPr/>
            </p:nvSpPr>
            <p:spPr>
              <a:xfrm>
                <a:off x="590872" y="980728"/>
                <a:ext cx="8085584" cy="5488810"/>
              </a:xfrm>
              <a:prstGeom prst="rect">
                <a:avLst/>
              </a:prstGeom>
              <a:blipFill>
                <a:blip r:embed="rId2"/>
                <a:stretch>
                  <a:fillRect l="-1207" r="-1131" b="-1333"/>
                </a:stretch>
              </a:blipFill>
            </p:spPr>
            <p:txBody>
              <a:bodyPr/>
              <a:lstStyle/>
              <a:p>
                <a:r>
                  <a:rPr lang="zh-CN" altLang="en-US">
                    <a:noFill/>
                  </a:rPr>
                  <a:t> </a:t>
                </a:r>
              </a:p>
            </p:txBody>
          </p:sp>
        </mc:Fallback>
      </mc:AlternateContent>
      <p:sp>
        <p:nvSpPr>
          <p:cNvPr id="5" name="标题 1">
            <a:extLst>
              <a:ext uri="{FF2B5EF4-FFF2-40B4-BE49-F238E27FC236}">
                <a16:creationId xmlns:a16="http://schemas.microsoft.com/office/drawing/2014/main" id="{09809D92-9FA5-C236-AC1B-AC7362051629}"/>
              </a:ext>
            </a:extLst>
          </p:cNvPr>
          <p:cNvSpPr txBox="1"/>
          <p:nvPr/>
        </p:nvSpPr>
        <p:spPr>
          <a:xfrm>
            <a:off x="323528" y="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800" b="1" dirty="0">
                <a:solidFill>
                  <a:schemeClr val="tx2"/>
                </a:solidFill>
                <a:latin typeface="宋体" panose="02010600030101010101" pitchFamily="2" charset="-122"/>
                <a:ea typeface="宋体" panose="02010600030101010101" pitchFamily="2" charset="-122"/>
              </a:rPr>
              <a:t>最优化问题的分类</a:t>
            </a:r>
          </a:p>
        </p:txBody>
      </p:sp>
    </p:spTree>
    <p:extLst>
      <p:ext uri="{BB962C8B-B14F-4D97-AF65-F5344CB8AC3E}">
        <p14:creationId xmlns:p14="http://schemas.microsoft.com/office/powerpoint/2010/main" val="13193269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16B5AF1-F27D-DC07-3428-F5487B05AB06}"/>
              </a:ext>
            </a:extLst>
          </p:cNvPr>
          <p:cNvSpPr txBox="1"/>
          <p:nvPr/>
        </p:nvSpPr>
        <p:spPr>
          <a:xfrm>
            <a:off x="755576" y="656125"/>
            <a:ext cx="7332984" cy="5545749"/>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zh-CN" altLang="en-US" sz="2400" b="1" i="0" dirty="0">
                <a:solidFill>
                  <a:srgbClr val="121212"/>
                </a:solidFill>
                <a:effectLst/>
                <a:latin typeface="宋体" panose="02010600030101010101" pitchFamily="2" charset="-122"/>
                <a:ea typeface="宋体" panose="02010600030101010101" pitchFamily="2" charset="-122"/>
              </a:rPr>
              <a:t>随机性优化 </a:t>
            </a:r>
            <a:r>
              <a:rPr lang="en-US" altLang="zh-CN" sz="2400" b="1" i="0" dirty="0">
                <a:solidFill>
                  <a:srgbClr val="121212"/>
                </a:solidFill>
                <a:effectLst/>
                <a:latin typeface="宋体" panose="02010600030101010101" pitchFamily="2" charset="-122"/>
                <a:ea typeface="宋体" panose="02010600030101010101" pitchFamily="2" charset="-122"/>
              </a:rPr>
              <a:t>vs </a:t>
            </a:r>
            <a:r>
              <a:rPr lang="zh-CN" altLang="en-US" sz="2400" b="1" i="0" dirty="0">
                <a:solidFill>
                  <a:srgbClr val="121212"/>
                </a:solidFill>
                <a:effectLst/>
                <a:latin typeface="宋体" panose="02010600030101010101" pitchFamily="2" charset="-122"/>
                <a:ea typeface="宋体" panose="02010600030101010101" pitchFamily="2" charset="-122"/>
              </a:rPr>
              <a:t>确定性优化</a:t>
            </a:r>
            <a:r>
              <a:rPr lang="en-US" altLang="zh-CN" sz="2400" b="1" i="0" dirty="0">
                <a:solidFill>
                  <a:srgbClr val="121212"/>
                </a:solidFill>
                <a:effectLst/>
                <a:latin typeface="宋体" panose="02010600030101010101" pitchFamily="2" charset="-122"/>
                <a:ea typeface="宋体" panose="02010600030101010101" pitchFamily="2" charset="-122"/>
              </a:rPr>
              <a:t>: </a:t>
            </a:r>
            <a:r>
              <a:rPr lang="zh-CN" altLang="en-US" sz="2400" b="0" i="0" dirty="0">
                <a:solidFill>
                  <a:srgbClr val="121212"/>
                </a:solidFill>
                <a:effectLst/>
                <a:latin typeface="宋体" panose="02010600030101010101" pitchFamily="2" charset="-122"/>
                <a:ea typeface="宋体" panose="02010600030101010101" pitchFamily="2" charset="-122"/>
              </a:rPr>
              <a:t>随机优化是指目标函数或者约束函数中涉及随机变量而带有不确定性的问题。前面举例的优化问题实际上都是确定性的优化问题。</a:t>
            </a:r>
            <a:endParaRPr lang="en-US" altLang="zh-CN" sz="2400" b="0" i="0" dirty="0">
              <a:solidFill>
                <a:srgbClr val="121212"/>
              </a:solidFill>
              <a:effectLst/>
              <a:latin typeface="宋体" panose="02010600030101010101" pitchFamily="2" charset="-122"/>
              <a:ea typeface="宋体" panose="02010600030101010101" pitchFamily="2" charset="-122"/>
            </a:endParaRPr>
          </a:p>
          <a:p>
            <a:pPr marL="285750" indent="-285750" algn="just">
              <a:lnSpc>
                <a:spcPct val="150000"/>
              </a:lnSpc>
              <a:buFont typeface="Wingdings" panose="05000000000000000000" pitchFamily="2" charset="2"/>
              <a:buChar char="Ø"/>
            </a:pPr>
            <a:r>
              <a:rPr lang="zh-CN" altLang="en-US" sz="2400" b="1" i="0" dirty="0">
                <a:solidFill>
                  <a:srgbClr val="121212"/>
                </a:solidFill>
                <a:effectLst/>
                <a:latin typeface="宋体" panose="02010600030101010101" pitchFamily="2" charset="-122"/>
                <a:ea typeface="宋体" panose="02010600030101010101" pitchFamily="2" charset="-122"/>
              </a:rPr>
              <a:t>线性规划 </a:t>
            </a:r>
            <a:r>
              <a:rPr lang="en-US" altLang="zh-CN" sz="2400" b="1" i="0" dirty="0">
                <a:solidFill>
                  <a:srgbClr val="121212"/>
                </a:solidFill>
                <a:effectLst/>
                <a:latin typeface="宋体" panose="02010600030101010101" pitchFamily="2" charset="-122"/>
                <a:ea typeface="宋体" panose="02010600030101010101" pitchFamily="2" charset="-122"/>
              </a:rPr>
              <a:t>vs </a:t>
            </a:r>
            <a:r>
              <a:rPr lang="zh-CN" altLang="en-US" sz="2400" b="1" i="0" dirty="0">
                <a:solidFill>
                  <a:srgbClr val="121212"/>
                </a:solidFill>
                <a:effectLst/>
                <a:latin typeface="宋体" panose="02010600030101010101" pitchFamily="2" charset="-122"/>
                <a:ea typeface="宋体" panose="02010600030101010101" pitchFamily="2" charset="-122"/>
              </a:rPr>
              <a:t>非线性规划</a:t>
            </a:r>
            <a:r>
              <a:rPr lang="en-US" altLang="zh-CN" sz="2400" b="1" dirty="0">
                <a:solidFill>
                  <a:srgbClr val="121212"/>
                </a:solidFill>
                <a:latin typeface="宋体" panose="02010600030101010101" pitchFamily="2" charset="-122"/>
                <a:ea typeface="宋体" panose="02010600030101010101" pitchFamily="2" charset="-122"/>
              </a:rPr>
              <a:t>:</a:t>
            </a:r>
            <a:r>
              <a:rPr lang="zh-CN" altLang="en-US" sz="2400" b="0" i="0" dirty="0">
                <a:solidFill>
                  <a:srgbClr val="121212"/>
                </a:solidFill>
                <a:effectLst/>
                <a:latin typeface="宋体" panose="02010600030101010101" pitchFamily="2" charset="-122"/>
                <a:ea typeface="宋体" panose="02010600030101010101" pitchFamily="2" charset="-122"/>
              </a:rPr>
              <a:t>线性规划是指目标函数和约束函数都是线性的优化问题。反之，则是非线性规划。</a:t>
            </a:r>
            <a:endParaRPr lang="en-US" altLang="zh-CN" sz="2400" b="0" i="0" dirty="0">
              <a:solidFill>
                <a:srgbClr val="121212"/>
              </a:solidFill>
              <a:effectLst/>
              <a:latin typeface="宋体" panose="02010600030101010101" pitchFamily="2" charset="-122"/>
              <a:ea typeface="宋体" panose="02010600030101010101" pitchFamily="2" charset="-122"/>
            </a:endParaRPr>
          </a:p>
          <a:p>
            <a:pPr marL="285750" indent="-285750" algn="just">
              <a:lnSpc>
                <a:spcPct val="150000"/>
              </a:lnSpc>
              <a:buFont typeface="Wingdings" panose="05000000000000000000" pitchFamily="2" charset="2"/>
              <a:buChar char="Ø"/>
            </a:pPr>
            <a:r>
              <a:rPr lang="zh-CN" altLang="en-US" sz="2400" b="1" i="0" dirty="0">
                <a:solidFill>
                  <a:srgbClr val="121212"/>
                </a:solidFill>
                <a:effectLst/>
                <a:latin typeface="宋体" panose="02010600030101010101" pitchFamily="2" charset="-122"/>
                <a:ea typeface="宋体" panose="02010600030101010101" pitchFamily="2" charset="-122"/>
              </a:rPr>
              <a:t>凸优化 </a:t>
            </a:r>
            <a:r>
              <a:rPr lang="en-US" altLang="zh-CN" sz="2400" b="1" i="0" dirty="0">
                <a:solidFill>
                  <a:srgbClr val="121212"/>
                </a:solidFill>
                <a:effectLst/>
                <a:latin typeface="宋体" panose="02010600030101010101" pitchFamily="2" charset="-122"/>
                <a:ea typeface="宋体" panose="02010600030101010101" pitchFamily="2" charset="-122"/>
              </a:rPr>
              <a:t>vs </a:t>
            </a:r>
            <a:r>
              <a:rPr lang="zh-CN" altLang="en-US" sz="2400" b="1" i="0" dirty="0">
                <a:solidFill>
                  <a:srgbClr val="121212"/>
                </a:solidFill>
                <a:effectLst/>
                <a:latin typeface="宋体" panose="02010600030101010101" pitchFamily="2" charset="-122"/>
                <a:ea typeface="宋体" panose="02010600030101010101" pitchFamily="2" charset="-122"/>
              </a:rPr>
              <a:t>非凸优化</a:t>
            </a:r>
            <a:r>
              <a:rPr lang="zh-CN" altLang="en-US" sz="2400" b="0" i="0" dirty="0">
                <a:solidFill>
                  <a:srgbClr val="121212"/>
                </a:solidFill>
                <a:effectLst/>
                <a:latin typeface="宋体" panose="02010600030101010101" pitchFamily="2" charset="-122"/>
                <a:ea typeface="宋体" panose="02010600030101010101" pitchFamily="2" charset="-122"/>
              </a:rPr>
              <a:t>：凸优化是指目标函数是凸函数、可行域是凸集的极小化问题，否则，则为非凸优化。</a:t>
            </a:r>
            <a:endParaRPr lang="zh-CN" altLang="en-US" sz="2400" b="1" i="0" dirty="0">
              <a:solidFill>
                <a:srgbClr val="121212"/>
              </a:solidFill>
              <a:effectLst/>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4329372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a:xfrm>
            <a:off x="228600" y="480219"/>
            <a:ext cx="7772400" cy="603250"/>
          </a:xfrm>
        </p:spPr>
        <p:txBody>
          <a:bodyPr/>
          <a:lstStyle/>
          <a:p>
            <a:pPr algn="l" eaLnBrk="1" hangingPunct="1"/>
            <a:r>
              <a:rPr lang="zh-CN" altLang="en-US" sz="2800" b="1" dirty="0">
                <a:solidFill>
                  <a:schemeClr val="accent6">
                    <a:lumMod val="75000"/>
                  </a:schemeClr>
                </a:solidFill>
              </a:rPr>
              <a:t> </a:t>
            </a:r>
            <a:r>
              <a:rPr lang="en-US" altLang="zh-CN" sz="2800" b="1" dirty="0">
                <a:solidFill>
                  <a:schemeClr val="accent6">
                    <a:lumMod val="75000"/>
                  </a:schemeClr>
                </a:solidFill>
              </a:rPr>
              <a:t>1.</a:t>
            </a:r>
            <a:r>
              <a:rPr lang="zh-CN" altLang="en-US" sz="2800" b="1" dirty="0">
                <a:solidFill>
                  <a:schemeClr val="accent6">
                    <a:lumMod val="75000"/>
                  </a:schemeClr>
                </a:solidFill>
              </a:rPr>
              <a:t>非线性规划的图解法</a:t>
            </a:r>
          </a:p>
        </p:txBody>
      </p:sp>
      <p:sp>
        <p:nvSpPr>
          <p:cNvPr id="10244" name="Rectangle 3"/>
          <p:cNvSpPr>
            <a:spLocks noGrp="1" noChangeArrowheads="1"/>
          </p:cNvSpPr>
          <p:nvPr>
            <p:ph type="body" idx="1"/>
          </p:nvPr>
        </p:nvSpPr>
        <p:spPr>
          <a:xfrm>
            <a:off x="685800" y="1447800"/>
            <a:ext cx="7772400" cy="4648200"/>
          </a:xfrm>
        </p:spPr>
        <p:txBody>
          <a:bodyPr/>
          <a:lstStyle/>
          <a:p>
            <a:pPr eaLnBrk="1" hangingPunct="1">
              <a:buFontTx/>
              <a:buNone/>
            </a:pPr>
            <a:r>
              <a:rPr lang="zh-CN" altLang="en-US" sz="2800" dirty="0"/>
              <a:t>例  求解如下非线性规划问题</a:t>
            </a:r>
          </a:p>
          <a:p>
            <a:pPr eaLnBrk="1" hangingPunct="1">
              <a:buFontTx/>
              <a:buNone/>
            </a:pPr>
            <a:endParaRPr lang="zh-CN" altLang="en-US" sz="2800" dirty="0"/>
          </a:p>
        </p:txBody>
      </p:sp>
      <p:sp>
        <p:nvSpPr>
          <p:cNvPr id="10245" name="Line 5"/>
          <p:cNvSpPr>
            <a:spLocks noChangeShapeType="1"/>
          </p:cNvSpPr>
          <p:nvPr/>
        </p:nvSpPr>
        <p:spPr bwMode="auto">
          <a:xfrm>
            <a:off x="4114800" y="4038600"/>
            <a:ext cx="1447800"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tailEnd type="triangl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46" name="Line 7"/>
          <p:cNvSpPr>
            <a:spLocks noChangeShapeType="1"/>
          </p:cNvSpPr>
          <p:nvPr/>
        </p:nvSpPr>
        <p:spPr bwMode="auto">
          <a:xfrm>
            <a:off x="2895600" y="3886200"/>
            <a:ext cx="1981200"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tailEnd type="triangl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0247" name="Object 10"/>
          <p:cNvGraphicFramePr>
            <a:graphicFrameLocks noChangeAspect="1"/>
          </p:cNvGraphicFramePr>
          <p:nvPr/>
        </p:nvGraphicFramePr>
        <p:xfrm>
          <a:off x="1473200" y="1898650"/>
          <a:ext cx="4895850" cy="1193800"/>
        </p:xfrm>
        <a:graphic>
          <a:graphicData uri="http://schemas.openxmlformats.org/presentationml/2006/ole">
            <mc:AlternateContent xmlns:mc="http://schemas.openxmlformats.org/markup-compatibility/2006">
              <mc:Choice xmlns:v="urn:schemas-microsoft-com:vml" Requires="v">
                <p:oleObj name="Equation" r:id="rId2" imgW="1981200" imgH="482600" progId="Equation.DSMT4">
                  <p:embed/>
                </p:oleObj>
              </mc:Choice>
              <mc:Fallback>
                <p:oleObj name="Equation" r:id="rId2" imgW="1981200" imgH="482600" progId="Equation.DSMT4">
                  <p:embed/>
                  <p:pic>
                    <p:nvPicPr>
                      <p:cNvPr id="0" name="图片 134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3200" y="1898650"/>
                        <a:ext cx="4895850" cy="1193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8" name="Object 11"/>
          <p:cNvGraphicFramePr>
            <a:graphicFrameLocks noChangeAspect="1"/>
          </p:cNvGraphicFramePr>
          <p:nvPr/>
        </p:nvGraphicFramePr>
        <p:xfrm>
          <a:off x="762000" y="3136107"/>
          <a:ext cx="469900" cy="501650"/>
        </p:xfrm>
        <a:graphic>
          <a:graphicData uri="http://schemas.openxmlformats.org/presentationml/2006/ole">
            <mc:AlternateContent xmlns:mc="http://schemas.openxmlformats.org/markup-compatibility/2006">
              <mc:Choice xmlns:v="urn:schemas-microsoft-com:vml" Requires="v">
                <p:oleObj name="Equation" r:id="rId4" imgW="190500" imgH="203200" progId="Equation.3">
                  <p:embed/>
                </p:oleObj>
              </mc:Choice>
              <mc:Fallback>
                <p:oleObj name="Equation" r:id="rId4" imgW="190500" imgH="203200" progId="Equation.3">
                  <p:embed/>
                  <p:pic>
                    <p:nvPicPr>
                      <p:cNvPr id="0" name="图片 134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0" y="3136107"/>
                        <a:ext cx="469900" cy="501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9" name="Object 32"/>
          <p:cNvGraphicFramePr>
            <a:graphicFrameLocks noChangeAspect="1"/>
          </p:cNvGraphicFramePr>
          <p:nvPr/>
        </p:nvGraphicFramePr>
        <p:xfrm>
          <a:off x="762000" y="3681413"/>
          <a:ext cx="4876800" cy="2185987"/>
        </p:xfrm>
        <a:graphic>
          <a:graphicData uri="http://schemas.openxmlformats.org/presentationml/2006/ole">
            <mc:AlternateContent xmlns:mc="http://schemas.openxmlformats.org/markup-compatibility/2006">
              <mc:Choice xmlns:v="urn:schemas-microsoft-com:vml" Requires="v">
                <p:oleObj name="Equation" r:id="rId6" imgW="2171700" imgH="965200" progId="Equation.3">
                  <p:embed/>
                </p:oleObj>
              </mc:Choice>
              <mc:Fallback>
                <p:oleObj name="Equation" r:id="rId6" imgW="2171700" imgH="965200" progId="Equation.3">
                  <p:embed/>
                  <p:pic>
                    <p:nvPicPr>
                      <p:cNvPr id="0" name="图片 1341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2000" y="3681413"/>
                        <a:ext cx="4876800" cy="2185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0250" name="Group 36"/>
          <p:cNvGrpSpPr/>
          <p:nvPr/>
        </p:nvGrpSpPr>
        <p:grpSpPr bwMode="auto">
          <a:xfrm>
            <a:off x="5815013" y="2667000"/>
            <a:ext cx="2871787" cy="2498725"/>
            <a:chOff x="3312" y="1680"/>
            <a:chExt cx="1809" cy="1574"/>
          </a:xfrm>
        </p:grpSpPr>
        <p:sp>
          <p:nvSpPr>
            <p:cNvPr id="10251" name="Oval 20"/>
            <p:cNvSpPr>
              <a:spLocks noChangeArrowheads="1"/>
            </p:cNvSpPr>
            <p:nvPr/>
          </p:nvSpPr>
          <p:spPr bwMode="auto">
            <a:xfrm>
              <a:off x="3504" y="2410"/>
              <a:ext cx="614" cy="614"/>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SzPct val="90000"/>
                <a:buBlip>
                  <a:blip r:embed="rId8"/>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80000"/>
                <a:buBlip>
                  <a:blip r:embed="rId9"/>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SzPct val="70000"/>
                <a:buBlip>
                  <a:blip r:embed="rId10"/>
                </a:buBlip>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SzPct val="70000"/>
                <a:buBlip>
                  <a:blip r:embed="rId11"/>
                </a:buBlip>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SzPct val="70000"/>
                <a:buBlip>
                  <a:blip r:embed="rId12"/>
                </a:buBlip>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12"/>
                </a:buBlip>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12"/>
                </a:buBlip>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12"/>
                </a:buBlip>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12"/>
                </a:buBlip>
                <a:defRPr kumimoji="1" sz="2000">
                  <a:solidFill>
                    <a:schemeClr val="tx1"/>
                  </a:solidFill>
                  <a:latin typeface="Tahoma" panose="020B0604030504040204" pitchFamily="34" charset="0"/>
                  <a:ea typeface="宋体" panose="02010600030101010101" pitchFamily="2" charset="-122"/>
                </a:defRPr>
              </a:lvl9pPr>
            </a:lstStyle>
            <a:p>
              <a:pPr algn="ctr" eaLnBrk="1" hangingPunct="1">
                <a:buFontTx/>
                <a:buNone/>
              </a:pPr>
              <a:endParaRPr lang="zh-CN" altLang="en-US"/>
            </a:p>
          </p:txBody>
        </p:sp>
        <p:sp>
          <p:nvSpPr>
            <p:cNvPr id="10252" name="Oval 9"/>
            <p:cNvSpPr>
              <a:spLocks noChangeArrowheads="1"/>
            </p:cNvSpPr>
            <p:nvPr/>
          </p:nvSpPr>
          <p:spPr bwMode="auto">
            <a:xfrm>
              <a:off x="3600" y="2496"/>
              <a:ext cx="432" cy="432"/>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SzPct val="90000"/>
                <a:buBlip>
                  <a:blip r:embed="rId8"/>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80000"/>
                <a:buBlip>
                  <a:blip r:embed="rId9"/>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SzPct val="70000"/>
                <a:buBlip>
                  <a:blip r:embed="rId10"/>
                </a:buBlip>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SzPct val="70000"/>
                <a:buBlip>
                  <a:blip r:embed="rId11"/>
                </a:buBlip>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SzPct val="70000"/>
                <a:buBlip>
                  <a:blip r:embed="rId12"/>
                </a:buBlip>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12"/>
                </a:buBlip>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12"/>
                </a:buBlip>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12"/>
                </a:buBlip>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12"/>
                </a:buBlip>
                <a:defRPr kumimoji="1" sz="2000">
                  <a:solidFill>
                    <a:schemeClr val="tx1"/>
                  </a:solidFill>
                  <a:latin typeface="Tahoma" panose="020B0604030504040204" pitchFamily="34" charset="0"/>
                  <a:ea typeface="宋体" panose="02010600030101010101" pitchFamily="2" charset="-122"/>
                </a:defRPr>
              </a:lvl9pPr>
            </a:lstStyle>
            <a:p>
              <a:pPr algn="ctr" eaLnBrk="1" hangingPunct="1">
                <a:buFontTx/>
                <a:buNone/>
              </a:pPr>
              <a:endParaRPr lang="zh-CN" altLang="en-US"/>
            </a:p>
          </p:txBody>
        </p:sp>
        <p:sp>
          <p:nvSpPr>
            <p:cNvPr id="10253" name="Line 12"/>
            <p:cNvSpPr>
              <a:spLocks noChangeShapeType="1"/>
            </p:cNvSpPr>
            <p:nvPr/>
          </p:nvSpPr>
          <p:spPr bwMode="auto">
            <a:xfrm>
              <a:off x="3360" y="3024"/>
              <a:ext cx="1536"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54" name="Line 13"/>
            <p:cNvSpPr>
              <a:spLocks noChangeShapeType="1"/>
            </p:cNvSpPr>
            <p:nvPr/>
          </p:nvSpPr>
          <p:spPr bwMode="auto">
            <a:xfrm flipV="1">
              <a:off x="3504" y="1968"/>
              <a:ext cx="0" cy="1104"/>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55" name="Line 16"/>
            <p:cNvSpPr>
              <a:spLocks noChangeShapeType="1"/>
            </p:cNvSpPr>
            <p:nvPr/>
          </p:nvSpPr>
          <p:spPr bwMode="auto">
            <a:xfrm>
              <a:off x="3456" y="2064"/>
              <a:ext cx="4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56" name="Line 17"/>
            <p:cNvSpPr>
              <a:spLocks noChangeShapeType="1"/>
            </p:cNvSpPr>
            <p:nvPr/>
          </p:nvSpPr>
          <p:spPr bwMode="auto">
            <a:xfrm flipV="1">
              <a:off x="3840" y="2976"/>
              <a:ext cx="0"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57" name="Line 18"/>
            <p:cNvSpPr>
              <a:spLocks noChangeShapeType="1"/>
            </p:cNvSpPr>
            <p:nvPr/>
          </p:nvSpPr>
          <p:spPr bwMode="auto">
            <a:xfrm>
              <a:off x="3432" y="2016"/>
              <a:ext cx="1056" cy="105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0258" name="Object 22"/>
            <p:cNvGraphicFramePr>
              <a:graphicFrameLocks noChangeAspect="1"/>
            </p:cNvGraphicFramePr>
            <p:nvPr/>
          </p:nvGraphicFramePr>
          <p:xfrm>
            <a:off x="3744" y="2640"/>
            <a:ext cx="163" cy="164"/>
          </p:xfrm>
          <a:graphic>
            <a:graphicData uri="http://schemas.openxmlformats.org/presentationml/2006/ole">
              <mc:AlternateContent xmlns:mc="http://schemas.openxmlformats.org/markup-compatibility/2006">
                <mc:Choice xmlns:v="urn:schemas-microsoft-com:vml" Requires="v">
                  <p:oleObj name="Equation" r:id="rId13" imgW="76200" imgH="76200" progId="Equation.3">
                    <p:embed/>
                  </p:oleObj>
                </mc:Choice>
                <mc:Fallback>
                  <p:oleObj name="Equation" r:id="rId13" imgW="76200" imgH="76200" progId="Equation.3">
                    <p:embed/>
                    <p:pic>
                      <p:nvPicPr>
                        <p:cNvPr id="0" name="图片 1342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744" y="2640"/>
                          <a:ext cx="163" cy="1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59" name="Text Box 24"/>
            <p:cNvSpPr txBox="1">
              <a:spLocks noChangeArrowheads="1"/>
            </p:cNvSpPr>
            <p:nvPr/>
          </p:nvSpPr>
          <p:spPr bwMode="auto">
            <a:xfrm>
              <a:off x="3360" y="2976"/>
              <a:ext cx="144"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SzPct val="90000"/>
                <a:buBlip>
                  <a:blip r:embed="rId8"/>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80000"/>
                <a:buBlip>
                  <a:blip r:embed="rId9"/>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SzPct val="70000"/>
                <a:buBlip>
                  <a:blip r:embed="rId10"/>
                </a:buBlip>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SzPct val="70000"/>
                <a:buBlip>
                  <a:blip r:embed="rId11"/>
                </a:buBlip>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SzPct val="70000"/>
                <a:buBlip>
                  <a:blip r:embed="rId12"/>
                </a:buBlip>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12"/>
                </a:buBlip>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12"/>
                </a:buBlip>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12"/>
                </a:buBlip>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12"/>
                </a:buBlip>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FontTx/>
                <a:buNone/>
              </a:pPr>
              <a:r>
                <a:rPr lang="en-US" altLang="zh-CN" sz="2400">
                  <a:latin typeface="宋体" panose="02010600030101010101" pitchFamily="2" charset="-122"/>
                </a:rPr>
                <a:t>o</a:t>
              </a:r>
            </a:p>
          </p:txBody>
        </p:sp>
        <p:sp>
          <p:nvSpPr>
            <p:cNvPr id="10260" name="Text Box 25"/>
            <p:cNvSpPr txBox="1">
              <a:spLocks noChangeArrowheads="1"/>
            </p:cNvSpPr>
            <p:nvPr/>
          </p:nvSpPr>
          <p:spPr bwMode="auto">
            <a:xfrm>
              <a:off x="3312" y="2592"/>
              <a:ext cx="144"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SzPct val="90000"/>
                <a:buBlip>
                  <a:blip r:embed="rId8"/>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80000"/>
                <a:buBlip>
                  <a:blip r:embed="rId9"/>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SzPct val="70000"/>
                <a:buBlip>
                  <a:blip r:embed="rId10"/>
                </a:buBlip>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SzPct val="70000"/>
                <a:buBlip>
                  <a:blip r:embed="rId11"/>
                </a:buBlip>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SzPct val="70000"/>
                <a:buBlip>
                  <a:blip r:embed="rId12"/>
                </a:buBlip>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12"/>
                </a:buBlip>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12"/>
                </a:buBlip>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12"/>
                </a:buBlip>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12"/>
                </a:buBlip>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FontTx/>
                <a:buNone/>
              </a:pPr>
              <a:r>
                <a:rPr lang="en-US" altLang="zh-CN" sz="2400" b="1">
                  <a:latin typeface="宋体" panose="02010600030101010101" pitchFamily="2" charset="-122"/>
                </a:rPr>
                <a:t>2</a:t>
              </a:r>
            </a:p>
          </p:txBody>
        </p:sp>
        <p:sp>
          <p:nvSpPr>
            <p:cNvPr id="10261" name="Text Box 26"/>
            <p:cNvSpPr txBox="1">
              <a:spLocks noChangeArrowheads="1"/>
            </p:cNvSpPr>
            <p:nvPr/>
          </p:nvSpPr>
          <p:spPr bwMode="auto">
            <a:xfrm>
              <a:off x="3792" y="2986"/>
              <a:ext cx="144"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SzPct val="90000"/>
                <a:buBlip>
                  <a:blip r:embed="rId8"/>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80000"/>
                <a:buBlip>
                  <a:blip r:embed="rId9"/>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SzPct val="70000"/>
                <a:buBlip>
                  <a:blip r:embed="rId10"/>
                </a:buBlip>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SzPct val="70000"/>
                <a:buBlip>
                  <a:blip r:embed="rId11"/>
                </a:buBlip>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SzPct val="70000"/>
                <a:buBlip>
                  <a:blip r:embed="rId12"/>
                </a:buBlip>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12"/>
                </a:buBlip>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12"/>
                </a:buBlip>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12"/>
                </a:buBlip>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12"/>
                </a:buBlip>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FontTx/>
                <a:buNone/>
              </a:pPr>
              <a:r>
                <a:rPr lang="en-US" altLang="zh-CN" sz="2400" b="1">
                  <a:latin typeface="宋体" panose="02010600030101010101" pitchFamily="2" charset="-122"/>
                </a:rPr>
                <a:t>2</a:t>
              </a:r>
            </a:p>
          </p:txBody>
        </p:sp>
        <p:sp>
          <p:nvSpPr>
            <p:cNvPr id="10262" name="Text Box 27"/>
            <p:cNvSpPr txBox="1">
              <a:spLocks noChangeArrowheads="1"/>
            </p:cNvSpPr>
            <p:nvPr/>
          </p:nvSpPr>
          <p:spPr bwMode="auto">
            <a:xfrm>
              <a:off x="4416" y="3024"/>
              <a:ext cx="144"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SzPct val="90000"/>
                <a:buBlip>
                  <a:blip r:embed="rId8"/>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80000"/>
                <a:buBlip>
                  <a:blip r:embed="rId9"/>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SzPct val="70000"/>
                <a:buBlip>
                  <a:blip r:embed="rId10"/>
                </a:buBlip>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SzPct val="70000"/>
                <a:buBlip>
                  <a:blip r:embed="rId11"/>
                </a:buBlip>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SzPct val="70000"/>
                <a:buBlip>
                  <a:blip r:embed="rId12"/>
                </a:buBlip>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12"/>
                </a:buBlip>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12"/>
                </a:buBlip>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12"/>
                </a:buBlip>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12"/>
                </a:buBlip>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FontTx/>
                <a:buNone/>
              </a:pPr>
              <a:r>
                <a:rPr lang="en-US" altLang="zh-CN" sz="2400" b="1">
                  <a:latin typeface="宋体" panose="02010600030101010101" pitchFamily="2" charset="-122"/>
                </a:rPr>
                <a:t>6</a:t>
              </a:r>
            </a:p>
          </p:txBody>
        </p:sp>
        <p:sp>
          <p:nvSpPr>
            <p:cNvPr id="10263" name="Text Box 28"/>
            <p:cNvSpPr txBox="1">
              <a:spLocks noChangeArrowheads="1"/>
            </p:cNvSpPr>
            <p:nvPr/>
          </p:nvSpPr>
          <p:spPr bwMode="auto">
            <a:xfrm>
              <a:off x="3312" y="1920"/>
              <a:ext cx="144"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SzPct val="90000"/>
                <a:buBlip>
                  <a:blip r:embed="rId8"/>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80000"/>
                <a:buBlip>
                  <a:blip r:embed="rId9"/>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SzPct val="70000"/>
                <a:buBlip>
                  <a:blip r:embed="rId10"/>
                </a:buBlip>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SzPct val="70000"/>
                <a:buBlip>
                  <a:blip r:embed="rId11"/>
                </a:buBlip>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SzPct val="70000"/>
                <a:buBlip>
                  <a:blip r:embed="rId12"/>
                </a:buBlip>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12"/>
                </a:buBlip>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12"/>
                </a:buBlip>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12"/>
                </a:buBlip>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12"/>
                </a:buBlip>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FontTx/>
                <a:buNone/>
              </a:pPr>
              <a:r>
                <a:rPr lang="en-US" altLang="zh-CN" sz="2400" b="1">
                  <a:latin typeface="宋体" panose="02010600030101010101" pitchFamily="2" charset="-122"/>
                </a:rPr>
                <a:t>6</a:t>
              </a:r>
            </a:p>
          </p:txBody>
        </p:sp>
        <p:graphicFrame>
          <p:nvGraphicFramePr>
            <p:cNvPr id="10264" name="Object 29"/>
            <p:cNvGraphicFramePr>
              <a:graphicFrameLocks noChangeAspect="1"/>
            </p:cNvGraphicFramePr>
            <p:nvPr/>
          </p:nvGraphicFramePr>
          <p:xfrm>
            <a:off x="4848" y="2778"/>
            <a:ext cx="273" cy="390"/>
          </p:xfrm>
          <a:graphic>
            <a:graphicData uri="http://schemas.openxmlformats.org/presentationml/2006/ole">
              <mc:AlternateContent xmlns:mc="http://schemas.openxmlformats.org/markup-compatibility/2006">
                <mc:Choice xmlns:v="urn:schemas-microsoft-com:vml" Requires="v">
                  <p:oleObj name="Equation" r:id="rId15" imgW="152400" imgH="215900" progId="Equation.3">
                    <p:embed/>
                  </p:oleObj>
                </mc:Choice>
                <mc:Fallback>
                  <p:oleObj name="Equation" r:id="rId15" imgW="152400" imgH="215900" progId="Equation.3">
                    <p:embed/>
                    <p:pic>
                      <p:nvPicPr>
                        <p:cNvPr id="0" name="图片 1342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848" y="2778"/>
                          <a:ext cx="273" cy="3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65" name="Object 30"/>
            <p:cNvGraphicFramePr>
              <a:graphicFrameLocks noChangeAspect="1"/>
            </p:cNvGraphicFramePr>
            <p:nvPr/>
          </p:nvGraphicFramePr>
          <p:xfrm>
            <a:off x="3360" y="1680"/>
            <a:ext cx="275" cy="336"/>
          </p:xfrm>
          <a:graphic>
            <a:graphicData uri="http://schemas.openxmlformats.org/presentationml/2006/ole">
              <mc:AlternateContent xmlns:mc="http://schemas.openxmlformats.org/markup-compatibility/2006">
                <mc:Choice xmlns:v="urn:schemas-microsoft-com:vml" Requires="v">
                  <p:oleObj name="Equation" r:id="rId17" imgW="177800" imgH="215900" progId="Equation.3">
                    <p:embed/>
                  </p:oleObj>
                </mc:Choice>
                <mc:Fallback>
                  <p:oleObj name="Equation" r:id="rId17" imgW="177800" imgH="215900" progId="Equation.3">
                    <p:embed/>
                    <p:pic>
                      <p:nvPicPr>
                        <p:cNvPr id="0" name="图片 1342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360" y="1680"/>
                          <a:ext cx="275"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66" name="Object 33"/>
            <p:cNvGraphicFramePr>
              <a:graphicFrameLocks noChangeAspect="1"/>
            </p:cNvGraphicFramePr>
            <p:nvPr/>
          </p:nvGraphicFramePr>
          <p:xfrm>
            <a:off x="4224" y="2353"/>
            <a:ext cx="520" cy="239"/>
          </p:xfrm>
          <a:graphic>
            <a:graphicData uri="http://schemas.openxmlformats.org/presentationml/2006/ole">
              <mc:AlternateContent xmlns:mc="http://schemas.openxmlformats.org/markup-compatibility/2006">
                <mc:Choice xmlns:v="urn:schemas-microsoft-com:vml" Requires="v">
                  <p:oleObj name="Equation" r:id="rId19" imgW="444500" imgH="203200" progId="Equation.3">
                    <p:embed/>
                  </p:oleObj>
                </mc:Choice>
                <mc:Fallback>
                  <p:oleObj name="Equation" r:id="rId19" imgW="444500" imgH="203200" progId="Equation.3">
                    <p:embed/>
                    <p:pic>
                      <p:nvPicPr>
                        <p:cNvPr id="0" name="图片 1342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224" y="2353"/>
                          <a:ext cx="520" cy="2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67" name="Object 34"/>
            <p:cNvGraphicFramePr>
              <a:graphicFrameLocks noChangeAspect="1"/>
            </p:cNvGraphicFramePr>
            <p:nvPr/>
          </p:nvGraphicFramePr>
          <p:xfrm>
            <a:off x="3917" y="2496"/>
            <a:ext cx="163" cy="164"/>
          </p:xfrm>
          <a:graphic>
            <a:graphicData uri="http://schemas.openxmlformats.org/presentationml/2006/ole">
              <mc:AlternateContent xmlns:mc="http://schemas.openxmlformats.org/markup-compatibility/2006">
                <mc:Choice xmlns:v="urn:schemas-microsoft-com:vml" Requires="v">
                  <p:oleObj name="Equation" r:id="rId21" imgW="76200" imgH="76200" progId="Equation.3">
                    <p:embed/>
                  </p:oleObj>
                </mc:Choice>
                <mc:Fallback>
                  <p:oleObj name="Equation" r:id="rId21" imgW="76200" imgH="76200" progId="Equation.3">
                    <p:embed/>
                    <p:pic>
                      <p:nvPicPr>
                        <p:cNvPr id="0" name="图片 1342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917" y="2496"/>
                          <a:ext cx="163" cy="1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68" name="Line 35"/>
            <p:cNvSpPr>
              <a:spLocks noChangeShapeType="1"/>
            </p:cNvSpPr>
            <p:nvPr/>
          </p:nvSpPr>
          <p:spPr bwMode="auto">
            <a:xfrm flipV="1">
              <a:off x="3984" y="2448"/>
              <a:ext cx="240" cy="14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 name="文本框 1">
            <a:extLst>
              <a:ext uri="{FF2B5EF4-FFF2-40B4-BE49-F238E27FC236}">
                <a16:creationId xmlns:a16="http://schemas.microsoft.com/office/drawing/2014/main" id="{B7B2FB6B-B0E7-C4DF-9414-5E07747CC6AE}"/>
              </a:ext>
            </a:extLst>
          </p:cNvPr>
          <p:cNvSpPr txBox="1"/>
          <p:nvPr/>
        </p:nvSpPr>
        <p:spPr>
          <a:xfrm>
            <a:off x="4572000" y="6021288"/>
            <a:ext cx="3886200" cy="461665"/>
          </a:xfrm>
          <a:prstGeom prst="rect">
            <a:avLst/>
          </a:prstGeom>
          <a:noFill/>
        </p:spPr>
        <p:txBody>
          <a:bodyPr wrap="square" rtlCol="0">
            <a:spAutoFit/>
          </a:bodyPr>
          <a:lstStyle/>
          <a:p>
            <a:r>
              <a:rPr lang="zh-CN" altLang="en-US" sz="2400" dirty="0">
                <a:solidFill>
                  <a:srgbClr val="FF0000"/>
                </a:solidFill>
              </a:rPr>
              <a:t>为什么要研究优化算法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194" name="Object 3"/>
          <p:cNvGraphicFramePr>
            <a:graphicFrameLocks noGrp="1" noChangeAspect="1"/>
          </p:cNvGraphicFramePr>
          <p:nvPr>
            <p:ph/>
            <p:extLst>
              <p:ext uri="{D42A27DB-BD31-4B8C-83A1-F6EECF244321}">
                <p14:modId xmlns:p14="http://schemas.microsoft.com/office/powerpoint/2010/main" val="3363184748"/>
              </p:ext>
            </p:extLst>
          </p:nvPr>
        </p:nvGraphicFramePr>
        <p:xfrm>
          <a:off x="469900" y="596900"/>
          <a:ext cx="7854950" cy="6211888"/>
        </p:xfrm>
        <a:graphic>
          <a:graphicData uri="http://schemas.openxmlformats.org/presentationml/2006/ole">
            <mc:AlternateContent xmlns:mc="http://schemas.openxmlformats.org/markup-compatibility/2006">
              <mc:Choice xmlns:v="urn:schemas-microsoft-com:vml" Requires="v">
                <p:oleObj name="Document" r:id="rId2" imgW="5532319" imgH="4374965" progId="Word.Document.8">
                  <p:embed/>
                </p:oleObj>
              </mc:Choice>
              <mc:Fallback>
                <p:oleObj name="Document" r:id="rId2" imgW="5532319" imgH="4374965" progId="Word.Document.8">
                  <p:embed/>
                  <p:pic>
                    <p:nvPicPr>
                      <p:cNvPr id="0" name="图片 11278"/>
                      <p:cNvPicPr>
                        <a:picLocks noChangeAspect="1" noChangeArrowheads="1"/>
                      </p:cNvPicPr>
                      <p:nvPr/>
                    </p:nvPicPr>
                    <p:blipFill>
                      <a:blip r:embed="rId3"/>
                      <a:srcRect/>
                      <a:stretch>
                        <a:fillRect/>
                      </a:stretch>
                    </p:blipFill>
                    <p:spPr bwMode="auto">
                      <a:xfrm>
                        <a:off x="469900" y="596900"/>
                        <a:ext cx="7854950" cy="6211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 name="Rectangle 2"/>
          <p:cNvSpPr txBox="1">
            <a:spLocks noChangeArrowheads="1"/>
          </p:cNvSpPr>
          <p:nvPr/>
        </p:nvSpPr>
        <p:spPr>
          <a:xfrm>
            <a:off x="107504" y="188640"/>
            <a:ext cx="7772400" cy="60325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altLang="zh-CN" sz="2800" b="1" dirty="0">
                <a:solidFill>
                  <a:schemeClr val="accent6">
                    <a:lumMod val="75000"/>
                  </a:schemeClr>
                </a:solidFill>
              </a:rPr>
              <a:t>2. </a:t>
            </a:r>
            <a:r>
              <a:rPr lang="zh-CN" altLang="en-US" sz="2800" b="1" dirty="0">
                <a:solidFill>
                  <a:schemeClr val="accent6">
                    <a:lumMod val="75000"/>
                  </a:schemeClr>
                </a:solidFill>
              </a:rPr>
              <a:t>非线性规划的极值</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218" name="Object 3"/>
          <p:cNvGraphicFramePr>
            <a:graphicFrameLocks noGrp="1" noChangeAspect="1"/>
          </p:cNvGraphicFramePr>
          <p:nvPr>
            <p:ph/>
          </p:nvPr>
        </p:nvGraphicFramePr>
        <p:xfrm>
          <a:off x="244475" y="908050"/>
          <a:ext cx="8547100" cy="4338638"/>
        </p:xfrm>
        <a:graphic>
          <a:graphicData uri="http://schemas.openxmlformats.org/presentationml/2006/ole">
            <mc:AlternateContent xmlns:mc="http://schemas.openxmlformats.org/markup-compatibility/2006">
              <mc:Choice xmlns:v="urn:schemas-microsoft-com:vml" Requires="v">
                <p:oleObj name="Document" r:id="rId2" imgW="5264150" imgH="2679065" progId="Word.Document.8">
                  <p:embed/>
                </p:oleObj>
              </mc:Choice>
              <mc:Fallback>
                <p:oleObj name="Document" r:id="rId2" imgW="5264150" imgH="2679065" progId="Word.Document.8">
                  <p:embed/>
                  <p:pic>
                    <p:nvPicPr>
                      <p:cNvPr id="0" name="图片 12302"/>
                      <p:cNvPicPr>
                        <a:picLocks noChangeAspect="1" noChangeArrowheads="1"/>
                      </p:cNvPicPr>
                      <p:nvPr/>
                    </p:nvPicPr>
                    <p:blipFill>
                      <a:blip r:embed="rId3"/>
                      <a:srcRect/>
                      <a:stretch>
                        <a:fillRect/>
                      </a:stretch>
                    </p:blipFill>
                    <p:spPr bwMode="auto">
                      <a:xfrm>
                        <a:off x="244475" y="908050"/>
                        <a:ext cx="8547100" cy="4338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338" name="Object 4"/>
          <p:cNvGraphicFramePr>
            <a:graphicFrameLocks noGrp="1" noChangeAspect="1"/>
          </p:cNvGraphicFramePr>
          <p:nvPr>
            <p:ph idx="1"/>
            <p:extLst>
              <p:ext uri="{D42A27DB-BD31-4B8C-83A1-F6EECF244321}">
                <p14:modId xmlns:p14="http://schemas.microsoft.com/office/powerpoint/2010/main" val="848538382"/>
              </p:ext>
            </p:extLst>
          </p:nvPr>
        </p:nvGraphicFramePr>
        <p:xfrm>
          <a:off x="284163" y="471488"/>
          <a:ext cx="8804275" cy="4884737"/>
        </p:xfrm>
        <a:graphic>
          <a:graphicData uri="http://schemas.openxmlformats.org/presentationml/2006/ole">
            <mc:AlternateContent xmlns:mc="http://schemas.openxmlformats.org/markup-compatibility/2006">
              <mc:Choice xmlns:v="urn:schemas-microsoft-com:vml" Requires="v">
                <p:oleObj name="Document" r:id="rId2" imgW="5259632" imgH="2917905" progId="Word.Document.8">
                  <p:embed/>
                </p:oleObj>
              </mc:Choice>
              <mc:Fallback>
                <p:oleObj name="Document" r:id="rId2" imgW="5259632" imgH="2917905" progId="Word.Document.8">
                  <p:embed/>
                  <p:pic>
                    <p:nvPicPr>
                      <p:cNvPr id="0" name="图片 16388"/>
                      <p:cNvPicPr>
                        <a:picLocks noChangeAspect="1" noChangeArrowheads="1"/>
                      </p:cNvPicPr>
                      <p:nvPr/>
                    </p:nvPicPr>
                    <p:blipFill>
                      <a:blip r:embed="rId3"/>
                      <a:srcRect/>
                      <a:stretch>
                        <a:fillRect/>
                      </a:stretch>
                    </p:blipFill>
                    <p:spPr bwMode="auto">
                      <a:xfrm>
                        <a:off x="284163" y="471488"/>
                        <a:ext cx="8804275" cy="4884737"/>
                      </a:xfrm>
                      <a:prstGeom prst="rect">
                        <a:avLst/>
                      </a:prstGeom>
                      <a:noFill/>
                      <a:ln>
                        <a:noFill/>
                      </a:ln>
                      <a:effectLst/>
                    </p:spPr>
                  </p:pic>
                </p:oleObj>
              </mc:Fallback>
            </mc:AlternateContent>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362" name="Object 3"/>
          <p:cNvGraphicFramePr>
            <a:graphicFrameLocks noGrp="1" noChangeAspect="1"/>
          </p:cNvGraphicFramePr>
          <p:nvPr>
            <p:ph/>
            <p:extLst>
              <p:ext uri="{D42A27DB-BD31-4B8C-83A1-F6EECF244321}">
                <p14:modId xmlns:p14="http://schemas.microsoft.com/office/powerpoint/2010/main" val="2505316621"/>
              </p:ext>
            </p:extLst>
          </p:nvPr>
        </p:nvGraphicFramePr>
        <p:xfrm>
          <a:off x="412750" y="492125"/>
          <a:ext cx="8088313" cy="5614988"/>
        </p:xfrm>
        <a:graphic>
          <a:graphicData uri="http://schemas.openxmlformats.org/presentationml/2006/ole">
            <mc:AlternateContent xmlns:mc="http://schemas.openxmlformats.org/markup-compatibility/2006">
              <mc:Choice xmlns:v="urn:schemas-microsoft-com:vml" Requires="v">
                <p:oleObj name="Document" r:id="rId2" imgW="5259632" imgH="3651251" progId="Word.Document.8">
                  <p:embed/>
                </p:oleObj>
              </mc:Choice>
              <mc:Fallback>
                <p:oleObj name="Document" r:id="rId2" imgW="5259632" imgH="3651251" progId="Word.Document.8">
                  <p:embed/>
                  <p:pic>
                    <p:nvPicPr>
                      <p:cNvPr id="0" name="图片 17412"/>
                      <p:cNvPicPr>
                        <a:picLocks noChangeAspect="1" noChangeArrowheads="1"/>
                      </p:cNvPicPr>
                      <p:nvPr/>
                    </p:nvPicPr>
                    <p:blipFill>
                      <a:blip r:embed="rId3"/>
                      <a:srcRect/>
                      <a:stretch>
                        <a:fillRect/>
                      </a:stretch>
                    </p:blipFill>
                    <p:spPr bwMode="auto">
                      <a:xfrm>
                        <a:off x="412750" y="492125"/>
                        <a:ext cx="8088313" cy="5614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1C2DF057-7F51-4450-903E-F43FFDE65818}"/>
                  </a:ext>
                </a:extLst>
              </p:cNvPr>
              <p:cNvSpPr txBox="1"/>
              <p:nvPr/>
            </p:nvSpPr>
            <p:spPr>
              <a:xfrm>
                <a:off x="559551" y="2257271"/>
                <a:ext cx="7272808" cy="2976199"/>
              </a:xfrm>
              <a:prstGeom prst="rect">
                <a:avLst/>
              </a:prstGeom>
              <a:noFill/>
            </p:spPr>
            <p:txBody>
              <a:bodyPr wrap="square">
                <a:spAutoFit/>
              </a:bodyPr>
              <a:lstStyle/>
              <a:p>
                <a:pPr algn="just">
                  <a:lnSpc>
                    <a:spcPct val="150000"/>
                  </a:lnSpc>
                </a:pPr>
                <a:r>
                  <a:rPr lang="zh-CN" altLang="zh-CN" sz="2800" kern="100" dirty="0">
                    <a:effectLst/>
                    <a:latin typeface="+mn-ea"/>
                    <a:cs typeface="Times New Roman" panose="02020603050405020304" pitchFamily="18" charset="0"/>
                  </a:rPr>
                  <a:t>解：记</a:t>
                </a:r>
                <a14:m>
                  <m:oMath xmlns:m="http://schemas.openxmlformats.org/officeDocument/2006/math">
                    <m:r>
                      <a:rPr lang="en-US" altLang="zh-CN" sz="2800" i="1" kern="100">
                        <a:effectLst/>
                        <a:latin typeface="Cambria Math" panose="02040503050406030204" pitchFamily="18" charset="0"/>
                        <a:cs typeface="Times New Roman" panose="02020603050405020304" pitchFamily="18" charset="0"/>
                      </a:rPr>
                      <m:t>𝑎</m:t>
                    </m:r>
                    <m:r>
                      <a:rPr lang="en-US" altLang="zh-CN" sz="2800" i="1" kern="100">
                        <a:effectLst/>
                        <a:latin typeface="Cambria Math" panose="02040503050406030204" pitchFamily="18" charset="0"/>
                        <a:cs typeface="Times New Roman" panose="02020603050405020304" pitchFamily="18" charset="0"/>
                      </a:rPr>
                      <m:t>=</m:t>
                    </m:r>
                    <m:d>
                      <m:dPr>
                        <m:ctrlPr>
                          <a:rPr lang="zh-CN" altLang="zh-CN" sz="2800" i="1" kern="100">
                            <a:effectLst/>
                            <a:latin typeface="Cambria Math" panose="02040503050406030204" pitchFamily="18" charset="0"/>
                            <a:cs typeface="Times New Roman" panose="02020603050405020304" pitchFamily="18" charset="0"/>
                          </a:rPr>
                        </m:ctrlPr>
                      </m:dPr>
                      <m:e>
                        <m:sSub>
                          <m:sSubPr>
                            <m:ctrlPr>
                              <a:rPr lang="zh-CN" altLang="zh-CN" sz="2800" i="1" kern="100">
                                <a:effectLst/>
                                <a:latin typeface="Cambria Math" panose="02040503050406030204" pitchFamily="18" charset="0"/>
                                <a:cs typeface="Times New Roman" panose="02020603050405020304" pitchFamily="18" charset="0"/>
                              </a:rPr>
                            </m:ctrlPr>
                          </m:sSubPr>
                          <m:e>
                            <m:r>
                              <a:rPr lang="en-US" altLang="zh-CN" sz="2800" i="1" kern="100">
                                <a:effectLst/>
                                <a:latin typeface="Cambria Math" panose="02040503050406030204" pitchFamily="18" charset="0"/>
                                <a:cs typeface="Times New Roman" panose="02020603050405020304" pitchFamily="18" charset="0"/>
                              </a:rPr>
                              <m:t>𝑎</m:t>
                            </m:r>
                          </m:e>
                          <m:sub>
                            <m:r>
                              <a:rPr lang="en-US" altLang="zh-CN" sz="2800" i="1" kern="100">
                                <a:effectLst/>
                                <a:latin typeface="Cambria Math" panose="02040503050406030204" pitchFamily="18" charset="0"/>
                                <a:cs typeface="Times New Roman" panose="02020603050405020304" pitchFamily="18" charset="0"/>
                              </a:rPr>
                              <m:t>1</m:t>
                            </m:r>
                          </m:sub>
                        </m:sSub>
                        <m:r>
                          <a:rPr lang="en-US" altLang="zh-CN" sz="2800" i="1" kern="100">
                            <a:effectLst/>
                            <a:latin typeface="Cambria Math" panose="02040503050406030204" pitchFamily="18" charset="0"/>
                            <a:cs typeface="Times New Roman" panose="02020603050405020304" pitchFamily="18" charset="0"/>
                          </a:rPr>
                          <m:t>,⋯,</m:t>
                        </m:r>
                        <m:sSub>
                          <m:sSubPr>
                            <m:ctrlPr>
                              <a:rPr lang="zh-CN" altLang="zh-CN" sz="2800" i="1" kern="100">
                                <a:effectLst/>
                                <a:latin typeface="Cambria Math" panose="02040503050406030204" pitchFamily="18" charset="0"/>
                                <a:cs typeface="Times New Roman" panose="02020603050405020304" pitchFamily="18" charset="0"/>
                              </a:rPr>
                            </m:ctrlPr>
                          </m:sSubPr>
                          <m:e>
                            <m:r>
                              <a:rPr lang="en-US" altLang="zh-CN" sz="2800" i="1" kern="100">
                                <a:effectLst/>
                                <a:latin typeface="Cambria Math" panose="02040503050406030204" pitchFamily="18" charset="0"/>
                                <a:cs typeface="Times New Roman" panose="02020603050405020304" pitchFamily="18" charset="0"/>
                              </a:rPr>
                              <m:t>𝑎</m:t>
                            </m:r>
                          </m:e>
                          <m:sub>
                            <m:r>
                              <a:rPr lang="en-US" altLang="zh-CN" sz="2800" i="1" kern="100">
                                <a:effectLst/>
                                <a:latin typeface="Cambria Math" panose="02040503050406030204" pitchFamily="18" charset="0"/>
                                <a:cs typeface="Times New Roman" panose="02020603050405020304" pitchFamily="18" charset="0"/>
                              </a:rPr>
                              <m:t>𝑛</m:t>
                            </m:r>
                          </m:sub>
                        </m:sSub>
                      </m:e>
                    </m:d>
                    <m:r>
                      <a:rPr lang="en-US" altLang="zh-CN" sz="2800" i="1" kern="100">
                        <a:effectLst/>
                        <a:latin typeface="Cambria Math" panose="02040503050406030204" pitchFamily="18" charset="0"/>
                        <a:cs typeface="Times New Roman" panose="02020603050405020304" pitchFamily="18" charset="0"/>
                      </a:rPr>
                      <m:t>, </m:t>
                    </m:r>
                    <m:r>
                      <a:rPr lang="en-US" altLang="zh-CN" sz="2800" i="1" kern="100">
                        <a:effectLst/>
                        <a:latin typeface="Cambria Math" panose="02040503050406030204" pitchFamily="18" charset="0"/>
                        <a:cs typeface="Times New Roman" panose="02020603050405020304" pitchFamily="18" charset="0"/>
                      </a:rPr>
                      <m:t>𝑥</m:t>
                    </m:r>
                    <m:r>
                      <a:rPr lang="en-US" altLang="zh-CN" sz="2800" i="1" kern="100">
                        <a:effectLst/>
                        <a:latin typeface="Cambria Math" panose="02040503050406030204" pitchFamily="18" charset="0"/>
                        <a:cs typeface="Times New Roman" panose="02020603050405020304" pitchFamily="18" charset="0"/>
                      </a:rPr>
                      <m:t>=</m:t>
                    </m:r>
                    <m:d>
                      <m:dPr>
                        <m:ctrlPr>
                          <a:rPr lang="zh-CN" altLang="zh-CN" sz="2800" i="1" kern="100">
                            <a:effectLst/>
                            <a:latin typeface="Cambria Math" panose="02040503050406030204" pitchFamily="18" charset="0"/>
                            <a:cs typeface="Times New Roman" panose="02020603050405020304" pitchFamily="18" charset="0"/>
                          </a:rPr>
                        </m:ctrlPr>
                      </m:dPr>
                      <m:e>
                        <m:sSub>
                          <m:sSubPr>
                            <m:ctrlPr>
                              <a:rPr lang="zh-CN" altLang="zh-CN" sz="2800" i="1" kern="100">
                                <a:effectLst/>
                                <a:latin typeface="Cambria Math" panose="02040503050406030204" pitchFamily="18" charset="0"/>
                                <a:cs typeface="Times New Roman" panose="02020603050405020304" pitchFamily="18" charset="0"/>
                              </a:rPr>
                            </m:ctrlPr>
                          </m:sSubPr>
                          <m:e>
                            <m:r>
                              <a:rPr lang="en-US" altLang="zh-CN" sz="2800" i="1" kern="100">
                                <a:effectLst/>
                                <a:latin typeface="Cambria Math" panose="02040503050406030204" pitchFamily="18" charset="0"/>
                                <a:cs typeface="Times New Roman" panose="02020603050405020304" pitchFamily="18" charset="0"/>
                              </a:rPr>
                              <m:t>𝑥</m:t>
                            </m:r>
                          </m:e>
                          <m:sub>
                            <m:r>
                              <a:rPr lang="en-US" altLang="zh-CN" sz="2800" i="1" kern="100">
                                <a:effectLst/>
                                <a:latin typeface="Cambria Math" panose="02040503050406030204" pitchFamily="18" charset="0"/>
                                <a:cs typeface="Times New Roman" panose="02020603050405020304" pitchFamily="18" charset="0"/>
                              </a:rPr>
                              <m:t>1</m:t>
                            </m:r>
                          </m:sub>
                        </m:sSub>
                        <m:r>
                          <a:rPr lang="en-US" altLang="zh-CN" sz="2800" i="1" kern="100">
                            <a:effectLst/>
                            <a:latin typeface="Cambria Math" panose="02040503050406030204" pitchFamily="18" charset="0"/>
                            <a:cs typeface="Times New Roman" panose="02020603050405020304" pitchFamily="18" charset="0"/>
                          </a:rPr>
                          <m:t>,⋯,</m:t>
                        </m:r>
                        <m:sSub>
                          <m:sSubPr>
                            <m:ctrlPr>
                              <a:rPr lang="zh-CN" altLang="zh-CN" sz="2800" i="1" kern="100">
                                <a:effectLst/>
                                <a:latin typeface="Cambria Math" panose="02040503050406030204" pitchFamily="18" charset="0"/>
                                <a:cs typeface="Times New Roman" panose="02020603050405020304" pitchFamily="18" charset="0"/>
                              </a:rPr>
                            </m:ctrlPr>
                          </m:sSubPr>
                          <m:e>
                            <m:r>
                              <a:rPr lang="en-US" altLang="zh-CN" sz="2800" i="1" kern="100">
                                <a:effectLst/>
                                <a:latin typeface="Cambria Math" panose="02040503050406030204" pitchFamily="18" charset="0"/>
                                <a:cs typeface="Times New Roman" panose="02020603050405020304" pitchFamily="18" charset="0"/>
                              </a:rPr>
                              <m:t>𝑥</m:t>
                            </m:r>
                          </m:e>
                          <m:sub>
                            <m:r>
                              <a:rPr lang="en-US" altLang="zh-CN" sz="2800" i="1" kern="100">
                                <a:effectLst/>
                                <a:latin typeface="Cambria Math" panose="02040503050406030204" pitchFamily="18" charset="0"/>
                                <a:cs typeface="Times New Roman" panose="02020603050405020304" pitchFamily="18" charset="0"/>
                              </a:rPr>
                              <m:t>𝑛</m:t>
                            </m:r>
                          </m:sub>
                        </m:sSub>
                      </m:e>
                    </m:d>
                  </m:oMath>
                </a14:m>
                <a:r>
                  <a:rPr lang="zh-CN" altLang="zh-CN" sz="2800" kern="100" dirty="0">
                    <a:effectLst/>
                    <a:latin typeface="+mn-ea"/>
                    <a:cs typeface="Times New Roman" panose="02020603050405020304" pitchFamily="18" charset="0"/>
                  </a:rPr>
                  <a:t>，则</a:t>
                </a:r>
              </a:p>
              <a:p>
                <a:pPr algn="ctr">
                  <a:lnSpc>
                    <a:spcPct val="150000"/>
                  </a:lnSpc>
                </a:pPr>
                <a14:m>
                  <m:oMathPara xmlns:m="http://schemas.openxmlformats.org/officeDocument/2006/math">
                    <m:oMathParaPr>
                      <m:jc m:val="centerGroup"/>
                    </m:oMathParaPr>
                    <m:oMath xmlns:m="http://schemas.openxmlformats.org/officeDocument/2006/math">
                      <m:r>
                        <a:rPr lang="en-US" altLang="zh-CN" sz="2800" i="1" kern="100">
                          <a:effectLst/>
                          <a:latin typeface="Cambria Math" panose="02040503050406030204" pitchFamily="18" charset="0"/>
                          <a:cs typeface="Times New Roman" panose="02020603050405020304" pitchFamily="18" charset="0"/>
                        </a:rPr>
                        <m:t>𝑓</m:t>
                      </m:r>
                      <m:d>
                        <m:dPr>
                          <m:ctrlPr>
                            <a:rPr lang="zh-CN" altLang="zh-CN" sz="2800" i="1" kern="100">
                              <a:effectLst/>
                              <a:latin typeface="Cambria Math" panose="02040503050406030204" pitchFamily="18" charset="0"/>
                              <a:cs typeface="Times New Roman" panose="02020603050405020304" pitchFamily="18" charset="0"/>
                            </a:rPr>
                          </m:ctrlPr>
                        </m:dPr>
                        <m:e>
                          <m:r>
                            <a:rPr lang="en-US" altLang="zh-CN" sz="2800" i="1" kern="100">
                              <a:effectLst/>
                              <a:latin typeface="Cambria Math" panose="02040503050406030204" pitchFamily="18" charset="0"/>
                              <a:cs typeface="Times New Roman" panose="02020603050405020304" pitchFamily="18" charset="0"/>
                            </a:rPr>
                            <m:t>𝑥</m:t>
                          </m:r>
                        </m:e>
                      </m:d>
                      <m:r>
                        <a:rPr lang="en-US" altLang="zh-CN" sz="2800" i="1" kern="100">
                          <a:effectLst/>
                          <a:latin typeface="Cambria Math" panose="02040503050406030204" pitchFamily="18" charset="0"/>
                          <a:cs typeface="Times New Roman" panose="02020603050405020304" pitchFamily="18" charset="0"/>
                        </a:rPr>
                        <m:t>=</m:t>
                      </m:r>
                      <m:sSub>
                        <m:sSubPr>
                          <m:ctrlPr>
                            <a:rPr lang="zh-CN" altLang="zh-CN" sz="2800" i="1" kern="100">
                              <a:effectLst/>
                              <a:latin typeface="Cambria Math" panose="02040503050406030204" pitchFamily="18" charset="0"/>
                              <a:cs typeface="Times New Roman" panose="02020603050405020304" pitchFamily="18" charset="0"/>
                            </a:rPr>
                          </m:ctrlPr>
                        </m:sSubPr>
                        <m:e>
                          <m:r>
                            <a:rPr lang="en-US" altLang="zh-CN" sz="2800" i="1" kern="100">
                              <a:effectLst/>
                              <a:latin typeface="Cambria Math" panose="02040503050406030204" pitchFamily="18" charset="0"/>
                              <a:cs typeface="Times New Roman" panose="02020603050405020304" pitchFamily="18" charset="0"/>
                            </a:rPr>
                            <m:t>𝑎</m:t>
                          </m:r>
                        </m:e>
                        <m:sub>
                          <m:r>
                            <a:rPr lang="en-US" altLang="zh-CN" sz="2800" i="1" kern="100">
                              <a:effectLst/>
                              <a:latin typeface="Cambria Math" panose="02040503050406030204" pitchFamily="18" charset="0"/>
                              <a:cs typeface="Times New Roman" panose="02020603050405020304" pitchFamily="18" charset="0"/>
                            </a:rPr>
                            <m:t>1</m:t>
                          </m:r>
                        </m:sub>
                      </m:sSub>
                      <m:sSub>
                        <m:sSubPr>
                          <m:ctrlPr>
                            <a:rPr lang="zh-CN" altLang="zh-CN" sz="2800" i="1" kern="100">
                              <a:effectLst/>
                              <a:latin typeface="Cambria Math" panose="02040503050406030204" pitchFamily="18" charset="0"/>
                              <a:cs typeface="Times New Roman" panose="02020603050405020304" pitchFamily="18" charset="0"/>
                            </a:rPr>
                          </m:ctrlPr>
                        </m:sSubPr>
                        <m:e>
                          <m:r>
                            <a:rPr lang="en-US" altLang="zh-CN" sz="2800" i="1" kern="100">
                              <a:effectLst/>
                              <a:latin typeface="Cambria Math" panose="02040503050406030204" pitchFamily="18" charset="0"/>
                              <a:cs typeface="Times New Roman" panose="02020603050405020304" pitchFamily="18" charset="0"/>
                            </a:rPr>
                            <m:t>𝑥</m:t>
                          </m:r>
                        </m:e>
                        <m:sub>
                          <m:r>
                            <a:rPr lang="en-US" altLang="zh-CN" sz="2800" i="1" kern="100">
                              <a:effectLst/>
                              <a:latin typeface="Cambria Math" panose="02040503050406030204" pitchFamily="18" charset="0"/>
                              <a:cs typeface="Times New Roman" panose="02020603050405020304" pitchFamily="18" charset="0"/>
                            </a:rPr>
                            <m:t>1</m:t>
                          </m:r>
                        </m:sub>
                      </m:sSub>
                      <m:r>
                        <a:rPr lang="en-US" altLang="zh-CN" sz="2800" i="1" kern="100">
                          <a:effectLst/>
                          <a:latin typeface="Cambria Math" panose="02040503050406030204" pitchFamily="18" charset="0"/>
                          <a:cs typeface="Times New Roman" panose="02020603050405020304" pitchFamily="18" charset="0"/>
                        </a:rPr>
                        <m:t>+⋯+</m:t>
                      </m:r>
                      <m:sSub>
                        <m:sSubPr>
                          <m:ctrlPr>
                            <a:rPr lang="zh-CN" altLang="zh-CN" sz="2800" i="1" kern="100">
                              <a:effectLst/>
                              <a:latin typeface="Cambria Math" panose="02040503050406030204" pitchFamily="18" charset="0"/>
                              <a:cs typeface="Times New Roman" panose="02020603050405020304" pitchFamily="18" charset="0"/>
                            </a:rPr>
                          </m:ctrlPr>
                        </m:sSubPr>
                        <m:e>
                          <m:r>
                            <a:rPr lang="en-US" altLang="zh-CN" sz="2800" i="1" kern="100">
                              <a:effectLst/>
                              <a:latin typeface="Cambria Math" panose="02040503050406030204" pitchFamily="18" charset="0"/>
                              <a:cs typeface="Times New Roman" panose="02020603050405020304" pitchFamily="18" charset="0"/>
                            </a:rPr>
                            <m:t>𝑎</m:t>
                          </m:r>
                        </m:e>
                        <m:sub>
                          <m:r>
                            <a:rPr lang="en-US" altLang="zh-CN" sz="2800" i="1" kern="100">
                              <a:effectLst/>
                              <a:latin typeface="Cambria Math" panose="02040503050406030204" pitchFamily="18" charset="0"/>
                              <a:cs typeface="Times New Roman" panose="02020603050405020304" pitchFamily="18" charset="0"/>
                            </a:rPr>
                            <m:t>𝑛</m:t>
                          </m:r>
                        </m:sub>
                      </m:sSub>
                      <m:sSub>
                        <m:sSubPr>
                          <m:ctrlPr>
                            <a:rPr lang="zh-CN" altLang="zh-CN" sz="2800" i="1" kern="100">
                              <a:effectLst/>
                              <a:latin typeface="Cambria Math" panose="02040503050406030204" pitchFamily="18" charset="0"/>
                              <a:cs typeface="Times New Roman" panose="02020603050405020304" pitchFamily="18" charset="0"/>
                            </a:rPr>
                          </m:ctrlPr>
                        </m:sSubPr>
                        <m:e>
                          <m:r>
                            <a:rPr lang="en-US" altLang="zh-CN" sz="2800" i="1" kern="100">
                              <a:effectLst/>
                              <a:latin typeface="Cambria Math" panose="02040503050406030204" pitchFamily="18" charset="0"/>
                              <a:cs typeface="Times New Roman" panose="02020603050405020304" pitchFamily="18" charset="0"/>
                            </a:rPr>
                            <m:t>𝑥</m:t>
                          </m:r>
                        </m:e>
                        <m:sub>
                          <m:r>
                            <a:rPr lang="en-US" altLang="zh-CN" sz="2800" i="1" kern="100">
                              <a:effectLst/>
                              <a:latin typeface="Cambria Math" panose="02040503050406030204" pitchFamily="18" charset="0"/>
                              <a:cs typeface="Times New Roman" panose="02020603050405020304" pitchFamily="18" charset="0"/>
                            </a:rPr>
                            <m:t>𝑛</m:t>
                          </m:r>
                        </m:sub>
                      </m:sSub>
                    </m:oMath>
                  </m:oMathPara>
                </a14:m>
                <a:endParaRPr lang="zh-CN" altLang="zh-CN" sz="2800" kern="100" dirty="0">
                  <a:effectLst/>
                  <a:latin typeface="+mn-ea"/>
                  <a:cs typeface="Times New Roman" panose="02020603050405020304" pitchFamily="18" charset="0"/>
                </a:endParaRPr>
              </a:p>
              <a:p>
                <a:pPr algn="just">
                  <a:lnSpc>
                    <a:spcPct val="150000"/>
                  </a:lnSpc>
                </a:pPr>
                <a:r>
                  <a:rPr lang="zh-CN" altLang="zh-CN" sz="2800" kern="100" dirty="0">
                    <a:effectLst/>
                    <a:latin typeface="+mn-ea"/>
                    <a:cs typeface="Times New Roman" panose="02020603050405020304" pitchFamily="18" charset="0"/>
                  </a:rPr>
                  <a:t>计算得</a:t>
                </a:r>
                <a14:m>
                  <m:oMath xmlns:m="http://schemas.openxmlformats.org/officeDocument/2006/math">
                    <m:f>
                      <m:fPr>
                        <m:ctrlPr>
                          <a:rPr lang="zh-CN" altLang="zh-CN" sz="2800" i="1" kern="100">
                            <a:effectLst/>
                            <a:latin typeface="Cambria Math" panose="02040503050406030204" pitchFamily="18" charset="0"/>
                            <a:cs typeface="Times New Roman" panose="02020603050405020304" pitchFamily="18" charset="0"/>
                          </a:rPr>
                        </m:ctrlPr>
                      </m:fPr>
                      <m:num>
                        <m:r>
                          <a:rPr lang="en-US" altLang="zh-CN" sz="2800" i="1" kern="100">
                            <a:effectLst/>
                            <a:latin typeface="Cambria Math" panose="02040503050406030204" pitchFamily="18" charset="0"/>
                            <a:cs typeface="Times New Roman" panose="02020603050405020304" pitchFamily="18" charset="0"/>
                          </a:rPr>
                          <m:t>𝜕</m:t>
                        </m:r>
                        <m:r>
                          <a:rPr lang="en-US" altLang="zh-CN" sz="2800" i="1" kern="100">
                            <a:effectLst/>
                            <a:latin typeface="Cambria Math" panose="02040503050406030204" pitchFamily="18" charset="0"/>
                            <a:cs typeface="Times New Roman" panose="02020603050405020304" pitchFamily="18" charset="0"/>
                          </a:rPr>
                          <m:t>𝑓</m:t>
                        </m:r>
                      </m:num>
                      <m:den>
                        <m:r>
                          <a:rPr lang="en-US" altLang="zh-CN" sz="2800" i="1" kern="100">
                            <a:effectLst/>
                            <a:latin typeface="Cambria Math" panose="02040503050406030204" pitchFamily="18" charset="0"/>
                            <a:cs typeface="Times New Roman" panose="02020603050405020304" pitchFamily="18" charset="0"/>
                          </a:rPr>
                          <m:t>𝜕</m:t>
                        </m:r>
                        <m:sSub>
                          <m:sSubPr>
                            <m:ctrlPr>
                              <a:rPr lang="zh-CN" altLang="zh-CN" sz="2800" i="1" kern="100">
                                <a:effectLst/>
                                <a:latin typeface="Cambria Math" panose="02040503050406030204" pitchFamily="18" charset="0"/>
                                <a:cs typeface="Times New Roman" panose="02020603050405020304" pitchFamily="18" charset="0"/>
                              </a:rPr>
                            </m:ctrlPr>
                          </m:sSubPr>
                          <m:e>
                            <m:r>
                              <a:rPr lang="en-US" altLang="zh-CN" sz="2800" i="1" kern="100">
                                <a:effectLst/>
                                <a:latin typeface="Cambria Math" panose="02040503050406030204" pitchFamily="18" charset="0"/>
                                <a:cs typeface="Times New Roman" panose="02020603050405020304" pitchFamily="18" charset="0"/>
                              </a:rPr>
                              <m:t>𝑥</m:t>
                            </m:r>
                          </m:e>
                          <m:sub>
                            <m:r>
                              <a:rPr lang="en-US" altLang="zh-CN" sz="2800" i="1" kern="100">
                                <a:effectLst/>
                                <a:latin typeface="Cambria Math" panose="02040503050406030204" pitchFamily="18" charset="0"/>
                                <a:cs typeface="Times New Roman" panose="02020603050405020304" pitchFamily="18" charset="0"/>
                              </a:rPr>
                              <m:t>1</m:t>
                            </m:r>
                          </m:sub>
                        </m:sSub>
                      </m:den>
                    </m:f>
                    <m:r>
                      <a:rPr lang="en-US" altLang="zh-CN" sz="2800" i="1" kern="100">
                        <a:effectLst/>
                        <a:latin typeface="Cambria Math" panose="02040503050406030204" pitchFamily="18" charset="0"/>
                        <a:cs typeface="Times New Roman" panose="02020603050405020304" pitchFamily="18" charset="0"/>
                      </a:rPr>
                      <m:t>=</m:t>
                    </m:r>
                    <m:sSub>
                      <m:sSubPr>
                        <m:ctrlPr>
                          <a:rPr lang="zh-CN" altLang="zh-CN" sz="2800" i="1" kern="100">
                            <a:effectLst/>
                            <a:latin typeface="Cambria Math" panose="02040503050406030204" pitchFamily="18" charset="0"/>
                            <a:cs typeface="Times New Roman" panose="02020603050405020304" pitchFamily="18" charset="0"/>
                          </a:rPr>
                        </m:ctrlPr>
                      </m:sSubPr>
                      <m:e>
                        <m:r>
                          <a:rPr lang="en-US" altLang="zh-CN" sz="2800" i="1" kern="100">
                            <a:effectLst/>
                            <a:latin typeface="Cambria Math" panose="02040503050406030204" pitchFamily="18" charset="0"/>
                            <a:cs typeface="Times New Roman" panose="02020603050405020304" pitchFamily="18" charset="0"/>
                          </a:rPr>
                          <m:t>𝑎</m:t>
                        </m:r>
                      </m:e>
                      <m:sub>
                        <m:r>
                          <a:rPr lang="en-US" altLang="zh-CN" sz="2800" i="1" kern="100">
                            <a:effectLst/>
                            <a:latin typeface="Cambria Math" panose="02040503050406030204" pitchFamily="18" charset="0"/>
                            <a:cs typeface="Times New Roman" panose="02020603050405020304" pitchFamily="18" charset="0"/>
                          </a:rPr>
                          <m:t>1</m:t>
                        </m:r>
                      </m:sub>
                    </m:sSub>
                    <m:r>
                      <a:rPr lang="en-US" altLang="zh-CN" sz="2800" i="1" kern="100">
                        <a:effectLst/>
                        <a:latin typeface="Cambria Math" panose="02040503050406030204" pitchFamily="18" charset="0"/>
                        <a:cs typeface="Times New Roman" panose="02020603050405020304" pitchFamily="18" charset="0"/>
                      </a:rPr>
                      <m:t>, ⋯, </m:t>
                    </m:r>
                    <m:f>
                      <m:fPr>
                        <m:ctrlPr>
                          <a:rPr lang="zh-CN" altLang="zh-CN" sz="2800" i="1" kern="100">
                            <a:effectLst/>
                            <a:latin typeface="Cambria Math" panose="02040503050406030204" pitchFamily="18" charset="0"/>
                            <a:cs typeface="Times New Roman" panose="02020603050405020304" pitchFamily="18" charset="0"/>
                          </a:rPr>
                        </m:ctrlPr>
                      </m:fPr>
                      <m:num>
                        <m:r>
                          <a:rPr lang="en-US" altLang="zh-CN" sz="2800" i="1" kern="100">
                            <a:effectLst/>
                            <a:latin typeface="Cambria Math" panose="02040503050406030204" pitchFamily="18" charset="0"/>
                            <a:cs typeface="Times New Roman" panose="02020603050405020304" pitchFamily="18" charset="0"/>
                          </a:rPr>
                          <m:t>𝜕</m:t>
                        </m:r>
                        <m:r>
                          <a:rPr lang="en-US" altLang="zh-CN" sz="2800" i="1" kern="100">
                            <a:effectLst/>
                            <a:latin typeface="Cambria Math" panose="02040503050406030204" pitchFamily="18" charset="0"/>
                            <a:cs typeface="Times New Roman" panose="02020603050405020304" pitchFamily="18" charset="0"/>
                          </a:rPr>
                          <m:t>𝑓</m:t>
                        </m:r>
                      </m:num>
                      <m:den>
                        <m:r>
                          <a:rPr lang="en-US" altLang="zh-CN" sz="2800" i="1" kern="100">
                            <a:effectLst/>
                            <a:latin typeface="Cambria Math" panose="02040503050406030204" pitchFamily="18" charset="0"/>
                            <a:cs typeface="Times New Roman" panose="02020603050405020304" pitchFamily="18" charset="0"/>
                          </a:rPr>
                          <m:t>𝜕</m:t>
                        </m:r>
                        <m:sSub>
                          <m:sSubPr>
                            <m:ctrlPr>
                              <a:rPr lang="zh-CN" altLang="zh-CN" sz="2800" i="1" kern="100">
                                <a:effectLst/>
                                <a:latin typeface="Cambria Math" panose="02040503050406030204" pitchFamily="18" charset="0"/>
                                <a:cs typeface="Times New Roman" panose="02020603050405020304" pitchFamily="18" charset="0"/>
                              </a:rPr>
                            </m:ctrlPr>
                          </m:sSubPr>
                          <m:e>
                            <m:r>
                              <a:rPr lang="en-US" altLang="zh-CN" sz="2800" i="1" kern="100">
                                <a:effectLst/>
                                <a:latin typeface="Cambria Math" panose="02040503050406030204" pitchFamily="18" charset="0"/>
                                <a:cs typeface="Times New Roman" panose="02020603050405020304" pitchFamily="18" charset="0"/>
                              </a:rPr>
                              <m:t>𝑥</m:t>
                            </m:r>
                          </m:e>
                          <m:sub>
                            <m:r>
                              <a:rPr lang="en-US" altLang="zh-CN" sz="2800" i="1" kern="100">
                                <a:effectLst/>
                                <a:latin typeface="Cambria Math" panose="02040503050406030204" pitchFamily="18" charset="0"/>
                                <a:cs typeface="Times New Roman" panose="02020603050405020304" pitchFamily="18" charset="0"/>
                              </a:rPr>
                              <m:t>𝑛</m:t>
                            </m:r>
                          </m:sub>
                        </m:sSub>
                      </m:den>
                    </m:f>
                    <m:r>
                      <a:rPr lang="en-US" altLang="zh-CN" sz="2800" i="1" kern="100">
                        <a:effectLst/>
                        <a:latin typeface="Cambria Math" panose="02040503050406030204" pitchFamily="18" charset="0"/>
                        <a:cs typeface="Times New Roman" panose="02020603050405020304" pitchFamily="18" charset="0"/>
                      </a:rPr>
                      <m:t>=</m:t>
                    </m:r>
                    <m:sSub>
                      <m:sSubPr>
                        <m:ctrlPr>
                          <a:rPr lang="zh-CN" altLang="zh-CN" sz="2800" i="1" kern="100">
                            <a:effectLst/>
                            <a:latin typeface="Cambria Math" panose="02040503050406030204" pitchFamily="18" charset="0"/>
                            <a:cs typeface="Times New Roman" panose="02020603050405020304" pitchFamily="18" charset="0"/>
                          </a:rPr>
                        </m:ctrlPr>
                      </m:sSubPr>
                      <m:e>
                        <m:r>
                          <a:rPr lang="en-US" altLang="zh-CN" sz="2800" i="1" kern="100">
                            <a:effectLst/>
                            <a:latin typeface="Cambria Math" panose="02040503050406030204" pitchFamily="18" charset="0"/>
                            <a:cs typeface="Times New Roman" panose="02020603050405020304" pitchFamily="18" charset="0"/>
                          </a:rPr>
                          <m:t>𝑎</m:t>
                        </m:r>
                      </m:e>
                      <m:sub>
                        <m:r>
                          <a:rPr lang="en-US" altLang="zh-CN" sz="2800" i="1" kern="100">
                            <a:effectLst/>
                            <a:latin typeface="Cambria Math" panose="02040503050406030204" pitchFamily="18" charset="0"/>
                            <a:cs typeface="Times New Roman" panose="02020603050405020304" pitchFamily="18" charset="0"/>
                          </a:rPr>
                          <m:t>𝑛</m:t>
                        </m:r>
                      </m:sub>
                    </m:sSub>
                  </m:oMath>
                </a14:m>
                <a:r>
                  <a:rPr lang="zh-CN" altLang="zh-CN" sz="2800" kern="100" dirty="0">
                    <a:effectLst/>
                    <a:latin typeface="+mn-ea"/>
                    <a:cs typeface="Times New Roman" panose="02020603050405020304" pitchFamily="18" charset="0"/>
                  </a:rPr>
                  <a:t>，所以</a:t>
                </a:r>
                <a14:m>
                  <m:oMath xmlns:m="http://schemas.openxmlformats.org/officeDocument/2006/math">
                    <m:r>
                      <m:rPr>
                        <m:sty m:val="p"/>
                      </m:rPr>
                      <a:rPr lang="en-US" altLang="zh-CN" sz="2800" kern="100">
                        <a:effectLst/>
                        <a:latin typeface="Cambria Math" panose="02040503050406030204" pitchFamily="18" charset="0"/>
                        <a:cs typeface="Times New Roman" panose="02020603050405020304" pitchFamily="18" charset="0"/>
                      </a:rPr>
                      <m:t>∇</m:t>
                    </m:r>
                    <m:r>
                      <a:rPr lang="en-US" altLang="zh-CN" sz="2800" i="1" kern="100">
                        <a:effectLst/>
                        <a:latin typeface="Cambria Math" panose="02040503050406030204" pitchFamily="18" charset="0"/>
                        <a:cs typeface="Times New Roman" panose="02020603050405020304" pitchFamily="18" charset="0"/>
                      </a:rPr>
                      <m:t>𝑓</m:t>
                    </m:r>
                    <m:d>
                      <m:dPr>
                        <m:ctrlPr>
                          <a:rPr lang="zh-CN" altLang="zh-CN" sz="2800" i="1" kern="100">
                            <a:effectLst/>
                            <a:latin typeface="Cambria Math" panose="02040503050406030204" pitchFamily="18" charset="0"/>
                            <a:cs typeface="Times New Roman" panose="02020603050405020304" pitchFamily="18" charset="0"/>
                          </a:rPr>
                        </m:ctrlPr>
                      </m:dPr>
                      <m:e>
                        <m:r>
                          <a:rPr lang="en-US" altLang="zh-CN" sz="2800" i="1" kern="100">
                            <a:effectLst/>
                            <a:latin typeface="Cambria Math" panose="02040503050406030204" pitchFamily="18" charset="0"/>
                            <a:cs typeface="Times New Roman" panose="02020603050405020304" pitchFamily="18" charset="0"/>
                          </a:rPr>
                          <m:t>𝑥</m:t>
                        </m:r>
                      </m:e>
                    </m:d>
                    <m:r>
                      <a:rPr lang="en-US" altLang="zh-CN" sz="2800" i="1" kern="100">
                        <a:effectLst/>
                        <a:latin typeface="Cambria Math" panose="02040503050406030204" pitchFamily="18" charset="0"/>
                        <a:cs typeface="Times New Roman" panose="02020603050405020304" pitchFamily="18" charset="0"/>
                      </a:rPr>
                      <m:t>=</m:t>
                    </m:r>
                    <m:r>
                      <a:rPr lang="en-US" altLang="zh-CN" sz="2800" i="1" kern="100">
                        <a:effectLst/>
                        <a:latin typeface="Cambria Math" panose="02040503050406030204" pitchFamily="18" charset="0"/>
                        <a:cs typeface="Times New Roman" panose="02020603050405020304" pitchFamily="18" charset="0"/>
                      </a:rPr>
                      <m:t>𝑎</m:t>
                    </m:r>
                    <m:r>
                      <a:rPr lang="en-US" altLang="zh-CN" sz="2800" i="1" kern="100">
                        <a:effectLst/>
                        <a:latin typeface="Cambria Math" panose="02040503050406030204" pitchFamily="18" charset="0"/>
                        <a:cs typeface="Times New Roman" panose="02020603050405020304" pitchFamily="18" charset="0"/>
                      </a:rPr>
                      <m:t>, </m:t>
                    </m:r>
                    <m:sSup>
                      <m:sSupPr>
                        <m:ctrlPr>
                          <a:rPr lang="zh-CN" altLang="zh-CN" sz="2800" i="1" kern="100">
                            <a:effectLst/>
                            <a:latin typeface="Cambria Math" panose="02040503050406030204" pitchFamily="18" charset="0"/>
                            <a:cs typeface="Times New Roman" panose="02020603050405020304" pitchFamily="18" charset="0"/>
                          </a:rPr>
                        </m:ctrlPr>
                      </m:sSupPr>
                      <m:e>
                        <m:r>
                          <m:rPr>
                            <m:sty m:val="p"/>
                          </m:rPr>
                          <a:rPr lang="en-US" altLang="zh-CN" sz="2800" kern="100">
                            <a:effectLst/>
                            <a:latin typeface="Cambria Math" panose="02040503050406030204" pitchFamily="18" charset="0"/>
                            <a:cs typeface="Times New Roman" panose="02020603050405020304" pitchFamily="18" charset="0"/>
                          </a:rPr>
                          <m:t>∇</m:t>
                        </m:r>
                      </m:e>
                      <m:sup>
                        <m:r>
                          <a:rPr lang="en-US" altLang="zh-CN" sz="2800" i="1" kern="100">
                            <a:effectLst/>
                            <a:latin typeface="Cambria Math" panose="02040503050406030204" pitchFamily="18" charset="0"/>
                            <a:cs typeface="Times New Roman" panose="02020603050405020304" pitchFamily="18" charset="0"/>
                          </a:rPr>
                          <m:t>2</m:t>
                        </m:r>
                      </m:sup>
                    </m:sSup>
                    <m:r>
                      <a:rPr lang="en-US" altLang="zh-CN" sz="2800" i="1" kern="100">
                        <a:effectLst/>
                        <a:latin typeface="Cambria Math" panose="02040503050406030204" pitchFamily="18" charset="0"/>
                        <a:cs typeface="Times New Roman" panose="02020603050405020304" pitchFamily="18" charset="0"/>
                      </a:rPr>
                      <m:t>𝑓</m:t>
                    </m:r>
                    <m:d>
                      <m:dPr>
                        <m:ctrlPr>
                          <a:rPr lang="zh-CN" altLang="zh-CN" sz="2800" i="1" kern="100">
                            <a:effectLst/>
                            <a:latin typeface="Cambria Math" panose="02040503050406030204" pitchFamily="18" charset="0"/>
                            <a:cs typeface="Times New Roman" panose="02020603050405020304" pitchFamily="18" charset="0"/>
                          </a:rPr>
                        </m:ctrlPr>
                      </m:dPr>
                      <m:e>
                        <m:r>
                          <a:rPr lang="en-US" altLang="zh-CN" sz="2800" i="1" kern="100">
                            <a:effectLst/>
                            <a:latin typeface="Cambria Math" panose="02040503050406030204" pitchFamily="18" charset="0"/>
                            <a:cs typeface="Times New Roman" panose="02020603050405020304" pitchFamily="18" charset="0"/>
                          </a:rPr>
                          <m:t>𝑥</m:t>
                        </m:r>
                      </m:e>
                    </m:d>
                    <m:r>
                      <a:rPr lang="en-US" altLang="zh-CN" sz="2800" i="1" kern="100">
                        <a:effectLst/>
                        <a:latin typeface="Cambria Math" panose="02040503050406030204" pitchFamily="18" charset="0"/>
                        <a:cs typeface="Times New Roman" panose="02020603050405020304" pitchFamily="18" charset="0"/>
                      </a:rPr>
                      <m:t>=0</m:t>
                    </m:r>
                  </m:oMath>
                </a14:m>
                <a:r>
                  <a:rPr lang="zh-CN" altLang="zh-CN" sz="2800" kern="100" dirty="0">
                    <a:effectLst/>
                    <a:latin typeface="+mn-ea"/>
                    <a:cs typeface="Times New Roman" panose="02020603050405020304" pitchFamily="18" charset="0"/>
                  </a:rPr>
                  <a:t>。</a:t>
                </a:r>
              </a:p>
            </p:txBody>
          </p:sp>
        </mc:Choice>
        <mc:Fallback xmlns="">
          <p:sp>
            <p:nvSpPr>
              <p:cNvPr id="3" name="文本框 2">
                <a:extLst>
                  <a:ext uri="{FF2B5EF4-FFF2-40B4-BE49-F238E27FC236}">
                    <a16:creationId xmlns:a16="http://schemas.microsoft.com/office/drawing/2014/main" id="{1C2DF057-7F51-4450-903E-F43FFDE65818}"/>
                  </a:ext>
                </a:extLst>
              </p:cNvPr>
              <p:cNvSpPr txBox="1">
                <a:spLocks noRot="1" noChangeAspect="1" noMove="1" noResize="1" noEditPoints="1" noAdjustHandles="1" noChangeArrowheads="1" noChangeShapeType="1" noTextEdit="1"/>
              </p:cNvSpPr>
              <p:nvPr/>
            </p:nvSpPr>
            <p:spPr>
              <a:xfrm>
                <a:off x="559551" y="2257271"/>
                <a:ext cx="7272808" cy="2976199"/>
              </a:xfrm>
              <a:prstGeom prst="rect">
                <a:avLst/>
              </a:prstGeom>
              <a:blipFill>
                <a:blip r:embed="rId2"/>
                <a:stretch>
                  <a:fillRect l="-1760" b="-4090"/>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C645B716-D4E3-4B30-AC91-6D0005AE676B}"/>
              </a:ext>
            </a:extLst>
          </p:cNvPr>
          <p:cNvSpPr txBox="1"/>
          <p:nvPr/>
        </p:nvSpPr>
        <p:spPr>
          <a:xfrm>
            <a:off x="539552" y="699099"/>
            <a:ext cx="5760640" cy="523220"/>
          </a:xfrm>
          <a:prstGeom prst="rect">
            <a:avLst/>
          </a:prstGeom>
          <a:noFill/>
        </p:spPr>
        <p:txBody>
          <a:bodyPr wrap="square">
            <a:spAutoFit/>
          </a:bodyPr>
          <a:lstStyle/>
          <a:p>
            <a:pPr algn="just"/>
            <a:r>
              <a:rPr lang="zh-CN" altLang="zh-CN" sz="2800" b="1" kern="100" dirty="0">
                <a:effectLst/>
                <a:latin typeface="+mn-ea"/>
                <a:cs typeface="Times New Roman" panose="02020603050405020304" pitchFamily="18" charset="0"/>
              </a:rPr>
              <a:t>例</a:t>
            </a:r>
            <a:r>
              <a:rPr lang="zh-CN" altLang="zh-CN" sz="2800" kern="100" dirty="0">
                <a:effectLst/>
                <a:latin typeface="+mn-ea"/>
                <a:cs typeface="Times New Roman" panose="02020603050405020304" pitchFamily="18" charset="0"/>
              </a:rPr>
              <a:t> 求下列函数的梯度与海</a:t>
            </a:r>
            <a:r>
              <a:rPr lang="zh-CN" altLang="en-US" sz="2800" kern="100" dirty="0">
                <a:latin typeface="+mn-ea"/>
                <a:cs typeface="Times New Roman" panose="02020603050405020304" pitchFamily="18" charset="0"/>
              </a:rPr>
              <a:t>赛</a:t>
            </a:r>
            <a:r>
              <a:rPr lang="zh-CN" altLang="zh-CN" sz="2800" kern="100" dirty="0">
                <a:effectLst/>
                <a:latin typeface="+mn-ea"/>
                <a:cs typeface="Times New Roman" panose="02020603050405020304" pitchFamily="18" charset="0"/>
              </a:rPr>
              <a:t>矩阵：</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CB660F4B-22C9-40AC-AE36-21527A5EC5C6}"/>
                  </a:ext>
                </a:extLst>
              </p:cNvPr>
              <p:cNvSpPr txBox="1"/>
              <p:nvPr/>
            </p:nvSpPr>
            <p:spPr>
              <a:xfrm>
                <a:off x="1728192" y="1394384"/>
                <a:ext cx="4572000" cy="523220"/>
              </a:xfrm>
              <a:prstGeom prst="rect">
                <a:avLst/>
              </a:prstGeom>
              <a:noFill/>
            </p:spPr>
            <p:txBody>
              <a:bodyPr wrap="square">
                <a:spAutoFit/>
              </a:bodyPr>
              <a:lstStyle/>
              <a:p>
                <a:pPr algn="just"/>
                <a14:m>
                  <m:oMathPara xmlns:m="http://schemas.openxmlformats.org/officeDocument/2006/math">
                    <m:oMathParaPr>
                      <m:jc m:val="centerGroup"/>
                    </m:oMathParaPr>
                    <m:oMath xmlns:m="http://schemas.openxmlformats.org/officeDocument/2006/math">
                      <m:r>
                        <a:rPr lang="en-US" altLang="zh-CN" sz="2800" i="1" kern="100" smtClean="0">
                          <a:effectLst/>
                          <a:latin typeface="Cambria Math" panose="02040503050406030204" pitchFamily="18" charset="0"/>
                          <a:cs typeface="Times New Roman" panose="02020603050405020304" pitchFamily="18" charset="0"/>
                        </a:rPr>
                        <m:t>𝑓</m:t>
                      </m:r>
                      <m:d>
                        <m:dPr>
                          <m:ctrlPr>
                            <a:rPr lang="zh-CN" altLang="zh-CN" sz="2800" i="1" kern="100">
                              <a:effectLst/>
                              <a:latin typeface="Cambria Math" panose="02040503050406030204" pitchFamily="18" charset="0"/>
                              <a:cs typeface="Times New Roman" panose="02020603050405020304" pitchFamily="18" charset="0"/>
                            </a:rPr>
                          </m:ctrlPr>
                        </m:dPr>
                        <m:e>
                          <m:r>
                            <a:rPr lang="en-US" altLang="zh-CN" sz="2800" i="1" kern="100">
                              <a:effectLst/>
                              <a:latin typeface="Cambria Math" panose="02040503050406030204" pitchFamily="18" charset="0"/>
                              <a:cs typeface="Times New Roman" panose="02020603050405020304" pitchFamily="18" charset="0"/>
                            </a:rPr>
                            <m:t>𝑥</m:t>
                          </m:r>
                        </m:e>
                      </m:d>
                      <m:r>
                        <a:rPr lang="en-US" altLang="zh-CN" sz="2800" i="1" kern="100">
                          <a:effectLst/>
                          <a:latin typeface="Cambria Math" panose="02040503050406030204" pitchFamily="18" charset="0"/>
                          <a:cs typeface="Times New Roman" panose="02020603050405020304" pitchFamily="18" charset="0"/>
                        </a:rPr>
                        <m:t>=</m:t>
                      </m:r>
                      <m:sSup>
                        <m:sSupPr>
                          <m:ctrlPr>
                            <a:rPr lang="zh-CN" altLang="zh-CN" sz="2800" i="1" kern="100">
                              <a:effectLst/>
                              <a:latin typeface="Cambria Math" panose="02040503050406030204" pitchFamily="18" charset="0"/>
                              <a:cs typeface="Times New Roman" panose="02020603050405020304" pitchFamily="18" charset="0"/>
                            </a:rPr>
                          </m:ctrlPr>
                        </m:sSupPr>
                        <m:e>
                          <m:r>
                            <a:rPr lang="en-US" altLang="zh-CN" sz="2800" i="1" kern="100">
                              <a:effectLst/>
                              <a:latin typeface="Cambria Math" panose="02040503050406030204" pitchFamily="18" charset="0"/>
                              <a:cs typeface="Times New Roman" panose="02020603050405020304" pitchFamily="18" charset="0"/>
                            </a:rPr>
                            <m:t>𝑎</m:t>
                          </m:r>
                        </m:e>
                        <m:sup>
                          <m:r>
                            <a:rPr lang="en-US" altLang="zh-CN" sz="2800" i="1" kern="100">
                              <a:effectLst/>
                              <a:latin typeface="Cambria Math" panose="02040503050406030204" pitchFamily="18" charset="0"/>
                              <a:cs typeface="Times New Roman" panose="02020603050405020304" pitchFamily="18" charset="0"/>
                            </a:rPr>
                            <m:t>𝑇</m:t>
                          </m:r>
                        </m:sup>
                      </m:sSup>
                      <m:r>
                        <a:rPr lang="en-US" altLang="zh-CN" sz="2800" i="1" kern="100">
                          <a:effectLst/>
                          <a:latin typeface="Cambria Math" panose="02040503050406030204" pitchFamily="18" charset="0"/>
                          <a:cs typeface="Times New Roman" panose="02020603050405020304" pitchFamily="18" charset="0"/>
                        </a:rPr>
                        <m:t>𝑥</m:t>
                      </m:r>
                      <m:r>
                        <a:rPr lang="en-US" altLang="zh-CN" sz="2800" i="1" kern="100">
                          <a:effectLst/>
                          <a:latin typeface="Cambria Math" panose="02040503050406030204" pitchFamily="18" charset="0"/>
                          <a:cs typeface="Times New Roman" panose="02020603050405020304" pitchFamily="18" charset="0"/>
                        </a:rPr>
                        <m:t>, </m:t>
                      </m:r>
                      <m:r>
                        <a:rPr lang="en-US" altLang="zh-CN" sz="2800" i="1" kern="100">
                          <a:effectLst/>
                          <a:latin typeface="Cambria Math" panose="02040503050406030204" pitchFamily="18" charset="0"/>
                          <a:cs typeface="Times New Roman" panose="02020603050405020304" pitchFamily="18" charset="0"/>
                        </a:rPr>
                        <m:t>𝑥</m:t>
                      </m:r>
                      <m:r>
                        <a:rPr lang="en-US" altLang="zh-CN" sz="2800" i="1" kern="100">
                          <a:effectLst/>
                          <a:latin typeface="Cambria Math" panose="02040503050406030204" pitchFamily="18" charset="0"/>
                          <a:cs typeface="Times New Roman" panose="02020603050405020304" pitchFamily="18" charset="0"/>
                        </a:rPr>
                        <m:t>∈</m:t>
                      </m:r>
                      <m:sSup>
                        <m:sSupPr>
                          <m:ctrlPr>
                            <a:rPr lang="zh-CN" altLang="zh-CN" sz="2800" i="1" kern="100">
                              <a:effectLst/>
                              <a:latin typeface="Cambria Math" panose="02040503050406030204" pitchFamily="18" charset="0"/>
                              <a:cs typeface="Times New Roman" panose="02020603050405020304" pitchFamily="18" charset="0"/>
                            </a:rPr>
                          </m:ctrlPr>
                        </m:sSupPr>
                        <m:e>
                          <m:r>
                            <a:rPr lang="en-US" altLang="zh-CN" sz="2800" i="1" kern="100">
                              <a:effectLst/>
                              <a:latin typeface="Cambria Math" panose="02040503050406030204" pitchFamily="18" charset="0"/>
                              <a:cs typeface="Times New Roman" panose="02020603050405020304" pitchFamily="18" charset="0"/>
                            </a:rPr>
                            <m:t>𝑅</m:t>
                          </m:r>
                        </m:e>
                        <m:sup>
                          <m:r>
                            <a:rPr lang="en-US" altLang="zh-CN" sz="2800" i="1" kern="100">
                              <a:effectLst/>
                              <a:latin typeface="Cambria Math" panose="02040503050406030204" pitchFamily="18" charset="0"/>
                              <a:cs typeface="Times New Roman" panose="02020603050405020304" pitchFamily="18" charset="0"/>
                            </a:rPr>
                            <m:t>𝑛</m:t>
                          </m:r>
                        </m:sup>
                      </m:sSup>
                      <m:r>
                        <a:rPr lang="en-US" altLang="zh-CN" sz="2800" i="1" kern="100">
                          <a:effectLst/>
                          <a:latin typeface="Cambria Math" panose="02040503050406030204" pitchFamily="18" charset="0"/>
                          <a:cs typeface="Times New Roman" panose="02020603050405020304" pitchFamily="18" charset="0"/>
                        </a:rPr>
                        <m:t>.</m:t>
                      </m:r>
                    </m:oMath>
                  </m:oMathPara>
                </a14:m>
                <a:endParaRPr lang="zh-CN" altLang="zh-CN" sz="2800" kern="100" dirty="0">
                  <a:effectLst/>
                  <a:latin typeface="+mn-ea"/>
                  <a:cs typeface="Times New Roman" panose="02020603050405020304" pitchFamily="18" charset="0"/>
                </a:endParaRPr>
              </a:p>
            </p:txBody>
          </p:sp>
        </mc:Choice>
        <mc:Fallback xmlns="">
          <p:sp>
            <p:nvSpPr>
              <p:cNvPr id="7" name="文本框 6">
                <a:extLst>
                  <a:ext uri="{FF2B5EF4-FFF2-40B4-BE49-F238E27FC236}">
                    <a16:creationId xmlns:a16="http://schemas.microsoft.com/office/drawing/2014/main" id="{CB660F4B-22C9-40AC-AE36-21527A5EC5C6}"/>
                  </a:ext>
                </a:extLst>
              </p:cNvPr>
              <p:cNvSpPr txBox="1">
                <a:spLocks noRot="1" noChangeAspect="1" noMove="1" noResize="1" noEditPoints="1" noAdjustHandles="1" noChangeArrowheads="1" noChangeShapeType="1" noTextEdit="1"/>
              </p:cNvSpPr>
              <p:nvPr/>
            </p:nvSpPr>
            <p:spPr>
              <a:xfrm>
                <a:off x="1728192" y="1394384"/>
                <a:ext cx="4572000" cy="523220"/>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6016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0DA53579-DC7D-0BEE-C947-8CD6DC06E770}"/>
              </a:ext>
            </a:extLst>
          </p:cNvPr>
          <p:cNvPicPr>
            <a:picLocks noChangeAspect="1"/>
          </p:cNvPicPr>
          <p:nvPr/>
        </p:nvPicPr>
        <p:blipFill>
          <a:blip r:embed="rId2"/>
          <a:stretch>
            <a:fillRect/>
          </a:stretch>
        </p:blipFill>
        <p:spPr>
          <a:xfrm>
            <a:off x="12576" y="1412776"/>
            <a:ext cx="9144000" cy="3271784"/>
          </a:xfrm>
          <a:prstGeom prst="rect">
            <a:avLst/>
          </a:prstGeom>
        </p:spPr>
      </p:pic>
      <p:sp>
        <p:nvSpPr>
          <p:cNvPr id="6" name="文本框 5">
            <a:extLst>
              <a:ext uri="{FF2B5EF4-FFF2-40B4-BE49-F238E27FC236}">
                <a16:creationId xmlns:a16="http://schemas.microsoft.com/office/drawing/2014/main" id="{9A8B1FCA-5FAA-8E09-9D11-57932EE15CEF}"/>
              </a:ext>
            </a:extLst>
          </p:cNvPr>
          <p:cNvSpPr txBox="1"/>
          <p:nvPr/>
        </p:nvSpPr>
        <p:spPr>
          <a:xfrm>
            <a:off x="3064699" y="5085184"/>
            <a:ext cx="6120680" cy="523220"/>
          </a:xfrm>
          <a:prstGeom prst="rect">
            <a:avLst/>
          </a:prstGeom>
          <a:noFill/>
        </p:spPr>
        <p:txBody>
          <a:bodyPr wrap="square">
            <a:spAutoFit/>
          </a:bodyPr>
          <a:lstStyle/>
          <a:p>
            <a:r>
              <a:rPr lang="zh-CN" altLang="en-US" sz="2800" dirty="0">
                <a:latin typeface="+mn-ea"/>
              </a:rPr>
              <a:t>出处</a:t>
            </a:r>
            <a:r>
              <a:rPr lang="en-US" altLang="zh-CN" sz="2800" dirty="0">
                <a:latin typeface="+mn-ea"/>
              </a:rPr>
              <a:t>:《</a:t>
            </a:r>
            <a:r>
              <a:rPr lang="zh-CN" altLang="en-US" sz="2800" dirty="0">
                <a:latin typeface="+mn-ea"/>
              </a:rPr>
              <a:t>最优化：建模、算法与理论</a:t>
            </a:r>
            <a:r>
              <a:rPr lang="en-US" altLang="zh-CN" sz="2800" dirty="0">
                <a:latin typeface="+mn-ea"/>
              </a:rPr>
              <a:t>》</a:t>
            </a:r>
            <a:endParaRPr lang="zh-CN" altLang="en-US" sz="2800" dirty="0">
              <a:latin typeface="+mn-ea"/>
            </a:endParaRPr>
          </a:p>
        </p:txBody>
      </p:sp>
    </p:spTree>
    <p:extLst>
      <p:ext uri="{BB962C8B-B14F-4D97-AF65-F5344CB8AC3E}">
        <p14:creationId xmlns:p14="http://schemas.microsoft.com/office/powerpoint/2010/main" val="34344310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6216F65-9744-44C9-9E73-E4EF9C33F2EB}"/>
              </a:ext>
            </a:extLst>
          </p:cNvPr>
          <p:cNvSpPr txBox="1"/>
          <p:nvPr/>
        </p:nvSpPr>
        <p:spPr>
          <a:xfrm>
            <a:off x="323527" y="188640"/>
            <a:ext cx="6180687" cy="523220"/>
          </a:xfrm>
          <a:prstGeom prst="rect">
            <a:avLst/>
          </a:prstGeom>
          <a:noFill/>
        </p:spPr>
        <p:txBody>
          <a:bodyPr wrap="square">
            <a:spAutoFit/>
          </a:bodyPr>
          <a:lstStyle/>
          <a:p>
            <a:pPr algn="just"/>
            <a:r>
              <a:rPr lang="zh-CN" altLang="zh-CN" sz="2800" b="1" kern="100" dirty="0">
                <a:effectLst/>
                <a:latin typeface="+mn-ea"/>
                <a:cs typeface="Times New Roman" panose="02020603050405020304" pitchFamily="18" charset="0"/>
              </a:rPr>
              <a:t>例</a:t>
            </a:r>
            <a:r>
              <a:rPr lang="zh-CN" altLang="zh-CN" sz="2800" kern="100" dirty="0">
                <a:effectLst/>
                <a:latin typeface="+mn-ea"/>
                <a:cs typeface="Times New Roman" panose="02020603050405020304" pitchFamily="18" charset="0"/>
              </a:rPr>
              <a:t> 求下列函数的梯度与海</a:t>
            </a:r>
            <a:r>
              <a:rPr lang="zh-CN" altLang="en-US" sz="2800" kern="100" dirty="0">
                <a:latin typeface="+mn-ea"/>
                <a:cs typeface="Times New Roman" panose="02020603050405020304" pitchFamily="18" charset="0"/>
              </a:rPr>
              <a:t>赛</a:t>
            </a:r>
            <a:r>
              <a:rPr lang="zh-CN" altLang="zh-CN" sz="2800" kern="100" dirty="0">
                <a:effectLst/>
                <a:latin typeface="+mn-ea"/>
                <a:cs typeface="Times New Roman" panose="02020603050405020304" pitchFamily="18" charset="0"/>
              </a:rPr>
              <a:t>矩阵：</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7E9B46D4-4592-4B2C-AAB9-F7F569DB6C42}"/>
                  </a:ext>
                </a:extLst>
              </p:cNvPr>
              <p:cNvSpPr txBox="1"/>
              <p:nvPr/>
            </p:nvSpPr>
            <p:spPr>
              <a:xfrm>
                <a:off x="611560" y="974325"/>
                <a:ext cx="7848872" cy="700705"/>
              </a:xfrm>
              <a:prstGeom prst="rect">
                <a:avLst/>
              </a:prstGeom>
              <a:noFill/>
            </p:spPr>
            <p:txBody>
              <a:bodyPr wrap="square">
                <a:spAutoFit/>
              </a:bodyPr>
              <a:lstStyle/>
              <a:p>
                <a:pPr algn="just"/>
                <a14:m>
                  <m:oMath xmlns:m="http://schemas.openxmlformats.org/officeDocument/2006/math">
                    <m:r>
                      <a:rPr lang="en-US" altLang="zh-CN" sz="2800" i="1" kern="100" smtClean="0">
                        <a:effectLst/>
                        <a:latin typeface="Cambria Math" panose="02040503050406030204" pitchFamily="18" charset="0"/>
                        <a:cs typeface="Times New Roman" panose="02020603050405020304" pitchFamily="18" charset="0"/>
                      </a:rPr>
                      <m:t>𝑓</m:t>
                    </m:r>
                    <m:d>
                      <m:dPr>
                        <m:ctrlPr>
                          <a:rPr lang="zh-CN" altLang="zh-CN" sz="2800" i="1" kern="100">
                            <a:effectLst/>
                            <a:latin typeface="Cambria Math" panose="02040503050406030204" pitchFamily="18" charset="0"/>
                            <a:cs typeface="Times New Roman" panose="02020603050405020304" pitchFamily="18" charset="0"/>
                          </a:rPr>
                        </m:ctrlPr>
                      </m:dPr>
                      <m:e>
                        <m:r>
                          <a:rPr lang="en-US" altLang="zh-CN" sz="2800" i="1" kern="100">
                            <a:effectLst/>
                            <a:latin typeface="Cambria Math" panose="02040503050406030204" pitchFamily="18" charset="0"/>
                            <a:cs typeface="Times New Roman" panose="02020603050405020304" pitchFamily="18" charset="0"/>
                          </a:rPr>
                          <m:t>𝑥</m:t>
                        </m:r>
                      </m:e>
                    </m:d>
                    <m:r>
                      <a:rPr lang="en-US" altLang="zh-CN" sz="2800" i="1" kern="100">
                        <a:effectLst/>
                        <a:latin typeface="Cambria Math" panose="02040503050406030204" pitchFamily="18" charset="0"/>
                        <a:cs typeface="Times New Roman" panose="02020603050405020304" pitchFamily="18" charset="0"/>
                      </a:rPr>
                      <m:t>=</m:t>
                    </m:r>
                    <m:f>
                      <m:fPr>
                        <m:ctrlPr>
                          <a:rPr lang="zh-CN" altLang="zh-CN" sz="2800" i="1" kern="100">
                            <a:effectLst/>
                            <a:latin typeface="Cambria Math" panose="02040503050406030204" pitchFamily="18" charset="0"/>
                            <a:cs typeface="Times New Roman" panose="02020603050405020304" pitchFamily="18" charset="0"/>
                          </a:rPr>
                        </m:ctrlPr>
                      </m:fPr>
                      <m:num>
                        <m:r>
                          <a:rPr lang="en-US" altLang="zh-CN" sz="2800" i="1" kern="100">
                            <a:effectLst/>
                            <a:latin typeface="Cambria Math" panose="02040503050406030204" pitchFamily="18" charset="0"/>
                            <a:cs typeface="Times New Roman" panose="02020603050405020304" pitchFamily="18" charset="0"/>
                          </a:rPr>
                          <m:t>1</m:t>
                        </m:r>
                      </m:num>
                      <m:den>
                        <m:r>
                          <a:rPr lang="en-US" altLang="zh-CN" sz="2800" i="1" kern="100">
                            <a:effectLst/>
                            <a:latin typeface="Cambria Math" panose="02040503050406030204" pitchFamily="18" charset="0"/>
                            <a:cs typeface="Times New Roman" panose="02020603050405020304" pitchFamily="18" charset="0"/>
                          </a:rPr>
                          <m:t>2</m:t>
                        </m:r>
                      </m:den>
                    </m:f>
                    <m:sSup>
                      <m:sSupPr>
                        <m:ctrlPr>
                          <a:rPr lang="zh-CN" altLang="zh-CN" sz="2800" i="1" kern="100">
                            <a:effectLst/>
                            <a:latin typeface="Cambria Math" panose="02040503050406030204" pitchFamily="18" charset="0"/>
                            <a:cs typeface="Times New Roman" panose="02020603050405020304" pitchFamily="18" charset="0"/>
                          </a:rPr>
                        </m:ctrlPr>
                      </m:sSupPr>
                      <m:e>
                        <m:r>
                          <a:rPr lang="en-US" altLang="zh-CN" sz="2800" i="1" kern="100">
                            <a:effectLst/>
                            <a:latin typeface="Cambria Math" panose="02040503050406030204" pitchFamily="18" charset="0"/>
                            <a:cs typeface="Times New Roman" panose="02020603050405020304" pitchFamily="18" charset="0"/>
                          </a:rPr>
                          <m:t>𝑥</m:t>
                        </m:r>
                      </m:e>
                      <m:sup>
                        <m:r>
                          <a:rPr lang="en-US" altLang="zh-CN" sz="2800" i="1" kern="100">
                            <a:effectLst/>
                            <a:latin typeface="Cambria Math" panose="02040503050406030204" pitchFamily="18" charset="0"/>
                            <a:cs typeface="Times New Roman" panose="02020603050405020304" pitchFamily="18" charset="0"/>
                          </a:rPr>
                          <m:t>𝑇</m:t>
                        </m:r>
                      </m:sup>
                    </m:sSup>
                    <m:r>
                      <a:rPr lang="en-US" altLang="zh-CN" sz="2800" i="1" kern="100">
                        <a:effectLst/>
                        <a:latin typeface="Cambria Math" panose="02040503050406030204" pitchFamily="18" charset="0"/>
                        <a:cs typeface="Times New Roman" panose="02020603050405020304" pitchFamily="18" charset="0"/>
                      </a:rPr>
                      <m:t>𝐴𝑥</m:t>
                    </m:r>
                    <m:r>
                      <a:rPr lang="en-US" altLang="zh-CN" sz="2800" i="1" kern="100">
                        <a:effectLst/>
                        <a:latin typeface="Cambria Math" panose="02040503050406030204" pitchFamily="18" charset="0"/>
                        <a:cs typeface="Times New Roman" panose="02020603050405020304" pitchFamily="18" charset="0"/>
                      </a:rPr>
                      <m:t>, </m:t>
                    </m:r>
                    <m:r>
                      <a:rPr lang="en-US" altLang="zh-CN" sz="2800" i="1" kern="100">
                        <a:effectLst/>
                        <a:latin typeface="Cambria Math" panose="02040503050406030204" pitchFamily="18" charset="0"/>
                        <a:cs typeface="Times New Roman" panose="02020603050405020304" pitchFamily="18" charset="0"/>
                      </a:rPr>
                      <m:t>𝑥</m:t>
                    </m:r>
                    <m:r>
                      <a:rPr lang="en-US" altLang="zh-CN" sz="2800" i="1" kern="100">
                        <a:effectLst/>
                        <a:latin typeface="Cambria Math" panose="02040503050406030204" pitchFamily="18" charset="0"/>
                        <a:cs typeface="Times New Roman" panose="02020603050405020304" pitchFamily="18" charset="0"/>
                      </a:rPr>
                      <m:t>∈</m:t>
                    </m:r>
                    <m:sSup>
                      <m:sSupPr>
                        <m:ctrlPr>
                          <a:rPr lang="zh-CN" altLang="zh-CN" sz="2800" i="1" kern="100">
                            <a:effectLst/>
                            <a:latin typeface="Cambria Math" panose="02040503050406030204" pitchFamily="18" charset="0"/>
                            <a:cs typeface="Times New Roman" panose="02020603050405020304" pitchFamily="18" charset="0"/>
                          </a:rPr>
                        </m:ctrlPr>
                      </m:sSupPr>
                      <m:e>
                        <m:r>
                          <a:rPr lang="en-US" altLang="zh-CN" sz="2800" i="1" kern="100">
                            <a:effectLst/>
                            <a:latin typeface="Cambria Math" panose="02040503050406030204" pitchFamily="18" charset="0"/>
                            <a:cs typeface="Times New Roman" panose="02020603050405020304" pitchFamily="18" charset="0"/>
                          </a:rPr>
                          <m:t>𝑅</m:t>
                        </m:r>
                      </m:e>
                      <m:sup>
                        <m:r>
                          <a:rPr lang="en-US" altLang="zh-CN" sz="2800" i="1" kern="100">
                            <a:effectLst/>
                            <a:latin typeface="Cambria Math" panose="02040503050406030204" pitchFamily="18" charset="0"/>
                            <a:cs typeface="Times New Roman" panose="02020603050405020304" pitchFamily="18" charset="0"/>
                          </a:rPr>
                          <m:t>𝑛</m:t>
                        </m:r>
                      </m:sup>
                    </m:sSup>
                    <m:r>
                      <a:rPr lang="en-US" altLang="zh-CN" sz="2800" i="1" kern="100">
                        <a:effectLst/>
                        <a:latin typeface="Cambria Math" panose="02040503050406030204" pitchFamily="18" charset="0"/>
                        <a:cs typeface="Times New Roman" panose="02020603050405020304" pitchFamily="18" charset="0"/>
                      </a:rPr>
                      <m:t>,</m:t>
                    </m:r>
                  </m:oMath>
                </a14:m>
                <a:r>
                  <a:rPr lang="en-US" altLang="zh-CN" sz="2800" kern="100" dirty="0">
                    <a:effectLst/>
                    <a:latin typeface="+mn-ea"/>
                    <a:cs typeface="Times New Roman" panose="02020603050405020304" pitchFamily="18" charset="0"/>
                  </a:rPr>
                  <a:t> </a:t>
                </a:r>
                <a:r>
                  <a:rPr lang="zh-CN" altLang="zh-CN" sz="2800" kern="100" dirty="0">
                    <a:effectLst/>
                    <a:latin typeface="+mn-ea"/>
                    <a:cs typeface="Times New Roman" panose="02020603050405020304" pitchFamily="18" charset="0"/>
                  </a:rPr>
                  <a:t>其中矩阵</a:t>
                </a:r>
                <a14:m>
                  <m:oMath xmlns:m="http://schemas.openxmlformats.org/officeDocument/2006/math">
                    <m:r>
                      <a:rPr lang="en-US" altLang="zh-CN" sz="2800" i="1" kern="100">
                        <a:effectLst/>
                        <a:latin typeface="Cambria Math" panose="02040503050406030204" pitchFamily="18" charset="0"/>
                        <a:cs typeface="Times New Roman" panose="02020603050405020304" pitchFamily="18" charset="0"/>
                      </a:rPr>
                      <m:t>𝐴</m:t>
                    </m:r>
                  </m:oMath>
                </a14:m>
                <a:r>
                  <a:rPr lang="zh-CN" altLang="zh-CN" sz="2800" kern="100" dirty="0">
                    <a:effectLst/>
                    <a:latin typeface="+mn-ea"/>
                    <a:cs typeface="Times New Roman" panose="02020603050405020304" pitchFamily="18" charset="0"/>
                  </a:rPr>
                  <a:t>为实对称矩阵。</a:t>
                </a:r>
              </a:p>
            </p:txBody>
          </p:sp>
        </mc:Choice>
        <mc:Fallback xmlns="">
          <p:sp>
            <p:nvSpPr>
              <p:cNvPr id="5" name="文本框 4">
                <a:extLst>
                  <a:ext uri="{FF2B5EF4-FFF2-40B4-BE49-F238E27FC236}">
                    <a16:creationId xmlns:a16="http://schemas.microsoft.com/office/drawing/2014/main" id="{7E9B46D4-4592-4B2C-AAB9-F7F569DB6C42}"/>
                  </a:ext>
                </a:extLst>
              </p:cNvPr>
              <p:cNvSpPr txBox="1">
                <a:spLocks noRot="1" noChangeAspect="1" noMove="1" noResize="1" noEditPoints="1" noAdjustHandles="1" noChangeArrowheads="1" noChangeShapeType="1" noTextEdit="1"/>
              </p:cNvSpPr>
              <p:nvPr/>
            </p:nvSpPr>
            <p:spPr>
              <a:xfrm>
                <a:off x="611560" y="974325"/>
                <a:ext cx="7848872" cy="700705"/>
              </a:xfrm>
              <a:prstGeom prst="rect">
                <a:avLst/>
              </a:prstGeom>
              <a:blipFill>
                <a:blip r:embed="rId2"/>
                <a:stretch>
                  <a:fillRect t="-870" r="-6134" b="-695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F545BF74-2352-4DFB-9F20-284C447CFE8B}"/>
                  </a:ext>
                </a:extLst>
              </p:cNvPr>
              <p:cNvSpPr txBox="1"/>
              <p:nvPr/>
            </p:nvSpPr>
            <p:spPr>
              <a:xfrm>
                <a:off x="315183" y="1766413"/>
                <a:ext cx="8433281" cy="4700133"/>
              </a:xfrm>
              <a:prstGeom prst="rect">
                <a:avLst/>
              </a:prstGeom>
              <a:noFill/>
            </p:spPr>
            <p:txBody>
              <a:bodyPr wrap="square">
                <a:spAutoFit/>
              </a:bodyPr>
              <a:lstStyle/>
              <a:p>
                <a:pPr algn="just">
                  <a:lnSpc>
                    <a:spcPct val="150000"/>
                  </a:lnSpc>
                </a:pPr>
                <a:r>
                  <a:rPr lang="zh-CN" altLang="en-US" sz="2800" kern="100" dirty="0">
                    <a:effectLst/>
                    <a:latin typeface="等线" panose="02010600030101010101" pitchFamily="2" charset="-122"/>
                    <a:ea typeface="等线" panose="02010600030101010101" pitchFamily="2" charset="-122"/>
                    <a:cs typeface="Times New Roman" panose="02020603050405020304" pitchFamily="18" charset="0"/>
                  </a:rPr>
                  <a:t>解：</a:t>
                </a:r>
                <a:r>
                  <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rPr>
                  <a:t>任给</a:t>
                </a:r>
                <a14:m>
                  <m:oMath xmlns:m="http://schemas.openxmlformats.org/officeDocument/2006/math">
                    <m:r>
                      <a:rPr lang="en-US" altLang="zh-CN" sz="2800" b="0" i="1" kern="100" smtClean="0">
                        <a:effectLst/>
                        <a:latin typeface="Cambria Math" panose="02040503050406030204" pitchFamily="18" charset="0"/>
                        <a:ea typeface="等线" panose="02010600030101010101" pitchFamily="2" charset="-122"/>
                        <a:cs typeface="Times New Roman" panose="02020603050405020304" pitchFamily="18" charset="0"/>
                      </a:rPr>
                      <m:t>𝑝</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𝑅</m:t>
                        </m:r>
                      </m:e>
                      <m:sup>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𝑛</m:t>
                        </m:r>
                      </m:sup>
                    </m:sSup>
                  </m:oMath>
                </a14:m>
                <a:r>
                  <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rPr>
                  <a:t>，</a:t>
                </a:r>
              </a:p>
              <a:p>
                <a:pPr algn="just">
                  <a:lnSpc>
                    <a:spcPct val="150000"/>
                  </a:lnSpc>
                </a:pPr>
                <a:r>
                  <a:rPr lang="en-US" altLang="zh-CN" sz="2800" kern="100" dirty="0">
                    <a:effectLst/>
                    <a:latin typeface="等线" panose="02010600030101010101" pitchFamily="2" charset="-122"/>
                    <a:ea typeface="等线" panose="02010600030101010101" pitchFamily="2" charset="-122"/>
                    <a:cs typeface="Times New Roman" panose="02020603050405020304" pitchFamily="18" charset="0"/>
                  </a:rPr>
                  <a:t>	</a:t>
                </a:r>
                <a14:m>
                  <m:oMath xmlns:m="http://schemas.openxmlformats.org/officeDocument/2006/math">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𝑓</m:t>
                    </m:r>
                    <m:d>
                      <m:d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𝑥</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b="0" i="1" kern="100" smtClean="0">
                            <a:effectLst/>
                            <a:latin typeface="Cambria Math" panose="02040503050406030204" pitchFamily="18" charset="0"/>
                            <a:ea typeface="等线" panose="02010600030101010101" pitchFamily="2" charset="-122"/>
                            <a:cs typeface="Times New Roman" panose="02020603050405020304" pitchFamily="18" charset="0"/>
                          </a:rPr>
                          <m:t>𝑝</m:t>
                        </m:r>
                      </m:e>
                    </m:d>
                    <m:r>
                      <a:rPr lang="en-US" altLang="zh-CN" sz="2800" b="0" i="1" kern="100" smtClean="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b="0" i="1" kern="100" smtClean="0">
                        <a:effectLst/>
                        <a:latin typeface="Cambria Math" panose="02040503050406030204" pitchFamily="18" charset="0"/>
                        <a:ea typeface="等线" panose="02010600030101010101" pitchFamily="2" charset="-122"/>
                        <a:cs typeface="Times New Roman" panose="02020603050405020304" pitchFamily="18" charset="0"/>
                      </a:rPr>
                      <m:t>𝑓</m:t>
                    </m:r>
                    <m:r>
                      <a:rPr lang="en-US" altLang="zh-CN" sz="2800" b="0" i="1" kern="100" smtClean="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b="0" i="1" kern="100" smtClean="0">
                        <a:effectLst/>
                        <a:latin typeface="Cambria Math" panose="02040503050406030204" pitchFamily="18" charset="0"/>
                        <a:ea typeface="等线" panose="02010600030101010101" pitchFamily="2" charset="-122"/>
                        <a:cs typeface="Times New Roman" panose="02020603050405020304" pitchFamily="18" charset="0"/>
                      </a:rPr>
                      <m:t>𝑥</m:t>
                    </m:r>
                    <m:r>
                      <a:rPr lang="en-US" altLang="zh-CN" sz="2800" b="0" i="1" kern="100" smtClean="0">
                        <a:effectLst/>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1</m:t>
                        </m:r>
                      </m:num>
                      <m:den>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2</m:t>
                        </m:r>
                      </m:den>
                    </m:f>
                    <m:sSup>
                      <m:sSup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d>
                          <m:d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𝑥</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b="0" i="1" kern="100" smtClean="0">
                                <a:effectLst/>
                                <a:latin typeface="Cambria Math" panose="02040503050406030204" pitchFamily="18" charset="0"/>
                                <a:ea typeface="等线" panose="02010600030101010101" pitchFamily="2" charset="-122"/>
                                <a:cs typeface="Times New Roman" panose="02020603050405020304" pitchFamily="18" charset="0"/>
                              </a:rPr>
                              <m:t>𝑝</m:t>
                            </m:r>
                          </m:e>
                        </m:d>
                      </m:e>
                      <m:sup>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𝑇</m:t>
                        </m:r>
                      </m:sup>
                    </m:sSup>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𝐴</m:t>
                    </m:r>
                    <m:d>
                      <m:d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𝑥</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b="0" i="1" kern="100" smtClean="0">
                            <a:effectLst/>
                            <a:latin typeface="Cambria Math" panose="02040503050406030204" pitchFamily="18" charset="0"/>
                            <a:ea typeface="等线" panose="02010600030101010101" pitchFamily="2" charset="-122"/>
                            <a:cs typeface="Times New Roman" panose="02020603050405020304" pitchFamily="18" charset="0"/>
                          </a:rPr>
                          <m:t>𝑝</m:t>
                        </m:r>
                      </m:e>
                    </m:d>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1</m:t>
                        </m:r>
                      </m:num>
                      <m:den>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2</m:t>
                        </m:r>
                      </m:den>
                    </m:f>
                    <m:sSup>
                      <m:sSup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𝑥</m:t>
                        </m:r>
                      </m:e>
                      <m:sup>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𝑇</m:t>
                        </m:r>
                      </m:sup>
                    </m:sSup>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𝐴𝑥</m:t>
                    </m:r>
                  </m:oMath>
                </a14:m>
                <a:endParaRPr lang="en-US" altLang="zh-CN" sz="2800" i="1" kern="100" dirty="0">
                  <a:effectLst/>
                  <a:latin typeface="Cambria Math" panose="02040503050406030204" pitchFamily="18" charset="0"/>
                  <a:ea typeface="等线" panose="02010600030101010101" pitchFamily="2" charset="-122"/>
                  <a:cs typeface="Times New Roman" panose="02020603050405020304" pitchFamily="18" charset="0"/>
                </a:endParaRPr>
              </a:p>
              <a:p>
                <a:pPr algn="just">
                  <a:lnSpc>
                    <a:spcPct val="150000"/>
                  </a:lnSpc>
                </a:pPr>
                <a:r>
                  <a:rPr lang="en-US" altLang="zh-CN" sz="2800" kern="100" dirty="0">
                    <a:effectLst/>
                    <a:ea typeface="等线" panose="02010600030101010101" pitchFamily="2" charset="-122"/>
                    <a:cs typeface="Times New Roman" panose="02020603050405020304" pitchFamily="18" charset="0"/>
                  </a:rPr>
                  <a:t>                                </a:t>
                </a:r>
                <a14:m>
                  <m:oMath xmlns:m="http://schemas.openxmlformats.org/officeDocument/2006/math">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𝑥</m:t>
                        </m:r>
                      </m:e>
                      <m:sup>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𝑇</m:t>
                        </m:r>
                      </m:sup>
                    </m:sSup>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𝐴</m:t>
                    </m:r>
                    <m:r>
                      <a:rPr lang="en-US" altLang="zh-CN" sz="2800" b="0" i="1" kern="100" smtClean="0">
                        <a:effectLst/>
                        <a:latin typeface="Cambria Math" panose="02040503050406030204" pitchFamily="18" charset="0"/>
                        <a:ea typeface="等线" panose="02010600030101010101" pitchFamily="2" charset="-122"/>
                        <a:cs typeface="Times New Roman" panose="02020603050405020304" pitchFamily="18" charset="0"/>
                      </a:rPr>
                      <m:t>𝑝</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1</m:t>
                        </m:r>
                      </m:num>
                      <m:den>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2</m:t>
                        </m:r>
                      </m:den>
                    </m:f>
                    <m:sSup>
                      <m:sSup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b="0" i="1" kern="100" smtClean="0">
                            <a:effectLst/>
                            <a:latin typeface="Cambria Math" panose="02040503050406030204" pitchFamily="18" charset="0"/>
                            <a:ea typeface="Cambria Math" panose="02040503050406030204" pitchFamily="18" charset="0"/>
                            <a:cs typeface="Times New Roman" panose="02020603050405020304" pitchFamily="18" charset="0"/>
                          </a:rPr>
                          <m:t>𝑝</m:t>
                        </m:r>
                      </m:e>
                      <m:sup>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𝑇</m:t>
                        </m:r>
                      </m:sup>
                    </m:sSup>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𝐴</m:t>
                    </m:r>
                  </m:oMath>
                </a14:m>
                <a:r>
                  <a:rPr lang="en-US" altLang="zh-CN" sz="2800" i="1" kern="100" dirty="0">
                    <a:effectLst/>
                    <a:latin typeface="Cambria Math" panose="02040503050406030204" pitchFamily="18" charset="0"/>
                    <a:ea typeface="等线" panose="02010600030101010101" pitchFamily="2" charset="-122"/>
                    <a:cs typeface="Times New Roman" panose="02020603050405020304" pitchFamily="18" charset="0"/>
                  </a:rPr>
                  <a:t>p</a:t>
                </a:r>
              </a:p>
              <a:p>
                <a:pPr algn="just">
                  <a:lnSpc>
                    <a:spcPct val="150000"/>
                  </a:lnSpc>
                </a:pPr>
                <a:r>
                  <a:rPr lang="en-US" altLang="zh-CN" sz="2800" kern="100" dirty="0">
                    <a:effectLst/>
                    <a:ea typeface="等线" panose="02010600030101010101" pitchFamily="2" charset="-122"/>
                    <a:cs typeface="Times New Roman" panose="02020603050405020304" pitchFamily="18" charset="0"/>
                  </a:rPr>
                  <a:t>                                </a:t>
                </a:r>
                <a14:m>
                  <m:oMath xmlns:m="http://schemas.openxmlformats.org/officeDocument/2006/math">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𝐴𝑥</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e>
                      <m:sup>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𝑇</m:t>
                        </m:r>
                      </m:sup>
                    </m:sSup>
                    <m:r>
                      <a:rPr lang="en-US" altLang="zh-CN" sz="2800" b="0" i="1" kern="100" smtClean="0">
                        <a:effectLst/>
                        <a:latin typeface="Cambria Math" panose="02040503050406030204" pitchFamily="18" charset="0"/>
                        <a:ea typeface="等线" panose="02010600030101010101" pitchFamily="2" charset="-122"/>
                        <a:cs typeface="Times New Roman" panose="02020603050405020304" pitchFamily="18" charset="0"/>
                      </a:rPr>
                      <m:t>𝑝</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1</m:t>
                        </m:r>
                      </m:num>
                      <m:den>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2</m:t>
                        </m:r>
                      </m:den>
                    </m:f>
                    <m:sSup>
                      <m:sSup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b="0" i="1" kern="100" smtClean="0">
                            <a:effectLst/>
                            <a:latin typeface="Cambria Math" panose="02040503050406030204" pitchFamily="18" charset="0"/>
                            <a:ea typeface="Cambria Math" panose="02040503050406030204" pitchFamily="18" charset="0"/>
                            <a:cs typeface="Times New Roman" panose="02020603050405020304" pitchFamily="18" charset="0"/>
                          </a:rPr>
                          <m:t>𝑝</m:t>
                        </m:r>
                      </m:e>
                      <m:sup>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𝑇</m:t>
                        </m:r>
                      </m:sup>
                    </m:sSup>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𝐴</m:t>
                    </m:r>
                    <m:r>
                      <a:rPr lang="en-US" altLang="zh-CN" sz="2800" b="0" i="1" kern="100" smtClean="0">
                        <a:effectLst/>
                        <a:latin typeface="Cambria Math" panose="02040503050406030204" pitchFamily="18" charset="0"/>
                        <a:ea typeface="等线" panose="02010600030101010101" pitchFamily="2" charset="-122"/>
                        <a:cs typeface="Times New Roman" panose="02020603050405020304" pitchFamily="18" charset="0"/>
                      </a:rPr>
                      <m:t>𝑝</m:t>
                    </m:r>
                  </m:oMath>
                </a14:m>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50000"/>
                  </a:lnSpc>
                </a:pPr>
                <a:r>
                  <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rPr>
                  <a:t>所以</a:t>
                </a:r>
              </a:p>
              <a:p>
                <a:pPr algn="ctr">
                  <a:lnSpc>
                    <a:spcPct val="150000"/>
                  </a:lnSpc>
                </a:pPr>
                <a14:m>
                  <m:oMath xmlns:m="http://schemas.openxmlformats.org/officeDocument/2006/math">
                    <m:r>
                      <m:rPr>
                        <m:sty m:val="p"/>
                      </m:rPr>
                      <a:rPr lang="en-US" altLang="zh-CN" sz="2800"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𝑓</m:t>
                    </m:r>
                    <m:d>
                      <m:d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𝑥</m:t>
                        </m:r>
                      </m:e>
                    </m:d>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𝐴𝑥</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 </m:t>
                    </m:r>
                    <m:sSup>
                      <m:sSup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m:rPr>
                            <m:sty m:val="p"/>
                          </m:rPr>
                          <a:rPr lang="en-US" altLang="zh-CN" sz="2800" kern="100">
                            <a:effectLst/>
                            <a:latin typeface="Cambria Math" panose="02040503050406030204" pitchFamily="18" charset="0"/>
                            <a:ea typeface="等线" panose="02010600030101010101" pitchFamily="2" charset="-122"/>
                            <a:cs typeface="Times New Roman" panose="02020603050405020304" pitchFamily="18" charset="0"/>
                          </a:rPr>
                          <m:t>∇</m:t>
                        </m:r>
                      </m:e>
                      <m:sup>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2</m:t>
                        </m:r>
                      </m:sup>
                    </m:sSup>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𝑓</m:t>
                    </m:r>
                    <m:d>
                      <m:d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𝑥</m:t>
                        </m:r>
                      </m:e>
                    </m:d>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𝐴</m:t>
                    </m:r>
                  </m:oMath>
                </a14:m>
                <a:r>
                  <a:rPr lang="en-US" altLang="zh-CN" sz="28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7" name="文本框 6">
                <a:extLst>
                  <a:ext uri="{FF2B5EF4-FFF2-40B4-BE49-F238E27FC236}">
                    <a16:creationId xmlns:a16="http://schemas.microsoft.com/office/drawing/2014/main" id="{F545BF74-2352-4DFB-9F20-284C447CFE8B}"/>
                  </a:ext>
                </a:extLst>
              </p:cNvPr>
              <p:cNvSpPr txBox="1">
                <a:spLocks noRot="1" noChangeAspect="1" noMove="1" noResize="1" noEditPoints="1" noAdjustHandles="1" noChangeArrowheads="1" noChangeShapeType="1" noTextEdit="1"/>
              </p:cNvSpPr>
              <p:nvPr/>
            </p:nvSpPr>
            <p:spPr>
              <a:xfrm>
                <a:off x="315183" y="1766413"/>
                <a:ext cx="8433281" cy="4700133"/>
              </a:xfrm>
              <a:prstGeom prst="rect">
                <a:avLst/>
              </a:prstGeom>
              <a:blipFill>
                <a:blip r:embed="rId3"/>
                <a:stretch>
                  <a:fillRect l="-1518" b="-2724"/>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C3F48253-BF6C-7576-1493-5F813C160AE7}"/>
              </a:ext>
            </a:extLst>
          </p:cNvPr>
          <p:cNvPicPr>
            <a:picLocks noChangeAspect="1"/>
          </p:cNvPicPr>
          <p:nvPr/>
        </p:nvPicPr>
        <p:blipFill>
          <a:blip r:embed="rId4"/>
          <a:stretch>
            <a:fillRect/>
          </a:stretch>
        </p:blipFill>
        <p:spPr>
          <a:xfrm>
            <a:off x="5076056" y="42808"/>
            <a:ext cx="3943350" cy="885825"/>
          </a:xfrm>
          <a:prstGeom prst="rect">
            <a:avLst/>
          </a:prstGeom>
          <a:solidFill>
            <a:schemeClr val="accent3"/>
          </a:solidFill>
          <a:ln w="31750">
            <a:solidFill>
              <a:schemeClr val="tx2"/>
            </a:solidFill>
          </a:ln>
        </p:spPr>
      </p:pic>
    </p:spTree>
    <p:extLst>
      <p:ext uri="{BB962C8B-B14F-4D97-AF65-F5344CB8AC3E}">
        <p14:creationId xmlns:p14="http://schemas.microsoft.com/office/powerpoint/2010/main" val="3253799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a:xfrm>
            <a:off x="251520" y="332656"/>
            <a:ext cx="7772400" cy="457200"/>
          </a:xfrm>
        </p:spPr>
        <p:txBody>
          <a:bodyPr>
            <a:noAutofit/>
          </a:bodyPr>
          <a:lstStyle/>
          <a:p>
            <a:pPr algn="l" eaLnBrk="1" hangingPunct="1">
              <a:defRPr/>
            </a:pPr>
            <a:r>
              <a:rPr lang="en-US" altLang="zh-CN" sz="2800" b="1" dirty="0">
                <a:solidFill>
                  <a:schemeClr val="accent6">
                    <a:lumMod val="75000"/>
                  </a:schemeClr>
                </a:solidFill>
              </a:rPr>
              <a:t>5. </a:t>
            </a:r>
            <a:r>
              <a:rPr lang="zh-CN" altLang="en-US" sz="2800" b="1" dirty="0">
                <a:solidFill>
                  <a:schemeClr val="accent6">
                    <a:lumMod val="75000"/>
                  </a:schemeClr>
                </a:solidFill>
              </a:rPr>
              <a:t>凸集、凸函数与凸规划</a:t>
            </a:r>
          </a:p>
        </p:txBody>
      </p:sp>
      <p:pic>
        <p:nvPicPr>
          <p:cNvPr id="4" name="图片 3">
            <a:extLst>
              <a:ext uri="{FF2B5EF4-FFF2-40B4-BE49-F238E27FC236}">
                <a16:creationId xmlns:a16="http://schemas.microsoft.com/office/drawing/2014/main" id="{496E60F1-4595-4DDE-A79C-C79CBA5E17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52737"/>
            <a:ext cx="8964488" cy="5511030"/>
          </a:xfrm>
          <a:prstGeom prst="rect">
            <a:avLst/>
          </a:prstGeom>
        </p:spPr>
      </p:pic>
      <p:sp>
        <p:nvSpPr>
          <p:cNvPr id="3" name="文本框 2">
            <a:extLst>
              <a:ext uri="{FF2B5EF4-FFF2-40B4-BE49-F238E27FC236}">
                <a16:creationId xmlns:a16="http://schemas.microsoft.com/office/drawing/2014/main" id="{2550D320-4A57-B384-B488-CF1E30AC71CE}"/>
              </a:ext>
            </a:extLst>
          </p:cNvPr>
          <p:cNvSpPr txBox="1"/>
          <p:nvPr/>
        </p:nvSpPr>
        <p:spPr>
          <a:xfrm>
            <a:off x="4932040" y="6340678"/>
            <a:ext cx="4572000" cy="369332"/>
          </a:xfrm>
          <a:prstGeom prst="rect">
            <a:avLst/>
          </a:prstGeom>
          <a:noFill/>
        </p:spPr>
        <p:txBody>
          <a:bodyPr wrap="square">
            <a:spAutoFit/>
          </a:bodyPr>
          <a:lstStyle/>
          <a:p>
            <a:r>
              <a:rPr lang="en-US" altLang="zh-CN" sz="1800" b="0" i="0" u="none" strike="noStrike" baseline="0" dirty="0">
                <a:latin typeface="NimbusRomNo9L-Regu"/>
              </a:rPr>
              <a:t>《Algorithms for Convex Optimization》 </a:t>
            </a:r>
            <a:endParaRPr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74800E11-79B8-4013-A7C5-27E0A6E061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34625"/>
            <a:ext cx="9144000" cy="3788749"/>
          </a:xfrm>
          <a:prstGeom prst="rect">
            <a:avLst/>
          </a:prstGeom>
        </p:spPr>
      </p:pic>
      <p:sp>
        <p:nvSpPr>
          <p:cNvPr id="2" name="矩形 1">
            <a:extLst>
              <a:ext uri="{FF2B5EF4-FFF2-40B4-BE49-F238E27FC236}">
                <a16:creationId xmlns:a16="http://schemas.microsoft.com/office/drawing/2014/main" id="{813007F6-EE42-4FBE-91A6-C8E06E0A0538}"/>
              </a:ext>
            </a:extLst>
          </p:cNvPr>
          <p:cNvSpPr/>
          <p:nvPr/>
        </p:nvSpPr>
        <p:spPr>
          <a:xfrm>
            <a:off x="8100392" y="2420888"/>
            <a:ext cx="792088" cy="5760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12F38F50-16C3-5598-88EA-F855BB159066}"/>
              </a:ext>
            </a:extLst>
          </p:cNvPr>
          <p:cNvSpPr txBox="1"/>
          <p:nvPr/>
        </p:nvSpPr>
        <p:spPr>
          <a:xfrm>
            <a:off x="4932040" y="6340678"/>
            <a:ext cx="4572000" cy="369332"/>
          </a:xfrm>
          <a:prstGeom prst="rect">
            <a:avLst/>
          </a:prstGeom>
          <a:noFill/>
        </p:spPr>
        <p:txBody>
          <a:bodyPr wrap="square">
            <a:spAutoFit/>
          </a:bodyPr>
          <a:lstStyle/>
          <a:p>
            <a:r>
              <a:rPr lang="en-US" altLang="zh-CN" sz="1800" b="0" i="0" u="none" strike="noStrike" baseline="0" dirty="0">
                <a:latin typeface="NimbusRomNo9L-Regu"/>
              </a:rPr>
              <a:t>《Algorithms for Convex Optimization》 </a:t>
            </a:r>
            <a:endParaRPr lang="zh-CN" altLang="en-US" dirty="0"/>
          </a:p>
        </p:txBody>
      </p:sp>
    </p:spTree>
    <p:extLst>
      <p:ext uri="{BB962C8B-B14F-4D97-AF65-F5344CB8AC3E}">
        <p14:creationId xmlns:p14="http://schemas.microsoft.com/office/powerpoint/2010/main" val="12905185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3"/>
          <p:cNvSpPr>
            <a:spLocks noGrp="1" noChangeArrowheads="1"/>
          </p:cNvSpPr>
          <p:nvPr>
            <p:ph type="body" idx="1"/>
          </p:nvPr>
        </p:nvSpPr>
        <p:spPr>
          <a:xfrm>
            <a:off x="400000" y="404664"/>
            <a:ext cx="7772400" cy="648072"/>
          </a:xfrm>
        </p:spPr>
        <p:txBody>
          <a:bodyPr/>
          <a:lstStyle/>
          <a:p>
            <a:pPr eaLnBrk="1" hangingPunct="1">
              <a:buFontTx/>
              <a:buNone/>
              <a:defRPr/>
            </a:pPr>
            <a:r>
              <a:rPr lang="zh-CN" altLang="en-US" b="1" dirty="0">
                <a:solidFill>
                  <a:schemeClr val="accent5">
                    <a:lumMod val="50000"/>
                  </a:schemeClr>
                </a:solidFill>
                <a:latin typeface="宋体" panose="02010600030101010101" pitchFamily="2" charset="-122"/>
              </a:rPr>
              <a:t>凸规划：</a:t>
            </a:r>
            <a:r>
              <a:rPr lang="zh-CN" altLang="en-US" sz="2800" b="1" dirty="0">
                <a:solidFill>
                  <a:schemeClr val="accent5">
                    <a:lumMod val="50000"/>
                  </a:schemeClr>
                </a:solidFill>
                <a:latin typeface="宋体" panose="02010600030101010101" pitchFamily="2" charset="-122"/>
              </a:rPr>
              <a:t>可行域是凸集且目标函数是凸函数</a:t>
            </a:r>
          </a:p>
          <a:p>
            <a:pPr eaLnBrk="1" hangingPunct="1">
              <a:buFontTx/>
              <a:buNone/>
              <a:defRPr/>
            </a:pPr>
            <a:endParaRPr lang="zh-CN" altLang="en-US" b="1" dirty="0">
              <a:solidFill>
                <a:schemeClr val="accent5">
                  <a:lumMod val="50000"/>
                </a:schemeClr>
              </a:solidFill>
              <a:latin typeface="宋体" panose="02010600030101010101" pitchFamily="2" charset="-122"/>
            </a:endParaRPr>
          </a:p>
        </p:txBody>
      </p:sp>
      <p:sp>
        <p:nvSpPr>
          <p:cNvPr id="7" name="Rectangle 3"/>
          <p:cNvSpPr txBox="1">
            <a:spLocks noChangeArrowheads="1"/>
          </p:cNvSpPr>
          <p:nvPr/>
        </p:nvSpPr>
        <p:spPr bwMode="auto">
          <a:xfrm>
            <a:off x="390663" y="1397427"/>
            <a:ext cx="77724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spcBef>
                <a:spcPct val="20000"/>
              </a:spcBef>
              <a:spcAft>
                <a:spcPct val="0"/>
              </a:spcAft>
              <a:buSzPct val="90000"/>
              <a:buBlip>
                <a:blip r:embed="rId2"/>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SzPct val="80000"/>
              <a:buBlip>
                <a:blip r:embed="rId3"/>
              </a:buBlip>
              <a:defRPr kumimoji="1" sz="2800">
                <a:solidFill>
                  <a:schemeClr val="tx1"/>
                </a:solidFill>
                <a:latin typeface="+mn-lt"/>
                <a:ea typeface="+mn-ea"/>
              </a:defRPr>
            </a:lvl2pPr>
            <a:lvl3pPr marL="1143000" indent="-228600" algn="l" rtl="0" eaLnBrk="0" fontAlgn="base" hangingPunct="0">
              <a:spcBef>
                <a:spcPct val="20000"/>
              </a:spcBef>
              <a:spcAft>
                <a:spcPct val="0"/>
              </a:spcAft>
              <a:buSzPct val="70000"/>
              <a:buBlip>
                <a:blip r:embed="rId4"/>
              </a:buBlip>
              <a:defRPr kumimoji="1" sz="2400">
                <a:solidFill>
                  <a:schemeClr val="tx1"/>
                </a:solidFill>
                <a:latin typeface="+mn-lt"/>
                <a:ea typeface="+mn-ea"/>
              </a:defRPr>
            </a:lvl3pPr>
            <a:lvl4pPr marL="1600200" indent="-228600" algn="l" rtl="0" eaLnBrk="0" fontAlgn="base" hangingPunct="0">
              <a:spcBef>
                <a:spcPct val="20000"/>
              </a:spcBef>
              <a:spcAft>
                <a:spcPct val="0"/>
              </a:spcAft>
              <a:buSzPct val="70000"/>
              <a:buBlip>
                <a:blip r:embed="rId5"/>
              </a:buBlip>
              <a:defRPr kumimoji="1" sz="2000">
                <a:solidFill>
                  <a:schemeClr val="tx1"/>
                </a:solidFill>
                <a:latin typeface="+mn-lt"/>
                <a:ea typeface="+mn-ea"/>
              </a:defRPr>
            </a:lvl4pPr>
            <a:lvl5pPr marL="2057400" indent="-228600" algn="l" rtl="0" eaLnBrk="0" fontAlgn="base" hangingPunct="0">
              <a:spcBef>
                <a:spcPct val="20000"/>
              </a:spcBef>
              <a:spcAft>
                <a:spcPct val="0"/>
              </a:spcAft>
              <a:buSzPct val="70000"/>
              <a:buBlip>
                <a:blip r:embed="rId6"/>
              </a:buBlip>
              <a:defRPr kumimoji="1" sz="2000">
                <a:solidFill>
                  <a:schemeClr val="tx1"/>
                </a:solidFill>
                <a:latin typeface="+mn-lt"/>
                <a:ea typeface="+mn-ea"/>
              </a:defRPr>
            </a:lvl5pPr>
            <a:lvl6pPr marL="2514600" indent="-228600" algn="l" rtl="0" fontAlgn="base">
              <a:spcBef>
                <a:spcPct val="20000"/>
              </a:spcBef>
              <a:spcAft>
                <a:spcPct val="0"/>
              </a:spcAft>
              <a:buSzPct val="70000"/>
              <a:buBlip>
                <a:blip r:embed="rId6"/>
              </a:buBlip>
              <a:defRPr kumimoji="1" sz="2000">
                <a:solidFill>
                  <a:schemeClr val="tx1"/>
                </a:solidFill>
                <a:latin typeface="+mn-lt"/>
                <a:ea typeface="+mn-ea"/>
              </a:defRPr>
            </a:lvl6pPr>
            <a:lvl7pPr marL="2971800" indent="-228600" algn="l" rtl="0" fontAlgn="base">
              <a:spcBef>
                <a:spcPct val="20000"/>
              </a:spcBef>
              <a:spcAft>
                <a:spcPct val="0"/>
              </a:spcAft>
              <a:buSzPct val="70000"/>
              <a:buBlip>
                <a:blip r:embed="rId6"/>
              </a:buBlip>
              <a:defRPr kumimoji="1" sz="2000">
                <a:solidFill>
                  <a:schemeClr val="tx1"/>
                </a:solidFill>
                <a:latin typeface="+mn-lt"/>
                <a:ea typeface="+mn-ea"/>
              </a:defRPr>
            </a:lvl7pPr>
            <a:lvl8pPr marL="3429000" indent="-228600" algn="l" rtl="0" fontAlgn="base">
              <a:spcBef>
                <a:spcPct val="20000"/>
              </a:spcBef>
              <a:spcAft>
                <a:spcPct val="0"/>
              </a:spcAft>
              <a:buSzPct val="70000"/>
              <a:buBlip>
                <a:blip r:embed="rId6"/>
              </a:buBlip>
              <a:defRPr kumimoji="1" sz="2000">
                <a:solidFill>
                  <a:schemeClr val="tx1"/>
                </a:solidFill>
                <a:latin typeface="+mn-lt"/>
                <a:ea typeface="+mn-ea"/>
              </a:defRPr>
            </a:lvl8pPr>
            <a:lvl9pPr marL="3886200" indent="-228600" algn="l" rtl="0" fontAlgn="base">
              <a:spcBef>
                <a:spcPct val="20000"/>
              </a:spcBef>
              <a:spcAft>
                <a:spcPct val="0"/>
              </a:spcAft>
              <a:buSzPct val="70000"/>
              <a:buBlip>
                <a:blip r:embed="rId6"/>
              </a:buBlip>
              <a:defRPr kumimoji="1" sz="2000">
                <a:solidFill>
                  <a:schemeClr val="tx1"/>
                </a:solidFill>
                <a:latin typeface="+mn-lt"/>
                <a:ea typeface="+mn-ea"/>
              </a:defRPr>
            </a:lvl9pPr>
          </a:lstStyle>
          <a:p>
            <a:pPr eaLnBrk="1" hangingPunct="1">
              <a:buFontTx/>
              <a:buNone/>
              <a:defRPr/>
            </a:pPr>
            <a:r>
              <a:rPr lang="zh-CN" altLang="en-US" sz="2800" b="1" kern="0" dirty="0">
                <a:solidFill>
                  <a:srgbClr val="FF0000"/>
                </a:solidFill>
                <a:latin typeface="宋体" panose="02010600030101010101" pitchFamily="2" charset="-122"/>
              </a:rPr>
              <a:t>求证：凸规划的任一局部极小点均为全局极小点。</a:t>
            </a:r>
          </a:p>
          <a:p>
            <a:pPr eaLnBrk="1" hangingPunct="1">
              <a:buFontTx/>
              <a:buNone/>
              <a:defRPr/>
            </a:pPr>
            <a:endParaRPr lang="zh-CN" altLang="en-US" sz="2800" b="1" kern="0" dirty="0">
              <a:solidFill>
                <a:srgbClr val="FF0000"/>
              </a:solidFill>
              <a:latin typeface="宋体" panose="02010600030101010101" pitchFamily="2" charset="-122"/>
            </a:endParaRP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AEB66158-545A-497F-ABD4-CDEF877084C0}"/>
                  </a:ext>
                </a:extLst>
              </p:cNvPr>
              <p:cNvSpPr txBox="1"/>
              <p:nvPr/>
            </p:nvSpPr>
            <p:spPr>
              <a:xfrm>
                <a:off x="400000" y="2045127"/>
                <a:ext cx="8564488" cy="3888437"/>
              </a:xfrm>
              <a:prstGeom prst="rect">
                <a:avLst/>
              </a:prstGeom>
              <a:noFill/>
            </p:spPr>
            <p:txBody>
              <a:bodyPr wrap="square">
                <a:spAutoFit/>
              </a:bodyPr>
              <a:lstStyle/>
              <a:p>
                <a:pPr algn="just">
                  <a:lnSpc>
                    <a:spcPct val="150000"/>
                  </a:lnSpc>
                </a:pPr>
                <a:r>
                  <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rPr>
                  <a:t>证明：假设</a:t>
                </a:r>
                <a14:m>
                  <m:oMath xmlns:m="http://schemas.openxmlformats.org/officeDocument/2006/math">
                    <m:acc>
                      <m:accPr>
                        <m:chr m:val="̅"/>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𝑥</m:t>
                        </m:r>
                      </m:e>
                    </m:acc>
                  </m:oMath>
                </a14:m>
                <a:r>
                  <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rPr>
                  <a:t>是凸规划的一个局部极小点但不是全局极小点，记</a:t>
                </a:r>
                <a14:m>
                  <m:oMath xmlns:m="http://schemas.openxmlformats.org/officeDocument/2006/math">
                    <m:sSup>
                      <m:sSup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𝑥</m:t>
                        </m:r>
                      </m:e>
                      <m:sup>
                        <m:r>
                          <a:rPr lang="zh-CN" altLang="en-US" sz="2800" i="1" kern="100">
                            <a:effectLst/>
                            <a:latin typeface="Cambria Math" panose="02040503050406030204" pitchFamily="18" charset="0"/>
                            <a:ea typeface="MS Gothic" panose="020B0609070205080204" pitchFamily="49" charset="-128"/>
                            <a:cs typeface="MS Gothic" panose="020B0609070205080204" pitchFamily="49" charset="-128"/>
                          </a:rPr>
                          <m:t>∗</m:t>
                        </m:r>
                      </m:sup>
                    </m:sSup>
                  </m:oMath>
                </a14:m>
                <a:r>
                  <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rPr>
                  <a:t>为凸规划的全局极小点，则</a:t>
                </a:r>
                <a14:m>
                  <m:oMath xmlns:m="http://schemas.openxmlformats.org/officeDocument/2006/math">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𝑓</m:t>
                    </m:r>
                    <m:d>
                      <m:d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𝑥</m:t>
                            </m:r>
                          </m:e>
                          <m:sup>
                            <m:r>
                              <a:rPr lang="zh-CN" altLang="en-US" sz="2800" i="1" kern="100">
                                <a:effectLst/>
                                <a:latin typeface="Cambria Math" panose="02040503050406030204" pitchFamily="18" charset="0"/>
                                <a:ea typeface="MS Gothic" panose="020B0609070205080204" pitchFamily="49" charset="-128"/>
                                <a:cs typeface="MS Gothic" panose="020B0609070205080204" pitchFamily="49" charset="-128"/>
                              </a:rPr>
                              <m:t>∗</m:t>
                            </m:r>
                          </m:sup>
                        </m:sSup>
                      </m:e>
                    </m:d>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&lt;</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𝑓</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acc>
                      <m:accPr>
                        <m:chr m:val="̅"/>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𝑥</m:t>
                        </m:r>
                      </m:e>
                    </m:acc>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oMath>
                </a14:m>
                <a:r>
                  <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rPr>
                  <a:t>。由目标函数的凸性知，</a:t>
                </a:r>
                <a14:m>
                  <m:oMath xmlns:m="http://schemas.openxmlformats.org/officeDocument/2006/math">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𝑡</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∈[0,1]</m:t>
                    </m:r>
                  </m:oMath>
                </a14:m>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50000"/>
                  </a:lnSpc>
                </a:pPr>
                <a14:m>
                  <m:oMathPara xmlns:m="http://schemas.openxmlformats.org/officeDocument/2006/math">
                    <m:oMathParaPr>
                      <m:jc m:val="centerGroup"/>
                    </m:oMathParaPr>
                    <m:oMath xmlns:m="http://schemas.openxmlformats.org/officeDocument/2006/math">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𝑓</m:t>
                      </m:r>
                      <m:d>
                        <m:d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𝑡</m:t>
                          </m:r>
                          <m:sSup>
                            <m:sSup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𝑥</m:t>
                              </m:r>
                            </m:e>
                            <m:sup>
                              <m:r>
                                <a:rPr lang="zh-CN" altLang="en-US" sz="2800" i="1" kern="100">
                                  <a:effectLst/>
                                  <a:latin typeface="Cambria Math" panose="02040503050406030204" pitchFamily="18" charset="0"/>
                                  <a:ea typeface="MS Gothic" panose="020B0609070205080204" pitchFamily="49" charset="-128"/>
                                  <a:cs typeface="MS Gothic" panose="020B0609070205080204" pitchFamily="49" charset="-128"/>
                                </a:rPr>
                                <m:t>∗</m:t>
                              </m:r>
                            </m:sup>
                          </m:sSup>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+(1−</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𝑡</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acc>
                            <m:accPr>
                              <m:chr m:val="̅"/>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𝑥</m:t>
                              </m:r>
                            </m:e>
                          </m:acc>
                        </m:e>
                      </m:d>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𝑡𝑓</m:t>
                      </m:r>
                      <m:d>
                        <m:d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𝑥</m:t>
                              </m:r>
                            </m:e>
                            <m:sup>
                              <m:r>
                                <a:rPr lang="zh-CN" altLang="en-US" sz="2800" i="1" kern="100">
                                  <a:effectLst/>
                                  <a:latin typeface="Cambria Math" panose="02040503050406030204" pitchFamily="18" charset="0"/>
                                  <a:ea typeface="MS Gothic" panose="020B0609070205080204" pitchFamily="49" charset="-128"/>
                                  <a:cs typeface="MS Gothic" panose="020B0609070205080204" pitchFamily="49" charset="-128"/>
                                </a:rPr>
                                <m:t>∗</m:t>
                              </m:r>
                            </m:sup>
                          </m:sSup>
                        </m:e>
                      </m:d>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d>
                        <m:d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1−</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𝑡</m:t>
                          </m:r>
                        </m:e>
                      </m:d>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𝑓</m:t>
                      </m:r>
                      <m:d>
                        <m:d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dPr>
                        <m:e>
                          <m:acc>
                            <m:accPr>
                              <m:chr m:val="̅"/>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𝑥</m:t>
                              </m:r>
                            </m:e>
                          </m:acc>
                        </m:e>
                      </m:d>
                      <m:r>
                        <a:rPr lang="en-US" altLang="zh-CN" sz="2800" b="0" i="1" kern="100" smtClean="0">
                          <a:effectLst/>
                          <a:latin typeface="Cambria Math" panose="02040503050406030204" pitchFamily="18" charset="0"/>
                          <a:ea typeface="等线" panose="02010600030101010101" pitchFamily="2" charset="-122"/>
                          <a:cs typeface="Times New Roman" panose="02020603050405020304" pitchFamily="18" charset="0"/>
                        </a:rPr>
                        <m:t>     </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&lt;</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𝑡𝑓</m:t>
                      </m:r>
                      <m:d>
                        <m:d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dPr>
                        <m:e>
                          <m:acc>
                            <m:accPr>
                              <m:chr m:val="̅"/>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𝑥</m:t>
                              </m:r>
                            </m:e>
                          </m:acc>
                        </m:e>
                      </m:d>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d>
                        <m:d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1−</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𝑡</m:t>
                          </m:r>
                        </m:e>
                      </m:d>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𝑓</m:t>
                      </m:r>
                      <m:d>
                        <m:d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dPr>
                        <m:e>
                          <m:acc>
                            <m:accPr>
                              <m:chr m:val="̅"/>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𝑥</m:t>
                              </m:r>
                            </m:e>
                          </m:acc>
                        </m:e>
                      </m:d>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𝑓</m:t>
                      </m:r>
                      <m:d>
                        <m:d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dPr>
                        <m:e>
                          <m:acc>
                            <m:accPr>
                              <m:chr m:val="̅"/>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𝑥</m:t>
                              </m:r>
                            </m:e>
                          </m:acc>
                        </m:e>
                      </m:d>
                    </m:oMath>
                  </m:oMathPara>
                </a14:m>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50000"/>
                  </a:lnSpc>
                </a:pPr>
                <a:r>
                  <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rPr>
                  <a:t>这与</a:t>
                </a:r>
                <a14:m>
                  <m:oMath xmlns:m="http://schemas.openxmlformats.org/officeDocument/2006/math">
                    <m:acc>
                      <m:accPr>
                        <m:chr m:val="̅"/>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𝑥</m:t>
                        </m:r>
                      </m:e>
                    </m:acc>
                  </m:oMath>
                </a14:m>
                <a:r>
                  <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rPr>
                  <a:t>是局部极小点矛盾。</a:t>
                </a:r>
              </a:p>
            </p:txBody>
          </p:sp>
        </mc:Choice>
        <mc:Fallback xmlns="">
          <p:sp>
            <p:nvSpPr>
              <p:cNvPr id="8" name="文本框 7">
                <a:extLst>
                  <a:ext uri="{FF2B5EF4-FFF2-40B4-BE49-F238E27FC236}">
                    <a16:creationId xmlns:a16="http://schemas.microsoft.com/office/drawing/2014/main" id="{AEB66158-545A-497F-ABD4-CDEF877084C0}"/>
                  </a:ext>
                </a:extLst>
              </p:cNvPr>
              <p:cNvSpPr txBox="1">
                <a:spLocks noRot="1" noChangeAspect="1" noMove="1" noResize="1" noEditPoints="1" noAdjustHandles="1" noChangeArrowheads="1" noChangeShapeType="1" noTextEdit="1"/>
              </p:cNvSpPr>
              <p:nvPr/>
            </p:nvSpPr>
            <p:spPr>
              <a:xfrm>
                <a:off x="400000" y="2045127"/>
                <a:ext cx="8564488" cy="3888437"/>
              </a:xfrm>
              <a:prstGeom prst="rect">
                <a:avLst/>
              </a:prstGeom>
              <a:blipFill>
                <a:blip r:embed="rId7"/>
                <a:stretch>
                  <a:fillRect l="-1495" r="-5552" b="-3292"/>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本框 1"/>
              <p:cNvSpPr txBox="1"/>
              <p:nvPr/>
            </p:nvSpPr>
            <p:spPr>
              <a:xfrm>
                <a:off x="737574" y="1862826"/>
                <a:ext cx="7499033" cy="2790508"/>
              </a:xfrm>
              <a:prstGeom prst="rect">
                <a:avLst/>
              </a:prstGeom>
              <a:noFill/>
            </p:spPr>
            <p:txBody>
              <a:bodyPr wrap="square" rtlCol="0">
                <a:spAutoFit/>
              </a:bodyPr>
              <a:lstStyle/>
              <a:p>
                <a:pPr fontAlgn="auto">
                  <a:lnSpc>
                    <a:spcPct val="150000"/>
                  </a:lnSpc>
                </a:pPr>
                <a:r>
                  <a:rPr lang="zh-CN" altLang="en-US" sz="2400" b="1" dirty="0">
                    <a:solidFill>
                      <a:srgbClr val="0070C0"/>
                    </a:solidFill>
                    <a:latin typeface="宋体" panose="02010600030101010101" pitchFamily="2" charset="-122"/>
                    <a:ea typeface="宋体" panose="02010600030101010101" pitchFamily="2" charset="-122"/>
                    <a:cs typeface="宋体" panose="02010600030101010101" pitchFamily="2" charset="-122"/>
                  </a:rPr>
                  <a:t>性质</a:t>
                </a:r>
                <a:r>
                  <a:rPr lang="en-US" altLang="zh-CN" sz="2400" b="1" dirty="0">
                    <a:solidFill>
                      <a:srgbClr val="0070C0"/>
                    </a:solidFill>
                    <a:latin typeface="宋体" panose="02010600030101010101" pitchFamily="2" charset="-122"/>
                    <a:ea typeface="宋体" panose="02010600030101010101" pitchFamily="2" charset="-122"/>
                    <a:cs typeface="宋体" panose="02010600030101010101" pitchFamily="2" charset="-122"/>
                  </a:rPr>
                  <a:t>1</a:t>
                </a:r>
                <a:r>
                  <a:rPr lang="en-US" altLang="zh-CN" sz="2400" dirty="0">
                    <a:solidFill>
                      <a:srgbClr val="0070C0"/>
                    </a:solidFill>
                    <a:latin typeface="宋体" panose="02010600030101010101" pitchFamily="2" charset="-122"/>
                    <a:ea typeface="宋体" panose="02010600030101010101" pitchFamily="2" charset="-122"/>
                    <a:cs typeface="宋体" panose="02010600030101010101" pitchFamily="2" charset="-122"/>
                  </a:rPr>
                  <a:t> </a:t>
                </a:r>
                <a:r>
                  <a:rPr lang="zh-CN" altLang="en-US" sz="2400" dirty="0">
                    <a:latin typeface="宋体" panose="02010600030101010101" pitchFamily="2" charset="-122"/>
                    <a:ea typeface="宋体" panose="02010600030101010101" pitchFamily="2" charset="-122"/>
                    <a:cs typeface="宋体" panose="02010600030101010101" pitchFamily="2" charset="-122"/>
                  </a:rPr>
                  <a:t>设</a:t>
                </a:r>
                <a14:m>
                  <m:oMath xmlns:m="http://schemas.openxmlformats.org/officeDocument/2006/math">
                    <m:r>
                      <a:rPr lang="en-US" altLang="zh-CN" sz="24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d>
                  </m:oMath>
                </a14:m>
                <a:r>
                  <a:rPr lang="zh-CN" altLang="en-US" sz="2400" dirty="0">
                    <a:latin typeface="宋体" panose="02010600030101010101" pitchFamily="2" charset="-122"/>
                    <a:ea typeface="宋体" panose="02010600030101010101" pitchFamily="2" charset="-122"/>
                    <a:cs typeface="宋体" panose="02010600030101010101" pitchFamily="2" charset="-122"/>
                  </a:rPr>
                  <a:t>为定义在凸集</a:t>
                </a:r>
                <a14:m>
                  <m:oMath xmlns:m="http://schemas.openxmlformats.org/officeDocument/2006/math">
                    <m:r>
                      <a:rPr lang="en-US" altLang="zh-CN" sz="2400" i="1">
                        <a:latin typeface="Cambria Math" panose="02040503050406030204" pitchFamily="18" charset="0"/>
                        <a:ea typeface="MS Mincho" panose="02020609040205080304" charset="-128"/>
                        <a:cs typeface="Cambria Math" panose="02040503050406030204" pitchFamily="18" charset="0"/>
                      </a:rPr>
                      <m:t>𝑆</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上的凸函数，则对任意实数</a:t>
                </a:r>
                <a14:m>
                  <m:oMath xmlns:m="http://schemas.openxmlformats.org/officeDocument/2006/math">
                    <m:r>
                      <a:rPr lang="zh-CN" altLang="en-US" sz="2400" i="1">
                        <a:latin typeface="Cambria Math" panose="02040503050406030204" pitchFamily="18" charset="0"/>
                        <a:ea typeface="Cambria Math" panose="02040503050406030204" pitchFamily="18" charset="0"/>
                        <a:cs typeface="Cambria Math" panose="02040503050406030204" pitchFamily="18" charset="0"/>
                        <a:sym typeface="+mn-ea"/>
                      </a:rPr>
                      <m:t>𝛽</m:t>
                    </m:r>
                    <m:r>
                      <a:rPr lang="el-GR" altLang="zh-CN" sz="2400" i="1">
                        <a:latin typeface="Cambria Math" panose="02040503050406030204" pitchFamily="18" charset="0"/>
                        <a:ea typeface="Cambria Math" panose="02040503050406030204" pitchFamily="18" charset="0"/>
                        <a:cs typeface="Cambria Math" panose="02040503050406030204" pitchFamily="18" charset="0"/>
                      </a:rPr>
                      <m:t>≥</m:t>
                    </m:r>
                    <m:r>
                      <a:rPr lang="en-US" altLang="zh-CN" sz="2400" i="1">
                        <a:latin typeface="Cambria Math" panose="02040503050406030204" pitchFamily="18" charset="0"/>
                        <a:ea typeface="Cambria Math" panose="02040503050406030204" pitchFamily="18" charset="0"/>
                        <a:cs typeface="Cambria Math" panose="02040503050406030204" pitchFamily="18" charset="0"/>
                      </a:rPr>
                      <m:t>0</m:t>
                    </m:r>
                    <m:r>
                      <a:rPr lang="el-GR" altLang="zh-CN" sz="2400" i="1">
                        <a:latin typeface="Cambria Math" panose="02040503050406030204" pitchFamily="18" charset="0"/>
                        <a:ea typeface="Cambria Math" panose="02040503050406030204" pitchFamily="18" charset="0"/>
                        <a:cs typeface="Cambria Math" panose="02040503050406030204" pitchFamily="18" charset="0"/>
                      </a:rPr>
                      <m:t> </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，函数</a:t>
                </a:r>
                <a14:m>
                  <m:oMath xmlns:m="http://schemas.openxmlformats.org/officeDocument/2006/math">
                    <m:r>
                      <a:rPr lang="zh-CN" altLang="en-US" sz="2400" i="1">
                        <a:latin typeface="Cambria Math" panose="02040503050406030204" pitchFamily="18" charset="0"/>
                        <a:ea typeface="Cambria Math" panose="02040503050406030204" pitchFamily="18" charset="0"/>
                        <a:cs typeface="Cambria Math" panose="02040503050406030204" pitchFamily="18" charset="0"/>
                        <a:sym typeface="+mn-ea"/>
                      </a:rPr>
                      <m:t>𝛽</m:t>
                    </m:r>
                    <m:r>
                      <a:rPr lang="en-US" altLang="zh-CN" sz="2400" i="1">
                        <a:latin typeface="Cambria Math" panose="02040503050406030204" pitchFamily="18" charset="0"/>
                        <a:ea typeface="宋体" panose="02010600030101010101" pitchFamily="2" charset="-122"/>
                        <a:cs typeface="Cambria Math" panose="02040503050406030204" pitchFamily="18" charset="0"/>
                      </a:rPr>
                      <m:t>𝑓</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r>
                      <a:rPr lang="en-US" altLang="zh-CN" sz="2400" i="1">
                        <a:latin typeface="Cambria Math" panose="02040503050406030204" pitchFamily="18" charset="0"/>
                        <a:ea typeface="MS Mincho" panose="02020609040205080304" charset="-128"/>
                        <a:cs typeface="Cambria Math" panose="02040503050406030204" pitchFamily="18" charset="0"/>
                      </a:rPr>
                      <m:t>)</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也是定义在凸集</a:t>
                </a:r>
                <a14:m>
                  <m:oMath xmlns:m="http://schemas.openxmlformats.org/officeDocument/2006/math">
                    <m:r>
                      <a:rPr lang="en-US" altLang="zh-CN" sz="2400" i="1">
                        <a:latin typeface="Cambria Math" panose="02040503050406030204" pitchFamily="18" charset="0"/>
                        <a:ea typeface="MS Mincho" panose="02020609040205080304" charset="-128"/>
                        <a:cs typeface="Cambria Math" panose="02040503050406030204" pitchFamily="18" charset="0"/>
                      </a:rPr>
                      <m:t>𝑆</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上的凸函数。</a:t>
                </a:r>
              </a:p>
              <a:p>
                <a:pPr fontAlgn="auto">
                  <a:lnSpc>
                    <a:spcPct val="150000"/>
                  </a:lnSpc>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a:p>
                <a:pPr fontAlgn="auto">
                  <a:lnSpc>
                    <a:spcPct val="150000"/>
                  </a:lnSpc>
                </a:pPr>
                <a:r>
                  <a:rPr lang="zh-CN" altLang="en-US" sz="2400" b="1" dirty="0">
                    <a:solidFill>
                      <a:srgbClr val="0070C0"/>
                    </a:solidFill>
                    <a:latin typeface="宋体" panose="02010600030101010101" pitchFamily="2" charset="-122"/>
                    <a:ea typeface="宋体" panose="02010600030101010101" pitchFamily="2" charset="-122"/>
                    <a:cs typeface="宋体" panose="02010600030101010101" pitchFamily="2" charset="-122"/>
                  </a:rPr>
                  <a:t>性质2 </a:t>
                </a:r>
                <a:r>
                  <a:rPr lang="zh-CN" altLang="en-US" sz="2400" dirty="0">
                    <a:latin typeface="宋体" panose="02010600030101010101" pitchFamily="2" charset="-122"/>
                    <a:ea typeface="宋体" panose="02010600030101010101" pitchFamily="2" charset="-122"/>
                    <a:cs typeface="宋体" panose="02010600030101010101" pitchFamily="2" charset="-122"/>
                  </a:rPr>
                  <a:t>设</a:t>
                </a:r>
                <a14:m>
                  <m:oMath xmlns:m="http://schemas.openxmlformats.org/officeDocument/2006/math">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𝑓</m:t>
                        </m:r>
                      </m:e>
                      <m:sub>
                        <m:r>
                          <a:rPr lang="en-US" altLang="zh-CN" sz="2400" i="1">
                            <a:latin typeface="Cambria Math" panose="02040503050406030204" pitchFamily="18" charset="0"/>
                            <a:ea typeface="MS Mincho" panose="02020609040205080304" charset="-128"/>
                            <a:cs typeface="Cambria Math" panose="02040503050406030204" pitchFamily="18" charset="0"/>
                          </a:rPr>
                          <m:t>1</m:t>
                        </m:r>
                      </m:sub>
                    </m:sSub>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r>
                      <a:rPr lang="en-US" altLang="zh-CN" sz="2400" i="1">
                        <a:latin typeface="Cambria Math" panose="02040503050406030204" pitchFamily="18" charset="0"/>
                        <a:ea typeface="MS Mincho" panose="02020609040205080304" charset="-128"/>
                        <a:cs typeface="Cambria Math" panose="02040503050406030204" pitchFamily="18" charset="0"/>
                      </a:rPr>
                      <m:t>)</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和</a:t>
                </a:r>
                <a14:m>
                  <m:oMath xmlns:m="http://schemas.openxmlformats.org/officeDocument/2006/math">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𝑓</m:t>
                        </m:r>
                      </m:e>
                      <m:sub>
                        <m:r>
                          <a:rPr lang="en-US" altLang="zh-CN" sz="2400" i="1">
                            <a:latin typeface="Cambria Math" panose="02040503050406030204" pitchFamily="18" charset="0"/>
                            <a:ea typeface="MS Mincho" panose="02020609040205080304" charset="-128"/>
                            <a:cs typeface="Cambria Math" panose="02040503050406030204" pitchFamily="18" charset="0"/>
                          </a:rPr>
                          <m:t>2</m:t>
                        </m:r>
                      </m:sub>
                    </m:sSub>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r>
                      <a:rPr lang="en-US" altLang="zh-CN" sz="2400" i="1">
                        <a:latin typeface="Cambria Math" panose="02040503050406030204" pitchFamily="18" charset="0"/>
                        <a:ea typeface="MS Mincho" panose="02020609040205080304" charset="-128"/>
                        <a:cs typeface="Cambria Math" panose="02040503050406030204" pitchFamily="18" charset="0"/>
                      </a:rPr>
                      <m:t>)</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都是定义在凸集</a:t>
                </a:r>
                <a14:m>
                  <m:oMath xmlns:m="http://schemas.openxmlformats.org/officeDocument/2006/math">
                    <m:r>
                      <a:rPr lang="en-US" altLang="zh-CN" sz="2400" i="1">
                        <a:latin typeface="Cambria Math" panose="02040503050406030204" pitchFamily="18" charset="0"/>
                        <a:ea typeface="MS Mincho" panose="02020609040205080304" charset="-128"/>
                        <a:cs typeface="Cambria Math" panose="02040503050406030204" pitchFamily="18" charset="0"/>
                      </a:rPr>
                      <m:t>𝑆</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上的凸函数，则</a:t>
                </a:r>
                <a14:m>
                  <m:oMath xmlns:m="http://schemas.openxmlformats.org/officeDocument/2006/math">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𝑓</m:t>
                        </m:r>
                      </m:e>
                      <m:sub>
                        <m:r>
                          <a:rPr lang="en-US" altLang="zh-CN" sz="2400" i="1">
                            <a:latin typeface="Cambria Math" panose="02040503050406030204" pitchFamily="18" charset="0"/>
                            <a:ea typeface="MS Mincho" panose="02020609040205080304" charset="-128"/>
                            <a:cs typeface="Cambria Math" panose="02040503050406030204" pitchFamily="18" charset="0"/>
                          </a:rPr>
                          <m:t>1</m:t>
                        </m:r>
                      </m:sub>
                    </m:sSub>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r>
                      <a:rPr lang="en-US" altLang="zh-CN" sz="2400" i="1">
                        <a:latin typeface="Cambria Math" panose="02040503050406030204" pitchFamily="18" charset="0"/>
                        <a:ea typeface="MS Mincho" panose="02020609040205080304" charset="-128"/>
                        <a:cs typeface="Cambria Math" panose="02040503050406030204" pitchFamily="18" charset="0"/>
                      </a:rPr>
                      <m:t>)+</m:t>
                    </m:r>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𝑓</m:t>
                        </m:r>
                      </m:e>
                      <m:sub>
                        <m:r>
                          <a:rPr lang="en-US" altLang="zh-CN" sz="2400" i="1">
                            <a:latin typeface="Cambria Math" panose="02040503050406030204" pitchFamily="18" charset="0"/>
                            <a:ea typeface="MS Mincho" panose="02020609040205080304" charset="-128"/>
                            <a:cs typeface="Cambria Math" panose="02040503050406030204" pitchFamily="18" charset="0"/>
                          </a:rPr>
                          <m:t>2</m:t>
                        </m:r>
                      </m:sub>
                    </m:sSub>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r>
                      <a:rPr lang="en-US" altLang="zh-CN" sz="2400" i="1">
                        <a:latin typeface="Cambria Math" panose="02040503050406030204" pitchFamily="18" charset="0"/>
                        <a:ea typeface="MS Mincho" panose="02020609040205080304" charset="-128"/>
                        <a:cs typeface="Cambria Math" panose="02040503050406030204" pitchFamily="18" charset="0"/>
                      </a:rPr>
                      <m:t>)</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也是定义在凸集</a:t>
                </a:r>
                <a14:m>
                  <m:oMath xmlns:m="http://schemas.openxmlformats.org/officeDocument/2006/math">
                    <m:r>
                      <a:rPr lang="en-US" altLang="zh-CN" sz="2400" i="1">
                        <a:latin typeface="Cambria Math" panose="02040503050406030204" pitchFamily="18" charset="0"/>
                        <a:ea typeface="MS Mincho" panose="02020609040205080304" charset="-128"/>
                        <a:cs typeface="Cambria Math" panose="02040503050406030204" pitchFamily="18" charset="0"/>
                      </a:rPr>
                      <m:t>𝑆</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上的凸函数</a:t>
                </a:r>
                <a:r>
                  <a:rPr lang="zh-CN" altLang="en-US" sz="2400" dirty="0">
                    <a:latin typeface="Cambria Math" panose="02040503050406030204" pitchFamily="18" charset="0"/>
                    <a:ea typeface="MS Mincho" panose="02020609040205080304" charset="-128"/>
                    <a:cs typeface="Cambria Math" panose="02040503050406030204" pitchFamily="18" charset="0"/>
                  </a:rPr>
                  <a:t>。</a:t>
                </a:r>
              </a:p>
            </p:txBody>
          </p:sp>
        </mc:Choice>
        <mc:Fallback xmlns="">
          <p:sp>
            <p:nvSpPr>
              <p:cNvPr id="2" name="文本框 1"/>
              <p:cNvSpPr txBox="1">
                <a:spLocks noRot="1" noChangeAspect="1" noMove="1" noResize="1" noEditPoints="1" noAdjustHandles="1" noChangeArrowheads="1" noChangeShapeType="1" noTextEdit="1"/>
              </p:cNvSpPr>
              <p:nvPr/>
            </p:nvSpPr>
            <p:spPr>
              <a:xfrm>
                <a:off x="737574" y="1862826"/>
                <a:ext cx="7499033" cy="2790508"/>
              </a:xfrm>
              <a:prstGeom prst="rect">
                <a:avLst/>
              </a:prstGeom>
              <a:blipFill>
                <a:blip r:embed="rId2"/>
                <a:stretch>
                  <a:fillRect l="-1301" b="-3720"/>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CB404057-FCCB-5469-9657-F3597E2F9179}"/>
              </a:ext>
            </a:extLst>
          </p:cNvPr>
          <p:cNvSpPr txBox="1"/>
          <p:nvPr/>
        </p:nvSpPr>
        <p:spPr>
          <a:xfrm>
            <a:off x="413538" y="1052736"/>
            <a:ext cx="5154105" cy="461665"/>
          </a:xfrm>
          <a:prstGeom prst="rect">
            <a:avLst/>
          </a:prstGeom>
          <a:noFill/>
        </p:spPr>
        <p:txBody>
          <a:bodyPr wrap="square">
            <a:spAutoFit/>
          </a:bodyPr>
          <a:lstStyle/>
          <a:p>
            <a:pPr algn="just">
              <a:spcBef>
                <a:spcPts val="450"/>
              </a:spcBef>
              <a:spcAft>
                <a:spcPts val="450"/>
              </a:spcAft>
            </a:pPr>
            <a:r>
              <a:rPr lang="en-US" altLang="zh-CN" sz="2400" b="1" dirty="0">
                <a:latin typeface="黑体" panose="02010609060101010101" pitchFamily="49" charset="-122"/>
                <a:ea typeface="黑体" panose="02010609060101010101" pitchFamily="49" charset="-122"/>
              </a:rPr>
              <a:t>6 </a:t>
            </a:r>
            <a:r>
              <a:rPr lang="zh-CN" altLang="en-US" sz="2400" b="1" dirty="0">
                <a:latin typeface="黑体" panose="02010609060101010101" pitchFamily="49" charset="-122"/>
                <a:ea typeface="黑体" panose="02010609060101010101" pitchFamily="49" charset="-122"/>
              </a:rPr>
              <a:t>凸函数的性质</a:t>
            </a:r>
            <a:r>
              <a:rPr lang="en-US" altLang="zh-CN" sz="2400" b="1" dirty="0">
                <a:latin typeface="黑体" panose="02010609060101010101" pitchFamily="49" charset="-122"/>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教材</a:t>
            </a:r>
            <a:r>
              <a:rPr lang="en-US" altLang="zh-CN" sz="2400" b="1" dirty="0">
                <a:latin typeface="黑体" panose="02010609060101010101" pitchFamily="49" charset="-122"/>
                <a:ea typeface="黑体" panose="02010609060101010101" pitchFamily="49" charset="-122"/>
              </a:rPr>
              <a:t>97</a:t>
            </a:r>
            <a:r>
              <a:rPr lang="zh-CN" altLang="en-US" sz="2400" b="1" dirty="0">
                <a:latin typeface="黑体" panose="02010609060101010101" pitchFamily="49" charset="-122"/>
                <a:ea typeface="黑体" panose="02010609060101010101" pitchFamily="49" charset="-122"/>
              </a:rPr>
              <a:t>页</a:t>
            </a:r>
            <a:r>
              <a:rPr lang="en-US" altLang="zh-CN" sz="2400" b="1" dirty="0">
                <a:latin typeface="黑体" panose="02010609060101010101" pitchFamily="49" charset="-122"/>
                <a:ea typeface="黑体" panose="02010609060101010101" pitchFamily="49" charset="-122"/>
              </a:rPr>
              <a:t>)</a:t>
            </a:r>
            <a:endParaRPr lang="zh-CN" altLang="zh-CN" sz="2400" kern="100" dirty="0">
              <a:latin typeface="黑体" panose="02010609060101010101" pitchFamily="49" charset="-122"/>
              <a:ea typeface="黑体" panose="02010609060101010101" pitchFamily="49"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5059" name="Rectangle 3"/>
              <p:cNvSpPr>
                <a:spLocks noGrp="1" noChangeArrowheads="1"/>
              </p:cNvSpPr>
              <p:nvPr>
                <p:ph idx="1"/>
              </p:nvPr>
            </p:nvSpPr>
            <p:spPr>
              <a:xfrm>
                <a:off x="107504" y="1268760"/>
                <a:ext cx="8712968" cy="3943350"/>
              </a:xfrm>
            </p:spPr>
            <p:txBody>
              <a:bodyPr>
                <a:noAutofit/>
              </a:bodyPr>
              <a:lstStyle/>
              <a:p>
                <a:pPr marL="0" indent="0" algn="just">
                  <a:lnSpc>
                    <a:spcPct val="150000"/>
                  </a:lnSpc>
                  <a:buNone/>
                </a:pPr>
                <a:r>
                  <a:rPr lang="zh-CN" altLang="en-US" sz="2400" b="1" dirty="0">
                    <a:solidFill>
                      <a:srgbClr val="0070C0"/>
                    </a:solidFill>
                    <a:latin typeface="宋体" panose="02010600030101010101" pitchFamily="2" charset="-122"/>
                    <a:ea typeface="宋体" panose="02010600030101010101" pitchFamily="2" charset="-122"/>
                  </a:rPr>
                  <a:t>    定义（水平集）</a:t>
                </a:r>
                <a:r>
                  <a:rPr lang="zh-CN" altLang="en-US" sz="2400" dirty="0">
                    <a:latin typeface="宋体" panose="02010600030101010101" pitchFamily="2" charset="-122"/>
                    <a:ea typeface="宋体" panose="02010600030101010101" pitchFamily="2" charset="-122"/>
                  </a:rPr>
                  <a:t>设集合 </a:t>
                </a:r>
                <a14:m>
                  <m:oMath xmlns:m="http://schemas.openxmlformats.org/officeDocument/2006/math">
                    <m:sSup>
                      <m:sSupPr>
                        <m:ctrlPr>
                          <a:rPr lang="en-US" altLang="zh-CN" sz="2400" i="1">
                            <a:latin typeface="Cambria Math" panose="02040503050406030204" pitchFamily="18" charset="0"/>
                            <a:cs typeface="Cambria Math" panose="02040503050406030204" pitchFamily="18" charset="0"/>
                          </a:rPr>
                        </m:ctrlPr>
                      </m:sSupPr>
                      <m:e>
                        <m:r>
                          <a:rPr lang="en-US" altLang="zh-CN" sz="2400" i="1">
                            <a:latin typeface="Cambria Math" panose="02040503050406030204" pitchFamily="18" charset="0"/>
                            <a:cs typeface="Cambria Math" panose="02040503050406030204" pitchFamily="18" charset="0"/>
                          </a:rPr>
                          <m:t>𝑆</m:t>
                        </m:r>
                        <m:r>
                          <a:rPr lang="en-US" altLang="zh-CN" sz="2400" i="1">
                            <a:latin typeface="Cambria Math" panose="02040503050406030204" pitchFamily="18" charset="0"/>
                            <a:ea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𝑅</m:t>
                        </m:r>
                      </m:e>
                      <m:sup>
                        <m:r>
                          <a:rPr lang="en-US" altLang="zh-CN" sz="2400" i="1">
                            <a:latin typeface="Cambria Math" panose="02040503050406030204" pitchFamily="18" charset="0"/>
                            <a:cs typeface="Cambria Math" panose="02040503050406030204" pitchFamily="18" charset="0"/>
                          </a:rPr>
                          <m:t>𝑛</m:t>
                        </m:r>
                      </m:sup>
                    </m:sSup>
                    <m:r>
                      <a:rPr lang="en-US" altLang="zh-CN" sz="2400" i="1">
                        <a:latin typeface="Cambria Math" panose="02040503050406030204" pitchFamily="18" charset="0"/>
                        <a:cs typeface="Cambria Math" panose="02040503050406030204" pitchFamily="18" charset="0"/>
                      </a:rPr>
                      <m:t> </m:t>
                    </m:r>
                  </m:oMath>
                </a14:m>
                <a:r>
                  <a:rPr lang="zh-CN" altLang="en-US" sz="2400" dirty="0">
                    <a:latin typeface="宋体" panose="02010600030101010101" pitchFamily="2" charset="-122"/>
                    <a:ea typeface="宋体" panose="02010600030101010101" pitchFamily="2" charset="-122"/>
                    <a:sym typeface="Symbol" panose="05050102010706020507" pitchFamily="18" charset="2"/>
                  </a:rPr>
                  <a:t>，函数</a:t>
                </a:r>
                <a14:m>
                  <m:oMath xmlns:m="http://schemas.openxmlformats.org/officeDocument/2006/math">
                    <m:r>
                      <a:rPr lang="en-US" altLang="zh-CN" sz="2400" i="1">
                        <a:latin typeface="Cambria Math" panose="02040503050406030204" pitchFamily="18" charset="0"/>
                        <a:ea typeface="宋体" panose="02010600030101010101" pitchFamily="2" charset="-122"/>
                        <a:cs typeface="Cambria Math" panose="02040503050406030204" pitchFamily="18" charset="0"/>
                      </a:rPr>
                      <m:t>𝑓</m:t>
                    </m:r>
                    <m:r>
                      <a:rPr lang="en-US" altLang="zh-CN" sz="2400" i="1">
                        <a:latin typeface="Cambria Math" panose="02040503050406030204" pitchFamily="18" charset="0"/>
                        <a:ea typeface="宋体" panose="02010600030101010101" pitchFamily="2" charset="-122"/>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𝑆</m:t>
                    </m:r>
                    <m:r>
                      <a:rPr lang="en-US" altLang="zh-CN" sz="2400" i="1">
                        <a:latin typeface="Cambria Math" panose="02040503050406030204" pitchFamily="18" charset="0"/>
                        <a:ea typeface="Cambria Math" panose="02040503050406030204" pitchFamily="18" charset="0"/>
                        <a:cs typeface="Cambria Math" panose="02040503050406030204" pitchFamily="18" charset="0"/>
                      </a:rPr>
                      <m:t>→</m:t>
                    </m:r>
                    <m:r>
                      <a:rPr lang="en-US" altLang="zh-CN" sz="2400" i="1">
                        <a:latin typeface="Cambria Math" panose="02040503050406030204" pitchFamily="18" charset="0"/>
                        <a:ea typeface="Cambria Math" panose="02040503050406030204" pitchFamily="18" charset="0"/>
                        <a:cs typeface="Cambria Math" panose="02040503050406030204" pitchFamily="18" charset="0"/>
                      </a:rPr>
                      <m:t>𝑅</m:t>
                    </m:r>
                    <m:r>
                      <a:rPr lang="en-US" altLang="zh-CN" sz="2400" i="1">
                        <a:latin typeface="Cambria Math" panose="02040503050406030204" pitchFamily="18" charset="0"/>
                        <a:ea typeface="Cambria Math" panose="02040503050406030204" pitchFamily="18" charset="0"/>
                        <a:cs typeface="Cambria Math" panose="02040503050406030204" pitchFamily="18" charset="0"/>
                      </a:rPr>
                      <m:t> ，</m:t>
                    </m:r>
                  </m:oMath>
                </a14:m>
                <a:r>
                  <a:rPr lang="en-US" altLang="zh-CN" sz="2400" dirty="0">
                    <a:ea typeface="MS Mincho" panose="02020609040205080304" charset="-128"/>
                    <a:cs typeface="Cambria Math" panose="02040503050406030204" pitchFamily="18" charset="0"/>
                  </a:rPr>
                  <a:t> </a:t>
                </a:r>
                <a14:m>
                  <m:oMath xmlns:m="http://schemas.openxmlformats.org/officeDocument/2006/math">
                    <m:r>
                      <m:rPr>
                        <m:sty m:val="p"/>
                      </m:rPr>
                      <a:rPr lang="el-GR" altLang="zh-CN" sz="2400" i="1">
                        <a:latin typeface="Cambria Math" panose="02040503050406030204" pitchFamily="18" charset="0"/>
                        <a:ea typeface="Cambria Math" panose="02040503050406030204" pitchFamily="18" charset="0"/>
                        <a:cs typeface="Cambria Math" panose="02040503050406030204" pitchFamily="18" charset="0"/>
                      </a:rPr>
                      <m:t>β</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MS Mincho" panose="02020609040205080304" charset="-128"/>
                        <a:cs typeface="Cambria Math" panose="02040503050406030204" pitchFamily="18" charset="0"/>
                      </a:rPr>
                      <m:t>𝑅</m:t>
                    </m:r>
                    <m:r>
                      <a:rPr lang="en-US" altLang="zh-CN" sz="2400" i="1">
                        <a:latin typeface="Cambria Math" panose="02040503050406030204" pitchFamily="18" charset="0"/>
                        <a:ea typeface="MS Mincho" panose="02020609040205080304" charset="-128"/>
                        <a:cs typeface="Cambria Math" panose="02040503050406030204" pitchFamily="18" charset="0"/>
                      </a:rPr>
                      <m:t> </m:t>
                    </m:r>
                  </m:oMath>
                </a14:m>
                <a:r>
                  <a:rPr lang="zh-CN" altLang="en-US" sz="2400" dirty="0">
                    <a:latin typeface="宋体" panose="02010600030101010101" pitchFamily="2" charset="-122"/>
                    <a:ea typeface="宋体" panose="02010600030101010101" pitchFamily="2" charset="-122"/>
                    <a:sym typeface="Symbol" panose="05050102010706020507" pitchFamily="18" charset="2"/>
                  </a:rPr>
                  <a:t>，称 </a:t>
                </a:r>
              </a:p>
              <a:p>
                <a:pPr marL="0" indent="0">
                  <a:lnSpc>
                    <a:spcPct val="150000"/>
                  </a:lnSpc>
                  <a:buNone/>
                </a:pPr>
                <a14:m>
                  <m:oMathPara xmlns:m="http://schemas.openxmlformats.org/officeDocument/2006/math">
                    <m:oMathParaPr>
                      <m:jc m:val="centerGroup"/>
                    </m:oMathParaPr>
                    <m:oMath xmlns:m="http://schemas.openxmlformats.org/officeDocument/2006/math">
                      <m:sSub>
                        <m:sSubPr>
                          <m:ctrlPr>
                            <a:rPr lang="en-US" altLang="zh-CN" sz="2400" i="1">
                              <a:latin typeface="Cambria Math" panose="02040503050406030204" pitchFamily="18" charset="0"/>
                              <a:ea typeface="Cambria Math" panose="02040503050406030204" pitchFamily="18" charset="0"/>
                              <a:sym typeface="+mn-ea"/>
                            </a:rPr>
                          </m:ctrlPr>
                        </m:sSubPr>
                        <m:e>
                          <m:r>
                            <a:rPr lang="en-US" altLang="zh-CN" sz="2400" i="1">
                              <a:latin typeface="Cambria Math" panose="02040503050406030204" pitchFamily="18" charset="0"/>
                              <a:ea typeface="Cambria Math" panose="02040503050406030204" pitchFamily="18" charset="0"/>
                              <a:sym typeface="+mn-ea"/>
                            </a:rPr>
                            <m:t>𝑆</m:t>
                          </m:r>
                        </m:e>
                        <m:sub>
                          <m:r>
                            <a:rPr lang="zh-CN" altLang="en-US" sz="2400" i="1">
                              <a:latin typeface="Cambria Math" panose="02040503050406030204" pitchFamily="18" charset="0"/>
                              <a:ea typeface="Cambria Math" panose="02040503050406030204" pitchFamily="18" charset="0"/>
                              <a:sym typeface="+mn-ea"/>
                            </a:rPr>
                            <m:t>𝛽</m:t>
                          </m:r>
                        </m:sub>
                      </m:sSub>
                      <m:r>
                        <a:rPr lang="en-US" altLang="zh-CN" sz="2400" i="1">
                          <a:latin typeface="Cambria Math" panose="02040503050406030204" pitchFamily="18" charset="0"/>
                          <a:ea typeface="Cambria Math" panose="02040503050406030204" pitchFamily="18" charset="0"/>
                          <a:sym typeface="+mn-ea"/>
                        </a:rPr>
                        <m:t>={</m:t>
                      </m:r>
                      <m:r>
                        <a:rPr lang="en-US" altLang="zh-CN" sz="2400" i="1">
                          <a:latin typeface="Cambria Math" panose="02040503050406030204" pitchFamily="18" charset="0"/>
                          <a:ea typeface="Cambria Math" panose="02040503050406030204" pitchFamily="18" charset="0"/>
                          <a:sym typeface="+mn-ea"/>
                        </a:rPr>
                        <m:t>𝑥</m:t>
                      </m:r>
                      <m:r>
                        <a:rPr lang="en-US" altLang="zh-CN" sz="2400" i="1">
                          <a:latin typeface="Cambria Math" panose="02040503050406030204" pitchFamily="18" charset="0"/>
                          <a:ea typeface="Cambria Math" panose="02040503050406030204" pitchFamily="18" charset="0"/>
                          <a:sym typeface="+mn-ea"/>
                        </a:rPr>
                        <m:t>|</m:t>
                      </m:r>
                      <m:r>
                        <a:rPr lang="en-US" altLang="zh-CN" sz="2400" i="1">
                          <a:latin typeface="Cambria Math" panose="02040503050406030204" pitchFamily="18" charset="0"/>
                          <a:ea typeface="Cambria Math" panose="02040503050406030204" pitchFamily="18" charset="0"/>
                          <a:sym typeface="+mn-ea"/>
                        </a:rPr>
                        <m:t>𝑥</m:t>
                      </m:r>
                      <m:r>
                        <a:rPr lang="zh-CN" altLang="en-US" sz="2400" i="1">
                          <a:latin typeface="Cambria Math" panose="02040503050406030204" pitchFamily="18" charset="0"/>
                          <a:ea typeface="Cambria Math" panose="02040503050406030204" pitchFamily="18" charset="0"/>
                          <a:cs typeface="Cambria Math" panose="02040503050406030204" pitchFamily="18" charset="0"/>
                          <a:sym typeface="+mn-ea"/>
                        </a:rPr>
                        <m:t>∈</m:t>
                      </m:r>
                      <m:r>
                        <a:rPr lang="en-US" altLang="zh-CN" sz="2400" i="1">
                          <a:latin typeface="Cambria Math" panose="02040503050406030204" pitchFamily="18" charset="0"/>
                          <a:ea typeface="Cambria Math" panose="02040503050406030204" pitchFamily="18" charset="0"/>
                          <a:cs typeface="Cambria Math" panose="02040503050406030204" pitchFamily="18" charset="0"/>
                          <a:sym typeface="+mn-ea"/>
                        </a:rPr>
                        <m:t>𝑆</m:t>
                      </m:r>
                      <m:r>
                        <a:rPr lang="en-US" altLang="zh-CN" sz="2400" i="1">
                          <a:latin typeface="Cambria Math" panose="02040503050406030204" pitchFamily="18" charset="0"/>
                          <a:ea typeface="Cambria Math" panose="02040503050406030204" pitchFamily="18" charset="0"/>
                          <a:cs typeface="Cambria Math" panose="02040503050406030204" pitchFamily="18" charset="0"/>
                          <a:sym typeface="+mn-ea"/>
                        </a:rPr>
                        <m:t>, </m:t>
                      </m:r>
                      <m:r>
                        <a:rPr lang="en-US" altLang="zh-CN" sz="2400" i="1">
                          <a:latin typeface="Cambria Math" panose="02040503050406030204" pitchFamily="18" charset="0"/>
                          <a:ea typeface="Cambria Math" panose="02040503050406030204" pitchFamily="18" charset="0"/>
                          <a:cs typeface="Cambria Math" panose="02040503050406030204" pitchFamily="18" charset="0"/>
                          <a:sym typeface="+mn-ea"/>
                        </a:rPr>
                        <m:t>𝑓</m:t>
                      </m:r>
                      <m:r>
                        <a:rPr lang="en-US" altLang="zh-CN" sz="2400" i="1">
                          <a:latin typeface="Cambria Math" panose="02040503050406030204" pitchFamily="18" charset="0"/>
                          <a:ea typeface="Cambria Math" panose="02040503050406030204" pitchFamily="18" charset="0"/>
                          <a:cs typeface="Cambria Math" panose="02040503050406030204" pitchFamily="18" charset="0"/>
                          <a:sym typeface="+mn-ea"/>
                        </a:rPr>
                        <m:t>(</m:t>
                      </m:r>
                      <m:r>
                        <a:rPr lang="en-US" altLang="zh-CN" sz="2400" i="1">
                          <a:latin typeface="Cambria Math" panose="02040503050406030204" pitchFamily="18" charset="0"/>
                          <a:ea typeface="Cambria Math" panose="02040503050406030204" pitchFamily="18" charset="0"/>
                          <a:cs typeface="Cambria Math" panose="02040503050406030204" pitchFamily="18" charset="0"/>
                          <a:sym typeface="+mn-ea"/>
                        </a:rPr>
                        <m:t>𝑥</m:t>
                      </m:r>
                      <m:r>
                        <a:rPr lang="en-US" altLang="zh-CN" sz="2400" i="1">
                          <a:latin typeface="Cambria Math" panose="02040503050406030204" pitchFamily="18" charset="0"/>
                          <a:ea typeface="Cambria Math" panose="02040503050406030204" pitchFamily="18" charset="0"/>
                          <a:cs typeface="Cambria Math" panose="02040503050406030204" pitchFamily="18" charset="0"/>
                          <a:sym typeface="+mn-ea"/>
                        </a:rPr>
                        <m:t>)≤</m:t>
                      </m:r>
                      <m:r>
                        <a:rPr lang="zh-CN" altLang="en-US" sz="2400" i="1">
                          <a:latin typeface="Cambria Math" panose="02040503050406030204" pitchFamily="18" charset="0"/>
                          <a:ea typeface="Cambria Math" panose="02040503050406030204" pitchFamily="18" charset="0"/>
                          <a:cs typeface="Cambria Math" panose="02040503050406030204" pitchFamily="18" charset="0"/>
                          <a:sym typeface="+mn-ea"/>
                        </a:rPr>
                        <m:t>𝛽</m:t>
                      </m:r>
                      <m:r>
                        <a:rPr lang="en-US" altLang="zh-CN" sz="2400" i="1">
                          <a:latin typeface="Cambria Math" panose="02040503050406030204" pitchFamily="18" charset="0"/>
                          <a:ea typeface="Cambria Math" panose="02040503050406030204" pitchFamily="18" charset="0"/>
                          <a:cs typeface="Cambria Math" panose="02040503050406030204" pitchFamily="18" charset="0"/>
                          <a:sym typeface="+mn-ea"/>
                        </a:rPr>
                        <m:t>}</m:t>
                      </m:r>
                    </m:oMath>
                  </m:oMathPara>
                </a14:m>
                <a:endParaRPr lang="en-US" altLang="zh-CN" sz="2400" dirty="0">
                  <a:latin typeface="宋体" panose="02010600030101010101" pitchFamily="2" charset="-122"/>
                  <a:ea typeface="宋体" panose="02010600030101010101" pitchFamily="2" charset="-122"/>
                  <a:sym typeface="Symbol" panose="05050102010706020507" pitchFamily="18" charset="2"/>
                </a:endParaRPr>
              </a:p>
              <a:p>
                <a:pPr marL="0" indent="0" algn="just">
                  <a:lnSpc>
                    <a:spcPct val="150000"/>
                  </a:lnSpc>
                  <a:buNone/>
                </a:pPr>
                <a:r>
                  <a:rPr lang="zh-CN" altLang="en-US" sz="2400" dirty="0">
                    <a:latin typeface="宋体" panose="02010600030101010101" pitchFamily="2" charset="-122"/>
                    <a:ea typeface="宋体" panose="02010600030101010101" pitchFamily="2" charset="-122"/>
                    <a:sym typeface="Symbol" panose="05050102010706020507" pitchFamily="18" charset="2"/>
                  </a:rPr>
                  <a:t>为</a:t>
                </a:r>
                <a14:m>
                  <m:oMath xmlns:m="http://schemas.openxmlformats.org/officeDocument/2006/math">
                    <m:r>
                      <a:rPr lang="en-US" altLang="zh-CN" sz="2400" i="1">
                        <a:latin typeface="Cambria Math" panose="02040503050406030204" pitchFamily="18" charset="0"/>
                        <a:ea typeface="宋体" panose="02010600030101010101" pitchFamily="2" charset="-122"/>
                        <a:cs typeface="Cambria Math" panose="02040503050406030204" pitchFamily="18" charset="0"/>
                      </a:rPr>
                      <m:t>𝑓</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r>
                      <a:rPr lang="en-US" altLang="zh-CN" sz="2400" i="1">
                        <a:latin typeface="Cambria Math" panose="02040503050406030204" pitchFamily="18" charset="0"/>
                        <a:ea typeface="MS Mincho" panose="02020609040205080304" charset="-128"/>
                        <a:cs typeface="Cambria Math" panose="02040503050406030204" pitchFamily="18" charset="0"/>
                      </a:rPr>
                      <m:t>)</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在</a:t>
                </a:r>
                <a14:m>
                  <m:oMath xmlns:m="http://schemas.openxmlformats.org/officeDocument/2006/math">
                    <m:r>
                      <a:rPr lang="en-US" altLang="zh-CN" sz="2400" i="1">
                        <a:latin typeface="Cambria Math" panose="02040503050406030204" pitchFamily="18" charset="0"/>
                        <a:ea typeface="MS Mincho" panose="02020609040205080304" charset="-128"/>
                        <a:cs typeface="Cambria Math" panose="02040503050406030204" pitchFamily="18" charset="0"/>
                      </a:rPr>
                      <m:t>𝑆</m:t>
                    </m:r>
                  </m:oMath>
                </a14:m>
                <a:r>
                  <a:rPr lang="zh-CN" altLang="en-US" sz="2400" dirty="0">
                    <a:latin typeface="宋体" panose="02010600030101010101" pitchFamily="2" charset="-122"/>
                    <a:ea typeface="宋体" panose="02010600030101010101" pitchFamily="2" charset="-122"/>
                  </a:rPr>
                  <a:t>上的</a:t>
                </a:r>
                <a14:m>
                  <m:oMath xmlns:m="http://schemas.openxmlformats.org/officeDocument/2006/math">
                    <m:r>
                      <a:rPr lang="zh-CN" altLang="en-US" sz="2400" i="1">
                        <a:latin typeface="Cambria Math" panose="02040503050406030204" pitchFamily="18" charset="0"/>
                        <a:ea typeface="Cambria Math" panose="02040503050406030204" pitchFamily="18" charset="0"/>
                        <a:cs typeface="Cambria Math" panose="02040503050406030204" pitchFamily="18" charset="0"/>
                        <a:sym typeface="+mn-ea"/>
                      </a:rPr>
                      <m:t>𝛽</m:t>
                    </m:r>
                  </m:oMath>
                </a14:m>
                <a:r>
                  <a:rPr lang="zh-CN" altLang="en-US" sz="2400" dirty="0">
                    <a:latin typeface="宋体" panose="02010600030101010101" pitchFamily="2" charset="-122"/>
                    <a:ea typeface="宋体" panose="02010600030101010101" pitchFamily="2" charset="-122"/>
                    <a:sym typeface="Symbol" panose="05050102010706020507" pitchFamily="18" charset="2"/>
                  </a:rPr>
                  <a:t>水平集</a:t>
                </a:r>
                <a:r>
                  <a:rPr lang="zh-CN" altLang="en-US" sz="2400" dirty="0">
                    <a:latin typeface="宋体" panose="02010600030101010101" pitchFamily="2" charset="-122"/>
                    <a:ea typeface="宋体" panose="02010600030101010101" pitchFamily="2" charset="-122"/>
                  </a:rPr>
                  <a:t>。</a:t>
                </a:r>
              </a:p>
              <a:p>
                <a:pPr marL="0" indent="0" algn="just">
                  <a:lnSpc>
                    <a:spcPct val="150000"/>
                  </a:lnSpc>
                  <a:buNone/>
                </a:pPr>
                <a:endParaRPr lang="zh-CN" altLang="en-US" sz="2400" dirty="0">
                  <a:latin typeface="宋体" panose="02010600030101010101" pitchFamily="2" charset="-122"/>
                  <a:ea typeface="宋体" panose="02010600030101010101" pitchFamily="2" charset="-122"/>
                </a:endParaRPr>
              </a:p>
              <a:p>
                <a:pPr marL="0" indent="0" algn="just">
                  <a:lnSpc>
                    <a:spcPct val="150000"/>
                  </a:lnSpc>
                  <a:spcBef>
                    <a:spcPct val="0"/>
                  </a:spcBef>
                  <a:buNone/>
                </a:pPr>
                <a:r>
                  <a:rPr lang="zh-CN" altLang="en-US" sz="2400" dirty="0">
                    <a:latin typeface="宋体" panose="02010600030101010101" pitchFamily="2" charset="-122"/>
                    <a:ea typeface="宋体" panose="02010600030101010101" pitchFamily="2" charset="-122"/>
                  </a:rPr>
                  <a:t>    </a:t>
                </a:r>
                <a:r>
                  <a:rPr lang="zh-CN" altLang="en-US" sz="2400" dirty="0">
                    <a:solidFill>
                      <a:srgbClr val="0070C0"/>
                    </a:solidFill>
                    <a:latin typeface="宋体" panose="02010600030101010101" pitchFamily="2" charset="-122"/>
                    <a:ea typeface="宋体" panose="02010600030101010101" pitchFamily="2" charset="-122"/>
                  </a:rPr>
                  <a:t>注</a:t>
                </a:r>
                <a:r>
                  <a:rPr lang="zh-CN" altLang="en-US" sz="2400" dirty="0">
                    <a:latin typeface="宋体" panose="02010600030101010101" pitchFamily="2" charset="-122"/>
                    <a:ea typeface="宋体" panose="02010600030101010101" pitchFamily="2" charset="-122"/>
                  </a:rPr>
                  <a:t>：水平集的概念相当于在地形图中，海拔高度不高于某一数值的区域。</a:t>
                </a:r>
              </a:p>
            </p:txBody>
          </p:sp>
        </mc:Choice>
        <mc:Fallback xmlns="">
          <p:sp>
            <p:nvSpPr>
              <p:cNvPr id="45059" name="Rectangle 3"/>
              <p:cNvSpPr>
                <a:spLocks noGrp="1" noRot="1" noChangeAspect="1" noMove="1" noResize="1" noEditPoints="1" noAdjustHandles="1" noChangeArrowheads="1" noChangeShapeType="1" noTextEdit="1"/>
              </p:cNvSpPr>
              <p:nvPr>
                <p:ph idx="1"/>
              </p:nvPr>
            </p:nvSpPr>
            <p:spPr>
              <a:xfrm>
                <a:off x="107504" y="1268760"/>
                <a:ext cx="8712968" cy="3943350"/>
              </a:xfrm>
              <a:blipFill>
                <a:blip r:embed="rId2"/>
                <a:stretch>
                  <a:fillRect l="-1120" r="-1050" b="-6028"/>
                </a:stretch>
              </a:blipFill>
            </p:spPr>
            <p:txBody>
              <a:bodyPr/>
              <a:lstStyle/>
              <a:p>
                <a:r>
                  <a:rPr lang="zh-CN" altLang="en-US">
                    <a:noFill/>
                  </a:rPr>
                  <a:t> </a:t>
                </a:r>
              </a:p>
            </p:txBody>
          </p:sp>
        </mc:Fallback>
      </mc:AlternateContent>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p:cNvSpPr txBox="1"/>
              <p:nvPr/>
            </p:nvSpPr>
            <p:spPr>
              <a:xfrm>
                <a:off x="611560" y="620688"/>
                <a:ext cx="8064896" cy="4966103"/>
              </a:xfrm>
              <a:prstGeom prst="rect">
                <a:avLst/>
              </a:prstGeom>
              <a:noFill/>
            </p:spPr>
            <p:txBody>
              <a:bodyPr wrap="square" rtlCol="0">
                <a:spAutoFit/>
              </a:bodyPr>
              <a:lstStyle/>
              <a:p>
                <a:pPr algn="just" fontAlgn="auto">
                  <a:lnSpc>
                    <a:spcPts val="3200"/>
                  </a:lnSpc>
                </a:pPr>
                <a:r>
                  <a:rPr lang="zh-CN" altLang="en-US" sz="2400" b="1" dirty="0">
                    <a:latin typeface="宋体" panose="02010600030101010101" pitchFamily="2" charset="-122"/>
                    <a:ea typeface="宋体" panose="02010600030101010101" pitchFamily="2" charset="-122"/>
                    <a:cs typeface="宋体" panose="02010600030101010101" pitchFamily="2" charset="-122"/>
                  </a:rPr>
                  <a:t>    </a:t>
                </a:r>
                <a:r>
                  <a:rPr lang="zh-CN" altLang="en-US" sz="2400" b="1" dirty="0">
                    <a:solidFill>
                      <a:srgbClr val="0070C0"/>
                    </a:solidFill>
                    <a:latin typeface="宋体" panose="02010600030101010101" pitchFamily="2" charset="-122"/>
                    <a:ea typeface="宋体" panose="02010600030101010101" pitchFamily="2" charset="-122"/>
                    <a:cs typeface="宋体" panose="02010600030101010101" pitchFamily="2" charset="-122"/>
                  </a:rPr>
                  <a:t>性质3</a:t>
                </a:r>
                <a:r>
                  <a:rPr lang="zh-CN" altLang="en-US" sz="2400" dirty="0">
                    <a:solidFill>
                      <a:srgbClr val="0070C0"/>
                    </a:solidFill>
                    <a:latin typeface="宋体" panose="02010600030101010101" pitchFamily="2" charset="-122"/>
                    <a:ea typeface="宋体" panose="02010600030101010101" pitchFamily="2" charset="-122"/>
                    <a:cs typeface="宋体" panose="02010600030101010101" pitchFamily="2" charset="-122"/>
                  </a:rPr>
                  <a:t> </a:t>
                </a:r>
                <a:r>
                  <a:rPr lang="zh-CN" altLang="en-US" sz="2400" dirty="0">
                    <a:latin typeface="宋体" panose="02010600030101010101" pitchFamily="2" charset="-122"/>
                    <a:ea typeface="宋体" panose="02010600030101010101" pitchFamily="2" charset="-122"/>
                    <a:cs typeface="宋体" panose="02010600030101010101" pitchFamily="2" charset="-122"/>
                  </a:rPr>
                  <a:t>设</a:t>
                </a:r>
                <a14:m>
                  <m:oMath xmlns:m="http://schemas.openxmlformats.org/officeDocument/2006/math">
                    <m:r>
                      <a:rPr lang="en-US" altLang="zh-CN" sz="2400" i="1">
                        <a:latin typeface="Cambria Math" panose="02040503050406030204" pitchFamily="18" charset="0"/>
                        <a:ea typeface="宋体" panose="02010600030101010101" pitchFamily="2" charset="-122"/>
                        <a:cs typeface="Cambria Math" panose="02040503050406030204" pitchFamily="18" charset="0"/>
                      </a:rPr>
                      <m:t>𝑓</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r>
                      <a:rPr lang="en-US" altLang="zh-CN" sz="2400" i="1">
                        <a:latin typeface="Cambria Math" panose="02040503050406030204" pitchFamily="18" charset="0"/>
                        <a:ea typeface="MS Mincho" panose="02020609040205080304" charset="-128"/>
                        <a:cs typeface="Cambria Math" panose="02040503050406030204" pitchFamily="18" charset="0"/>
                      </a:rPr>
                      <m:t>)</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为定义在凸集</a:t>
                </a:r>
                <a14:m>
                  <m:oMath xmlns:m="http://schemas.openxmlformats.org/officeDocument/2006/math">
                    <m:r>
                      <a:rPr lang="en-US" altLang="zh-CN" sz="2400" i="1">
                        <a:latin typeface="Cambria Math" panose="02040503050406030204" pitchFamily="18" charset="0"/>
                        <a:ea typeface="Cambria Math" panose="02040503050406030204" pitchFamily="18" charset="0"/>
                        <a:cs typeface="Cambria Math" panose="02040503050406030204" pitchFamily="18" charset="0"/>
                        <a:sym typeface="+mn-ea"/>
                      </a:rPr>
                      <m:t>𝑆</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上的凸函数，则对任意实数</a:t>
                </a:r>
                <a14:m>
                  <m:oMath xmlns:m="http://schemas.openxmlformats.org/officeDocument/2006/math">
                    <m:r>
                      <a:rPr lang="zh-CN" altLang="en-US" sz="2400" i="1">
                        <a:latin typeface="Cambria Math" panose="02040503050406030204" pitchFamily="18" charset="0"/>
                        <a:ea typeface="Cambria Math" panose="02040503050406030204" pitchFamily="18" charset="0"/>
                        <a:cs typeface="Cambria Math" panose="02040503050406030204" pitchFamily="18" charset="0"/>
                        <a:sym typeface="+mn-ea"/>
                      </a:rPr>
                      <m:t>𝛽</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，集合</a:t>
                </a:r>
              </a:p>
              <a:p>
                <a:pPr algn="just">
                  <a:lnSpc>
                    <a:spcPts val="3200"/>
                  </a:lnSpc>
                </a:pPr>
                <a14:m>
                  <m:oMathPara xmlns:m="http://schemas.openxmlformats.org/officeDocument/2006/math">
                    <m:oMathParaPr>
                      <m:jc m:val="centerGroup"/>
                    </m:oMathParaPr>
                    <m:oMath xmlns:m="http://schemas.openxmlformats.org/officeDocument/2006/math">
                      <m:sSub>
                        <m:sSubPr>
                          <m:ctrlPr>
                            <a:rPr lang="en-US" altLang="zh-CN" sz="2400" i="1">
                              <a:latin typeface="Cambria Math" panose="02040503050406030204" pitchFamily="18" charset="0"/>
                              <a:ea typeface="Cambria Math" panose="02040503050406030204" pitchFamily="18" charset="0"/>
                              <a:sym typeface="+mn-ea"/>
                            </a:rPr>
                          </m:ctrlPr>
                        </m:sSubPr>
                        <m:e>
                          <m:r>
                            <a:rPr lang="en-US" altLang="zh-CN" sz="2400" i="1">
                              <a:latin typeface="Cambria Math" panose="02040503050406030204" pitchFamily="18" charset="0"/>
                              <a:ea typeface="Cambria Math" panose="02040503050406030204" pitchFamily="18" charset="0"/>
                              <a:sym typeface="+mn-ea"/>
                            </a:rPr>
                            <m:t>𝑆</m:t>
                          </m:r>
                        </m:e>
                        <m:sub>
                          <m:r>
                            <a:rPr lang="zh-CN" altLang="en-US" sz="2400" i="1">
                              <a:latin typeface="Cambria Math" panose="02040503050406030204" pitchFamily="18" charset="0"/>
                              <a:ea typeface="Cambria Math" panose="02040503050406030204" pitchFamily="18" charset="0"/>
                              <a:sym typeface="+mn-ea"/>
                            </a:rPr>
                            <m:t>𝛽</m:t>
                          </m:r>
                        </m:sub>
                      </m:sSub>
                      <m:r>
                        <a:rPr lang="en-US" altLang="zh-CN" sz="2400" i="1">
                          <a:latin typeface="Cambria Math" panose="02040503050406030204" pitchFamily="18" charset="0"/>
                          <a:ea typeface="Cambria Math" panose="02040503050406030204" pitchFamily="18" charset="0"/>
                          <a:sym typeface="+mn-ea"/>
                        </a:rPr>
                        <m:t>={</m:t>
                      </m:r>
                      <m:r>
                        <a:rPr lang="en-US" altLang="zh-CN" sz="2400" i="1">
                          <a:latin typeface="Cambria Math" panose="02040503050406030204" pitchFamily="18" charset="0"/>
                          <a:ea typeface="Cambria Math" panose="02040503050406030204" pitchFamily="18" charset="0"/>
                          <a:sym typeface="+mn-ea"/>
                        </a:rPr>
                        <m:t>𝑥</m:t>
                      </m:r>
                      <m:r>
                        <a:rPr lang="en-US" altLang="zh-CN" sz="2400" i="1">
                          <a:latin typeface="Cambria Math" panose="02040503050406030204" pitchFamily="18" charset="0"/>
                          <a:ea typeface="Cambria Math" panose="02040503050406030204" pitchFamily="18" charset="0"/>
                          <a:sym typeface="+mn-ea"/>
                        </a:rPr>
                        <m:t>|</m:t>
                      </m:r>
                      <m:r>
                        <a:rPr lang="en-US" altLang="zh-CN" sz="2400" i="1">
                          <a:latin typeface="Cambria Math" panose="02040503050406030204" pitchFamily="18" charset="0"/>
                          <a:ea typeface="Cambria Math" panose="02040503050406030204" pitchFamily="18" charset="0"/>
                          <a:sym typeface="+mn-ea"/>
                        </a:rPr>
                        <m:t>𝑥</m:t>
                      </m:r>
                      <m:r>
                        <a:rPr lang="zh-CN" altLang="en-US" sz="2400" i="1">
                          <a:latin typeface="Cambria Math" panose="02040503050406030204" pitchFamily="18" charset="0"/>
                          <a:ea typeface="Cambria Math" panose="02040503050406030204" pitchFamily="18" charset="0"/>
                          <a:cs typeface="Cambria Math" panose="02040503050406030204" pitchFamily="18" charset="0"/>
                          <a:sym typeface="+mn-ea"/>
                        </a:rPr>
                        <m:t>∈</m:t>
                      </m:r>
                      <m:r>
                        <a:rPr lang="en-US" altLang="zh-CN" sz="2400" i="1">
                          <a:latin typeface="Cambria Math" panose="02040503050406030204" pitchFamily="18" charset="0"/>
                          <a:ea typeface="Cambria Math" panose="02040503050406030204" pitchFamily="18" charset="0"/>
                          <a:cs typeface="Cambria Math" panose="02040503050406030204" pitchFamily="18" charset="0"/>
                          <a:sym typeface="+mn-ea"/>
                        </a:rPr>
                        <m:t>𝑆</m:t>
                      </m:r>
                      <m:r>
                        <a:rPr lang="en-US" altLang="zh-CN" sz="2400" i="1">
                          <a:latin typeface="Cambria Math" panose="02040503050406030204" pitchFamily="18" charset="0"/>
                          <a:ea typeface="Cambria Math" panose="02040503050406030204" pitchFamily="18" charset="0"/>
                          <a:cs typeface="Cambria Math" panose="02040503050406030204" pitchFamily="18" charset="0"/>
                          <a:sym typeface="+mn-ea"/>
                        </a:rPr>
                        <m:t>, </m:t>
                      </m:r>
                      <m:r>
                        <a:rPr lang="en-US" altLang="zh-CN" sz="2400" i="1">
                          <a:latin typeface="Cambria Math" panose="02040503050406030204" pitchFamily="18" charset="0"/>
                          <a:ea typeface="Cambria Math" panose="02040503050406030204" pitchFamily="18" charset="0"/>
                          <a:cs typeface="Cambria Math" panose="02040503050406030204" pitchFamily="18" charset="0"/>
                          <a:sym typeface="+mn-ea"/>
                        </a:rPr>
                        <m:t>𝑓</m:t>
                      </m:r>
                      <m:r>
                        <a:rPr lang="en-US" altLang="zh-CN" sz="2400" i="1">
                          <a:latin typeface="Cambria Math" panose="02040503050406030204" pitchFamily="18" charset="0"/>
                          <a:ea typeface="Cambria Math" panose="02040503050406030204" pitchFamily="18" charset="0"/>
                          <a:cs typeface="Cambria Math" panose="02040503050406030204" pitchFamily="18" charset="0"/>
                          <a:sym typeface="+mn-ea"/>
                        </a:rPr>
                        <m:t>(</m:t>
                      </m:r>
                      <m:r>
                        <a:rPr lang="en-US" altLang="zh-CN" sz="2400" i="1">
                          <a:latin typeface="Cambria Math" panose="02040503050406030204" pitchFamily="18" charset="0"/>
                          <a:ea typeface="Cambria Math" panose="02040503050406030204" pitchFamily="18" charset="0"/>
                          <a:cs typeface="Cambria Math" panose="02040503050406030204" pitchFamily="18" charset="0"/>
                          <a:sym typeface="+mn-ea"/>
                        </a:rPr>
                        <m:t>𝑥</m:t>
                      </m:r>
                      <m:r>
                        <a:rPr lang="en-US" altLang="zh-CN" sz="2400" i="1">
                          <a:latin typeface="Cambria Math" panose="02040503050406030204" pitchFamily="18" charset="0"/>
                          <a:ea typeface="Cambria Math" panose="02040503050406030204" pitchFamily="18" charset="0"/>
                          <a:cs typeface="Cambria Math" panose="02040503050406030204" pitchFamily="18" charset="0"/>
                          <a:sym typeface="+mn-ea"/>
                        </a:rPr>
                        <m:t>)≤</m:t>
                      </m:r>
                      <m:r>
                        <a:rPr lang="zh-CN" altLang="en-US" sz="2400" i="1">
                          <a:latin typeface="Cambria Math" panose="02040503050406030204" pitchFamily="18" charset="0"/>
                          <a:ea typeface="Cambria Math" panose="02040503050406030204" pitchFamily="18" charset="0"/>
                          <a:cs typeface="Cambria Math" panose="02040503050406030204" pitchFamily="18" charset="0"/>
                          <a:sym typeface="+mn-ea"/>
                        </a:rPr>
                        <m:t>𝛽</m:t>
                      </m:r>
                      <m:r>
                        <a:rPr lang="en-US" altLang="zh-CN" sz="2400" i="1">
                          <a:latin typeface="Cambria Math" panose="02040503050406030204" pitchFamily="18" charset="0"/>
                          <a:ea typeface="Cambria Math" panose="02040503050406030204" pitchFamily="18" charset="0"/>
                          <a:cs typeface="Cambria Math" panose="02040503050406030204" pitchFamily="18" charset="0"/>
                          <a:sym typeface="+mn-ea"/>
                        </a:rPr>
                        <m:t>}</m:t>
                      </m:r>
                    </m:oMath>
                  </m:oMathPara>
                </a14:m>
                <a:endParaRPr lang="en-US" altLang="zh-CN" sz="2400" dirty="0">
                  <a:latin typeface="宋体" panose="02010600030101010101" pitchFamily="2" charset="-122"/>
                  <a:ea typeface="宋体" panose="02010600030101010101" pitchFamily="2" charset="-122"/>
                  <a:sym typeface="Symbol" panose="05050102010706020507" pitchFamily="18" charset="2"/>
                </a:endParaRPr>
              </a:p>
              <a:p>
                <a:pPr algn="just" fontAlgn="auto">
                  <a:lnSpc>
                    <a:spcPts val="3200"/>
                  </a:lnSpc>
                </a:pPr>
                <a:r>
                  <a:rPr lang="zh-CN" altLang="en-US" sz="2400" dirty="0">
                    <a:latin typeface="宋体" panose="02010600030101010101" pitchFamily="2" charset="-122"/>
                    <a:ea typeface="宋体" panose="02010600030101010101" pitchFamily="2" charset="-122"/>
                    <a:cs typeface="宋体" panose="02010600030101010101" pitchFamily="2" charset="-122"/>
                  </a:rPr>
                  <a:t>是凸集。</a:t>
                </a:r>
                <a:endParaRPr lang="en-US" altLang="zh-CN" sz="2400" dirty="0">
                  <a:latin typeface="宋体" panose="02010600030101010101" pitchFamily="2" charset="-122"/>
                  <a:ea typeface="宋体" panose="02010600030101010101" pitchFamily="2" charset="-122"/>
                  <a:cs typeface="宋体" panose="02010600030101010101" pitchFamily="2" charset="-122"/>
                </a:endParaRPr>
              </a:p>
              <a:p>
                <a:pPr algn="just" fontAlgn="auto">
                  <a:lnSpc>
                    <a:spcPts val="3200"/>
                  </a:lnSpc>
                </a:pPr>
                <a:r>
                  <a:rPr lang="zh-CN" altLang="en-US" sz="2400" dirty="0">
                    <a:solidFill>
                      <a:srgbClr val="FF0000"/>
                    </a:solidFill>
                    <a:latin typeface="宋体" panose="02010600030101010101" pitchFamily="2" charset="-122"/>
                    <a:ea typeface="宋体" panose="02010600030101010101" pitchFamily="2" charset="-122"/>
                    <a:cs typeface="宋体" panose="02010600030101010101" pitchFamily="2" charset="-122"/>
                  </a:rPr>
                  <a:t>注：上述命题的逆不真。</a:t>
                </a:r>
                <a:endParaRPr lang="en-US" altLang="zh-CN" sz="2400" dirty="0">
                  <a:solidFill>
                    <a:srgbClr val="FF0000"/>
                  </a:solidFill>
                  <a:latin typeface="宋体" panose="02010600030101010101" pitchFamily="2" charset="-122"/>
                  <a:ea typeface="宋体" panose="02010600030101010101" pitchFamily="2" charset="-122"/>
                  <a:cs typeface="宋体" panose="02010600030101010101" pitchFamily="2" charset="-122"/>
                </a:endParaRPr>
              </a:p>
              <a:p>
                <a:pPr algn="just" fontAlgn="auto">
                  <a:lnSpc>
                    <a:spcPts val="3200"/>
                  </a:lnSpc>
                </a:pPr>
                <a:endParaRPr lang="zh-CN" altLang="en-US" sz="2400" dirty="0">
                  <a:solidFill>
                    <a:srgbClr val="FF0000"/>
                  </a:solidFill>
                  <a:latin typeface="宋体" panose="02010600030101010101" pitchFamily="2" charset="-122"/>
                  <a:ea typeface="宋体" panose="02010600030101010101" pitchFamily="2" charset="-122"/>
                  <a:cs typeface="宋体" panose="02010600030101010101" pitchFamily="2" charset="-122"/>
                </a:endParaRPr>
              </a:p>
              <a:p>
                <a:pPr algn="just" fontAlgn="auto">
                  <a:lnSpc>
                    <a:spcPts val="3200"/>
                  </a:lnSpc>
                </a:pPr>
                <a:r>
                  <a:rPr lang="zh-CN" altLang="en-US" sz="2400" dirty="0">
                    <a:latin typeface="宋体" panose="02010600030101010101" pitchFamily="2" charset="-122"/>
                    <a:ea typeface="宋体" panose="02010600030101010101" pitchFamily="2" charset="-122"/>
                    <a:cs typeface="宋体" panose="02010600030101010101" pitchFamily="2" charset="-122"/>
                  </a:rPr>
                  <a:t>    考虑分段函数</a:t>
                </a:r>
                <a14:m>
                  <m:oMath xmlns:m="http://schemas.openxmlformats.org/officeDocument/2006/math">
                    <m:r>
                      <a:rPr lang="en-US" altLang="zh-CN" sz="24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d>
                    <m:r>
                      <a:rPr lang="en-US" altLang="zh-CN" sz="2400" i="1">
                        <a:latin typeface="Cambria Math" panose="02040503050406030204" pitchFamily="18" charset="0"/>
                        <a:ea typeface="MS Mincho" panose="02020609040205080304" charset="-128"/>
                        <a:cs typeface="Cambria Math" panose="02040503050406030204" pitchFamily="18" charset="0"/>
                      </a:rPr>
                      <m:t>=</m:t>
                    </m:r>
                    <m:d>
                      <m:dPr>
                        <m:begChr m:val="{"/>
                        <m:endChr m:val=""/>
                        <m:ctrlPr>
                          <a:rPr lang="en-US" altLang="zh-CN" sz="2400" i="1">
                            <a:latin typeface="Cambria Math" panose="02040503050406030204" pitchFamily="18" charset="0"/>
                            <a:ea typeface="MS Mincho" panose="02020609040205080304" charset="-128"/>
                          </a:rPr>
                        </m:ctrlPr>
                      </m:dPr>
                      <m:e>
                        <m:m>
                          <m:mPr>
                            <m:mcs>
                              <m:mc>
                                <m:mcPr>
                                  <m:count m:val="1"/>
                                  <m:mcJc m:val="center"/>
                                </m:mcPr>
                              </m:mc>
                            </m:mcs>
                            <m:ctrlPr>
                              <a:rPr lang="en-US" altLang="zh-CN" sz="2400" i="1">
                                <a:latin typeface="Cambria Math" panose="02040503050406030204" pitchFamily="18" charset="0"/>
                                <a:ea typeface="MS Mincho" panose="02020609040205080304" charset="-128"/>
                              </a:rPr>
                            </m:ctrlPr>
                          </m:mPr>
                          <m:mr>
                            <m:e>
                              <m:r>
                                <m:rPr>
                                  <m:brk m:alnAt="7"/>
                                </m:rPr>
                                <a:rPr lang="en-US" altLang="zh-CN" sz="2400" i="1">
                                  <a:latin typeface="Cambria Math" panose="02040503050406030204" pitchFamily="18" charset="0"/>
                                  <a:ea typeface="MS Mincho" panose="02020609040205080304" charset="-128"/>
                                </a:rPr>
                                <m:t>1</m:t>
                              </m:r>
                              <m:r>
                                <a:rPr lang="en-US" altLang="zh-CN" sz="2400" i="1">
                                  <a:latin typeface="Cambria Math" panose="02040503050406030204" pitchFamily="18" charset="0"/>
                                  <a:ea typeface="MS Mincho" panose="02020609040205080304" charset="-128"/>
                                </a:rPr>
                                <m:t>, </m:t>
                              </m:r>
                              <m:r>
                                <a:rPr lang="en-US" altLang="zh-CN" sz="2400" i="1">
                                  <a:latin typeface="Cambria Math" panose="02040503050406030204" pitchFamily="18" charset="0"/>
                                  <a:ea typeface="MS Mincho" panose="02020609040205080304" charset="-128"/>
                                </a:rPr>
                                <m:t>𝑥</m:t>
                              </m:r>
                              <m:r>
                                <a:rPr lang="en-US" altLang="zh-CN" sz="2400" i="1">
                                  <a:latin typeface="Cambria Math" panose="02040503050406030204" pitchFamily="18" charset="0"/>
                                  <a:ea typeface="Cambria Math" panose="02040503050406030204" pitchFamily="18" charset="0"/>
                                </a:rPr>
                                <m:t>≥0</m:t>
                              </m:r>
                            </m:e>
                          </m:mr>
                          <m:mr>
                            <m:e>
                              <m:r>
                                <a:rPr lang="en-US" altLang="zh-CN" sz="2400" i="1">
                                  <a:latin typeface="Cambria Math" panose="02040503050406030204" pitchFamily="18" charset="0"/>
                                  <a:ea typeface="MS Mincho" panose="02020609040205080304" charset="-128"/>
                                </a:rPr>
                                <m:t>0, </m:t>
                              </m:r>
                              <m:r>
                                <a:rPr lang="en-US" altLang="zh-CN" sz="2400" i="1">
                                  <a:latin typeface="Cambria Math" panose="02040503050406030204" pitchFamily="18" charset="0"/>
                                  <a:ea typeface="MS Mincho" panose="02020609040205080304" charset="-128"/>
                                </a:rPr>
                                <m:t>𝑥</m:t>
                              </m:r>
                              <m:r>
                                <a:rPr lang="en-US" altLang="zh-CN" sz="2400" i="1">
                                  <a:latin typeface="Cambria Math" panose="02040503050406030204" pitchFamily="18" charset="0"/>
                                  <a:ea typeface="MS Mincho" panose="02020609040205080304" charset="-128"/>
                                </a:rPr>
                                <m:t>&lt;0</m:t>
                              </m:r>
                            </m:e>
                          </m:mr>
                        </m:m>
                      </m:e>
                    </m:d>
                  </m:oMath>
                </a14:m>
                <a:r>
                  <a:rPr lang="zh-CN" altLang="en-US" sz="2400" dirty="0">
                    <a:latin typeface="宋体" panose="02010600030101010101" pitchFamily="2" charset="-122"/>
                    <a:ea typeface="宋体" panose="02010600030101010101" pitchFamily="2" charset="-122"/>
                    <a:cs typeface="宋体" panose="02010600030101010101" pitchFamily="2" charset="-122"/>
                  </a:rPr>
                  <a:t>，函数非凸，但任意水平集是凸集。</a:t>
                </a:r>
              </a:p>
              <a:p>
                <a:pPr algn="just" fontAlgn="auto">
                  <a:lnSpc>
                    <a:spcPts val="3200"/>
                  </a:lnSpc>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a:p>
                <a:pPr algn="just" fontAlgn="auto">
                  <a:lnSpc>
                    <a:spcPts val="3200"/>
                  </a:lnSpc>
                </a:pPr>
                <a:r>
                  <a:rPr lang="zh-CN" altLang="en-US" sz="2400" b="1" dirty="0">
                    <a:latin typeface="宋体" panose="02010600030101010101" pitchFamily="2" charset="-122"/>
                    <a:ea typeface="宋体" panose="02010600030101010101" pitchFamily="2" charset="-122"/>
                    <a:cs typeface="宋体" panose="02010600030101010101" pitchFamily="2" charset="-122"/>
                  </a:rPr>
                  <a:t>    </a:t>
                </a:r>
                <a:r>
                  <a:rPr lang="zh-CN" altLang="en-US" sz="2400" b="1" dirty="0">
                    <a:solidFill>
                      <a:srgbClr val="0070C0"/>
                    </a:solidFill>
                    <a:latin typeface="宋体" panose="02010600030101010101" pitchFamily="2" charset="-122"/>
                    <a:ea typeface="宋体" panose="02010600030101010101" pitchFamily="2" charset="-122"/>
                    <a:cs typeface="宋体" panose="02010600030101010101" pitchFamily="2" charset="-122"/>
                  </a:rPr>
                  <a:t>性质4</a:t>
                </a:r>
                <a:r>
                  <a:rPr lang="zh-CN" altLang="en-US" sz="2400" dirty="0">
                    <a:latin typeface="宋体" panose="02010600030101010101" pitchFamily="2" charset="-122"/>
                    <a:ea typeface="宋体" panose="02010600030101010101" pitchFamily="2" charset="-122"/>
                    <a:cs typeface="宋体" panose="02010600030101010101" pitchFamily="2" charset="-122"/>
                  </a:rPr>
                  <a:t> 若</a:t>
                </a:r>
                <a14:m>
                  <m:oMath xmlns:m="http://schemas.openxmlformats.org/officeDocument/2006/math">
                    <m:r>
                      <a:rPr lang="en-US" altLang="zh-CN" sz="2400" i="1">
                        <a:latin typeface="Cambria Math" panose="02040503050406030204" pitchFamily="18" charset="0"/>
                        <a:ea typeface="宋体" panose="02010600030101010101" pitchFamily="2" charset="-122"/>
                        <a:cs typeface="Cambria Math" panose="02040503050406030204" pitchFamily="18" charset="0"/>
                      </a:rPr>
                      <m:t>𝑓</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r>
                      <a:rPr lang="en-US" altLang="zh-CN" sz="2400" i="1">
                        <a:latin typeface="Cambria Math" panose="02040503050406030204" pitchFamily="18" charset="0"/>
                        <a:ea typeface="MS Mincho" panose="02020609040205080304" charset="-128"/>
                        <a:cs typeface="Cambria Math" panose="02040503050406030204" pitchFamily="18" charset="0"/>
                      </a:rPr>
                      <m:t>)</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是定义在凸集</a:t>
                </a:r>
                <a14:m>
                  <m:oMath xmlns:m="http://schemas.openxmlformats.org/officeDocument/2006/math">
                    <m:r>
                      <a:rPr lang="en-US" altLang="zh-CN" sz="2400" i="1">
                        <a:latin typeface="Cambria Math" panose="02040503050406030204" pitchFamily="18" charset="0"/>
                        <a:ea typeface="Cambria Math" panose="02040503050406030204" pitchFamily="18" charset="0"/>
                        <a:cs typeface="Cambria Math" panose="02040503050406030204" pitchFamily="18" charset="0"/>
                        <a:sym typeface="+mn-ea"/>
                      </a:rPr>
                      <m:t>𝑆</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上的凸函数，则</a:t>
                </a:r>
                <a14:m>
                  <m:oMath xmlns:m="http://schemas.openxmlformats.org/officeDocument/2006/math">
                    <m:r>
                      <a:rPr lang="en-US" altLang="zh-CN" sz="2400" i="1">
                        <a:latin typeface="Cambria Math" panose="02040503050406030204" pitchFamily="18" charset="0"/>
                        <a:ea typeface="宋体" panose="02010600030101010101" pitchFamily="2" charset="-122"/>
                        <a:cs typeface="Cambria Math" panose="02040503050406030204" pitchFamily="18" charset="0"/>
                      </a:rPr>
                      <m:t>𝑓</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r>
                      <a:rPr lang="en-US" altLang="zh-CN" sz="2400" i="1">
                        <a:latin typeface="Cambria Math" panose="02040503050406030204" pitchFamily="18" charset="0"/>
                        <a:ea typeface="MS Mincho" panose="02020609040205080304" charset="-128"/>
                        <a:cs typeface="Cambria Math" panose="02040503050406030204" pitchFamily="18" charset="0"/>
                      </a:rPr>
                      <m:t>)</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的任一个极小点就是它在</a:t>
                </a:r>
                <a14:m>
                  <m:oMath xmlns:m="http://schemas.openxmlformats.org/officeDocument/2006/math">
                    <m:r>
                      <a:rPr lang="en-US" altLang="zh-CN" sz="2400" i="1">
                        <a:latin typeface="Cambria Math" panose="02040503050406030204" pitchFamily="18" charset="0"/>
                        <a:ea typeface="Cambria Math" panose="02040503050406030204" pitchFamily="18" charset="0"/>
                        <a:cs typeface="Cambria Math" panose="02040503050406030204" pitchFamily="18" charset="0"/>
                        <a:sym typeface="+mn-ea"/>
                      </a:rPr>
                      <m:t>𝑆</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上的全局极小点，而且</a:t>
                </a:r>
                <a:r>
                  <a:rPr lang="zh-CN" altLang="en-US" sz="2400" b="1" dirty="0">
                    <a:latin typeface="宋体" panose="02010600030101010101" pitchFamily="2" charset="-122"/>
                    <a:ea typeface="宋体" panose="02010600030101010101" pitchFamily="2" charset="-122"/>
                    <a:cs typeface="宋体" panose="02010600030101010101" pitchFamily="2" charset="-122"/>
                  </a:rPr>
                  <a:t>所有极小点的集合是凸集</a:t>
                </a:r>
                <a:r>
                  <a:rPr lang="zh-CN" altLang="en-US" sz="2400" dirty="0">
                    <a:latin typeface="宋体" panose="02010600030101010101" pitchFamily="2" charset="-122"/>
                    <a:ea typeface="宋体" panose="02010600030101010101" pitchFamily="2" charset="-122"/>
                    <a:cs typeface="宋体" panose="02010600030101010101" pitchFamily="2" charset="-122"/>
                  </a:rPr>
                  <a:t>。</a:t>
                </a:r>
              </a:p>
            </p:txBody>
          </p:sp>
        </mc:Choice>
        <mc:Fallback xmlns="">
          <p:sp>
            <p:nvSpPr>
              <p:cNvPr id="3" name="文本框 2"/>
              <p:cNvSpPr txBox="1">
                <a:spLocks noRot="1" noChangeAspect="1" noMove="1" noResize="1" noEditPoints="1" noAdjustHandles="1" noChangeArrowheads="1" noChangeShapeType="1" noTextEdit="1"/>
              </p:cNvSpPr>
              <p:nvPr/>
            </p:nvSpPr>
            <p:spPr>
              <a:xfrm>
                <a:off x="611560" y="620688"/>
                <a:ext cx="8064896" cy="4966103"/>
              </a:xfrm>
              <a:prstGeom prst="rect">
                <a:avLst/>
              </a:prstGeom>
              <a:blipFill>
                <a:blip r:embed="rId2"/>
                <a:stretch>
                  <a:fillRect l="-1134" t="-1229" r="-1209" b="-1843"/>
                </a:stretch>
              </a:blipFill>
            </p:spPr>
            <p:txBody>
              <a:bodyPr/>
              <a:lstStyle/>
              <a:p>
                <a:r>
                  <a:rPr lang="zh-CN" altLang="en-US">
                    <a:noFill/>
                  </a:rPr>
                  <a:t> </a:t>
                </a:r>
              </a:p>
            </p:txBody>
          </p:sp>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本框 1"/>
              <p:cNvSpPr txBox="1"/>
              <p:nvPr/>
            </p:nvSpPr>
            <p:spPr>
              <a:xfrm>
                <a:off x="395536" y="980728"/>
                <a:ext cx="8146733" cy="4309385"/>
              </a:xfrm>
              <a:prstGeom prst="rect">
                <a:avLst/>
              </a:prstGeom>
              <a:noFill/>
            </p:spPr>
            <p:txBody>
              <a:bodyPr wrap="square" rtlCol="0">
                <a:spAutoFit/>
              </a:bodyPr>
              <a:lstStyle/>
              <a:p>
                <a:pPr algn="just" fontAlgn="auto">
                  <a:lnSpc>
                    <a:spcPct val="150000"/>
                  </a:lnSpc>
                </a:pPr>
                <a:r>
                  <a:rPr lang="en-US" altLang="zh-CN" sz="2000" dirty="0">
                    <a:latin typeface="宋体" panose="02010600030101010101" pitchFamily="2" charset="-122"/>
                    <a:ea typeface="宋体" panose="02010600030101010101" pitchFamily="2" charset="-122"/>
                    <a:cs typeface="宋体" panose="02010600030101010101" pitchFamily="2" charset="-122"/>
                  </a:rPr>
                  <a:t>   </a:t>
                </a:r>
                <a:r>
                  <a:rPr lang="zh-CN" altLang="en-US" sz="2000" dirty="0">
                    <a:latin typeface="宋体" panose="02010600030101010101" pitchFamily="2" charset="-122"/>
                    <a:ea typeface="宋体" panose="02010600030101010101" pitchFamily="2" charset="-122"/>
                    <a:cs typeface="宋体" panose="02010600030101010101" pitchFamily="2" charset="-122"/>
                  </a:rPr>
                  <a:t> 用性质3来证明：若凸函数</a:t>
                </a:r>
                <a14:m>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𝑓</m:t>
                    </m:r>
                    <m:r>
                      <a:rPr lang="en-US" altLang="zh-CN" sz="2000" i="1">
                        <a:latin typeface="Cambria Math" panose="02040503050406030204" pitchFamily="18" charset="0"/>
                        <a:ea typeface="MS Mincho" panose="02020609040205080304" charset="-128"/>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r>
                      <a:rPr lang="en-US" altLang="zh-CN" sz="2000" i="1">
                        <a:latin typeface="Cambria Math" panose="02040503050406030204" pitchFamily="18" charset="0"/>
                        <a:ea typeface="MS Mincho" panose="02020609040205080304" charset="-128"/>
                        <a:cs typeface="Cambria Math" panose="02040503050406030204" pitchFamily="18" charset="0"/>
                      </a:rPr>
                      <m:t>)</m:t>
                    </m:r>
                  </m:oMath>
                </a14:m>
                <a:r>
                  <a:rPr lang="zh-CN" altLang="en-US" sz="2000" dirty="0">
                    <a:latin typeface="宋体" panose="02010600030101010101" pitchFamily="2" charset="-122"/>
                    <a:ea typeface="宋体" panose="02010600030101010101" pitchFamily="2" charset="-122"/>
                    <a:cs typeface="宋体" panose="02010600030101010101" pitchFamily="2" charset="-122"/>
                  </a:rPr>
                  <a:t>在</a:t>
                </a:r>
                <a14:m>
                  <m:oMath xmlns:m="http://schemas.openxmlformats.org/officeDocument/2006/math">
                    <m:r>
                      <a:rPr lang="en-US" altLang="zh-CN" sz="2000" i="1">
                        <a:latin typeface="Cambria Math" panose="02040503050406030204" pitchFamily="18" charset="0"/>
                        <a:ea typeface="Cambria Math" panose="02040503050406030204" pitchFamily="18" charset="0"/>
                        <a:cs typeface="Cambria Math" panose="02040503050406030204" pitchFamily="18" charset="0"/>
                        <a:sym typeface="+mn-ea"/>
                      </a:rPr>
                      <m:t>𝑆</m:t>
                    </m:r>
                  </m:oMath>
                </a14:m>
                <a:r>
                  <a:rPr lang="zh-CN" altLang="en-US" sz="2000" dirty="0">
                    <a:latin typeface="宋体" panose="02010600030101010101" pitchFamily="2" charset="-122"/>
                    <a:ea typeface="宋体" panose="02010600030101010101" pitchFamily="2" charset="-122"/>
                    <a:cs typeface="宋体" panose="02010600030101010101" pitchFamily="2" charset="-122"/>
                  </a:rPr>
                  <a:t>上的极小点不只一个，则全体极小点必连成一片构成凸集。</a:t>
                </a:r>
              </a:p>
              <a:p>
                <a:pPr algn="just" fontAlgn="auto">
                  <a:lnSpc>
                    <a:spcPct val="150000"/>
                  </a:lnSpc>
                </a:pPr>
                <a:r>
                  <a:rPr lang="en-US" altLang="zh-CN" sz="2000" dirty="0">
                    <a:latin typeface="宋体" panose="02010600030101010101" pitchFamily="2" charset="-122"/>
                    <a:ea typeface="宋体" panose="02010600030101010101" pitchFamily="2" charset="-122"/>
                    <a:cs typeface="宋体" panose="02010600030101010101" pitchFamily="2" charset="-122"/>
                  </a:rPr>
                  <a:t>    </a:t>
                </a:r>
                <a:r>
                  <a:rPr lang="zh-CN" altLang="en-US" sz="2000" dirty="0">
                    <a:latin typeface="宋体" panose="02010600030101010101" pitchFamily="2" charset="-122"/>
                    <a:ea typeface="宋体" panose="02010600030101010101" pitchFamily="2" charset="-122"/>
                    <a:cs typeface="宋体" panose="02010600030101010101" pitchFamily="2" charset="-122"/>
                  </a:rPr>
                  <a:t>设</a:t>
                </a:r>
                <a14:m>
                  <m:oMath xmlns:m="http://schemas.openxmlformats.org/officeDocument/2006/math">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sup>
                    </m:sSup>
                  </m:oMath>
                </a14:m>
                <a:r>
                  <a:rPr lang="zh-CN" altLang="en-US" sz="2000" dirty="0">
                    <a:latin typeface="宋体" panose="02010600030101010101" pitchFamily="2" charset="-122"/>
                    <a:ea typeface="宋体" panose="02010600030101010101" pitchFamily="2" charset="-122"/>
                    <a:cs typeface="宋体" panose="02010600030101010101" pitchFamily="2" charset="-122"/>
                  </a:rPr>
                  <a:t>是</a:t>
                </a:r>
                <a14:m>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𝑓</m:t>
                    </m:r>
                    <m:r>
                      <a:rPr lang="en-US" altLang="zh-CN" sz="2000" i="1">
                        <a:latin typeface="Cambria Math" panose="02040503050406030204" pitchFamily="18" charset="0"/>
                        <a:ea typeface="MS Mincho" panose="02020609040205080304" charset="-128"/>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r>
                      <a:rPr lang="en-US" altLang="zh-CN" sz="2000" i="1">
                        <a:latin typeface="Cambria Math" panose="02040503050406030204" pitchFamily="18" charset="0"/>
                        <a:ea typeface="MS Mincho" panose="02020609040205080304" charset="-128"/>
                        <a:cs typeface="Cambria Math" panose="02040503050406030204" pitchFamily="18" charset="0"/>
                      </a:rPr>
                      <m:t>)</m:t>
                    </m:r>
                  </m:oMath>
                </a14:m>
                <a:r>
                  <a:rPr lang="zh-CN" altLang="en-US" sz="2000" dirty="0">
                    <a:latin typeface="宋体" panose="02010600030101010101" pitchFamily="2" charset="-122"/>
                    <a:ea typeface="宋体" panose="02010600030101010101" pitchFamily="2" charset="-122"/>
                    <a:cs typeface="宋体" panose="02010600030101010101" pitchFamily="2" charset="-122"/>
                  </a:rPr>
                  <a:t>在</a:t>
                </a:r>
                <a14:m>
                  <m:oMath xmlns:m="http://schemas.openxmlformats.org/officeDocument/2006/math">
                    <m:r>
                      <a:rPr lang="en-US" altLang="zh-CN" sz="2000" i="1">
                        <a:latin typeface="Cambria Math" panose="02040503050406030204" pitchFamily="18" charset="0"/>
                        <a:ea typeface="Cambria Math" panose="02040503050406030204" pitchFamily="18" charset="0"/>
                        <a:cs typeface="Cambria Math" panose="02040503050406030204" pitchFamily="18" charset="0"/>
                        <a:sym typeface="+mn-ea"/>
                      </a:rPr>
                      <m:t>𝑆</m:t>
                    </m:r>
                  </m:oMath>
                </a14:m>
                <a:r>
                  <a:rPr lang="zh-CN" altLang="en-US" sz="2000" dirty="0">
                    <a:latin typeface="宋体" panose="02010600030101010101" pitchFamily="2" charset="-122"/>
                    <a:ea typeface="宋体" panose="02010600030101010101" pitchFamily="2" charset="-122"/>
                    <a:cs typeface="宋体" panose="02010600030101010101" pitchFamily="2" charset="-122"/>
                  </a:rPr>
                  <a:t>上的一个极小点，</a:t>
                </a:r>
                <a14:m>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𝑓</m:t>
                    </m:r>
                    <m:r>
                      <a:rPr lang="en-US" altLang="zh-CN" sz="2000" i="1">
                        <a:latin typeface="Cambria Math" panose="02040503050406030204" pitchFamily="18" charset="0"/>
                        <a:ea typeface="MS Mincho" panose="02020609040205080304" charset="-128"/>
                        <a:cs typeface="Cambria Math" panose="02040503050406030204" pitchFamily="18" charset="0"/>
                      </a:rPr>
                      <m:t>(</m:t>
                    </m:r>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000" i="1">
                            <a:latin typeface="Cambria Math" panose="02040503050406030204" pitchFamily="18" charset="0"/>
                            <a:ea typeface="MS Mincho" panose="02020609040205080304" charset="-128"/>
                            <a:cs typeface="Cambria Math" panose="02040503050406030204" pitchFamily="18" charset="0"/>
                          </a:rPr>
                          <m:t>∗</m:t>
                        </m:r>
                      </m:sup>
                    </m:sSup>
                    <m:r>
                      <a:rPr lang="en-US" altLang="zh-CN" sz="2000" i="1">
                        <a:latin typeface="Cambria Math" panose="02040503050406030204" pitchFamily="18" charset="0"/>
                        <a:ea typeface="MS Mincho" panose="02020609040205080304" charset="-128"/>
                        <a:cs typeface="Cambria Math" panose="02040503050406030204" pitchFamily="18" charset="0"/>
                      </a:rPr>
                      <m:t>)</m:t>
                    </m:r>
                  </m:oMath>
                </a14:m>
                <a:r>
                  <a:rPr lang="zh-CN" altLang="en-US" sz="2000" dirty="0">
                    <a:latin typeface="宋体" panose="02010600030101010101" pitchFamily="2" charset="-122"/>
                    <a:ea typeface="宋体" panose="02010600030101010101" pitchFamily="2" charset="-122"/>
                    <a:cs typeface="宋体" panose="02010600030101010101" pitchFamily="2" charset="-122"/>
                  </a:rPr>
                  <a:t>为其极小值，记</a:t>
                </a:r>
                <a14:m>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𝑓</m:t>
                    </m:r>
                    <m:r>
                      <a:rPr lang="en-US" altLang="zh-CN" sz="2000" i="1">
                        <a:latin typeface="Cambria Math" panose="02040503050406030204" pitchFamily="18" charset="0"/>
                        <a:ea typeface="MS Mincho" panose="02020609040205080304" charset="-128"/>
                        <a:cs typeface="Cambria Math" panose="02040503050406030204" pitchFamily="18" charset="0"/>
                      </a:rPr>
                      <m:t>(</m:t>
                    </m:r>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000" i="1">
                            <a:latin typeface="Cambria Math" panose="02040503050406030204" pitchFamily="18" charset="0"/>
                            <a:ea typeface="MS Mincho" panose="02020609040205080304" charset="-128"/>
                            <a:cs typeface="Cambria Math" panose="02040503050406030204" pitchFamily="18" charset="0"/>
                          </a:rPr>
                          <m:t>∗</m:t>
                        </m:r>
                      </m:sup>
                    </m:sSup>
                    <m:r>
                      <a:rPr lang="en-US" altLang="zh-CN" sz="2000" i="1">
                        <a:latin typeface="Cambria Math" panose="02040503050406030204" pitchFamily="18" charset="0"/>
                        <a:ea typeface="MS Mincho" panose="02020609040205080304" charset="-128"/>
                        <a:cs typeface="Cambria Math" panose="02040503050406030204" pitchFamily="18" charset="0"/>
                      </a:rPr>
                      <m:t>)</m:t>
                    </m:r>
                  </m:oMath>
                </a14:m>
                <a:r>
                  <a:rPr lang="zh-CN" altLang="en-US" sz="2000" dirty="0">
                    <a:latin typeface="宋体" panose="02010600030101010101" pitchFamily="2" charset="-122"/>
                    <a:ea typeface="宋体" panose="02010600030101010101" pitchFamily="2" charset="-122"/>
                    <a:cs typeface="宋体" panose="02010600030101010101" pitchFamily="2" charset="-122"/>
                  </a:rPr>
                  <a:t>=</a:t>
                </a:r>
                <a:r>
                  <a:rPr lang="en-US" altLang="zh-CN" sz="2000" dirty="0">
                    <a:ea typeface="MS Mincho" panose="02020609040205080304" charset="-128"/>
                    <a:cs typeface="Cambria Math" panose="02040503050406030204" pitchFamily="18" charset="0"/>
                  </a:rPr>
                  <a:t> </a:t>
                </a:r>
                <a14:m>
                  <m:oMath xmlns:m="http://schemas.openxmlformats.org/officeDocument/2006/math">
                    <m:r>
                      <a:rPr lang="en-US" altLang="zh-CN" sz="2000" i="1">
                        <a:latin typeface="Cambria Math" panose="02040503050406030204" pitchFamily="18" charset="0"/>
                        <a:ea typeface="MS Mincho" panose="02020609040205080304" charset="-128"/>
                        <a:cs typeface="Cambria Math" panose="02040503050406030204" pitchFamily="18" charset="0"/>
                      </a:rPr>
                      <m:t>𝛽</m:t>
                    </m:r>
                    <m:r>
                      <a:rPr lang="en-US" altLang="zh-CN" sz="2000" i="1">
                        <a:latin typeface="Cambria Math" panose="02040503050406030204" pitchFamily="18" charset="0"/>
                        <a:ea typeface="MS Mincho" panose="02020609040205080304" charset="-128"/>
                        <a:cs typeface="Cambria Math" panose="02040503050406030204" pitchFamily="18" charset="0"/>
                      </a:rPr>
                      <m:t> </m:t>
                    </m:r>
                  </m:oMath>
                </a14:m>
                <a:r>
                  <a:rPr lang="zh-CN" altLang="en-US" sz="2000" dirty="0">
                    <a:latin typeface="宋体" panose="02010600030101010101" pitchFamily="2" charset="-122"/>
                    <a:ea typeface="宋体" panose="02010600030101010101" pitchFamily="2" charset="-122"/>
                    <a:cs typeface="宋体" panose="02010600030101010101" pitchFamily="2" charset="-122"/>
                  </a:rPr>
                  <a:t>，则由性质3可知，集合</a:t>
                </a:r>
                <a14:m>
                  <m:oMath xmlns:m="http://schemas.openxmlformats.org/officeDocument/2006/math">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𝑆</m:t>
                        </m:r>
                      </m:e>
                      <m:sub>
                        <m:r>
                          <a:rPr lang="en-US" altLang="zh-CN" sz="2000" i="1">
                            <a:latin typeface="Cambria Math" panose="02040503050406030204" pitchFamily="18" charset="0"/>
                            <a:ea typeface="MS Mincho" panose="02020609040205080304" charset="-128"/>
                            <a:cs typeface="Cambria Math" panose="02040503050406030204" pitchFamily="18" charset="0"/>
                          </a:rPr>
                          <m:t>𝛽</m:t>
                        </m:r>
                      </m:sub>
                    </m:sSub>
                    <m:r>
                      <a:rPr lang="en-US" altLang="zh-CN" sz="2000" i="1">
                        <a:latin typeface="Cambria Math" panose="02040503050406030204" pitchFamily="18" charset="0"/>
                        <a:ea typeface="MS Mincho" panose="02020609040205080304" charset="-128"/>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r>
                      <a:rPr lang="en-US" altLang="zh-CN" sz="2000" i="1">
                        <a:latin typeface="Cambria Math" panose="02040503050406030204" pitchFamily="18" charset="0"/>
                        <a:ea typeface="MS Mincho" panose="02020609040205080304" charset="-128"/>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r>
                      <a:rPr lang="en-US" altLang="zh-CN" sz="2000" i="1">
                        <a:latin typeface="Cambria Math" panose="02040503050406030204" pitchFamily="18" charset="0"/>
                        <a:ea typeface="MS Mincho" panose="02020609040205080304" charset="-128"/>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𝑆</m:t>
                    </m:r>
                    <m:r>
                      <a:rPr lang="en-US" altLang="zh-CN" sz="2000" i="1">
                        <a:latin typeface="Cambria Math" panose="02040503050406030204" pitchFamily="18" charset="0"/>
                        <a:ea typeface="MS Mincho" panose="02020609040205080304" charset="-128"/>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𝑓</m:t>
                    </m:r>
                    <m:r>
                      <a:rPr lang="en-US" altLang="zh-CN" sz="2000" i="1">
                        <a:latin typeface="Cambria Math" panose="02040503050406030204" pitchFamily="18" charset="0"/>
                        <a:ea typeface="MS Mincho" panose="02020609040205080304" charset="-128"/>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r>
                      <a:rPr lang="en-US" altLang="zh-CN" sz="2000" i="1">
                        <a:latin typeface="Cambria Math" panose="02040503050406030204" pitchFamily="18" charset="0"/>
                        <a:ea typeface="MS Mincho" panose="02020609040205080304" charset="-128"/>
                        <a:cs typeface="Cambria Math" panose="02040503050406030204" pitchFamily="18" charset="0"/>
                      </a:rPr>
                      <m:t>)≤</m:t>
                    </m:r>
                    <m:r>
                      <a:rPr lang="en-US" altLang="zh-CN" sz="2000" i="1">
                        <a:latin typeface="Cambria Math" panose="02040503050406030204" pitchFamily="18" charset="0"/>
                        <a:ea typeface="MS Mincho" panose="02020609040205080304" charset="-128"/>
                        <a:cs typeface="Cambria Math" panose="02040503050406030204" pitchFamily="18" charset="0"/>
                      </a:rPr>
                      <m:t>𝛽</m:t>
                    </m:r>
                    <m:r>
                      <a:rPr lang="en-US" altLang="zh-CN" sz="2000" i="1">
                        <a:latin typeface="Cambria Math" panose="02040503050406030204" pitchFamily="18" charset="0"/>
                        <a:ea typeface="MS Mincho" panose="02020609040205080304" charset="-128"/>
                        <a:cs typeface="Cambria Math" panose="02040503050406030204" pitchFamily="18" charset="0"/>
                      </a:rPr>
                      <m:t>}</m:t>
                    </m:r>
                  </m:oMath>
                </a14:m>
                <a:r>
                  <a:rPr lang="zh-CN" altLang="en-US" sz="2000" dirty="0">
                    <a:latin typeface="宋体" panose="02010600030101010101" pitchFamily="2" charset="-122"/>
                    <a:ea typeface="宋体" panose="02010600030101010101" pitchFamily="2" charset="-122"/>
                    <a:cs typeface="宋体" panose="02010600030101010101" pitchFamily="2" charset="-122"/>
                  </a:rPr>
                  <a:t>是凸集，对凸集</a:t>
                </a:r>
                <a14:m>
                  <m:oMath xmlns:m="http://schemas.openxmlformats.org/officeDocument/2006/math">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𝑆</m:t>
                        </m:r>
                      </m:e>
                      <m:sub>
                        <m:r>
                          <a:rPr lang="en-US" altLang="zh-CN" sz="2000" i="1">
                            <a:latin typeface="Cambria Math" panose="02040503050406030204" pitchFamily="18" charset="0"/>
                            <a:ea typeface="MS Mincho" panose="02020609040205080304" charset="-128"/>
                            <a:cs typeface="Cambria Math" panose="02040503050406030204" pitchFamily="18" charset="0"/>
                          </a:rPr>
                          <m:t>𝛽</m:t>
                        </m:r>
                      </m:sub>
                    </m:sSub>
                  </m:oMath>
                </a14:m>
                <a:r>
                  <a:rPr lang="zh-CN" altLang="en-US" sz="2000" dirty="0">
                    <a:latin typeface="宋体" panose="02010600030101010101" pitchFamily="2" charset="-122"/>
                    <a:ea typeface="宋体" panose="02010600030101010101" pitchFamily="2" charset="-122"/>
                    <a:cs typeface="宋体" panose="02010600030101010101" pitchFamily="2" charset="-122"/>
                  </a:rPr>
                  <a:t>中的任何一点</a:t>
                </a:r>
                <a14:m>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oMath>
                </a14:m>
                <a:r>
                  <a:rPr lang="zh-CN" altLang="en-US" sz="2000" dirty="0">
                    <a:latin typeface="宋体" panose="02010600030101010101" pitchFamily="2" charset="-122"/>
                    <a:ea typeface="宋体" panose="02010600030101010101" pitchFamily="2" charset="-122"/>
                    <a:cs typeface="宋体" panose="02010600030101010101" pitchFamily="2" charset="-122"/>
                  </a:rPr>
                  <a:t>均有</a:t>
                </a:r>
                <a14:m>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𝑓</m:t>
                    </m:r>
                    <m:r>
                      <a:rPr lang="en-US" altLang="zh-CN" sz="2000" i="1">
                        <a:latin typeface="Cambria Math" panose="02040503050406030204" pitchFamily="18" charset="0"/>
                        <a:ea typeface="MS Mincho" panose="02020609040205080304" charset="-128"/>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r>
                      <a:rPr lang="en-US" altLang="zh-CN" sz="2000" i="1">
                        <a:latin typeface="Cambria Math" panose="02040503050406030204" pitchFamily="18" charset="0"/>
                        <a:ea typeface="MS Mincho" panose="02020609040205080304" charset="-128"/>
                        <a:cs typeface="Cambria Math" panose="02040503050406030204" pitchFamily="18" charset="0"/>
                      </a:rPr>
                      <m:t>)</m:t>
                    </m:r>
                  </m:oMath>
                </a14:m>
                <a:r>
                  <a:rPr lang="zh-CN" altLang="en-US" sz="2000" dirty="0">
                    <a:latin typeface="宋体" panose="02010600030101010101" pitchFamily="2" charset="-122"/>
                    <a:ea typeface="宋体" panose="02010600030101010101" pitchFamily="2" charset="-122"/>
                    <a:cs typeface="宋体" panose="02010600030101010101" pitchFamily="2" charset="-122"/>
                  </a:rPr>
                  <a:t>≤</a:t>
                </a:r>
                <a14:m>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𝑓</m:t>
                    </m:r>
                    <m:r>
                      <a:rPr lang="en-US" altLang="zh-CN" sz="2000" i="1">
                        <a:latin typeface="Cambria Math" panose="02040503050406030204" pitchFamily="18" charset="0"/>
                        <a:ea typeface="MS Mincho" panose="02020609040205080304" charset="-128"/>
                        <a:cs typeface="Cambria Math" panose="02040503050406030204" pitchFamily="18" charset="0"/>
                      </a:rPr>
                      <m:t>(</m:t>
                    </m:r>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000" i="1">
                            <a:latin typeface="Cambria Math" panose="02040503050406030204" pitchFamily="18" charset="0"/>
                            <a:ea typeface="MS Mincho" panose="02020609040205080304" charset="-128"/>
                            <a:cs typeface="Cambria Math" panose="02040503050406030204" pitchFamily="18" charset="0"/>
                          </a:rPr>
                          <m:t>∗</m:t>
                        </m:r>
                      </m:sup>
                    </m:sSup>
                    <m:r>
                      <a:rPr lang="en-US" altLang="zh-CN" sz="2000" i="1">
                        <a:latin typeface="Cambria Math" panose="02040503050406030204" pitchFamily="18" charset="0"/>
                        <a:ea typeface="MS Mincho" panose="02020609040205080304" charset="-128"/>
                        <a:cs typeface="Cambria Math" panose="02040503050406030204" pitchFamily="18" charset="0"/>
                      </a:rPr>
                      <m:t>)</m:t>
                    </m:r>
                  </m:oMath>
                </a14:m>
                <a:r>
                  <a:rPr lang="zh-CN" altLang="en-US" sz="2000" dirty="0">
                    <a:latin typeface="宋体" panose="02010600030101010101" pitchFamily="2" charset="-122"/>
                    <a:ea typeface="宋体" panose="02010600030101010101" pitchFamily="2" charset="-122"/>
                    <a:cs typeface="宋体" panose="02010600030101010101" pitchFamily="2" charset="-122"/>
                  </a:rPr>
                  <a:t>=</a:t>
                </a:r>
                <a:r>
                  <a:rPr lang="en-US" altLang="zh-CN" sz="2000" dirty="0">
                    <a:ea typeface="MS Mincho" panose="02020609040205080304" charset="-128"/>
                    <a:cs typeface="Cambria Math" panose="02040503050406030204" pitchFamily="18" charset="0"/>
                  </a:rPr>
                  <a:t> </a:t>
                </a:r>
                <a14:m>
                  <m:oMath xmlns:m="http://schemas.openxmlformats.org/officeDocument/2006/math">
                    <m:r>
                      <a:rPr lang="en-US" altLang="zh-CN" sz="2000" i="1">
                        <a:latin typeface="Cambria Math" panose="02040503050406030204" pitchFamily="18" charset="0"/>
                        <a:ea typeface="MS Mincho" panose="02020609040205080304" charset="-128"/>
                        <a:cs typeface="Cambria Math" panose="02040503050406030204" pitchFamily="18" charset="0"/>
                      </a:rPr>
                      <m:t>𝛽</m:t>
                    </m:r>
                  </m:oMath>
                </a14:m>
                <a:r>
                  <a:rPr lang="zh-CN" altLang="en-US" sz="2000" dirty="0">
                    <a:latin typeface="宋体" panose="02010600030101010101" pitchFamily="2" charset="-122"/>
                    <a:ea typeface="宋体" panose="02010600030101010101" pitchFamily="2" charset="-122"/>
                    <a:cs typeface="宋体" panose="02010600030101010101" pitchFamily="2" charset="-122"/>
                  </a:rPr>
                  <a:t>。但由前面证明已知，</a:t>
                </a:r>
                <a14:m>
                  <m:oMath xmlns:m="http://schemas.openxmlformats.org/officeDocument/2006/math">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000" i="1">
                            <a:latin typeface="Cambria Math" panose="02040503050406030204" pitchFamily="18" charset="0"/>
                            <a:ea typeface="MS Mincho" panose="02020609040205080304" charset="-128"/>
                            <a:cs typeface="Cambria Math" panose="02040503050406030204" pitchFamily="18" charset="0"/>
                          </a:rPr>
                          <m:t>∗</m:t>
                        </m:r>
                      </m:sup>
                    </m:sSup>
                  </m:oMath>
                </a14:m>
                <a:r>
                  <a:rPr lang="zh-CN" altLang="en-US" sz="2000" dirty="0">
                    <a:latin typeface="宋体" panose="02010600030101010101" pitchFamily="2" charset="-122"/>
                    <a:ea typeface="宋体" panose="02010600030101010101" pitchFamily="2" charset="-122"/>
                    <a:cs typeface="宋体" panose="02010600030101010101" pitchFamily="2" charset="-122"/>
                  </a:rPr>
                  <a:t>必同时为</a:t>
                </a:r>
                <a14:m>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𝑆</m:t>
                    </m:r>
                  </m:oMath>
                </a14:m>
                <a:r>
                  <a:rPr lang="zh-CN" altLang="en-US" sz="2000" dirty="0">
                    <a:latin typeface="宋体" panose="02010600030101010101" pitchFamily="2" charset="-122"/>
                    <a:ea typeface="宋体" panose="02010600030101010101" pitchFamily="2" charset="-122"/>
                    <a:cs typeface="宋体" panose="02010600030101010101" pitchFamily="2" charset="-122"/>
                  </a:rPr>
                  <a:t>上的全局极小点，故不可能存在</a:t>
                </a:r>
                <a14:m>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oMath>
                </a14:m>
                <a:r>
                  <a:rPr lang="zh-CN" altLang="en-US" sz="2000" dirty="0">
                    <a:latin typeface="宋体" panose="02010600030101010101" pitchFamily="2" charset="-122"/>
                    <a:ea typeface="宋体" panose="02010600030101010101" pitchFamily="2" charset="-122"/>
                    <a:cs typeface="宋体" panose="02010600030101010101" pitchFamily="2" charset="-122"/>
                  </a:rPr>
                  <a:t>，使</a:t>
                </a:r>
                <a14:m>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d>
                    <m:r>
                      <a:rPr lang="en-US" altLang="zh-CN" sz="2000">
                        <a:latin typeface="Cambria Math" panose="02040503050406030204" pitchFamily="18" charset="0"/>
                        <a:ea typeface="MS Mincho" panose="02020609040205080304" charset="-128"/>
                        <a:cs typeface="Cambria Math" panose="02040503050406030204" pitchFamily="18" charset="0"/>
                      </a:rPr>
                      <m:t>&lt;</m:t>
                    </m:r>
                  </m:oMath>
                </a14:m>
                <a:r>
                  <a:rPr lang="en-US" altLang="zh-CN" sz="2000" dirty="0">
                    <a:ea typeface="MS Mincho" panose="02020609040205080304" charset="-128"/>
                    <a:cs typeface="Cambria Math" panose="02040503050406030204" pitchFamily="18" charset="0"/>
                  </a:rPr>
                  <a:t> </a:t>
                </a:r>
                <a14:m>
                  <m:oMath xmlns:m="http://schemas.openxmlformats.org/officeDocument/2006/math">
                    <m:r>
                      <a:rPr lang="en-US" altLang="zh-CN" sz="2000" i="1">
                        <a:latin typeface="Cambria Math" panose="02040503050406030204" pitchFamily="18" charset="0"/>
                        <a:ea typeface="MS Mincho" panose="02020609040205080304" charset="-128"/>
                        <a:cs typeface="Cambria Math" panose="02040503050406030204" pitchFamily="18" charset="0"/>
                      </a:rPr>
                      <m:t>𝛽</m:t>
                    </m:r>
                  </m:oMath>
                </a14:m>
                <a:r>
                  <a:rPr lang="zh-CN" altLang="en-US" sz="2000" dirty="0">
                    <a:latin typeface="宋体" panose="02010600030101010101" pitchFamily="2" charset="-122"/>
                    <a:ea typeface="宋体" panose="02010600030101010101" pitchFamily="2" charset="-122"/>
                    <a:cs typeface="宋体" panose="02010600030101010101" pitchFamily="2" charset="-122"/>
                  </a:rPr>
                  <a:t>成立。故</a:t>
                </a:r>
                <a14:m>
                  <m:oMath xmlns:m="http://schemas.openxmlformats.org/officeDocument/2006/math">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𝑆</m:t>
                        </m:r>
                      </m:e>
                      <m:sub>
                        <m:r>
                          <a:rPr lang="en-US" altLang="zh-CN" sz="2000" i="1">
                            <a:latin typeface="Cambria Math" panose="02040503050406030204" pitchFamily="18" charset="0"/>
                            <a:ea typeface="MS Mincho" panose="02020609040205080304" charset="-128"/>
                            <a:cs typeface="Cambria Math" panose="02040503050406030204" pitchFamily="18" charset="0"/>
                          </a:rPr>
                          <m:t>𝛽</m:t>
                        </m:r>
                      </m:sub>
                    </m:sSub>
                  </m:oMath>
                </a14:m>
                <a:r>
                  <a:rPr lang="zh-CN" altLang="en-US" sz="2000" dirty="0">
                    <a:latin typeface="宋体" panose="02010600030101010101" pitchFamily="2" charset="-122"/>
                    <a:ea typeface="宋体" panose="02010600030101010101" pitchFamily="2" charset="-122"/>
                    <a:cs typeface="宋体" panose="02010600030101010101" pitchFamily="2" charset="-122"/>
                  </a:rPr>
                  <a:t>中的点</a:t>
                </a:r>
                <a14:m>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oMath>
                </a14:m>
                <a:r>
                  <a:rPr lang="zh-CN" altLang="en-US" sz="2000" dirty="0">
                    <a:latin typeface="宋体" panose="02010600030101010101" pitchFamily="2" charset="-122"/>
                    <a:ea typeface="宋体" panose="02010600030101010101" pitchFamily="2" charset="-122"/>
                    <a:cs typeface="宋体" panose="02010600030101010101" pitchFamily="2" charset="-122"/>
                  </a:rPr>
                  <a:t>只有满足：</a:t>
                </a:r>
              </a:p>
              <a:p>
                <a:pPr algn="just" fontAlgn="auto">
                  <a:lnSpc>
                    <a:spcPct val="150000"/>
                  </a:lnSpc>
                </a:pPr>
                <a:r>
                  <a:rPr lang="zh-CN" altLang="en-US" sz="2000" dirty="0">
                    <a:latin typeface="宋体" panose="02010600030101010101" pitchFamily="2" charset="-122"/>
                    <a:ea typeface="宋体" panose="02010600030101010101" pitchFamily="2" charset="-122"/>
                    <a:cs typeface="宋体" panose="02010600030101010101" pitchFamily="2" charset="-122"/>
                  </a:rPr>
                  <a:t>			     </a:t>
                </a:r>
                <a14:m>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𝑓</m:t>
                    </m:r>
                    <m:r>
                      <a:rPr lang="en-US" altLang="zh-CN" sz="2000" i="1">
                        <a:latin typeface="Cambria Math" panose="02040503050406030204" pitchFamily="18" charset="0"/>
                        <a:ea typeface="MS Mincho" panose="02020609040205080304" charset="-128"/>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r>
                      <a:rPr lang="en-US" altLang="zh-CN" sz="2000" i="1">
                        <a:latin typeface="Cambria Math" panose="02040503050406030204" pitchFamily="18" charset="0"/>
                        <a:ea typeface="MS Mincho" panose="02020609040205080304" charset="-128"/>
                        <a:cs typeface="Cambria Math" panose="02040503050406030204" pitchFamily="18" charset="0"/>
                      </a:rPr>
                      <m:t>)</m:t>
                    </m:r>
                  </m:oMath>
                </a14:m>
                <a:r>
                  <a:rPr lang="en-US" altLang="zh-CN" sz="2000" dirty="0">
                    <a:latin typeface="宋体" panose="02010600030101010101" pitchFamily="2" charset="-122"/>
                    <a:ea typeface="宋体" panose="02010600030101010101" pitchFamily="2" charset="-122"/>
                    <a:cs typeface="宋体" panose="02010600030101010101" pitchFamily="2" charset="-122"/>
                    <a:sym typeface="+mn-ea"/>
                  </a:rPr>
                  <a:t>=</a:t>
                </a:r>
                <a14:m>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𝑓</m:t>
                    </m:r>
                    <m:r>
                      <a:rPr lang="en-US" altLang="zh-CN" sz="2000" i="1">
                        <a:latin typeface="Cambria Math" panose="02040503050406030204" pitchFamily="18" charset="0"/>
                        <a:ea typeface="MS Mincho" panose="02020609040205080304" charset="-128"/>
                        <a:cs typeface="Cambria Math" panose="02040503050406030204" pitchFamily="18" charset="0"/>
                      </a:rPr>
                      <m:t>(</m:t>
                    </m:r>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000" i="1">
                            <a:latin typeface="Cambria Math" panose="02040503050406030204" pitchFamily="18" charset="0"/>
                            <a:ea typeface="MS Mincho" panose="02020609040205080304" charset="-128"/>
                            <a:cs typeface="Cambria Math" panose="02040503050406030204" pitchFamily="18" charset="0"/>
                          </a:rPr>
                          <m:t>∗</m:t>
                        </m:r>
                      </m:sup>
                    </m:sSup>
                    <m:r>
                      <a:rPr lang="en-US" altLang="zh-CN" sz="2000" i="1">
                        <a:latin typeface="Cambria Math" panose="02040503050406030204" pitchFamily="18" charset="0"/>
                        <a:ea typeface="MS Mincho" panose="02020609040205080304" charset="-128"/>
                        <a:cs typeface="Cambria Math" panose="02040503050406030204" pitchFamily="18" charset="0"/>
                      </a:rPr>
                      <m:t>)</m:t>
                    </m:r>
                  </m:oMath>
                </a14:m>
                <a:r>
                  <a:rPr lang="zh-CN" altLang="en-US" sz="2000" dirty="0">
                    <a:latin typeface="宋体" panose="02010600030101010101" pitchFamily="2" charset="-122"/>
                    <a:ea typeface="宋体" panose="02010600030101010101" pitchFamily="2" charset="-122"/>
                    <a:cs typeface="宋体" panose="02010600030101010101" pitchFamily="2" charset="-122"/>
                    <a:sym typeface="+mn-ea"/>
                  </a:rPr>
                  <a:t>=</a:t>
                </a:r>
                <a:r>
                  <a:rPr lang="en-US" altLang="zh-CN" sz="2000" dirty="0">
                    <a:ea typeface="MS Mincho" panose="02020609040205080304" charset="-128"/>
                    <a:cs typeface="Cambria Math" panose="02040503050406030204" pitchFamily="18" charset="0"/>
                  </a:rPr>
                  <a:t> </a:t>
                </a:r>
                <a14:m>
                  <m:oMath xmlns:m="http://schemas.openxmlformats.org/officeDocument/2006/math">
                    <m:r>
                      <a:rPr lang="en-US" altLang="zh-CN" sz="2000" i="1">
                        <a:latin typeface="Cambria Math" panose="02040503050406030204" pitchFamily="18" charset="0"/>
                        <a:ea typeface="MS Mincho" panose="02020609040205080304" charset="-128"/>
                        <a:cs typeface="Cambria Math" panose="02040503050406030204" pitchFamily="18" charset="0"/>
                      </a:rPr>
                      <m:t>𝛽</m:t>
                    </m:r>
                    <m:r>
                      <a:rPr lang="en-US" altLang="zh-CN" sz="2000" i="1">
                        <a:latin typeface="Cambria Math" panose="02040503050406030204" pitchFamily="18" charset="0"/>
                        <a:ea typeface="MS Mincho" panose="02020609040205080304" charset="-128"/>
                        <a:cs typeface="Cambria Math" panose="02040503050406030204" pitchFamily="18" charset="0"/>
                      </a:rPr>
                      <m:t> </m:t>
                    </m:r>
                  </m:oMath>
                </a14:m>
                <a:r>
                  <a:rPr lang="zh-CN" altLang="en-US" sz="2000" dirty="0">
                    <a:latin typeface="宋体" panose="02010600030101010101" pitchFamily="2" charset="-122"/>
                    <a:ea typeface="宋体" panose="02010600030101010101" pitchFamily="2" charset="-122"/>
                    <a:cs typeface="宋体" panose="02010600030101010101" pitchFamily="2" charset="-122"/>
                  </a:rPr>
                  <a:t>			</a:t>
                </a:r>
              </a:p>
              <a:p>
                <a:pPr algn="just" fontAlgn="auto">
                  <a:lnSpc>
                    <a:spcPct val="150000"/>
                  </a:lnSpc>
                </a:pPr>
                <a:r>
                  <a:rPr lang="zh-CN" altLang="en-US" sz="2000" dirty="0">
                    <a:latin typeface="宋体" panose="02010600030101010101" pitchFamily="2" charset="-122"/>
                    <a:ea typeface="宋体" panose="02010600030101010101" pitchFamily="2" charset="-122"/>
                    <a:cs typeface="宋体" panose="02010600030101010101" pitchFamily="2" charset="-122"/>
                  </a:rPr>
                  <a:t>因此</a:t>
                </a:r>
                <a14:m>
                  <m:oMath xmlns:m="http://schemas.openxmlformats.org/officeDocument/2006/math">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𝑆</m:t>
                        </m:r>
                      </m:e>
                      <m:sub>
                        <m:r>
                          <a:rPr lang="en-US" altLang="zh-CN" sz="2000" i="1">
                            <a:latin typeface="Cambria Math" panose="02040503050406030204" pitchFamily="18" charset="0"/>
                            <a:ea typeface="MS Mincho" panose="02020609040205080304" charset="-128"/>
                            <a:cs typeface="Cambria Math" panose="02040503050406030204" pitchFamily="18" charset="0"/>
                          </a:rPr>
                          <m:t>𝛽</m:t>
                        </m:r>
                      </m:sub>
                    </m:sSub>
                  </m:oMath>
                </a14:m>
                <a:r>
                  <a:rPr lang="zh-CN" altLang="en-US" sz="2000" dirty="0">
                    <a:latin typeface="宋体" panose="02010600030101010101" pitchFamily="2" charset="-122"/>
                    <a:ea typeface="宋体" panose="02010600030101010101" pitchFamily="2" charset="-122"/>
                    <a:cs typeface="宋体" panose="02010600030101010101" pitchFamily="2" charset="-122"/>
                  </a:rPr>
                  <a:t>中的点必是</a:t>
                </a:r>
                <a14:m>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𝑓</m:t>
                    </m:r>
                    <m:r>
                      <a:rPr lang="en-US" altLang="zh-CN" sz="2000" i="1">
                        <a:latin typeface="Cambria Math" panose="02040503050406030204" pitchFamily="18" charset="0"/>
                        <a:ea typeface="MS Mincho" panose="02020609040205080304" charset="-128"/>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r>
                      <a:rPr lang="en-US" altLang="zh-CN" sz="2000" i="1">
                        <a:latin typeface="Cambria Math" panose="02040503050406030204" pitchFamily="18" charset="0"/>
                        <a:ea typeface="MS Mincho" panose="02020609040205080304" charset="-128"/>
                        <a:cs typeface="Cambria Math" panose="02040503050406030204" pitchFamily="18" charset="0"/>
                      </a:rPr>
                      <m:t>)</m:t>
                    </m:r>
                  </m:oMath>
                </a14:m>
                <a:r>
                  <a:rPr lang="zh-CN" altLang="en-US" sz="2000" dirty="0">
                    <a:latin typeface="宋体" panose="02010600030101010101" pitchFamily="2" charset="-122"/>
                    <a:ea typeface="宋体" panose="02010600030101010101" pitchFamily="2" charset="-122"/>
                    <a:cs typeface="宋体" panose="02010600030101010101" pitchFamily="2" charset="-122"/>
                  </a:rPr>
                  <a:t>在</a:t>
                </a:r>
                <a14:m>
                  <m:oMath xmlns:m="http://schemas.openxmlformats.org/officeDocument/2006/math">
                    <m:r>
                      <a:rPr lang="en-US" altLang="zh-CN" sz="2000" i="1">
                        <a:latin typeface="Cambria Math" panose="02040503050406030204" pitchFamily="18" charset="0"/>
                        <a:ea typeface="Cambria Math" panose="02040503050406030204" pitchFamily="18" charset="0"/>
                        <a:cs typeface="Cambria Math" panose="02040503050406030204" pitchFamily="18" charset="0"/>
                        <a:sym typeface="+mn-ea"/>
                      </a:rPr>
                      <m:t>𝑆</m:t>
                    </m:r>
                  </m:oMath>
                </a14:m>
                <a:r>
                  <a:rPr lang="zh-CN" altLang="en-US" sz="2000" dirty="0">
                    <a:latin typeface="宋体" panose="02010600030101010101" pitchFamily="2" charset="-122"/>
                    <a:ea typeface="宋体" panose="02010600030101010101" pitchFamily="2" charset="-122"/>
                    <a:cs typeface="宋体" panose="02010600030101010101" pitchFamily="2" charset="-122"/>
                  </a:rPr>
                  <a:t>中的极小点，又由</a:t>
                </a:r>
                <a14:m>
                  <m:oMath xmlns:m="http://schemas.openxmlformats.org/officeDocument/2006/math">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𝑆</m:t>
                        </m:r>
                      </m:e>
                      <m:sub>
                        <m:r>
                          <a:rPr lang="en-US" altLang="zh-CN" sz="2000" i="1">
                            <a:latin typeface="Cambria Math" panose="02040503050406030204" pitchFamily="18" charset="0"/>
                            <a:ea typeface="MS Mincho" panose="02020609040205080304" charset="-128"/>
                            <a:cs typeface="Cambria Math" panose="02040503050406030204" pitchFamily="18" charset="0"/>
                          </a:rPr>
                          <m:t>𝛽</m:t>
                        </m:r>
                      </m:sub>
                    </m:sSub>
                  </m:oMath>
                </a14:m>
                <a:r>
                  <a:rPr lang="zh-CN" altLang="en-US" sz="2000" dirty="0">
                    <a:latin typeface="宋体" panose="02010600030101010101" pitchFamily="2" charset="-122"/>
                    <a:ea typeface="宋体" panose="02010600030101010101" pitchFamily="2" charset="-122"/>
                    <a:cs typeface="宋体" panose="02010600030101010101" pitchFamily="2" charset="-122"/>
                  </a:rPr>
                  <a:t>的定义，</a:t>
                </a:r>
                <a14:m>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𝑓</m:t>
                    </m:r>
                    <m:r>
                      <a:rPr lang="en-US" altLang="zh-CN" sz="2000" i="1">
                        <a:latin typeface="Cambria Math" panose="02040503050406030204" pitchFamily="18" charset="0"/>
                        <a:ea typeface="MS Mincho" panose="02020609040205080304" charset="-128"/>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r>
                      <a:rPr lang="en-US" altLang="zh-CN" sz="2000" i="1">
                        <a:latin typeface="Cambria Math" panose="02040503050406030204" pitchFamily="18" charset="0"/>
                        <a:ea typeface="MS Mincho" panose="02020609040205080304" charset="-128"/>
                        <a:cs typeface="Cambria Math" panose="02040503050406030204" pitchFamily="18" charset="0"/>
                      </a:rPr>
                      <m:t>)</m:t>
                    </m:r>
                  </m:oMath>
                </a14:m>
                <a:r>
                  <a:rPr lang="zh-CN" altLang="en-US" sz="2000" dirty="0">
                    <a:latin typeface="宋体" panose="02010600030101010101" pitchFamily="2" charset="-122"/>
                    <a:ea typeface="宋体" panose="02010600030101010101" pitchFamily="2" charset="-122"/>
                    <a:cs typeface="宋体" panose="02010600030101010101" pitchFamily="2" charset="-122"/>
                  </a:rPr>
                  <a:t>在</a:t>
                </a:r>
                <a14:m>
                  <m:oMath xmlns:m="http://schemas.openxmlformats.org/officeDocument/2006/math">
                    <m:r>
                      <a:rPr lang="en-US" altLang="zh-CN" sz="2000" i="1">
                        <a:latin typeface="Cambria Math" panose="02040503050406030204" pitchFamily="18" charset="0"/>
                        <a:ea typeface="Cambria Math" panose="02040503050406030204" pitchFamily="18" charset="0"/>
                        <a:cs typeface="Cambria Math" panose="02040503050406030204" pitchFamily="18" charset="0"/>
                        <a:sym typeface="+mn-ea"/>
                      </a:rPr>
                      <m:t>𝑆</m:t>
                    </m:r>
                  </m:oMath>
                </a14:m>
                <a:r>
                  <a:rPr lang="zh-CN" altLang="en-US" sz="2000" dirty="0">
                    <a:latin typeface="宋体" panose="02010600030101010101" pitchFamily="2" charset="-122"/>
                    <a:ea typeface="宋体" panose="02010600030101010101" pitchFamily="2" charset="-122"/>
                    <a:cs typeface="宋体" panose="02010600030101010101" pitchFamily="2" charset="-122"/>
                  </a:rPr>
                  <a:t>中的极小点也必然全在其中，故</a:t>
                </a:r>
                <a14:m>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𝑓</m:t>
                    </m:r>
                    <m:r>
                      <a:rPr lang="en-US" altLang="zh-CN" sz="2000" i="1">
                        <a:latin typeface="Cambria Math" panose="02040503050406030204" pitchFamily="18" charset="0"/>
                        <a:ea typeface="MS Mincho" panose="02020609040205080304" charset="-128"/>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r>
                      <a:rPr lang="en-US" altLang="zh-CN" sz="2000" i="1">
                        <a:latin typeface="Cambria Math" panose="02040503050406030204" pitchFamily="18" charset="0"/>
                        <a:ea typeface="MS Mincho" panose="02020609040205080304" charset="-128"/>
                        <a:cs typeface="Cambria Math" panose="02040503050406030204" pitchFamily="18" charset="0"/>
                      </a:rPr>
                      <m:t>)</m:t>
                    </m:r>
                  </m:oMath>
                </a14:m>
                <a:r>
                  <a:rPr lang="zh-CN" altLang="en-US" sz="2000" dirty="0">
                    <a:latin typeface="宋体" panose="02010600030101010101" pitchFamily="2" charset="-122"/>
                    <a:ea typeface="宋体" panose="02010600030101010101" pitchFamily="2" charset="-122"/>
                    <a:cs typeface="宋体" panose="02010600030101010101" pitchFamily="2" charset="-122"/>
                  </a:rPr>
                  <a:t>在</a:t>
                </a:r>
                <a14:m>
                  <m:oMath xmlns:m="http://schemas.openxmlformats.org/officeDocument/2006/math">
                    <m:r>
                      <a:rPr lang="en-US" altLang="zh-CN" sz="2000" i="1">
                        <a:latin typeface="Cambria Math" panose="02040503050406030204" pitchFamily="18" charset="0"/>
                        <a:ea typeface="Cambria Math" panose="02040503050406030204" pitchFamily="18" charset="0"/>
                        <a:cs typeface="Cambria Math" panose="02040503050406030204" pitchFamily="18" charset="0"/>
                        <a:sym typeface="+mn-ea"/>
                      </a:rPr>
                      <m:t>𝑆</m:t>
                    </m:r>
                  </m:oMath>
                </a14:m>
                <a:r>
                  <a:rPr lang="zh-CN" altLang="en-US" sz="2000" dirty="0">
                    <a:latin typeface="宋体" panose="02010600030101010101" pitchFamily="2" charset="-122"/>
                    <a:ea typeface="宋体" panose="02010600030101010101" pitchFamily="2" charset="-122"/>
                    <a:cs typeface="宋体" panose="02010600030101010101" pitchFamily="2" charset="-122"/>
                  </a:rPr>
                  <a:t>中的极小点必构成凸集，即连成一片。</a:t>
                </a:r>
              </a:p>
            </p:txBody>
          </p:sp>
        </mc:Choice>
        <mc:Fallback xmlns="">
          <p:sp>
            <p:nvSpPr>
              <p:cNvPr id="2" name="文本框 1"/>
              <p:cNvSpPr txBox="1">
                <a:spLocks noRot="1" noChangeAspect="1" noMove="1" noResize="1" noEditPoints="1" noAdjustHandles="1" noChangeArrowheads="1" noChangeShapeType="1" noTextEdit="1"/>
              </p:cNvSpPr>
              <p:nvPr/>
            </p:nvSpPr>
            <p:spPr>
              <a:xfrm>
                <a:off x="395536" y="980728"/>
                <a:ext cx="8146733" cy="4309385"/>
              </a:xfrm>
              <a:prstGeom prst="rect">
                <a:avLst/>
              </a:prstGeom>
              <a:blipFill>
                <a:blip r:embed="rId2"/>
                <a:stretch>
                  <a:fillRect l="-823" r="-3817" b="-1273"/>
                </a:stretch>
              </a:blipFill>
            </p:spPr>
            <p:txBody>
              <a:bodyPr/>
              <a:lstStyle/>
              <a:p>
                <a:r>
                  <a:rPr lang="zh-CN" altLang="en-US">
                    <a:noFill/>
                  </a:rPr>
                  <a:t> </a:t>
                </a:r>
              </a:p>
            </p:txBody>
          </p:sp>
        </mc:Fallback>
      </mc:AlternateContent>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13538" y="1052736"/>
            <a:ext cx="5154105" cy="959237"/>
          </a:xfrm>
          <a:prstGeom prst="rect">
            <a:avLst/>
          </a:prstGeom>
          <a:noFill/>
        </p:spPr>
        <p:txBody>
          <a:bodyPr wrap="square">
            <a:spAutoFit/>
          </a:bodyPr>
          <a:lstStyle/>
          <a:p>
            <a:pPr algn="just">
              <a:spcBef>
                <a:spcPts val="450"/>
              </a:spcBef>
              <a:spcAft>
                <a:spcPts val="450"/>
              </a:spcAft>
            </a:pPr>
            <a:r>
              <a:rPr lang="en-US" altLang="zh-CN" sz="2400" b="1" dirty="0">
                <a:latin typeface="黑体" panose="02010609060101010101" pitchFamily="49" charset="-122"/>
                <a:ea typeface="黑体" panose="02010609060101010101" pitchFamily="49" charset="-122"/>
              </a:rPr>
              <a:t>7 </a:t>
            </a:r>
            <a:r>
              <a:rPr lang="zh-CN" altLang="en-US" sz="2400" b="1" dirty="0">
                <a:latin typeface="黑体" panose="02010609060101010101" pitchFamily="49" charset="-122"/>
                <a:ea typeface="黑体" panose="02010609060101010101" pitchFamily="49" charset="-122"/>
              </a:rPr>
              <a:t>凸性的判别</a:t>
            </a:r>
          </a:p>
          <a:p>
            <a:pPr algn="just">
              <a:spcBef>
                <a:spcPts val="450"/>
              </a:spcBef>
              <a:spcAft>
                <a:spcPts val="450"/>
              </a:spcAft>
            </a:pPr>
            <a:endParaRPr lang="zh-CN" altLang="zh-CN" sz="2400" kern="100" dirty="0">
              <a:latin typeface="黑体" panose="02010609060101010101" pitchFamily="49" charset="-122"/>
              <a:ea typeface="黑体" panose="02010609060101010101" pitchFamily="49" charset="-122"/>
            </a:endParaRPr>
          </a:p>
        </p:txBody>
      </p:sp>
      <mc:AlternateContent xmlns:mc="http://schemas.openxmlformats.org/markup-compatibility/2006" xmlns:a14="http://schemas.microsoft.com/office/drawing/2010/main">
        <mc:Choice Requires="a14">
          <p:sp>
            <p:nvSpPr>
              <p:cNvPr id="4" name="文本框 3"/>
              <p:cNvSpPr txBox="1"/>
              <p:nvPr/>
            </p:nvSpPr>
            <p:spPr>
              <a:xfrm>
                <a:off x="791580" y="1592797"/>
                <a:ext cx="7938882" cy="4451283"/>
              </a:xfrm>
              <a:prstGeom prst="rect">
                <a:avLst/>
              </a:prstGeom>
              <a:noFill/>
            </p:spPr>
            <p:txBody>
              <a:bodyPr wrap="square" rtlCol="0">
                <a:spAutoFit/>
              </a:bodyPr>
              <a:lstStyle/>
              <a:p>
                <a:pPr algn="just" fontAlgn="auto">
                  <a:lnSpc>
                    <a:spcPct val="150000"/>
                  </a:lnSpc>
                </a:pPr>
                <a:r>
                  <a:rPr lang="zh-CN" altLang="en-US" sz="2400" dirty="0">
                    <a:latin typeface="宋体" panose="02010600030101010101" pitchFamily="2" charset="-122"/>
                    <a:ea typeface="宋体" panose="02010600030101010101" pitchFamily="2" charset="-122"/>
                    <a:cs typeface="宋体" panose="02010600030101010101" pitchFamily="2" charset="-122"/>
                  </a:rPr>
                  <a:t>（</a:t>
                </a:r>
                <a:r>
                  <a:rPr lang="en-US" altLang="zh-CN" sz="2400" dirty="0">
                    <a:latin typeface="宋体" panose="02010600030101010101" pitchFamily="2" charset="-122"/>
                    <a:ea typeface="宋体" panose="02010600030101010101" pitchFamily="2" charset="-122"/>
                    <a:cs typeface="宋体" panose="02010600030101010101" pitchFamily="2" charset="-122"/>
                  </a:rPr>
                  <a:t>1</a:t>
                </a:r>
                <a:r>
                  <a:rPr lang="zh-CN" altLang="en-US" sz="2400" dirty="0">
                    <a:latin typeface="宋体" panose="02010600030101010101" pitchFamily="2" charset="-122"/>
                    <a:ea typeface="宋体" panose="02010600030101010101" pitchFamily="2" charset="-122"/>
                    <a:cs typeface="宋体" panose="02010600030101010101" pitchFamily="2" charset="-122"/>
                  </a:rPr>
                  <a:t>）一阶条件</a:t>
                </a:r>
              </a:p>
              <a:p>
                <a:pPr algn="just" fontAlgn="auto">
                  <a:lnSpc>
                    <a:spcPct val="150000"/>
                  </a:lnSpc>
                </a:pPr>
                <a:r>
                  <a:rPr lang="zh-CN" altLang="en-US" sz="2400" dirty="0">
                    <a:latin typeface="宋体" panose="02010600030101010101" pitchFamily="2" charset="-122"/>
                    <a:ea typeface="宋体" panose="02010600030101010101" pitchFamily="2" charset="-122"/>
                    <a:cs typeface="宋体" panose="02010600030101010101" pitchFamily="2" charset="-122"/>
                  </a:rPr>
                  <a:t>    设</a:t>
                </a:r>
                <a14:m>
                  <m:oMath xmlns:m="http://schemas.openxmlformats.org/officeDocument/2006/math">
                    <m:r>
                      <a:rPr lang="en-US" altLang="zh-CN" sz="2400" i="1">
                        <a:latin typeface="Cambria Math" panose="02040503050406030204" pitchFamily="18" charset="0"/>
                        <a:ea typeface="Cambria Math" panose="02040503050406030204" pitchFamily="18" charset="0"/>
                        <a:cs typeface="Cambria Math" panose="02040503050406030204" pitchFamily="18" charset="0"/>
                        <a:sym typeface="+mn-ea"/>
                      </a:rPr>
                      <m:t>𝑆</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为开凸集，</a:t>
                </a:r>
                <a14:m>
                  <m:oMath xmlns:m="http://schemas.openxmlformats.org/officeDocument/2006/math">
                    <m:r>
                      <a:rPr lang="en-US" altLang="zh-CN" sz="2400" i="1">
                        <a:latin typeface="Cambria Math" panose="02040503050406030204" pitchFamily="18" charset="0"/>
                        <a:ea typeface="宋体" panose="02010600030101010101" pitchFamily="2" charset="-122"/>
                        <a:cs typeface="Cambria Math" panose="02040503050406030204" pitchFamily="18" charset="0"/>
                      </a:rPr>
                      <m:t>𝑓</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r>
                      <a:rPr lang="en-US" altLang="zh-CN" sz="2400" i="1">
                        <a:latin typeface="Cambria Math" panose="02040503050406030204" pitchFamily="18" charset="0"/>
                        <a:ea typeface="MS Mincho" panose="02020609040205080304" charset="-128"/>
                        <a:cs typeface="Cambria Math" panose="02040503050406030204" pitchFamily="18" charset="0"/>
                      </a:rPr>
                      <m:t>)</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在凸集</a:t>
                </a:r>
                <a14:m>
                  <m:oMath xmlns:m="http://schemas.openxmlformats.org/officeDocument/2006/math">
                    <m:r>
                      <a:rPr lang="en-US" altLang="zh-CN" sz="2400" i="1">
                        <a:latin typeface="Cambria Math" panose="02040503050406030204" pitchFamily="18" charset="0"/>
                        <a:ea typeface="Cambria Math" panose="02040503050406030204" pitchFamily="18" charset="0"/>
                        <a:cs typeface="Cambria Math" panose="02040503050406030204" pitchFamily="18" charset="0"/>
                        <a:sym typeface="+mn-ea"/>
                      </a:rPr>
                      <m:t>𝑆</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上有一阶连续偏导数，则</a:t>
                </a:r>
                <a14:m>
                  <m:oMath xmlns:m="http://schemas.openxmlformats.org/officeDocument/2006/math">
                    <m:r>
                      <a:rPr lang="en-US" altLang="zh-CN" sz="2400" i="1">
                        <a:latin typeface="Cambria Math" panose="02040503050406030204" pitchFamily="18" charset="0"/>
                        <a:ea typeface="宋体" panose="02010600030101010101" pitchFamily="2" charset="-122"/>
                        <a:cs typeface="Cambria Math" panose="02040503050406030204" pitchFamily="18" charset="0"/>
                      </a:rPr>
                      <m:t>𝑓</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r>
                      <a:rPr lang="en-US" altLang="zh-CN" sz="2400" i="1">
                        <a:latin typeface="Cambria Math" panose="02040503050406030204" pitchFamily="18" charset="0"/>
                        <a:ea typeface="MS Mincho" panose="02020609040205080304" charset="-128"/>
                        <a:cs typeface="Cambria Math" panose="02040503050406030204" pitchFamily="18" charset="0"/>
                      </a:rPr>
                      <m:t>)</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在</a:t>
                </a:r>
                <a14:m>
                  <m:oMath xmlns:m="http://schemas.openxmlformats.org/officeDocument/2006/math">
                    <m:r>
                      <a:rPr lang="en-US" altLang="zh-CN" sz="2400" i="1">
                        <a:latin typeface="Cambria Math" panose="02040503050406030204" pitchFamily="18" charset="0"/>
                        <a:ea typeface="Cambria Math" panose="02040503050406030204" pitchFamily="18" charset="0"/>
                        <a:cs typeface="Cambria Math" panose="02040503050406030204" pitchFamily="18" charset="0"/>
                        <a:sym typeface="+mn-ea"/>
                      </a:rPr>
                      <m:t>𝑆</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上为凸函数的</a:t>
                </a:r>
                <a:r>
                  <a:rPr lang="zh-CN" altLang="en-US" sz="2400" b="1" dirty="0">
                    <a:latin typeface="宋体" panose="02010600030101010101" pitchFamily="2" charset="-122"/>
                    <a:ea typeface="宋体" panose="02010600030101010101" pitchFamily="2" charset="-122"/>
                    <a:cs typeface="宋体" panose="02010600030101010101" pitchFamily="2" charset="-122"/>
                  </a:rPr>
                  <a:t>充要条件</a:t>
                </a:r>
                <a:r>
                  <a:rPr lang="zh-CN" altLang="en-US" sz="2400" dirty="0">
                    <a:latin typeface="宋体" panose="02010600030101010101" pitchFamily="2" charset="-122"/>
                    <a:ea typeface="宋体" panose="02010600030101010101" pitchFamily="2" charset="-122"/>
                    <a:cs typeface="宋体" panose="02010600030101010101" pitchFamily="2" charset="-122"/>
                  </a:rPr>
                  <a:t>是</a:t>
                </a:r>
                <a14:m>
                  <m:oMath xmlns:m="http://schemas.openxmlformats.org/officeDocument/2006/math">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𝑦</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𝑆</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r>
                      <a:rPr lang="en-US" altLang="zh-CN" sz="2400" i="1">
                        <a:latin typeface="Cambria Math" panose="02040503050406030204" pitchFamily="18" charset="0"/>
                        <a:ea typeface="Cambria Math" panose="02040503050406030204" pitchFamily="18" charset="0"/>
                        <a:cs typeface="Cambria Math" panose="02040503050406030204" pitchFamily="18" charset="0"/>
                      </a:rPr>
                      <m:t>≠</m:t>
                    </m:r>
                    <m:r>
                      <a:rPr lang="en-US" altLang="zh-CN" sz="2400" i="1">
                        <a:latin typeface="Cambria Math" panose="02040503050406030204" pitchFamily="18" charset="0"/>
                        <a:ea typeface="Cambria Math" panose="02040503050406030204" pitchFamily="18" charset="0"/>
                        <a:cs typeface="Cambria Math" panose="02040503050406030204" pitchFamily="18" charset="0"/>
                      </a:rPr>
                      <m:t>𝑦</m:t>
                    </m:r>
                  </m:oMath>
                </a14:m>
                <a:r>
                  <a:rPr lang="en-US" altLang="zh-CN" sz="2400" dirty="0">
                    <a:latin typeface="宋体" panose="02010600030101010101" pitchFamily="2" charset="-122"/>
                    <a:ea typeface="宋体" panose="02010600030101010101" pitchFamily="2" charset="-122"/>
                    <a:cs typeface="宋体" panose="02010600030101010101" pitchFamily="2" charset="-122"/>
                  </a:rPr>
                  <a:t>,</a:t>
                </a:r>
                <a:r>
                  <a:rPr lang="zh-CN" altLang="en-US" sz="2400" dirty="0">
                    <a:latin typeface="宋体" panose="02010600030101010101" pitchFamily="2" charset="-122"/>
                    <a:ea typeface="宋体" panose="02010600030101010101" pitchFamily="2" charset="-122"/>
                    <a:cs typeface="宋体" panose="02010600030101010101" pitchFamily="2" charset="-122"/>
                  </a:rPr>
                  <a:t>恒有</a:t>
                </a:r>
              </a:p>
              <a:p>
                <a:pPr algn="just" fontAlgn="auto">
                  <a:lnSpc>
                    <a:spcPct val="150000"/>
                  </a:lnSpc>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ea typeface="宋体" panose="02010600030101010101" pitchFamily="2" charset="-122"/>
                          <a:cs typeface="Cambria Math" panose="02040503050406030204" pitchFamily="18" charset="0"/>
                        </a:rPr>
                        <m:t>𝑓</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𝑦</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𝑓</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r>
                        <a:rPr lang="en-US" altLang="zh-CN" sz="2400" i="1">
                          <a:latin typeface="Cambria Math" panose="02040503050406030204" pitchFamily="18" charset="0"/>
                          <a:ea typeface="MS Mincho" panose="02020609040205080304" charset="-128"/>
                          <a:cs typeface="Cambria Math" panose="02040503050406030204" pitchFamily="18" charset="0"/>
                        </a:rPr>
                        <m:t>)+</m:t>
                      </m:r>
                      <m:d>
                        <m:dPr>
                          <m:begChr m:val="〈"/>
                          <m:endChr m:val="〉"/>
                          <m:ctrlPr>
                            <a:rPr lang="en-US" altLang="zh-CN" sz="2400" i="1">
                              <a:latin typeface="Cambria Math" panose="02040503050406030204" pitchFamily="18" charset="0"/>
                              <a:ea typeface="MS Mincho" panose="02020609040205080304" charset="-128"/>
                              <a:cs typeface="Cambria Math" panose="02040503050406030204" pitchFamily="18" charset="0"/>
                            </a:rPr>
                          </m:ctrlPr>
                        </m:dPr>
                        <m:e>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𝑓</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𝑦</m:t>
                          </m:r>
                          <m:r>
                            <a:rPr lang="en-US" altLang="zh-CN" sz="2400" i="1">
                              <a:latin typeface="Cambria Math" panose="02040503050406030204" pitchFamily="18" charset="0"/>
                              <a:ea typeface="宋体" panose="02010600030101010101" pitchFamily="2" charset="-122"/>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d>
                    </m:oMath>
                  </m:oMathPara>
                </a14:m>
                <a:endParaRPr lang="zh-CN" altLang="en-US" sz="2400" dirty="0">
                  <a:latin typeface="宋体" panose="02010600030101010101" pitchFamily="2" charset="-122"/>
                  <a:ea typeface="宋体" panose="02010600030101010101" pitchFamily="2" charset="-122"/>
                  <a:cs typeface="宋体" panose="02010600030101010101" pitchFamily="2" charset="-122"/>
                </a:endParaRPr>
              </a:p>
              <a:p>
                <a:pPr algn="just" fontAlgn="auto">
                  <a:lnSpc>
                    <a:spcPct val="150000"/>
                  </a:lnSpc>
                </a:pPr>
                <a:r>
                  <a:rPr lang="zh-CN" altLang="en-US" sz="2400" dirty="0">
                    <a:latin typeface="宋体" panose="02010600030101010101" pitchFamily="2" charset="-122"/>
                    <a:ea typeface="宋体" panose="02010600030101010101" pitchFamily="2" charset="-122"/>
                    <a:cs typeface="宋体" panose="02010600030101010101" pitchFamily="2" charset="-122"/>
                  </a:rPr>
                  <a:t>（</a:t>
                </a:r>
                <a:r>
                  <a:rPr lang="en-US" altLang="zh-CN" sz="2400" dirty="0">
                    <a:latin typeface="宋体" panose="02010600030101010101" pitchFamily="2" charset="-122"/>
                    <a:ea typeface="宋体" panose="02010600030101010101" pitchFamily="2" charset="-122"/>
                    <a:cs typeface="宋体" panose="02010600030101010101" pitchFamily="2" charset="-122"/>
                  </a:rPr>
                  <a:t>2</a:t>
                </a:r>
                <a:r>
                  <a:rPr lang="zh-CN" altLang="en-US" sz="2400" dirty="0">
                    <a:latin typeface="宋体" panose="02010600030101010101" pitchFamily="2" charset="-122"/>
                    <a:ea typeface="宋体" panose="02010600030101010101" pitchFamily="2" charset="-122"/>
                    <a:cs typeface="宋体" panose="02010600030101010101" pitchFamily="2" charset="-122"/>
                  </a:rPr>
                  <a:t>）二阶条件</a:t>
                </a:r>
              </a:p>
              <a:p>
                <a:pPr algn="just" fontAlgn="auto">
                  <a:lnSpc>
                    <a:spcPct val="150000"/>
                  </a:lnSpc>
                </a:pPr>
                <a:r>
                  <a:rPr lang="zh-CN" altLang="en-US" sz="2400" dirty="0">
                    <a:latin typeface="宋体" panose="02010600030101010101" pitchFamily="2" charset="-122"/>
                    <a:ea typeface="宋体" panose="02010600030101010101" pitchFamily="2" charset="-122"/>
                    <a:cs typeface="宋体" panose="02010600030101010101" pitchFamily="2" charset="-122"/>
                  </a:rPr>
                  <a:t>    设</a:t>
                </a:r>
                <a14:m>
                  <m:oMath xmlns:m="http://schemas.openxmlformats.org/officeDocument/2006/math">
                    <m:r>
                      <a:rPr lang="en-US" altLang="zh-CN" sz="2400" i="1">
                        <a:latin typeface="Cambria Math" panose="02040503050406030204" pitchFamily="18" charset="0"/>
                        <a:ea typeface="Cambria Math" panose="02040503050406030204" pitchFamily="18" charset="0"/>
                        <a:cs typeface="Cambria Math" panose="02040503050406030204" pitchFamily="18" charset="0"/>
                        <a:sym typeface="+mn-ea"/>
                      </a:rPr>
                      <m:t>𝑆</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为开凸集，</a:t>
                </a:r>
                <a14:m>
                  <m:oMath xmlns:m="http://schemas.openxmlformats.org/officeDocument/2006/math">
                    <m:r>
                      <a:rPr lang="en-US" altLang="zh-CN" sz="2400" i="1">
                        <a:latin typeface="Cambria Math" panose="02040503050406030204" pitchFamily="18" charset="0"/>
                        <a:ea typeface="宋体" panose="02010600030101010101" pitchFamily="2" charset="-122"/>
                        <a:cs typeface="Cambria Math" panose="02040503050406030204" pitchFamily="18" charset="0"/>
                      </a:rPr>
                      <m:t>𝑓</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r>
                      <a:rPr lang="en-US" altLang="zh-CN" sz="2400" i="1">
                        <a:latin typeface="Cambria Math" panose="02040503050406030204" pitchFamily="18" charset="0"/>
                        <a:ea typeface="MS Mincho" panose="02020609040205080304" charset="-128"/>
                        <a:cs typeface="Cambria Math" panose="02040503050406030204" pitchFamily="18" charset="0"/>
                      </a:rPr>
                      <m:t>)</m:t>
                    </m:r>
                  </m:oMath>
                </a14:m>
                <a:r>
                  <a:rPr lang="zh-CN" altLang="en-US" sz="2400" dirty="0">
                    <a:latin typeface="宋体" panose="02010600030101010101" pitchFamily="2" charset="-122"/>
                    <a:ea typeface="宋体" panose="02010600030101010101" pitchFamily="2" charset="-122"/>
                    <a:cs typeface="宋体" panose="02010600030101010101" pitchFamily="2" charset="-122"/>
                    <a:sym typeface="+mn-ea"/>
                  </a:rPr>
                  <a:t>在</a:t>
                </a:r>
                <a14:m>
                  <m:oMath xmlns:m="http://schemas.openxmlformats.org/officeDocument/2006/math">
                    <m:r>
                      <a:rPr lang="en-US" altLang="zh-CN" sz="2400" i="1">
                        <a:latin typeface="Cambria Math" panose="02040503050406030204" pitchFamily="18" charset="0"/>
                        <a:ea typeface="Cambria Math" panose="02040503050406030204" pitchFamily="18" charset="0"/>
                        <a:cs typeface="Cambria Math" panose="02040503050406030204" pitchFamily="18" charset="0"/>
                        <a:sym typeface="+mn-ea"/>
                      </a:rPr>
                      <m:t>𝑆</m:t>
                    </m:r>
                  </m:oMath>
                </a14:m>
                <a:r>
                  <a:rPr lang="zh-CN" altLang="en-US" sz="2400" dirty="0">
                    <a:latin typeface="宋体" panose="02010600030101010101" pitchFamily="2" charset="-122"/>
                    <a:ea typeface="宋体" panose="02010600030101010101" pitchFamily="2" charset="-122"/>
                    <a:cs typeface="宋体" panose="02010600030101010101" pitchFamily="2" charset="-122"/>
                    <a:sym typeface="+mn-ea"/>
                  </a:rPr>
                  <a:t>上有二阶连续偏导数，则</a:t>
                </a:r>
                <a14:m>
                  <m:oMath xmlns:m="http://schemas.openxmlformats.org/officeDocument/2006/math">
                    <m:r>
                      <a:rPr lang="en-US" altLang="zh-CN" sz="2400" i="1">
                        <a:latin typeface="Cambria Math" panose="02040503050406030204" pitchFamily="18" charset="0"/>
                        <a:ea typeface="宋体" panose="02010600030101010101" pitchFamily="2" charset="-122"/>
                        <a:cs typeface="Cambria Math" panose="02040503050406030204" pitchFamily="18" charset="0"/>
                      </a:rPr>
                      <m:t>𝑓</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r>
                      <a:rPr lang="en-US" altLang="zh-CN" sz="2400" i="1">
                        <a:latin typeface="Cambria Math" panose="02040503050406030204" pitchFamily="18" charset="0"/>
                        <a:ea typeface="MS Mincho" panose="02020609040205080304" charset="-128"/>
                        <a:cs typeface="Cambria Math" panose="02040503050406030204" pitchFamily="18" charset="0"/>
                      </a:rPr>
                      <m:t>)</m:t>
                    </m:r>
                  </m:oMath>
                </a14:m>
                <a:r>
                  <a:rPr lang="zh-CN" altLang="en-US" sz="2400" dirty="0">
                    <a:latin typeface="宋体" panose="02010600030101010101" pitchFamily="2" charset="-122"/>
                    <a:ea typeface="宋体" panose="02010600030101010101" pitchFamily="2" charset="-122"/>
                    <a:cs typeface="宋体" panose="02010600030101010101" pitchFamily="2" charset="-122"/>
                    <a:sym typeface="+mn-ea"/>
                  </a:rPr>
                  <a:t>在</a:t>
                </a:r>
                <a14:m>
                  <m:oMath xmlns:m="http://schemas.openxmlformats.org/officeDocument/2006/math">
                    <m:r>
                      <a:rPr lang="en-US" altLang="zh-CN" sz="2400" i="1">
                        <a:latin typeface="Cambria Math" panose="02040503050406030204" pitchFamily="18" charset="0"/>
                        <a:ea typeface="Cambria Math" panose="02040503050406030204" pitchFamily="18" charset="0"/>
                        <a:cs typeface="Cambria Math" panose="02040503050406030204" pitchFamily="18" charset="0"/>
                        <a:sym typeface="+mn-ea"/>
                      </a:rPr>
                      <m:t>𝑆</m:t>
                    </m:r>
                  </m:oMath>
                </a14:m>
                <a:r>
                  <a:rPr lang="zh-CN" altLang="en-US" sz="2400" dirty="0">
                    <a:latin typeface="宋体" panose="02010600030101010101" pitchFamily="2" charset="-122"/>
                    <a:ea typeface="宋体" panose="02010600030101010101" pitchFamily="2" charset="-122"/>
                    <a:cs typeface="宋体" panose="02010600030101010101" pitchFamily="2" charset="-122"/>
                    <a:sym typeface="+mn-ea"/>
                  </a:rPr>
                  <a:t>上为</a:t>
                </a:r>
                <a:r>
                  <a:rPr lang="zh-CN" altLang="en-US" sz="2400" b="1" dirty="0">
                    <a:latin typeface="宋体" panose="02010600030101010101" pitchFamily="2" charset="-122"/>
                    <a:ea typeface="宋体" panose="02010600030101010101" pitchFamily="2" charset="-122"/>
                    <a:cs typeface="宋体" panose="02010600030101010101" pitchFamily="2" charset="-122"/>
                    <a:sym typeface="+mn-ea"/>
                  </a:rPr>
                  <a:t>凸函数的充要条件</a:t>
                </a:r>
                <a:r>
                  <a:rPr lang="zh-CN" altLang="en-US" sz="2400" dirty="0">
                    <a:latin typeface="宋体" panose="02010600030101010101" pitchFamily="2" charset="-122"/>
                    <a:ea typeface="宋体" panose="02010600030101010101" pitchFamily="2" charset="-122"/>
                    <a:cs typeface="宋体" panose="02010600030101010101" pitchFamily="2" charset="-122"/>
                    <a:sym typeface="+mn-ea"/>
                  </a:rPr>
                  <a:t>是</a:t>
                </a:r>
                <a14:m>
                  <m:oMath xmlns:m="http://schemas.openxmlformats.org/officeDocument/2006/math">
                    <m:r>
                      <a:rPr lang="en-US" altLang="zh-CN" sz="2400" i="1">
                        <a:latin typeface="Cambria Math" panose="02040503050406030204" pitchFamily="18" charset="0"/>
                        <a:ea typeface="宋体" panose="02010600030101010101" pitchFamily="2" charset="-122"/>
                        <a:cs typeface="Cambria Math" panose="02040503050406030204" pitchFamily="18" charset="0"/>
                      </a:rPr>
                      <m:t>𝑓</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r>
                      <a:rPr lang="en-US" altLang="zh-CN" sz="2400" i="1">
                        <a:latin typeface="Cambria Math" panose="02040503050406030204" pitchFamily="18" charset="0"/>
                        <a:ea typeface="MS Mincho" panose="02020609040205080304" charset="-128"/>
                        <a:cs typeface="Cambria Math" panose="02040503050406030204" pitchFamily="18" charset="0"/>
                      </a:rPr>
                      <m:t>)</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的海赛矩阵在</a:t>
                </a:r>
                <a14:m>
                  <m:oMath xmlns:m="http://schemas.openxmlformats.org/officeDocument/2006/math">
                    <m:r>
                      <a:rPr lang="en-US" altLang="zh-CN" sz="2400" i="1">
                        <a:latin typeface="Cambria Math" panose="02040503050406030204" pitchFamily="18" charset="0"/>
                        <a:ea typeface="Cambria Math" panose="02040503050406030204" pitchFamily="18" charset="0"/>
                        <a:cs typeface="Cambria Math" panose="02040503050406030204" pitchFamily="18" charset="0"/>
                        <a:sym typeface="+mn-ea"/>
                      </a:rPr>
                      <m:t>𝑆</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上</a:t>
                </a:r>
                <a:r>
                  <a:rPr lang="zh-CN" altLang="en-US" sz="2400" b="1" dirty="0">
                    <a:latin typeface="宋体" panose="02010600030101010101" pitchFamily="2" charset="-122"/>
                    <a:ea typeface="宋体" panose="02010600030101010101" pitchFamily="2" charset="-122"/>
                    <a:cs typeface="宋体" panose="02010600030101010101" pitchFamily="2" charset="-122"/>
                  </a:rPr>
                  <a:t>处处半正定</a:t>
                </a:r>
                <a:r>
                  <a:rPr lang="zh-CN" altLang="en-US" sz="2400" dirty="0">
                    <a:latin typeface="宋体" panose="02010600030101010101" pitchFamily="2" charset="-122"/>
                    <a:ea typeface="宋体" panose="02010600030101010101" pitchFamily="2" charset="-122"/>
                    <a:cs typeface="宋体" panose="02010600030101010101" pitchFamily="2" charset="-122"/>
                  </a:rPr>
                  <a:t>，若</a:t>
                </a:r>
                <a:r>
                  <a:rPr lang="zh-CN" altLang="en-US" sz="2400" dirty="0">
                    <a:latin typeface="宋体" panose="02010600030101010101" pitchFamily="2" charset="-122"/>
                    <a:ea typeface="宋体" panose="02010600030101010101" pitchFamily="2" charset="-122"/>
                    <a:cs typeface="宋体" panose="02010600030101010101" pitchFamily="2" charset="-122"/>
                    <a:sym typeface="+mn-ea"/>
                  </a:rPr>
                  <a:t>海赛矩阵正定，则</a:t>
                </a:r>
                <a14:m>
                  <m:oMath xmlns:m="http://schemas.openxmlformats.org/officeDocument/2006/math">
                    <m:r>
                      <a:rPr lang="en-US" altLang="zh-CN" sz="2400" i="1">
                        <a:latin typeface="Cambria Math" panose="02040503050406030204" pitchFamily="18" charset="0"/>
                        <a:ea typeface="宋体" panose="02010600030101010101" pitchFamily="2" charset="-122"/>
                        <a:cs typeface="Cambria Math" panose="02040503050406030204" pitchFamily="18" charset="0"/>
                      </a:rPr>
                      <m:t>𝑓</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r>
                      <a:rPr lang="en-US" altLang="zh-CN" sz="2400" i="1">
                        <a:latin typeface="Cambria Math" panose="02040503050406030204" pitchFamily="18" charset="0"/>
                        <a:ea typeface="MS Mincho" panose="02020609040205080304" charset="-128"/>
                        <a:cs typeface="Cambria Math" panose="02040503050406030204" pitchFamily="18" charset="0"/>
                      </a:rPr>
                      <m:t>)</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在</a:t>
                </a:r>
                <a14:m>
                  <m:oMath xmlns:m="http://schemas.openxmlformats.org/officeDocument/2006/math">
                    <m:r>
                      <a:rPr lang="en-US" altLang="zh-CN" sz="2400" i="1">
                        <a:latin typeface="Cambria Math" panose="02040503050406030204" pitchFamily="18" charset="0"/>
                        <a:ea typeface="Cambria Math" panose="02040503050406030204" pitchFamily="18" charset="0"/>
                        <a:cs typeface="Cambria Math" panose="02040503050406030204" pitchFamily="18" charset="0"/>
                        <a:sym typeface="+mn-ea"/>
                      </a:rPr>
                      <m:t>𝑆</m:t>
                    </m:r>
                    <m:r>
                      <a:rPr lang="en-US" altLang="zh-CN" sz="2400" i="1">
                        <a:latin typeface="Cambria Math" panose="02040503050406030204" pitchFamily="18" charset="0"/>
                        <a:ea typeface="Cambria Math" panose="02040503050406030204" pitchFamily="18" charset="0"/>
                        <a:cs typeface="Cambria Math" panose="02040503050406030204" pitchFamily="18" charset="0"/>
                        <a:sym typeface="+mn-ea"/>
                      </a:rPr>
                      <m:t> </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上为严格凸函数。</a:t>
                </a:r>
              </a:p>
            </p:txBody>
          </p:sp>
        </mc:Choice>
        <mc:Fallback xmlns="">
          <p:sp>
            <p:nvSpPr>
              <p:cNvPr id="4" name="文本框 3"/>
              <p:cNvSpPr txBox="1">
                <a:spLocks noRot="1" noChangeAspect="1" noMove="1" noResize="1" noEditPoints="1" noAdjustHandles="1" noChangeArrowheads="1" noChangeShapeType="1" noTextEdit="1"/>
              </p:cNvSpPr>
              <p:nvPr/>
            </p:nvSpPr>
            <p:spPr>
              <a:xfrm>
                <a:off x="791580" y="1592797"/>
                <a:ext cx="7938882" cy="4451283"/>
              </a:xfrm>
              <a:prstGeom prst="rect">
                <a:avLst/>
              </a:prstGeom>
              <a:blipFill>
                <a:blip r:embed="rId2"/>
                <a:stretch>
                  <a:fillRect l="-1229" r="-1152" b="-1918"/>
                </a:stretch>
              </a:blipFill>
            </p:spPr>
            <p:txBody>
              <a:bodyPr/>
              <a:lstStyle/>
              <a:p>
                <a:r>
                  <a:rPr lang="zh-CN" altLang="en-US">
                    <a:noFill/>
                  </a:rPr>
                  <a:t> </a:t>
                </a:r>
              </a:p>
            </p:txBody>
          </p:sp>
        </mc:Fallback>
      </mc:AlternateContent>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667A6390-ED2D-8AE5-DC51-30710169FF73}"/>
                  </a:ext>
                </a:extLst>
              </p:cNvPr>
              <p:cNvSpPr txBox="1"/>
              <p:nvPr/>
            </p:nvSpPr>
            <p:spPr>
              <a:xfrm>
                <a:off x="467544" y="620688"/>
                <a:ext cx="7938882" cy="6120778"/>
              </a:xfrm>
              <a:prstGeom prst="rect">
                <a:avLst/>
              </a:prstGeom>
              <a:noFill/>
            </p:spPr>
            <p:txBody>
              <a:bodyPr wrap="square">
                <a:spAutoFit/>
              </a:bodyPr>
              <a:lstStyle/>
              <a:p>
                <a:pPr indent="200025" algn="just">
                  <a:lnSpc>
                    <a:spcPct val="150000"/>
                  </a:lnSpc>
                </a:pPr>
                <a:r>
                  <a:rPr lang="zh-CN" altLang="zh-CN" sz="2400" b="1" kern="100" dirty="0">
                    <a:solidFill>
                      <a:srgbClr val="0070C0"/>
                    </a:solidFill>
                    <a:latin typeface="等线" panose="02010600030101010101" pitchFamily="2" charset="-122"/>
                    <a:ea typeface="宋体" panose="02010600030101010101" pitchFamily="2" charset="-122"/>
                    <a:cs typeface="Times New Roman" panose="02020603050405020304" pitchFamily="18" charset="0"/>
                  </a:rPr>
                  <a:t>一阶条件的证明</a:t>
                </a:r>
                <a:endParaRPr lang="zh-CN" altLang="zh-CN" sz="2400" kern="100" dirty="0">
                  <a:solidFill>
                    <a:srgbClr val="0070C0"/>
                  </a:solidFill>
                  <a:latin typeface="等线" panose="02010600030101010101" pitchFamily="2" charset="-122"/>
                  <a:ea typeface="等线" panose="02010600030101010101" pitchFamily="2" charset="-122"/>
                  <a:cs typeface="Times New Roman" panose="02020603050405020304" pitchFamily="18" charset="0"/>
                </a:endParaRPr>
              </a:p>
              <a:p>
                <a:pPr algn="just">
                  <a:lnSpc>
                    <a:spcPct val="150000"/>
                  </a:lnSpc>
                </a:pPr>
                <a:r>
                  <a:rPr lang="en-US" altLang="zh-CN" sz="2400" kern="100" dirty="0">
                    <a:latin typeface="宋体" panose="02010600030101010101" pitchFamily="2" charset="-122"/>
                    <a:ea typeface="等线" panose="02010600030101010101" pitchFamily="2" charset="-122"/>
                    <a:cs typeface="Times New Roman" panose="02020603050405020304" pitchFamily="18" charset="0"/>
                  </a:rPr>
                  <a:t>   </a:t>
                </a:r>
                <a:r>
                  <a:rPr lang="zh-CN" altLang="zh-CN" sz="2400" kern="100" dirty="0">
                    <a:latin typeface="等线" panose="02010600030101010101" pitchFamily="2" charset="-122"/>
                    <a:ea typeface="宋体" panose="02010600030101010101" pitchFamily="2" charset="-122"/>
                    <a:cs typeface="Times New Roman" panose="02020603050405020304" pitchFamily="18" charset="0"/>
                  </a:rPr>
                  <a:t>假设</a:t>
                </a:r>
                <a14:m>
                  <m:oMath xmlns:m="http://schemas.openxmlformats.org/officeDocument/2006/math">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𝑓</m:t>
                    </m:r>
                  </m:oMath>
                </a14:m>
                <a:r>
                  <a:rPr lang="zh-CN" altLang="zh-CN" sz="2400" kern="100" dirty="0">
                    <a:latin typeface="等线" panose="02010600030101010101" pitchFamily="2" charset="-122"/>
                    <a:ea typeface="宋体" panose="02010600030101010101" pitchFamily="2" charset="-122"/>
                    <a:cs typeface="Times New Roman" panose="02020603050405020304" pitchFamily="18" charset="0"/>
                  </a:rPr>
                  <a:t>是</a:t>
                </a:r>
                <a14:m>
                  <m:oMath xmlns:m="http://schemas.openxmlformats.org/officeDocument/2006/math">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𝑆</m:t>
                    </m:r>
                  </m:oMath>
                </a14:m>
                <a:r>
                  <a:rPr lang="zh-CN" altLang="zh-CN" sz="2400" kern="100" dirty="0">
                    <a:latin typeface="等线" panose="02010600030101010101" pitchFamily="2" charset="-122"/>
                    <a:ea typeface="宋体" panose="02010600030101010101" pitchFamily="2" charset="-122"/>
                    <a:cs typeface="Times New Roman" panose="02020603050405020304" pitchFamily="18" charset="0"/>
                  </a:rPr>
                  <a:t>上的凸函数， </a:t>
                </a:r>
                <a14:m>
                  <m:oMath xmlns:m="http://schemas.openxmlformats.org/officeDocument/2006/math">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𝑥</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𝑦</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𝑆</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 </m:t>
                    </m:r>
                  </m:oMath>
                </a14:m>
                <a:r>
                  <a:rPr lang="zh-CN" altLang="zh-CN" sz="2400" kern="100" dirty="0">
                    <a:latin typeface="等线" panose="02010600030101010101" pitchFamily="2" charset="-122"/>
                    <a:ea typeface="宋体" panose="02010600030101010101" pitchFamily="2" charset="-122"/>
                    <a:cs typeface="Times New Roman" panose="02020603050405020304" pitchFamily="18" charset="0"/>
                  </a:rPr>
                  <a:t>，那么对每个</a:t>
                </a:r>
                <a14:m>
                  <m:oMath xmlns:m="http://schemas.openxmlformats.org/officeDocument/2006/math">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𝜆</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∈(0,1)</m:t>
                    </m:r>
                  </m:oMath>
                </a14:m>
                <a:r>
                  <a:rPr lang="zh-CN" altLang="zh-CN" sz="2400" kern="100" dirty="0">
                    <a:latin typeface="等线" panose="02010600030101010101" pitchFamily="2" charset="-122"/>
                    <a:ea typeface="宋体" panose="02010600030101010101" pitchFamily="2" charset="-122"/>
                    <a:cs typeface="Times New Roman" panose="02020603050405020304" pitchFamily="18" charset="0"/>
                  </a:rPr>
                  <a:t>，我们有</a:t>
                </a:r>
                <a:endParaRPr lang="zh-CN" altLang="zh-CN" sz="2400" kern="100" dirty="0">
                  <a:latin typeface="等线" panose="02010600030101010101" pitchFamily="2" charset="-122"/>
                  <a:ea typeface="等线" panose="02010600030101010101" pitchFamily="2" charset="-122"/>
                  <a:cs typeface="Times New Roman" panose="02020603050405020304" pitchFamily="18" charset="0"/>
                </a:endParaRPr>
              </a:p>
              <a:p>
                <a:pPr algn="just">
                  <a:lnSpc>
                    <a:spcPct val="150000"/>
                  </a:lnSpc>
                </a:pPr>
                <a14:m>
                  <m:oMathPara xmlns:m="http://schemas.openxmlformats.org/officeDocument/2006/math">
                    <m:oMathParaPr>
                      <m:jc m:val="centerGroup"/>
                    </m:oMathParaPr>
                    <m:oMath xmlns:m="http://schemas.openxmlformats.org/officeDocument/2006/math">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(1−</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𝜆</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𝑓</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𝑥</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𝜆</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𝑓</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𝑦</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𝑓</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((1−</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𝜆</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𝑥</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𝜆</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𝑦</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𝑓</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𝑥</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𝜆</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𝑦</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𝑥</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oMath>
                  </m:oMathPara>
                </a14:m>
                <a:endParaRPr lang="zh-CN" altLang="zh-CN" sz="2400" kern="100" dirty="0">
                  <a:latin typeface="等线" panose="02010600030101010101" pitchFamily="2" charset="-122"/>
                  <a:ea typeface="等线" panose="02010600030101010101" pitchFamily="2" charset="-122"/>
                  <a:cs typeface="Times New Roman" panose="02020603050405020304" pitchFamily="18" charset="0"/>
                </a:endParaRPr>
              </a:p>
              <a:p>
                <a:pPr algn="just">
                  <a:lnSpc>
                    <a:spcPct val="150000"/>
                  </a:lnSpc>
                </a:pPr>
                <a:r>
                  <a:rPr lang="zh-CN" altLang="zh-CN" sz="2400" kern="100" dirty="0">
                    <a:latin typeface="等线" panose="02010600030101010101" pitchFamily="2" charset="-122"/>
                    <a:ea typeface="宋体" panose="02010600030101010101" pitchFamily="2" charset="-122"/>
                    <a:cs typeface="Times New Roman" panose="02020603050405020304" pitchFamily="18" charset="0"/>
                  </a:rPr>
                  <a:t>上式两边减去</a:t>
                </a:r>
                <a14:m>
                  <m:oMath xmlns:m="http://schemas.openxmlformats.org/officeDocument/2006/math">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(1−</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𝜆</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𝑓</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𝑥</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oMath>
                </a14:m>
                <a:r>
                  <a:rPr lang="zh-CN" altLang="zh-CN" sz="2400" kern="100" dirty="0">
                    <a:latin typeface="等线" panose="02010600030101010101" pitchFamily="2" charset="-122"/>
                    <a:ea typeface="宋体" panose="02010600030101010101" pitchFamily="2" charset="-122"/>
                    <a:cs typeface="Times New Roman" panose="02020603050405020304" pitchFamily="18" charset="0"/>
                  </a:rPr>
                  <a:t>，除以</a:t>
                </a:r>
                <a14:m>
                  <m:oMath xmlns:m="http://schemas.openxmlformats.org/officeDocument/2006/math">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𝜆</m:t>
                    </m:r>
                  </m:oMath>
                </a14:m>
                <a:r>
                  <a:rPr lang="zh-CN" altLang="zh-CN" sz="2400" kern="100" dirty="0">
                    <a:latin typeface="等线" panose="02010600030101010101" pitchFamily="2" charset="-122"/>
                    <a:ea typeface="宋体" panose="02010600030101010101" pitchFamily="2" charset="-122"/>
                    <a:cs typeface="Times New Roman" panose="02020603050405020304" pitchFamily="18" charset="0"/>
                  </a:rPr>
                  <a:t>，有</a:t>
                </a:r>
                <a:endParaRPr lang="zh-CN" altLang="zh-CN" sz="2400" kern="100" dirty="0">
                  <a:latin typeface="等线" panose="02010600030101010101" pitchFamily="2" charset="-122"/>
                  <a:ea typeface="等线" panose="02010600030101010101" pitchFamily="2" charset="-122"/>
                  <a:cs typeface="Times New Roman" panose="02020603050405020304" pitchFamily="18" charset="0"/>
                </a:endParaRPr>
              </a:p>
              <a:p>
                <a:pPr algn="just">
                  <a:lnSpc>
                    <a:spcPct val="150000"/>
                  </a:lnSpc>
                </a:pPr>
                <a14:m>
                  <m:oMathPara xmlns:m="http://schemas.openxmlformats.org/officeDocument/2006/math">
                    <m:oMathParaPr>
                      <m:jc m:val="centerGroup"/>
                    </m:oMathParaPr>
                    <m:oMath xmlns:m="http://schemas.openxmlformats.org/officeDocument/2006/math">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𝑓</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𝑦</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𝑓</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𝑥</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𝑓</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𝑥</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𝜆</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𝑦</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𝑥</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𝑓</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𝑥</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num>
                        <m:den>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𝜆</m:t>
                          </m:r>
                        </m:den>
                      </m:f>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oMath>
                  </m:oMathPara>
                </a14:m>
                <a:endParaRPr lang="zh-CN" altLang="zh-CN" sz="2400" kern="100" dirty="0">
                  <a:latin typeface="等线" panose="02010600030101010101" pitchFamily="2" charset="-122"/>
                  <a:ea typeface="等线" panose="02010600030101010101" pitchFamily="2" charset="-122"/>
                  <a:cs typeface="Times New Roman" panose="02020603050405020304" pitchFamily="18" charset="0"/>
                </a:endParaRPr>
              </a:p>
              <a:p>
                <a:pPr algn="just">
                  <a:lnSpc>
                    <a:spcPct val="150000"/>
                  </a:lnSpc>
                </a:pPr>
                <a:r>
                  <a:rPr lang="zh-CN" altLang="zh-CN" sz="2400" kern="100" dirty="0">
                    <a:latin typeface="等线" panose="02010600030101010101" pitchFamily="2" charset="-122"/>
                    <a:ea typeface="宋体" panose="02010600030101010101" pitchFamily="2" charset="-122"/>
                    <a:cs typeface="Times New Roman" panose="02020603050405020304" pitchFamily="18" charset="0"/>
                  </a:rPr>
                  <a:t>取极限</a:t>
                </a:r>
                <a14:m>
                  <m:oMath xmlns:m="http://schemas.openxmlformats.org/officeDocument/2006/math">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𝜆</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→0</m:t>
                    </m:r>
                  </m:oMath>
                </a14:m>
                <a:r>
                  <a:rPr lang="zh-CN" altLang="zh-CN" sz="2400" kern="100" dirty="0">
                    <a:latin typeface="等线" panose="02010600030101010101" pitchFamily="2" charset="-122"/>
                    <a:ea typeface="宋体" panose="02010600030101010101" pitchFamily="2" charset="-122"/>
                    <a:cs typeface="Times New Roman" panose="02020603050405020304" pitchFamily="18" charset="0"/>
                  </a:rPr>
                  <a:t>，右边的第二项收敛于</a:t>
                </a:r>
                <a14:m>
                  <m:oMath xmlns:m="http://schemas.openxmlformats.org/officeDocument/2006/math">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𝑓</m:t>
                    </m:r>
                  </m:oMath>
                </a14:m>
                <a:r>
                  <a:rPr lang="zh-CN" altLang="zh-CN" sz="2400" kern="100" dirty="0">
                    <a:latin typeface="等线" panose="02010600030101010101" pitchFamily="2" charset="-122"/>
                    <a:ea typeface="宋体" panose="02010600030101010101" pitchFamily="2" charset="-122"/>
                    <a:cs typeface="Times New Roman" panose="02020603050405020304" pitchFamily="18" charset="0"/>
                  </a:rPr>
                  <a:t>在</a:t>
                </a:r>
                <a14:m>
                  <m:oMath xmlns:m="http://schemas.openxmlformats.org/officeDocument/2006/math">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𝑦</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𝑥</m:t>
                    </m:r>
                  </m:oMath>
                </a14:m>
                <a:r>
                  <a:rPr lang="zh-CN" altLang="zh-CN" sz="2400" kern="100" dirty="0">
                    <a:latin typeface="等线" panose="02010600030101010101" pitchFamily="2" charset="-122"/>
                    <a:ea typeface="宋体" panose="02010600030101010101" pitchFamily="2" charset="-122"/>
                    <a:cs typeface="Times New Roman" panose="02020603050405020304" pitchFamily="18" charset="0"/>
                  </a:rPr>
                  <a:t>方向的方向导数，因此</a:t>
                </a:r>
                <a:endParaRPr lang="zh-CN" altLang="zh-CN" sz="2400" kern="100" dirty="0">
                  <a:latin typeface="等线" panose="02010600030101010101" pitchFamily="2" charset="-122"/>
                  <a:ea typeface="等线" panose="02010600030101010101" pitchFamily="2" charset="-122"/>
                  <a:cs typeface="Times New Roman" panose="02020603050405020304" pitchFamily="18" charset="0"/>
                </a:endParaRPr>
              </a:p>
              <a:p>
                <a:pPr algn="just">
                  <a:lnSpc>
                    <a:spcPct val="150000"/>
                  </a:lnSpc>
                </a:pPr>
                <a14:m>
                  <m:oMathPara xmlns:m="http://schemas.openxmlformats.org/officeDocument/2006/math">
                    <m:oMathParaPr>
                      <m:jc m:val="centerGroup"/>
                    </m:oMathParaPr>
                    <m:oMath xmlns:m="http://schemas.openxmlformats.org/officeDocument/2006/math">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𝑓</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𝑦</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𝑓</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𝑥</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d>
                        <m:dPr>
                          <m:begChr m:val="〈"/>
                          <m:endChr m:val="〉"/>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𝑓</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𝑥</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𝑦</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𝑥</m:t>
                          </m:r>
                        </m:e>
                      </m:d>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oMath>
                  </m:oMathPara>
                </a14:m>
                <a:endParaRPr lang="zh-CN" altLang="zh-CN" sz="2400"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5" name="文本框 4">
                <a:extLst>
                  <a:ext uri="{FF2B5EF4-FFF2-40B4-BE49-F238E27FC236}">
                    <a16:creationId xmlns:a16="http://schemas.microsoft.com/office/drawing/2014/main" id="{667A6390-ED2D-8AE5-DC51-30710169FF73}"/>
                  </a:ext>
                </a:extLst>
              </p:cNvPr>
              <p:cNvSpPr txBox="1">
                <a:spLocks noRot="1" noChangeAspect="1" noMove="1" noResize="1" noEditPoints="1" noAdjustHandles="1" noChangeArrowheads="1" noChangeShapeType="1" noTextEdit="1"/>
              </p:cNvSpPr>
              <p:nvPr/>
            </p:nvSpPr>
            <p:spPr>
              <a:xfrm>
                <a:off x="467544" y="620688"/>
                <a:ext cx="7938882" cy="6120778"/>
              </a:xfrm>
              <a:prstGeom prst="rect">
                <a:avLst/>
              </a:prstGeom>
              <a:blipFill>
                <a:blip r:embed="rId2"/>
                <a:stretch>
                  <a:fillRect l="-1229" r="-1152"/>
                </a:stretch>
              </a:blipFill>
            </p:spPr>
            <p:txBody>
              <a:bodyPr/>
              <a:lstStyle/>
              <a:p>
                <a:r>
                  <a:rPr lang="zh-CN" altLang="en-US">
                    <a:noFill/>
                  </a:rPr>
                  <a:t> </a:t>
                </a:r>
              </a:p>
            </p:txBody>
          </p:sp>
        </mc:Fallback>
      </mc:AlternateContent>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p:cNvSpPr/>
          <p:nvPr/>
        </p:nvSpPr>
        <p:spPr>
          <a:xfrm>
            <a:off x="4950042" y="2078850"/>
            <a:ext cx="432048" cy="27003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6" name="矩形: 圆角 5"/>
          <p:cNvSpPr/>
          <p:nvPr/>
        </p:nvSpPr>
        <p:spPr>
          <a:xfrm>
            <a:off x="7218294" y="3212976"/>
            <a:ext cx="540060" cy="702078"/>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 name="矩形: 圆角 6"/>
          <p:cNvSpPr/>
          <p:nvPr/>
        </p:nvSpPr>
        <p:spPr>
          <a:xfrm>
            <a:off x="1269263" y="3969061"/>
            <a:ext cx="6472355" cy="54006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 name="矩形: 圆角 2"/>
          <p:cNvSpPr/>
          <p:nvPr/>
        </p:nvSpPr>
        <p:spPr>
          <a:xfrm>
            <a:off x="2033718" y="2348880"/>
            <a:ext cx="1026114" cy="21602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矩形: 圆角 9"/>
          <p:cNvSpPr/>
          <p:nvPr/>
        </p:nvSpPr>
        <p:spPr>
          <a:xfrm>
            <a:off x="5366347" y="4685511"/>
            <a:ext cx="1026114" cy="21602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mc:AlternateContent xmlns:mc="http://schemas.openxmlformats.org/markup-compatibility/2006" xmlns:a14="http://schemas.microsoft.com/office/drawing/2010/main">
        <mc:Choice Requires="a14">
          <p:sp>
            <p:nvSpPr>
              <p:cNvPr id="12" name="文本框 11"/>
              <p:cNvSpPr txBox="1"/>
              <p:nvPr/>
            </p:nvSpPr>
            <p:spPr>
              <a:xfrm>
                <a:off x="611560" y="372361"/>
                <a:ext cx="8208872" cy="6113277"/>
              </a:xfrm>
              <a:prstGeom prst="rect">
                <a:avLst/>
              </a:prstGeom>
              <a:noFill/>
            </p:spPr>
            <p:txBody>
              <a:bodyPr wrap="square" rtlCol="0">
                <a:spAutoFit/>
              </a:bodyPr>
              <a:lstStyle/>
              <a:p>
                <a:pPr fontAlgn="auto">
                  <a:lnSpc>
                    <a:spcPct val="150000"/>
                  </a:lnSpc>
                </a:pPr>
                <a:r>
                  <a:rPr lang="zh-CN" altLang="en-US" sz="2400" dirty="0">
                    <a:latin typeface="宋体" panose="02010600030101010101" pitchFamily="2" charset="-122"/>
                    <a:ea typeface="宋体" panose="02010600030101010101" pitchFamily="2" charset="-122"/>
                    <a:cs typeface="宋体" panose="02010600030101010101" pitchFamily="2" charset="-122"/>
                  </a:rPr>
                  <a:t>    假设函数</a:t>
                </a:r>
                <a14:m>
                  <m:oMath xmlns:m="http://schemas.openxmlformats.org/officeDocument/2006/math">
                    <m:r>
                      <a:rPr lang="en-US" altLang="zh-CN" sz="2400" i="1">
                        <a:latin typeface="Cambria Math" panose="02040503050406030204" pitchFamily="18" charset="0"/>
                        <a:ea typeface="宋体" panose="02010600030101010101" pitchFamily="2" charset="-122"/>
                        <a:cs typeface="Cambria Math" panose="02040503050406030204" pitchFamily="18" charset="0"/>
                      </a:rPr>
                      <m:t>𝑓</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满足</a:t>
                </a:r>
                <a:endParaRPr lang="en-US" altLang="zh-CN" sz="2400" dirty="0">
                  <a:latin typeface="宋体" panose="02010600030101010101" pitchFamily="2" charset="-122"/>
                  <a:ea typeface="宋体" panose="02010600030101010101" pitchFamily="2" charset="-122"/>
                  <a:cs typeface="宋体" panose="02010600030101010101" pitchFamily="2" charset="-122"/>
                </a:endParaRPr>
              </a:p>
              <a:p>
                <a:pPr algn="ctr">
                  <a:lnSpc>
                    <a:spcPct val="150000"/>
                  </a:lnSpc>
                </a:pPr>
                <a14:m>
                  <m:oMath xmlns:m="http://schemas.openxmlformats.org/officeDocument/2006/math">
                    <m:r>
                      <a:rPr lang="en-US" altLang="zh-CN" sz="2400" i="1">
                        <a:latin typeface="Cambria Math" panose="02040503050406030204" pitchFamily="18" charset="0"/>
                        <a:ea typeface="宋体" panose="02010600030101010101" pitchFamily="2" charset="-122"/>
                        <a:cs typeface="Cambria Math" panose="02040503050406030204" pitchFamily="18" charset="0"/>
                      </a:rPr>
                      <m:t>𝑓</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𝑦</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𝑓</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r>
                      <a:rPr lang="en-US" altLang="zh-CN" sz="2400" i="1">
                        <a:latin typeface="Cambria Math" panose="02040503050406030204" pitchFamily="18" charset="0"/>
                        <a:ea typeface="MS Mincho" panose="02020609040205080304" charset="-128"/>
                        <a:cs typeface="Cambria Math" panose="02040503050406030204" pitchFamily="18" charset="0"/>
                      </a:rPr>
                      <m:t>)+</m:t>
                    </m:r>
                    <m:d>
                      <m:dPr>
                        <m:begChr m:val="〈"/>
                        <m:endChr m:val="〉"/>
                        <m:ctrlPr>
                          <a:rPr lang="en-US" altLang="zh-CN" sz="2400" i="1">
                            <a:latin typeface="Cambria Math" panose="02040503050406030204" pitchFamily="18" charset="0"/>
                            <a:ea typeface="MS Mincho" panose="02020609040205080304" charset="-128"/>
                            <a:cs typeface="Cambria Math" panose="02040503050406030204" pitchFamily="18" charset="0"/>
                          </a:rPr>
                        </m:ctrlPr>
                      </m:dPr>
                      <m:e>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𝑓</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𝑦</m:t>
                        </m:r>
                        <m:r>
                          <a:rPr lang="en-US" altLang="zh-CN" sz="2400" i="1">
                            <a:latin typeface="Cambria Math" panose="02040503050406030204" pitchFamily="18" charset="0"/>
                            <a:ea typeface="宋体" panose="02010600030101010101" pitchFamily="2" charset="-122"/>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d>
                  </m:oMath>
                </a14:m>
                <a:r>
                  <a:rPr lang="en-US" altLang="zh-CN" sz="2400" dirty="0">
                    <a:latin typeface="宋体" panose="02010600030101010101" pitchFamily="2" charset="-122"/>
                    <a:ea typeface="宋体" panose="02010600030101010101" pitchFamily="2" charset="-122"/>
                    <a:cs typeface="宋体" panose="02010600030101010101" pitchFamily="2" charset="-122"/>
                  </a:rPr>
                  <a:t>, </a:t>
                </a:r>
                <a14:m>
                  <m:oMath xmlns:m="http://schemas.openxmlformats.org/officeDocument/2006/math">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𝑦</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𝑆</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r>
                      <a:rPr lang="en-US" altLang="zh-CN" sz="2400" i="1">
                        <a:latin typeface="Cambria Math" panose="02040503050406030204" pitchFamily="18" charset="0"/>
                        <a:ea typeface="Cambria Math" panose="02040503050406030204" pitchFamily="18" charset="0"/>
                        <a:cs typeface="Cambria Math" panose="02040503050406030204" pitchFamily="18" charset="0"/>
                      </a:rPr>
                      <m:t>≠</m:t>
                    </m:r>
                    <m:r>
                      <a:rPr lang="en-US" altLang="zh-CN" sz="2400" i="1">
                        <a:latin typeface="Cambria Math" panose="02040503050406030204" pitchFamily="18" charset="0"/>
                        <a:ea typeface="Cambria Math" panose="02040503050406030204" pitchFamily="18" charset="0"/>
                        <a:cs typeface="Cambria Math" panose="02040503050406030204" pitchFamily="18" charset="0"/>
                      </a:rPr>
                      <m:t>𝑦</m:t>
                    </m:r>
                  </m:oMath>
                </a14:m>
                <a:endParaRPr lang="zh-CN" altLang="en-US" sz="2400" dirty="0">
                  <a:latin typeface="宋体" panose="02010600030101010101" pitchFamily="2" charset="-122"/>
                  <a:ea typeface="宋体" panose="02010600030101010101" pitchFamily="2" charset="-122"/>
                  <a:cs typeface="宋体" panose="02010600030101010101" pitchFamily="2" charset="-122"/>
                </a:endParaRPr>
              </a:p>
              <a:p>
                <a:pPr fontAlgn="auto">
                  <a:lnSpc>
                    <a:spcPct val="150000"/>
                  </a:lnSpc>
                </a:pPr>
                <a:r>
                  <a:rPr lang="zh-CN" altLang="en-US" sz="2400" dirty="0">
                    <a:latin typeface="宋体" panose="02010600030101010101" pitchFamily="2" charset="-122"/>
                    <a:ea typeface="宋体" panose="02010600030101010101" pitchFamily="2" charset="-122"/>
                    <a:cs typeface="宋体" panose="02010600030101010101" pitchFamily="2" charset="-122"/>
                  </a:rPr>
                  <a:t>给定</a:t>
                </a:r>
                <a14:m>
                  <m:oMath xmlns:m="http://schemas.openxmlformats.org/officeDocument/2006/math">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𝑦</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𝑆</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和</a:t>
                </a:r>
                <a14:m>
                  <m:oMath xmlns:m="http://schemas.openxmlformats.org/officeDocument/2006/math">
                    <m:r>
                      <a:rPr lang="en-US" altLang="zh-CN" sz="2400" i="1">
                        <a:latin typeface="Cambria Math" panose="02040503050406030204" pitchFamily="18" charset="0"/>
                        <a:ea typeface="MS Mincho" panose="02020609040205080304" charset="-128"/>
                        <a:cs typeface="Cambria Math" panose="02040503050406030204" pitchFamily="18" charset="0"/>
                      </a:rPr>
                      <m:t>𝜆</m:t>
                    </m:r>
                    <m:r>
                      <a:rPr lang="en-US" altLang="zh-CN" sz="2400" i="1">
                        <a:latin typeface="Cambria Math" panose="02040503050406030204" pitchFamily="18" charset="0"/>
                        <a:ea typeface="MS Mincho" panose="02020609040205080304" charset="-128"/>
                        <a:cs typeface="Cambria Math" panose="02040503050406030204" pitchFamily="18" charset="0"/>
                      </a:rPr>
                      <m:t>∈(0,1</m:t>
                    </m:r>
                    <m:r>
                      <a:rPr lang="en-US" altLang="zh-CN" sz="2400">
                        <a:latin typeface="Cambria Math" panose="02040503050406030204" pitchFamily="18" charset="0"/>
                        <a:ea typeface="MS Mincho" panose="02020609040205080304" charset="-128"/>
                        <a:cs typeface="Cambria Math" panose="02040503050406030204" pitchFamily="18" charset="0"/>
                      </a:rPr>
                      <m:t>)</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，令</a:t>
                </a:r>
                <a14:m>
                  <m:oMath xmlns:m="http://schemas.openxmlformats.org/officeDocument/2006/math">
                    <m:r>
                      <a:rPr lang="en-US" altLang="zh-CN" sz="2400" i="1">
                        <a:latin typeface="Cambria Math" panose="02040503050406030204" pitchFamily="18" charset="0"/>
                        <a:ea typeface="宋体" panose="02010600030101010101" pitchFamily="2" charset="-122"/>
                        <a:cs typeface="Cambria Math" panose="02040503050406030204" pitchFamily="18" charset="0"/>
                      </a:rPr>
                      <m:t>𝑧</m:t>
                    </m:r>
                    <m:box>
                      <m:boxPr>
                        <m:noBreak m:val="on"/>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boxPr>
                      <m:e>
                        <m:r>
                          <a:rPr lang="en-US" altLang="zh-CN" sz="2400" i="1">
                            <a:latin typeface="Cambria Math" panose="02040503050406030204" pitchFamily="18" charset="0"/>
                            <a:ea typeface="MS Mincho" panose="02020609040205080304" charset="-128"/>
                            <a:cs typeface="Cambria Math" panose="02040503050406030204" pitchFamily="18" charset="0"/>
                          </a:rPr>
                          <m:t>∶=</m:t>
                        </m:r>
                      </m:e>
                    </m:box>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a:latin typeface="Cambria Math" panose="02040503050406030204" pitchFamily="18" charset="0"/>
                            <a:ea typeface="MS Mincho" panose="02020609040205080304" charset="-128"/>
                            <a:cs typeface="Cambria Math" panose="02040503050406030204" pitchFamily="18" charset="0"/>
                          </a:rPr>
                          <m:t>1−</m:t>
                        </m:r>
                        <m:r>
                          <m:rPr>
                            <m:sty m:val="p"/>
                          </m:rPr>
                          <a:rPr lang="el-GR" altLang="zh-CN" sz="2400" i="1">
                            <a:latin typeface="Cambria Math" panose="02040503050406030204" pitchFamily="18" charset="0"/>
                            <a:ea typeface="宋体" panose="02010600030101010101" pitchFamily="2" charset="-122"/>
                            <a:cs typeface="Cambria Math" panose="02040503050406030204" pitchFamily="18" charset="0"/>
                          </a:rPr>
                          <m:t>λ</m:t>
                        </m:r>
                      </m:e>
                    </m:d>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r>
                      <a:rPr lang="en-US" altLang="zh-CN" sz="2400" i="1">
                        <a:latin typeface="Cambria Math" panose="02040503050406030204" pitchFamily="18" charset="0"/>
                        <a:ea typeface="MS Mincho" panose="02020609040205080304" charset="-128"/>
                        <a:cs typeface="Cambria Math" panose="02040503050406030204" pitchFamily="18" charset="0"/>
                      </a:rPr>
                      <m:t>+</m:t>
                    </m:r>
                    <m:r>
                      <m:rPr>
                        <m:sty m:val="p"/>
                      </m:rPr>
                      <a:rPr lang="el-GR" altLang="zh-CN" sz="2400" i="1">
                        <a:latin typeface="Cambria Math" panose="02040503050406030204" pitchFamily="18" charset="0"/>
                        <a:ea typeface="宋体" panose="02010600030101010101" pitchFamily="2" charset="-122"/>
                        <a:cs typeface="Cambria Math" panose="02040503050406030204" pitchFamily="18" charset="0"/>
                      </a:rPr>
                      <m:t>λ</m:t>
                    </m:r>
                    <m:r>
                      <a:rPr lang="en-US" altLang="zh-CN" sz="2400" i="1">
                        <a:latin typeface="Cambria Math" panose="02040503050406030204" pitchFamily="18" charset="0"/>
                        <a:ea typeface="宋体" panose="02010600030101010101" pitchFamily="2" charset="-122"/>
                        <a:cs typeface="Cambria Math" panose="02040503050406030204" pitchFamily="18" charset="0"/>
                      </a:rPr>
                      <m:t>𝑦</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，由</a:t>
                </a:r>
                <a14:m>
                  <m:oMath xmlns:m="http://schemas.openxmlformats.org/officeDocument/2006/math">
                    <m:r>
                      <a:rPr lang="en-US" altLang="zh-CN" sz="2400" i="1">
                        <a:latin typeface="Cambria Math" panose="02040503050406030204" pitchFamily="18" charset="0"/>
                        <a:ea typeface="宋体" panose="02010600030101010101" pitchFamily="2" charset="-122"/>
                        <a:cs typeface="Cambria Math" panose="02040503050406030204" pitchFamily="18" charset="0"/>
                      </a:rPr>
                      <m:t>𝑆</m:t>
                    </m:r>
                    <m:r>
                      <a:rPr lang="en-US" altLang="zh-CN" sz="2400" i="1">
                        <a:latin typeface="Cambria Math" panose="02040503050406030204" pitchFamily="18" charset="0"/>
                        <a:ea typeface="宋体" panose="02010600030101010101" pitchFamily="2" charset="-122"/>
                        <a:cs typeface="Cambria Math" panose="02040503050406030204" pitchFamily="18" charset="0"/>
                      </a:rPr>
                      <m:t> </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凸知</a:t>
                </a:r>
                <a14:m>
                  <m:oMath xmlns:m="http://schemas.openxmlformats.org/officeDocument/2006/math">
                    <m:r>
                      <a:rPr lang="en-US" altLang="zh-CN" sz="2400" i="1">
                        <a:latin typeface="Cambria Math" panose="02040503050406030204" pitchFamily="18" charset="0"/>
                        <a:ea typeface="宋体" panose="02010600030101010101" pitchFamily="2" charset="-122"/>
                        <a:cs typeface="Cambria Math" panose="02040503050406030204" pitchFamily="18" charset="0"/>
                      </a:rPr>
                      <m:t>𝑧</m:t>
                    </m:r>
                    <m:r>
                      <a:rPr lang="en-US" altLang="zh-CN" sz="2400" i="1">
                        <a:latin typeface="Cambria Math" panose="02040503050406030204" pitchFamily="18" charset="0"/>
                        <a:ea typeface="Cambria Math" panose="02040503050406030204" pitchFamily="18" charset="0"/>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𝑆</m:t>
                    </m:r>
                    <m:r>
                      <a:rPr lang="en-US" altLang="zh-CN" sz="2400" i="1">
                        <a:latin typeface="Cambria Math" panose="02040503050406030204" pitchFamily="18" charset="0"/>
                        <a:ea typeface="宋体" panose="02010600030101010101" pitchFamily="2" charset="-122"/>
                        <a:cs typeface="Cambria Math" panose="02040503050406030204" pitchFamily="18" charset="0"/>
                      </a:rPr>
                      <m:t> </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且</a:t>
                </a:r>
                <a14:m>
                  <m:oMath xmlns:m="http://schemas.openxmlformats.org/officeDocument/2006/math">
                    <m:r>
                      <a:rPr lang="en-US" altLang="zh-CN" sz="2400" i="1">
                        <a:latin typeface="Cambria Math" panose="02040503050406030204" pitchFamily="18" charset="0"/>
                        <a:ea typeface="宋体" panose="02010600030101010101" pitchFamily="2" charset="-122"/>
                        <a:cs typeface="Cambria Math" panose="02040503050406030204" pitchFamily="18" charset="0"/>
                      </a:rPr>
                      <m:t>𝑧</m:t>
                    </m:r>
                    <m:r>
                      <a:rPr lang="en-US" altLang="zh-CN" sz="2400" i="1">
                        <a:latin typeface="Cambria Math" panose="02040503050406030204" pitchFamily="18" charset="0"/>
                        <a:ea typeface="Cambria Math" panose="02040503050406030204" pitchFamily="18" charset="0"/>
                        <a:cs typeface="Cambria Math" panose="02040503050406030204" pitchFamily="18" charset="0"/>
                      </a:rPr>
                      <m:t>≠</m:t>
                    </m:r>
                    <m:r>
                      <a:rPr lang="en-US" altLang="zh-CN" sz="2400" i="1">
                        <a:latin typeface="Cambria Math" panose="02040503050406030204" pitchFamily="18" charset="0"/>
                        <a:ea typeface="Cambria Math" panose="02040503050406030204" pitchFamily="18" charset="0"/>
                        <a:cs typeface="Cambria Math" panose="02040503050406030204" pitchFamily="18" charset="0"/>
                      </a:rPr>
                      <m:t>𝑦</m:t>
                    </m:r>
                    <m:r>
                      <a:rPr lang="en-US" altLang="zh-CN" sz="2400" i="1">
                        <a:latin typeface="Cambria Math" panose="02040503050406030204" pitchFamily="18" charset="0"/>
                        <a:ea typeface="Cambria Math" panose="02040503050406030204" pitchFamily="18" charset="0"/>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𝑧</m:t>
                    </m:r>
                    <m:r>
                      <a:rPr lang="en-US" altLang="zh-CN" sz="2400" i="1">
                        <a:latin typeface="Cambria Math" panose="02040503050406030204" pitchFamily="18" charset="0"/>
                        <a:ea typeface="Cambria Math" panose="02040503050406030204" pitchFamily="18" charset="0"/>
                        <a:cs typeface="Cambria Math" panose="02040503050406030204" pitchFamily="18" charset="0"/>
                      </a:rPr>
                      <m:t>≠</m:t>
                    </m:r>
                    <m:r>
                      <a:rPr lang="en-US" altLang="zh-CN" sz="2400" i="1">
                        <a:latin typeface="Cambria Math" panose="02040503050406030204" pitchFamily="18" charset="0"/>
                        <a:ea typeface="Cambria Math" panose="02040503050406030204" pitchFamily="18" charset="0"/>
                        <a:cs typeface="Cambria Math" panose="02040503050406030204" pitchFamily="18" charset="0"/>
                      </a:rPr>
                      <m:t>𝑥</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a:t>
                </a:r>
                <a:r>
                  <a:rPr lang="en-US" altLang="zh-CN" sz="2400" dirty="0" err="1">
                    <a:latin typeface="宋体" panose="02010600030101010101" pitchFamily="2" charset="-122"/>
                    <a:ea typeface="宋体" panose="02010600030101010101" pitchFamily="2" charset="-122"/>
                    <a:cs typeface="宋体" panose="02010600030101010101" pitchFamily="2" charset="-122"/>
                  </a:rPr>
                  <a:t>因此</a:t>
                </a:r>
                <a:r>
                  <a:rPr lang="zh-CN" altLang="en-US" sz="2400" dirty="0">
                    <a:latin typeface="宋体" panose="02010600030101010101" pitchFamily="2" charset="-122"/>
                    <a:ea typeface="宋体" panose="02010600030101010101" pitchFamily="2" charset="-122"/>
                    <a:cs typeface="宋体" panose="02010600030101010101" pitchFamily="2" charset="-122"/>
                  </a:rPr>
                  <a:t>由假设知</a:t>
                </a:r>
                <a:r>
                  <a:rPr lang="en-US" altLang="zh-CN" sz="2400" dirty="0">
                    <a:latin typeface="宋体" panose="02010600030101010101" pitchFamily="2" charset="-122"/>
                    <a:ea typeface="宋体" panose="02010600030101010101" pitchFamily="2" charset="-122"/>
                    <a:cs typeface="宋体" panose="02010600030101010101" pitchFamily="2" charset="-122"/>
                  </a:rPr>
                  <a:t> </a:t>
                </a:r>
              </a:p>
              <a:p>
                <a:pPr fontAlgn="auto">
                  <a:lnSpc>
                    <a:spcPct val="150000"/>
                  </a:lnSpc>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ea typeface="宋体" panose="02010600030101010101" pitchFamily="2" charset="-122"/>
                          <a:cs typeface="Cambria Math" panose="02040503050406030204" pitchFamily="18" charset="0"/>
                        </a:rPr>
                        <m:t>𝑓</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𝑓</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𝑧</m:t>
                      </m:r>
                      <m:r>
                        <a:rPr lang="en-US" altLang="zh-CN" sz="2400" i="1">
                          <a:latin typeface="Cambria Math" panose="02040503050406030204" pitchFamily="18" charset="0"/>
                          <a:ea typeface="MS Mincho" panose="02020609040205080304" charset="-128"/>
                          <a:cs typeface="Cambria Math" panose="02040503050406030204" pitchFamily="18" charset="0"/>
                        </a:rPr>
                        <m:t>)+</m:t>
                      </m:r>
                      <m:d>
                        <m:dPr>
                          <m:begChr m:val="〈"/>
                          <m:endChr m:val="〉"/>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𝑓</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𝑧</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𝑧</m:t>
                          </m:r>
                        </m:e>
                      </m:d>
                    </m:oMath>
                  </m:oMathPara>
                </a14:m>
                <a:endParaRPr lang="en-US" altLang="zh-CN" sz="2400" i="1" dirty="0">
                  <a:latin typeface="宋体" panose="02010600030101010101" pitchFamily="2" charset="-122"/>
                  <a:ea typeface="宋体" panose="02010600030101010101" pitchFamily="2" charset="-122"/>
                  <a:cs typeface="宋体" panose="02010600030101010101" pitchFamily="2" charset="-122"/>
                </a:endParaRPr>
              </a:p>
              <a:p>
                <a:pPr fontAlgn="auto">
                  <a:lnSpc>
                    <a:spcPct val="150000"/>
                  </a:lnSpc>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ea typeface="宋体" panose="02010600030101010101" pitchFamily="2" charset="-122"/>
                          <a:cs typeface="Cambria Math" panose="02040503050406030204" pitchFamily="18" charset="0"/>
                        </a:rPr>
                        <m:t>𝑓</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𝑦</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𝑓</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𝑧</m:t>
                      </m:r>
                      <m:r>
                        <a:rPr lang="en-US" altLang="zh-CN" sz="2400" i="1">
                          <a:latin typeface="Cambria Math" panose="02040503050406030204" pitchFamily="18" charset="0"/>
                          <a:ea typeface="MS Mincho" panose="02020609040205080304" charset="-128"/>
                          <a:cs typeface="Cambria Math" panose="02040503050406030204" pitchFamily="18" charset="0"/>
                        </a:rPr>
                        <m:t>)+</m:t>
                      </m:r>
                      <m:d>
                        <m:dPr>
                          <m:begChr m:val="〈"/>
                          <m:endChr m:val="〉"/>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𝑓</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𝑧</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𝑦</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𝑧</m:t>
                          </m:r>
                        </m:e>
                      </m:d>
                    </m:oMath>
                  </m:oMathPara>
                </a14:m>
                <a:endParaRPr lang="en-US" altLang="zh-CN" sz="2400" dirty="0">
                  <a:latin typeface="宋体" panose="02010600030101010101" pitchFamily="2" charset="-122"/>
                  <a:ea typeface="宋体" panose="02010600030101010101" pitchFamily="2" charset="-122"/>
                  <a:cs typeface="宋体" panose="02010600030101010101" pitchFamily="2" charset="-122"/>
                </a:endParaRPr>
              </a:p>
              <a:p>
                <a:pPr fontAlgn="auto">
                  <a:lnSpc>
                    <a:spcPct val="150000"/>
                  </a:lnSpc>
                </a:pPr>
                <a:r>
                  <a:rPr lang="zh-CN" altLang="en-US" sz="2400" dirty="0">
                    <a:latin typeface="宋体" panose="02010600030101010101" pitchFamily="2" charset="-122"/>
                    <a:ea typeface="宋体" panose="02010600030101010101" pitchFamily="2" charset="-122"/>
                    <a:cs typeface="宋体" panose="02010600030101010101" pitchFamily="2" charset="-122"/>
                  </a:rPr>
                  <a:t>即为</a:t>
                </a:r>
              </a:p>
              <a:p>
                <a:pPr fontAlgn="auto">
                  <a:lnSpc>
                    <a:spcPct val="150000"/>
                  </a:lnSpc>
                </a:pPr>
                <a14:m>
                  <m:oMathPara xmlns:m="http://schemas.openxmlformats.org/officeDocument/2006/math">
                    <m:oMathParaPr>
                      <m:jc m:val="centerGroup"/>
                    </m:oMathParaPr>
                    <m:oMath xmlns:m="http://schemas.openxmlformats.org/officeDocument/2006/math">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a:latin typeface="Cambria Math" panose="02040503050406030204" pitchFamily="18" charset="0"/>
                              <a:ea typeface="MS Mincho" panose="02020609040205080304" charset="-128"/>
                              <a:cs typeface="Cambria Math" panose="02040503050406030204" pitchFamily="18" charset="0"/>
                            </a:rPr>
                            <m:t>1−</m:t>
                          </m:r>
                          <m:r>
                            <m:rPr>
                              <m:sty m:val="p"/>
                            </m:rPr>
                            <a:rPr lang="el-GR" altLang="zh-CN" sz="2400" i="1">
                              <a:latin typeface="Cambria Math" panose="02040503050406030204" pitchFamily="18" charset="0"/>
                              <a:ea typeface="宋体" panose="02010600030101010101" pitchFamily="2" charset="-122"/>
                              <a:cs typeface="Cambria Math" panose="02040503050406030204" pitchFamily="18" charset="0"/>
                            </a:rPr>
                            <m:t>λ</m:t>
                          </m:r>
                        </m:e>
                      </m:d>
                      <m:r>
                        <a:rPr lang="en-US" altLang="zh-CN" sz="2400" i="1">
                          <a:latin typeface="Cambria Math" panose="02040503050406030204" pitchFamily="18" charset="0"/>
                          <a:ea typeface="宋体" panose="02010600030101010101" pitchFamily="2" charset="-122"/>
                          <a:cs typeface="Cambria Math" panose="02040503050406030204" pitchFamily="18" charset="0"/>
                        </a:rPr>
                        <m:t>𝑓</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r>
                        <a:rPr lang="en-US" altLang="zh-CN" sz="2400" i="1">
                          <a:latin typeface="Cambria Math" panose="02040503050406030204" pitchFamily="18" charset="0"/>
                          <a:ea typeface="MS Mincho" panose="02020609040205080304" charset="-128"/>
                          <a:cs typeface="Cambria Math" panose="02040503050406030204" pitchFamily="18" charset="0"/>
                        </a:rPr>
                        <m:t>)+</m:t>
                      </m:r>
                      <m:r>
                        <m:rPr>
                          <m:sty m:val="p"/>
                        </m:rPr>
                        <a:rPr lang="el-GR" altLang="zh-CN" sz="2400" i="1">
                          <a:latin typeface="Cambria Math" panose="02040503050406030204" pitchFamily="18" charset="0"/>
                          <a:ea typeface="宋体" panose="02010600030101010101" pitchFamily="2" charset="-122"/>
                          <a:cs typeface="Cambria Math" panose="02040503050406030204" pitchFamily="18" charset="0"/>
                        </a:rPr>
                        <m:t>λ</m:t>
                      </m:r>
                      <m:r>
                        <a:rPr lang="en-US" altLang="el-GR" sz="2400" i="1">
                          <a:latin typeface="Cambria Math" panose="02040503050406030204" pitchFamily="18" charset="0"/>
                          <a:ea typeface="宋体" panose="02010600030101010101" pitchFamily="2" charset="-122"/>
                          <a:cs typeface="Cambria Math" panose="02040503050406030204" pitchFamily="18" charset="0"/>
                        </a:rPr>
                        <m:t>𝑓</m:t>
                      </m:r>
                      <m:r>
                        <a:rPr lang="en-US" altLang="el-GR"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𝑦</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𝑓</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𝑧</m:t>
                      </m:r>
                      <m:r>
                        <a:rPr lang="en-US" altLang="zh-CN" sz="2400" i="1">
                          <a:latin typeface="Cambria Math" panose="02040503050406030204" pitchFamily="18" charset="0"/>
                          <a:ea typeface="MS Mincho" panose="02020609040205080304" charset="-128"/>
                          <a:cs typeface="Cambria Math" panose="02040503050406030204" pitchFamily="18" charset="0"/>
                        </a:rPr>
                        <m:t>)+</m:t>
                      </m:r>
                      <m:d>
                        <m:dPr>
                          <m:begChr m:val="〈"/>
                          <m:endChr m:val="〉"/>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𝑓</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𝑧</m:t>
                          </m:r>
                          <m:r>
                            <a:rPr lang="en-US" altLang="zh-CN" sz="2400" i="1">
                              <a:latin typeface="Cambria Math" panose="02040503050406030204" pitchFamily="18" charset="0"/>
                              <a:ea typeface="MS Mincho" panose="02020609040205080304" charset="-128"/>
                              <a:cs typeface="Cambria Math" panose="02040503050406030204" pitchFamily="18" charset="0"/>
                            </a:rPr>
                            <m:t>),</m:t>
                          </m:r>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a:latin typeface="Cambria Math" panose="02040503050406030204" pitchFamily="18" charset="0"/>
                                  <a:ea typeface="MS Mincho" panose="02020609040205080304" charset="-128"/>
                                  <a:cs typeface="Cambria Math" panose="02040503050406030204" pitchFamily="18" charset="0"/>
                                </a:rPr>
                                <m:t>1−</m:t>
                              </m:r>
                              <m:r>
                                <m:rPr>
                                  <m:sty m:val="p"/>
                                </m:rPr>
                                <a:rPr lang="el-GR" altLang="zh-CN" sz="2400" i="1">
                                  <a:latin typeface="Cambria Math" panose="02040503050406030204" pitchFamily="18" charset="0"/>
                                  <a:ea typeface="宋体" panose="02010600030101010101" pitchFamily="2" charset="-122"/>
                                  <a:cs typeface="Cambria Math" panose="02040503050406030204" pitchFamily="18" charset="0"/>
                                </a:rPr>
                                <m:t>λ</m:t>
                              </m:r>
                            </m:e>
                          </m:d>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r>
                            <a:rPr lang="en-US" altLang="zh-CN" sz="2400" i="1">
                              <a:latin typeface="Cambria Math" panose="02040503050406030204" pitchFamily="18" charset="0"/>
                              <a:ea typeface="MS Mincho" panose="02020609040205080304" charset="-128"/>
                              <a:cs typeface="Cambria Math" panose="02040503050406030204" pitchFamily="18" charset="0"/>
                            </a:rPr>
                            <m:t>+</m:t>
                          </m:r>
                          <m:r>
                            <m:rPr>
                              <m:sty m:val="p"/>
                            </m:rPr>
                            <a:rPr lang="el-GR" altLang="zh-CN" sz="2400" i="1">
                              <a:latin typeface="Cambria Math" panose="02040503050406030204" pitchFamily="18" charset="0"/>
                              <a:ea typeface="宋体" panose="02010600030101010101" pitchFamily="2" charset="-122"/>
                              <a:cs typeface="Cambria Math" panose="02040503050406030204" pitchFamily="18" charset="0"/>
                            </a:rPr>
                            <m:t>λ</m:t>
                          </m:r>
                          <m:r>
                            <a:rPr lang="en-US" altLang="el-GR" sz="2400" i="1">
                              <a:latin typeface="Cambria Math" panose="02040503050406030204" pitchFamily="18" charset="0"/>
                              <a:ea typeface="宋体" panose="02010600030101010101" pitchFamily="2" charset="-122"/>
                              <a:cs typeface="Cambria Math" panose="02040503050406030204" pitchFamily="18" charset="0"/>
                            </a:rPr>
                            <m:t>𝑦</m:t>
                          </m:r>
                          <m:r>
                            <a:rPr lang="en-US" altLang="el-GR" sz="2400" i="1">
                              <a:latin typeface="Cambria Math" panose="02040503050406030204" pitchFamily="18" charset="0"/>
                              <a:ea typeface="MS Mincho" panose="02020609040205080304" charset="-128"/>
                              <a:cs typeface="Cambria Math" panose="02040503050406030204" pitchFamily="18" charset="0"/>
                            </a:rPr>
                            <m:t>−</m:t>
                          </m:r>
                          <m:r>
                            <a:rPr lang="en-US" altLang="el-GR" sz="2400" i="1">
                              <a:latin typeface="Cambria Math" panose="02040503050406030204" pitchFamily="18" charset="0"/>
                              <a:ea typeface="宋体" panose="02010600030101010101" pitchFamily="2" charset="-122"/>
                              <a:cs typeface="Cambria Math" panose="02040503050406030204" pitchFamily="18" charset="0"/>
                            </a:rPr>
                            <m:t>𝑧</m:t>
                          </m:r>
                        </m:e>
                      </m:d>
                    </m:oMath>
                  </m:oMathPara>
                </a14:m>
                <a:endParaRPr lang="en-US" altLang="zh-CN" sz="2400" i="1" dirty="0">
                  <a:latin typeface="宋体" panose="02010600030101010101" pitchFamily="2" charset="-122"/>
                  <a:ea typeface="宋体" panose="02010600030101010101" pitchFamily="2" charset="-122"/>
                  <a:cs typeface="宋体" panose="02010600030101010101" pitchFamily="2" charset="-122"/>
                </a:endParaRPr>
              </a:p>
              <a:p>
                <a:pPr fontAlgn="auto">
                  <a:lnSpc>
                    <a:spcPct val="150000"/>
                  </a:lnSpc>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𝑓</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𝑧</m:t>
                      </m:r>
                      <m:r>
                        <a:rPr lang="en-US" altLang="zh-CN" sz="2400" i="1">
                          <a:latin typeface="Cambria Math" panose="02040503050406030204" pitchFamily="18" charset="0"/>
                          <a:ea typeface="MS Mincho" panose="02020609040205080304" charset="-128"/>
                          <a:cs typeface="Cambria Math" panose="02040503050406030204" pitchFamily="18" charset="0"/>
                        </a:rPr>
                        <m:t>)+</m:t>
                      </m:r>
                      <m:d>
                        <m:dPr>
                          <m:begChr m:val="〈"/>
                          <m:endChr m:val="〉"/>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𝑓</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𝑧</m:t>
                          </m:r>
                          <m:r>
                            <a:rPr lang="en-US" altLang="zh-CN" sz="2400" i="1">
                              <a:latin typeface="Cambria Math" panose="02040503050406030204" pitchFamily="18" charset="0"/>
                              <a:ea typeface="MS Mincho" panose="02020609040205080304" charset="-128"/>
                              <a:cs typeface="Cambria Math" panose="02040503050406030204" pitchFamily="18" charset="0"/>
                            </a:rPr>
                            <m:t>),0</m:t>
                          </m:r>
                        </m:e>
                      </m:d>
                    </m:oMath>
                  </m:oMathPara>
                </a14:m>
                <a:endParaRPr lang="zh-CN" altLang="en-US" sz="2400" dirty="0">
                  <a:latin typeface="宋体" panose="02010600030101010101" pitchFamily="2" charset="-122"/>
                  <a:ea typeface="宋体" panose="02010600030101010101" pitchFamily="2" charset="-122"/>
                  <a:cs typeface="宋体" panose="02010600030101010101" pitchFamily="2" charset="-122"/>
                </a:endParaRPr>
              </a:p>
              <a:p>
                <a:pPr fontAlgn="auto">
                  <a:lnSpc>
                    <a:spcPct val="150000"/>
                  </a:lnSpc>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𝑓</m:t>
                      </m:r>
                      <m:r>
                        <a:rPr lang="en-US" altLang="zh-CN" sz="2400" i="1">
                          <a:latin typeface="Cambria Math" panose="02040503050406030204" pitchFamily="18" charset="0"/>
                          <a:ea typeface="MS Mincho" panose="02020609040205080304" charset="-128"/>
                          <a:cs typeface="Cambria Math" panose="02040503050406030204" pitchFamily="18" charset="0"/>
                        </a:rPr>
                        <m:t>(</m:t>
                      </m:r>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a:latin typeface="Cambria Math" panose="02040503050406030204" pitchFamily="18" charset="0"/>
                              <a:ea typeface="MS Mincho" panose="02020609040205080304" charset="-128"/>
                              <a:cs typeface="Cambria Math" panose="02040503050406030204" pitchFamily="18" charset="0"/>
                            </a:rPr>
                            <m:t>1−</m:t>
                          </m:r>
                          <m:r>
                            <m:rPr>
                              <m:sty m:val="p"/>
                            </m:rPr>
                            <a:rPr lang="el-GR" altLang="zh-CN" sz="2400" i="1">
                              <a:latin typeface="Cambria Math" panose="02040503050406030204" pitchFamily="18" charset="0"/>
                              <a:ea typeface="宋体" panose="02010600030101010101" pitchFamily="2" charset="-122"/>
                              <a:cs typeface="Cambria Math" panose="02040503050406030204" pitchFamily="18" charset="0"/>
                            </a:rPr>
                            <m:t>λ</m:t>
                          </m:r>
                        </m:e>
                      </m:d>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r>
                        <a:rPr lang="en-US" altLang="zh-CN" sz="2400" i="1">
                          <a:latin typeface="Cambria Math" panose="02040503050406030204" pitchFamily="18" charset="0"/>
                          <a:ea typeface="MS Mincho" panose="02020609040205080304" charset="-128"/>
                          <a:cs typeface="Cambria Math" panose="02040503050406030204" pitchFamily="18" charset="0"/>
                        </a:rPr>
                        <m:t>+</m:t>
                      </m:r>
                      <m:r>
                        <m:rPr>
                          <m:sty m:val="p"/>
                        </m:rPr>
                        <a:rPr lang="el-GR" altLang="zh-CN" sz="2400" i="1">
                          <a:latin typeface="Cambria Math" panose="02040503050406030204" pitchFamily="18" charset="0"/>
                          <a:ea typeface="宋体" panose="02010600030101010101" pitchFamily="2" charset="-122"/>
                          <a:cs typeface="Cambria Math" panose="02040503050406030204" pitchFamily="18" charset="0"/>
                        </a:rPr>
                        <m:t>λ</m:t>
                      </m:r>
                      <m:r>
                        <a:rPr lang="en-US" altLang="zh-CN" sz="2400" i="1">
                          <a:latin typeface="Cambria Math" panose="02040503050406030204" pitchFamily="18" charset="0"/>
                          <a:ea typeface="宋体" panose="02010600030101010101" pitchFamily="2" charset="-122"/>
                          <a:cs typeface="Cambria Math" panose="02040503050406030204" pitchFamily="18" charset="0"/>
                        </a:rPr>
                        <m:t>𝑦</m:t>
                      </m:r>
                      <m:r>
                        <a:rPr lang="en-US" altLang="zh-CN" sz="2400" i="1">
                          <a:latin typeface="Cambria Math" panose="02040503050406030204" pitchFamily="18" charset="0"/>
                          <a:ea typeface="MS Mincho" panose="02020609040205080304" charset="-128"/>
                          <a:cs typeface="Cambria Math" panose="02040503050406030204" pitchFamily="18" charset="0"/>
                        </a:rPr>
                        <m:t>)</m:t>
                      </m:r>
                    </m:oMath>
                  </m:oMathPara>
                </a14:m>
                <a:endParaRPr lang="en-US" altLang="zh-CN" sz="2400" dirty="0">
                  <a:latin typeface="宋体" panose="02010600030101010101" pitchFamily="2" charset="-122"/>
                  <a:ea typeface="宋体" panose="02010600030101010101" pitchFamily="2" charset="-122"/>
                  <a:cs typeface="宋体" panose="02010600030101010101" pitchFamily="2" charset="-122"/>
                </a:endParaRPr>
              </a:p>
              <a:p>
                <a:pPr fontAlgn="auto">
                  <a:lnSpc>
                    <a:spcPct val="150000"/>
                  </a:lnSpc>
                </a:pPr>
                <a:r>
                  <a:rPr lang="zh-CN" altLang="en-US" sz="2400" dirty="0">
                    <a:latin typeface="宋体" panose="02010600030101010101" pitchFamily="2" charset="-122"/>
                    <a:ea typeface="宋体" panose="02010600030101010101" pitchFamily="2" charset="-122"/>
                    <a:cs typeface="宋体" panose="02010600030101010101" pitchFamily="2" charset="-122"/>
                  </a:rPr>
                  <a:t>所以</a:t>
                </a:r>
                <a14:m>
                  <m:oMath xmlns:m="http://schemas.openxmlformats.org/officeDocument/2006/math">
                    <m:r>
                      <a:rPr lang="en-US" altLang="zh-CN" sz="2400" i="1">
                        <a:latin typeface="Cambria Math" panose="02040503050406030204" pitchFamily="18" charset="0"/>
                        <a:ea typeface="宋体" panose="02010600030101010101" pitchFamily="2" charset="-122"/>
                        <a:cs typeface="Cambria Math" panose="02040503050406030204" pitchFamily="18" charset="0"/>
                      </a:rPr>
                      <m:t>𝑓</m:t>
                    </m:r>
                  </m:oMath>
                </a14:m>
                <a:r>
                  <a:rPr lang="zh-CN" altLang="en-US" sz="2400" dirty="0">
                    <a:latin typeface="宋体" panose="02010600030101010101" pitchFamily="2" charset="-122"/>
                    <a:ea typeface="宋体" panose="02010600030101010101" pitchFamily="2" charset="-122"/>
                    <a:cs typeface="宋体" panose="02010600030101010101" pitchFamily="2" charset="-122"/>
                    <a:sym typeface="+mn-ea"/>
                  </a:rPr>
                  <a:t>是</a:t>
                </a:r>
                <a14:m>
                  <m:oMath xmlns:m="http://schemas.openxmlformats.org/officeDocument/2006/math">
                    <m:r>
                      <a:rPr lang="en-US" altLang="zh-CN" sz="2400" i="1">
                        <a:latin typeface="Cambria Math" panose="02040503050406030204" pitchFamily="18" charset="0"/>
                        <a:ea typeface="Cambria Math" panose="02040503050406030204" pitchFamily="18" charset="0"/>
                        <a:cs typeface="Cambria Math" panose="02040503050406030204" pitchFamily="18" charset="0"/>
                        <a:sym typeface="+mn-ea"/>
                      </a:rPr>
                      <m:t>𝑆</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上的</a:t>
                </a:r>
                <a:r>
                  <a:rPr lang="zh-CN" altLang="en-US" sz="2400" dirty="0">
                    <a:latin typeface="宋体" panose="02010600030101010101" pitchFamily="2" charset="-122"/>
                    <a:ea typeface="宋体" panose="02010600030101010101" pitchFamily="2" charset="-122"/>
                    <a:cs typeface="宋体" panose="02010600030101010101" pitchFamily="2" charset="-122"/>
                    <a:sym typeface="+mn-ea"/>
                  </a:rPr>
                  <a:t>凸函数。</a:t>
                </a: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mc:Choice>
        <mc:Fallback xmlns="">
          <p:sp>
            <p:nvSpPr>
              <p:cNvPr id="12" name="文本框 11"/>
              <p:cNvSpPr txBox="1">
                <a:spLocks noRot="1" noChangeAspect="1" noMove="1" noResize="1" noEditPoints="1" noAdjustHandles="1" noChangeArrowheads="1" noChangeShapeType="1" noTextEdit="1"/>
              </p:cNvSpPr>
              <p:nvPr/>
            </p:nvSpPr>
            <p:spPr>
              <a:xfrm>
                <a:off x="611560" y="372361"/>
                <a:ext cx="8208872" cy="6113277"/>
              </a:xfrm>
              <a:prstGeom prst="rect">
                <a:avLst/>
              </a:prstGeom>
              <a:blipFill>
                <a:blip r:embed="rId2"/>
                <a:stretch>
                  <a:fillRect l="-1114" b="-1097"/>
                </a:stretch>
              </a:blipFill>
            </p:spPr>
            <p:txBody>
              <a:bodyPr/>
              <a:lstStyle/>
              <a:p>
                <a:r>
                  <a:rPr lang="zh-CN" altLang="en-US">
                    <a:noFill/>
                  </a:rPr>
                  <a:t> </a:t>
                </a:r>
              </a:p>
            </p:txBody>
          </p:sp>
        </mc:Fallback>
      </mc:AlternateContent>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AF425F95-ED3C-869B-95C8-B73399BCDAB8}"/>
                  </a:ext>
                </a:extLst>
              </p:cNvPr>
              <p:cNvSpPr txBox="1"/>
              <p:nvPr/>
            </p:nvSpPr>
            <p:spPr>
              <a:xfrm>
                <a:off x="323528" y="476672"/>
                <a:ext cx="8154906" cy="6123792"/>
              </a:xfrm>
              <a:prstGeom prst="rect">
                <a:avLst/>
              </a:prstGeom>
              <a:noFill/>
            </p:spPr>
            <p:txBody>
              <a:bodyPr wrap="square">
                <a:spAutoFit/>
              </a:bodyPr>
              <a:lstStyle/>
              <a:p>
                <a:pPr indent="200025" algn="just">
                  <a:lnSpc>
                    <a:spcPct val="150000"/>
                  </a:lnSpc>
                </a:pPr>
                <a:r>
                  <a:rPr lang="zh-CN" altLang="zh-CN" sz="2400" b="1" kern="100" dirty="0">
                    <a:solidFill>
                      <a:srgbClr val="0070C0"/>
                    </a:solidFill>
                    <a:latin typeface="等线" panose="02010600030101010101" pitchFamily="2" charset="-122"/>
                    <a:ea typeface="宋体" panose="02010600030101010101" pitchFamily="2" charset="-122"/>
                    <a:cs typeface="Times New Roman" panose="02020603050405020304" pitchFamily="18" charset="0"/>
                  </a:rPr>
                  <a:t>二阶条件的证明</a:t>
                </a:r>
                <a:endParaRPr lang="zh-CN" altLang="zh-CN" sz="2400" kern="100" dirty="0">
                  <a:solidFill>
                    <a:srgbClr val="0070C0"/>
                  </a:solidFill>
                  <a:latin typeface="等线" panose="02010600030101010101" pitchFamily="2" charset="-122"/>
                  <a:ea typeface="等线" panose="02010600030101010101" pitchFamily="2" charset="-122"/>
                  <a:cs typeface="Times New Roman" panose="02020603050405020304" pitchFamily="18" charset="0"/>
                </a:endParaRPr>
              </a:p>
              <a:p>
                <a:pPr algn="just">
                  <a:lnSpc>
                    <a:spcPct val="150000"/>
                  </a:lnSpc>
                </a:pPr>
                <a:r>
                  <a:rPr lang="zh-CN" altLang="zh-CN" sz="2400" b="1" kern="100" dirty="0">
                    <a:solidFill>
                      <a:srgbClr val="000000"/>
                    </a:solidFill>
                    <a:latin typeface="等线" panose="02010600030101010101" pitchFamily="2" charset="-122"/>
                    <a:ea typeface="宋体" panose="02010600030101010101" pitchFamily="2" charset="-122"/>
                    <a:cs typeface="Times New Roman" panose="02020603050405020304" pitchFamily="18" charset="0"/>
                  </a:rPr>
                  <a:t>引理 </a:t>
                </a:r>
                <a14:m>
                  <m:oMath xmlns:m="http://schemas.openxmlformats.org/officeDocument/2006/math">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𝑓</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𝑥</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oMath>
                </a14:m>
                <a:r>
                  <a:rPr lang="zh-CN" altLang="en-US" sz="2400" kern="100" dirty="0">
                    <a:solidFill>
                      <a:srgbClr val="000000"/>
                    </a:solidFill>
                    <a:latin typeface="等线" panose="02010600030101010101" pitchFamily="2" charset="-122"/>
                    <a:ea typeface="宋体" panose="02010600030101010101" pitchFamily="2" charset="-122"/>
                    <a:cs typeface="Times New Roman" panose="02020603050405020304" pitchFamily="18" charset="0"/>
                  </a:rPr>
                  <a:t>是</a:t>
                </a:r>
                <a:r>
                  <a:rPr lang="zh-CN" altLang="zh-CN" sz="2400" kern="100" dirty="0">
                    <a:solidFill>
                      <a:srgbClr val="000000"/>
                    </a:solidFill>
                    <a:latin typeface="等线" panose="02010600030101010101" pitchFamily="2" charset="-122"/>
                    <a:ea typeface="宋体" panose="02010600030101010101" pitchFamily="2" charset="-122"/>
                    <a:cs typeface="Times New Roman" panose="02020603050405020304" pitchFamily="18" charset="0"/>
                  </a:rPr>
                  <a:t>开凸集</a:t>
                </a:r>
                <a14:m>
                  <m:oMath xmlns:m="http://schemas.openxmlformats.org/officeDocument/2006/math">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𝑆</m:t>
                    </m:r>
                  </m:oMath>
                </a14:m>
                <a:r>
                  <a:rPr lang="zh-CN" altLang="zh-CN" sz="2400" kern="100" dirty="0">
                    <a:solidFill>
                      <a:srgbClr val="000000"/>
                    </a:solidFill>
                    <a:latin typeface="等线" panose="02010600030101010101" pitchFamily="2" charset="-122"/>
                    <a:ea typeface="宋体" panose="02010600030101010101" pitchFamily="2" charset="-122"/>
                    <a:cs typeface="Times New Roman" panose="02020603050405020304" pitchFamily="18" charset="0"/>
                  </a:rPr>
                  <a:t>上连续可微</a:t>
                </a:r>
                <a:r>
                  <a:rPr lang="zh-CN" altLang="en-US" sz="2400" kern="100" dirty="0">
                    <a:solidFill>
                      <a:srgbClr val="000000"/>
                    </a:solidFill>
                    <a:latin typeface="等线" panose="02010600030101010101" pitchFamily="2" charset="-122"/>
                    <a:ea typeface="宋体" panose="02010600030101010101" pitchFamily="2" charset="-122"/>
                    <a:cs typeface="Times New Roman" panose="02020603050405020304" pitchFamily="18" charset="0"/>
                  </a:rPr>
                  <a:t>的</a:t>
                </a:r>
                <a:r>
                  <a:rPr lang="zh-CN" altLang="zh-CN" sz="2400" kern="100" dirty="0">
                    <a:solidFill>
                      <a:srgbClr val="000000"/>
                    </a:solidFill>
                    <a:latin typeface="等线" panose="02010600030101010101" pitchFamily="2" charset="-122"/>
                    <a:ea typeface="宋体" panose="02010600030101010101" pitchFamily="2" charset="-122"/>
                    <a:cs typeface="Times New Roman" panose="02020603050405020304" pitchFamily="18" charset="0"/>
                  </a:rPr>
                  <a:t>函数，则函数</a:t>
                </a:r>
                <a14:m>
                  <m:oMath xmlns:m="http://schemas.openxmlformats.org/officeDocument/2006/math">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𝑓</m:t>
                    </m:r>
                  </m:oMath>
                </a14:m>
                <a:r>
                  <a:rPr lang="zh-CN" altLang="zh-CN" sz="2400" kern="100" dirty="0">
                    <a:solidFill>
                      <a:srgbClr val="000000"/>
                    </a:solidFill>
                    <a:latin typeface="等线" panose="02010600030101010101" pitchFamily="2" charset="-122"/>
                    <a:ea typeface="宋体" panose="02010600030101010101" pitchFamily="2" charset="-122"/>
                    <a:cs typeface="Times New Roman" panose="02020603050405020304" pitchFamily="18" charset="0"/>
                  </a:rPr>
                  <a:t>是凸的当且仅当对所有</a:t>
                </a:r>
                <a14:m>
                  <m:oMath xmlns:m="http://schemas.openxmlformats.org/officeDocument/2006/math">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𝑥</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𝑦</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𝑆</m:t>
                    </m:r>
                  </m:oMath>
                </a14:m>
                <a:endParaRPr lang="zh-CN" altLang="zh-CN" sz="2400" kern="100" dirty="0">
                  <a:latin typeface="等线" panose="02010600030101010101" pitchFamily="2" charset="-122"/>
                  <a:ea typeface="等线" panose="02010600030101010101" pitchFamily="2" charset="-122"/>
                  <a:cs typeface="Times New Roman" panose="02020603050405020304" pitchFamily="18" charset="0"/>
                </a:endParaRPr>
              </a:p>
              <a:p>
                <a:pPr algn="just">
                  <a:lnSpc>
                    <a:spcPct val="150000"/>
                  </a:lnSpc>
                </a:pPr>
                <a:r>
                  <a:rPr lang="en-US" altLang="zh-CN" sz="2400" kern="100" dirty="0">
                    <a:solidFill>
                      <a:srgbClr val="000000"/>
                    </a:solidFill>
                    <a:ea typeface="Cambria Math" panose="02040503050406030204" pitchFamily="18" charset="0"/>
                    <a:cs typeface="Times New Roman" panose="02020603050405020304" pitchFamily="18" charset="0"/>
                  </a:rPr>
                  <a:t>                                        </a:t>
                </a:r>
                <a14:m>
                  <m:oMath xmlns:m="http://schemas.openxmlformats.org/officeDocument/2006/math">
                    <m:d>
                      <m:dPr>
                        <m:begChr m:val="〈"/>
                        <m:endChr m:val="〉"/>
                        <m:ctrlPr>
                          <a:rPr lang="zh-CN" altLang="zh-CN" sz="2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𝑓</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𝑦</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𝑓</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𝑥</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𝑦</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𝑥</m:t>
                        </m:r>
                      </m:e>
                    </m:d>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≥0.</m:t>
                    </m:r>
                  </m:oMath>
                </a14:m>
                <a:r>
                  <a:rPr lang="en-US" altLang="zh-CN" sz="2400" kern="100" dirty="0">
                    <a:solidFill>
                      <a:srgbClr val="000000"/>
                    </a:solidFill>
                    <a:latin typeface="宋体" panose="02010600030101010101" pitchFamily="2" charset="-122"/>
                    <a:ea typeface="等线" panose="02010600030101010101" pitchFamily="2" charset="-122"/>
                    <a:cs typeface="Times New Roman" panose="02020603050405020304" pitchFamily="18" charset="0"/>
                  </a:rPr>
                  <a:t>         </a:t>
                </a:r>
                <a:endParaRPr lang="zh-CN" altLang="zh-CN" sz="2400" kern="100" dirty="0">
                  <a:latin typeface="等线" panose="02010600030101010101" pitchFamily="2" charset="-122"/>
                  <a:ea typeface="等线" panose="02010600030101010101" pitchFamily="2" charset="-122"/>
                  <a:cs typeface="Times New Roman" panose="02020603050405020304" pitchFamily="18" charset="0"/>
                </a:endParaRPr>
              </a:p>
              <a:p>
                <a:pPr algn="just">
                  <a:lnSpc>
                    <a:spcPct val="150000"/>
                  </a:lnSpc>
                </a:pPr>
                <a:r>
                  <a:rPr lang="zh-CN" altLang="zh-CN" sz="2400" b="1" kern="100" dirty="0">
                    <a:solidFill>
                      <a:srgbClr val="000000"/>
                    </a:solidFill>
                    <a:latin typeface="等线" panose="02010600030101010101" pitchFamily="2" charset="-122"/>
                    <a:ea typeface="宋体" panose="02010600030101010101" pitchFamily="2" charset="-122"/>
                    <a:cs typeface="Times New Roman" panose="02020603050405020304" pitchFamily="18" charset="0"/>
                  </a:rPr>
                  <a:t>证明</a:t>
                </a:r>
                <a:r>
                  <a:rPr lang="zh-CN" altLang="zh-CN" sz="2400" kern="100" dirty="0">
                    <a:solidFill>
                      <a:srgbClr val="000000"/>
                    </a:solidFill>
                    <a:latin typeface="等线" panose="02010600030101010101" pitchFamily="2" charset="-122"/>
                    <a:ea typeface="宋体" panose="02010600030101010101" pitchFamily="2" charset="-122"/>
                    <a:cs typeface="Times New Roman" panose="02020603050405020304" pitchFamily="18" charset="0"/>
                  </a:rPr>
                  <a:t> 假设</a:t>
                </a:r>
                <a14:m>
                  <m:oMath xmlns:m="http://schemas.openxmlformats.org/officeDocument/2006/math">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𝑓</m:t>
                    </m:r>
                    <m:r>
                      <a:rPr lang="zh-CN"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是</m:t>
                    </m:r>
                  </m:oMath>
                </a14:m>
                <a:r>
                  <a:rPr lang="zh-CN" altLang="zh-CN" sz="2400" kern="100" dirty="0">
                    <a:solidFill>
                      <a:srgbClr val="000000"/>
                    </a:solidFill>
                    <a:latin typeface="等线" panose="02010600030101010101" pitchFamily="2" charset="-122"/>
                    <a:ea typeface="宋体" panose="02010600030101010101" pitchFamily="2" charset="-122"/>
                    <a:cs typeface="Times New Roman" panose="02020603050405020304" pitchFamily="18" charset="0"/>
                  </a:rPr>
                  <a:t>凸的，由一阶条件知</a:t>
                </a:r>
                <a:endParaRPr lang="zh-CN" altLang="zh-CN" sz="2400" kern="100" dirty="0">
                  <a:latin typeface="等线" panose="02010600030101010101" pitchFamily="2" charset="-122"/>
                  <a:ea typeface="等线" panose="02010600030101010101" pitchFamily="2" charset="-122"/>
                  <a:cs typeface="Times New Roman" panose="02020603050405020304" pitchFamily="18" charset="0"/>
                </a:endParaRPr>
              </a:p>
              <a:p>
                <a:pPr algn="just">
                  <a:lnSpc>
                    <a:spcPct val="150000"/>
                  </a:lnSpc>
                </a:pPr>
                <a14:m>
                  <m:oMathPara xmlns:m="http://schemas.openxmlformats.org/officeDocument/2006/math">
                    <m:oMathParaPr>
                      <m:jc m:val="centerGroup"/>
                    </m:oMathParaPr>
                    <m:oMath xmlns:m="http://schemas.openxmlformats.org/officeDocument/2006/math">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𝑓</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𝑥</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𝑓</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𝑦</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d>
                        <m:dPr>
                          <m:begChr m:val="〈"/>
                          <m:endChr m:val="〉"/>
                          <m:ctrlPr>
                            <a:rPr lang="zh-CN" altLang="zh-CN" sz="2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𝑓</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𝑦</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𝑥</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𝑦</m:t>
                          </m:r>
                        </m:e>
                      </m:d>
                    </m:oMath>
                  </m:oMathPara>
                </a14:m>
                <a:endParaRPr lang="zh-CN" altLang="zh-CN" sz="2400" kern="100" dirty="0">
                  <a:latin typeface="等线" panose="02010600030101010101" pitchFamily="2" charset="-122"/>
                  <a:ea typeface="等线" panose="02010600030101010101" pitchFamily="2" charset="-122"/>
                  <a:cs typeface="Times New Roman" panose="02020603050405020304" pitchFamily="18" charset="0"/>
                </a:endParaRPr>
              </a:p>
              <a:p>
                <a:pPr algn="just">
                  <a:lnSpc>
                    <a:spcPct val="150000"/>
                  </a:lnSpc>
                </a:pPr>
                <a14:m>
                  <m:oMathPara xmlns:m="http://schemas.openxmlformats.org/officeDocument/2006/math">
                    <m:oMathParaPr>
                      <m:jc m:val="centerGroup"/>
                    </m:oMathParaPr>
                    <m:oMath xmlns:m="http://schemas.openxmlformats.org/officeDocument/2006/math">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𝑓</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𝑦</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𝑓</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𝑥</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d>
                        <m:dPr>
                          <m:begChr m:val="〈"/>
                          <m:endChr m:val="〉"/>
                          <m:ctrlPr>
                            <a:rPr lang="zh-CN" altLang="zh-CN" sz="2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𝑓</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𝑥</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𝑦</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𝑥</m:t>
                          </m:r>
                        </m:e>
                      </m:d>
                    </m:oMath>
                  </m:oMathPara>
                </a14:m>
                <a:endParaRPr lang="zh-CN" altLang="zh-CN" sz="2400" kern="100" dirty="0">
                  <a:latin typeface="等线" panose="02010600030101010101" pitchFamily="2" charset="-122"/>
                  <a:ea typeface="等线" panose="02010600030101010101" pitchFamily="2" charset="-122"/>
                  <a:cs typeface="Times New Roman" panose="02020603050405020304" pitchFamily="18" charset="0"/>
                </a:endParaRPr>
              </a:p>
              <a:p>
                <a:pPr algn="just">
                  <a:lnSpc>
                    <a:spcPct val="150000"/>
                  </a:lnSpc>
                </a:pPr>
                <a:r>
                  <a:rPr lang="zh-CN" altLang="zh-CN" sz="2400" kern="100" dirty="0">
                    <a:solidFill>
                      <a:srgbClr val="000000"/>
                    </a:solidFill>
                    <a:latin typeface="等线" panose="02010600030101010101" pitchFamily="2" charset="-122"/>
                    <a:ea typeface="宋体" panose="02010600030101010101" pitchFamily="2" charset="-122"/>
                    <a:cs typeface="Times New Roman" panose="02020603050405020304" pitchFamily="18" charset="0"/>
                  </a:rPr>
                  <a:t>两个不等式相加并重新整理可得结论成立</a:t>
                </a:r>
                <a:r>
                  <a:rPr lang="zh-CN" altLang="zh-CN" sz="2400" b="1" kern="100" dirty="0">
                    <a:solidFill>
                      <a:srgbClr val="000000"/>
                    </a:solidFill>
                    <a:latin typeface="等线" panose="02010600030101010101" pitchFamily="2" charset="-122"/>
                    <a:ea typeface="宋体" panose="02010600030101010101" pitchFamily="2" charset="-122"/>
                    <a:cs typeface="Times New Roman" panose="02020603050405020304" pitchFamily="18" charset="0"/>
                  </a:rPr>
                  <a:t>。</a:t>
                </a:r>
                <a:endParaRPr lang="zh-CN" altLang="zh-CN" sz="2400" kern="100" dirty="0">
                  <a:latin typeface="等线" panose="02010600030101010101" pitchFamily="2" charset="-122"/>
                  <a:ea typeface="等线" panose="02010600030101010101" pitchFamily="2" charset="-122"/>
                  <a:cs typeface="Times New Roman" panose="02020603050405020304" pitchFamily="18" charset="0"/>
                </a:endParaRPr>
              </a:p>
              <a:p>
                <a:pPr algn="just">
                  <a:lnSpc>
                    <a:spcPct val="150000"/>
                  </a:lnSpc>
                </a:pPr>
                <a:r>
                  <a:rPr lang="en-US" altLang="zh-CN" sz="2400" kern="100" dirty="0">
                    <a:solidFill>
                      <a:srgbClr val="000000"/>
                    </a:solidFill>
                    <a:latin typeface="宋体" panose="02010600030101010101" pitchFamily="2" charset="-122"/>
                    <a:ea typeface="等线" panose="02010600030101010101" pitchFamily="2" charset="-122"/>
                    <a:cs typeface="Times New Roman" panose="02020603050405020304" pitchFamily="18" charset="0"/>
                  </a:rPr>
                  <a:t>    </a:t>
                </a:r>
                <a:r>
                  <a:rPr lang="zh-CN" altLang="zh-CN" sz="2400" kern="100" dirty="0">
                    <a:solidFill>
                      <a:srgbClr val="000000"/>
                    </a:solidFill>
                    <a:latin typeface="等线" panose="02010600030101010101" pitchFamily="2" charset="-122"/>
                    <a:ea typeface="宋体" panose="02010600030101010101" pitchFamily="2" charset="-122"/>
                    <a:cs typeface="Times New Roman" panose="02020603050405020304" pitchFamily="18" charset="0"/>
                  </a:rPr>
                  <a:t>假设对所有的</a:t>
                </a:r>
                <a14:m>
                  <m:oMath xmlns:m="http://schemas.openxmlformats.org/officeDocument/2006/math">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𝑥</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𝑦</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𝑆</m:t>
                    </m:r>
                  </m:oMath>
                </a14:m>
                <a:r>
                  <a:rPr lang="zh-CN" altLang="zh-CN" sz="2400" kern="100" dirty="0">
                    <a:solidFill>
                      <a:srgbClr val="000000"/>
                    </a:solidFill>
                    <a:latin typeface="等线" panose="02010600030101010101" pitchFamily="2" charset="-122"/>
                    <a:ea typeface="宋体" panose="02010600030101010101" pitchFamily="2" charset="-122"/>
                    <a:cs typeface="Times New Roman" panose="02020603050405020304" pitchFamily="18" charset="0"/>
                  </a:rPr>
                  <a:t>都有不等式</a:t>
                </a:r>
                <a14:m>
                  <m:oMath xmlns:m="http://schemas.openxmlformats.org/officeDocument/2006/math">
                    <m:d>
                      <m:dPr>
                        <m:begChr m:val="〈"/>
                        <m:endChr m:val="〉"/>
                        <m:ctrlPr>
                          <a:rPr lang="zh-CN" altLang="zh-CN" sz="2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𝑓</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𝑦</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𝑓</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𝑥</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𝑦</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𝑥</m:t>
                        </m:r>
                      </m:e>
                    </m:d>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≥0</m:t>
                    </m:r>
                  </m:oMath>
                </a14:m>
                <a:r>
                  <a:rPr lang="zh-CN" altLang="zh-CN" sz="2400" kern="100" dirty="0">
                    <a:solidFill>
                      <a:srgbClr val="000000"/>
                    </a:solidFill>
                    <a:latin typeface="等线" panose="02010600030101010101" pitchFamily="2" charset="-122"/>
                    <a:ea typeface="宋体" panose="02010600030101010101" pitchFamily="2" charset="-122"/>
                    <a:cs typeface="Times New Roman" panose="02020603050405020304" pitchFamily="18" charset="0"/>
                  </a:rPr>
                  <a:t>成立，对</a:t>
                </a:r>
                <a14:m>
                  <m:oMath xmlns:m="http://schemas.openxmlformats.org/officeDocument/2006/math">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𝜆</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∈(0,1</m:t>
                    </m:r>
                    <m:r>
                      <a:rPr lang="en-US" altLang="zh-CN" sz="2400"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oMath>
                </a14:m>
                <a:r>
                  <a:rPr lang="zh-CN" altLang="zh-CN" sz="2400" kern="100" dirty="0">
                    <a:solidFill>
                      <a:srgbClr val="000000"/>
                    </a:solidFill>
                    <a:latin typeface="等线" panose="02010600030101010101" pitchFamily="2" charset="-122"/>
                    <a:ea typeface="宋体" panose="02010600030101010101" pitchFamily="2" charset="-122"/>
                    <a:cs typeface="Times New Roman" panose="02020603050405020304" pitchFamily="18" charset="0"/>
                  </a:rPr>
                  <a:t>，令</a:t>
                </a:r>
                <a14:m>
                  <m:oMath xmlns:m="http://schemas.openxmlformats.org/officeDocument/2006/math">
                    <m:sSub>
                      <m:sSubPr>
                        <m:ctrlPr>
                          <a:rPr lang="zh-CN" altLang="zh-CN" sz="2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𝜆</m:t>
                        </m:r>
                      </m:sub>
                    </m:sSub>
                    <m:box>
                      <m:boxPr>
                        <m:ctrlPr>
                          <a:rPr lang="zh-CN" altLang="zh-CN" sz="2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boxPr>
                      <m:e>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e>
                    </m:box>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𝑥</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r>
                      <a:rPr lang="el-GR"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𝜆</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𝑦</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𝑥</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oMath>
                </a14:m>
                <a:r>
                  <a:rPr lang="zh-CN" altLang="zh-CN" sz="2400" kern="100" dirty="0">
                    <a:solidFill>
                      <a:srgbClr val="000000"/>
                    </a:solidFill>
                    <a:latin typeface="等线" panose="02010600030101010101" pitchFamily="2" charset="-122"/>
                    <a:ea typeface="宋体" panose="02010600030101010101" pitchFamily="2" charset="-122"/>
                    <a:cs typeface="Times New Roman" panose="02020603050405020304" pitchFamily="18" charset="0"/>
                  </a:rPr>
                  <a:t>，那么由于</a:t>
                </a:r>
                <a14:m>
                  <m:oMath xmlns:m="http://schemas.openxmlformats.org/officeDocument/2006/math">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𝑓</m:t>
                    </m:r>
                  </m:oMath>
                </a14:m>
                <a:r>
                  <a:rPr lang="zh-CN" altLang="zh-CN" sz="2400" kern="100" dirty="0">
                    <a:solidFill>
                      <a:srgbClr val="000000"/>
                    </a:solidFill>
                    <a:latin typeface="等线" panose="02010600030101010101" pitchFamily="2" charset="-122"/>
                    <a:ea typeface="宋体" panose="02010600030101010101" pitchFamily="2" charset="-122"/>
                    <a:cs typeface="Times New Roman" panose="02020603050405020304" pitchFamily="18" charset="0"/>
                  </a:rPr>
                  <a:t>是连续的，我们可以得到</a:t>
                </a:r>
                <a:endParaRPr lang="zh-CN" altLang="zh-CN" sz="2400"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5" name="文本框 4">
                <a:extLst>
                  <a:ext uri="{FF2B5EF4-FFF2-40B4-BE49-F238E27FC236}">
                    <a16:creationId xmlns:a16="http://schemas.microsoft.com/office/drawing/2014/main" id="{AF425F95-ED3C-869B-95C8-B73399BCDAB8}"/>
                  </a:ext>
                </a:extLst>
              </p:cNvPr>
              <p:cNvSpPr txBox="1">
                <a:spLocks noRot="1" noChangeAspect="1" noMove="1" noResize="1" noEditPoints="1" noAdjustHandles="1" noChangeArrowheads="1" noChangeShapeType="1" noTextEdit="1"/>
              </p:cNvSpPr>
              <p:nvPr/>
            </p:nvSpPr>
            <p:spPr>
              <a:xfrm>
                <a:off x="323528" y="476672"/>
                <a:ext cx="8154906" cy="6123792"/>
              </a:xfrm>
              <a:prstGeom prst="rect">
                <a:avLst/>
              </a:prstGeom>
              <a:blipFill>
                <a:blip r:embed="rId2"/>
                <a:stretch>
                  <a:fillRect l="-3587" r="-1196" b="-4975"/>
                </a:stretch>
              </a:blipFill>
            </p:spPr>
            <p:txBody>
              <a:bodyPr/>
              <a:lstStyle/>
              <a:p>
                <a:r>
                  <a:rPr lang="zh-CN" altLang="en-US">
                    <a:noFill/>
                  </a:rPr>
                  <a:t> </a:t>
                </a:r>
              </a:p>
            </p:txBody>
          </p:sp>
        </mc:Fallback>
      </mc:AlternateContent>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1E23D0AB-11BD-2A50-5279-575DA574BA34}"/>
              </a:ext>
            </a:extLst>
          </p:cNvPr>
          <p:cNvPicPr>
            <a:picLocks noChangeAspect="1"/>
          </p:cNvPicPr>
          <p:nvPr/>
        </p:nvPicPr>
        <p:blipFill>
          <a:blip r:embed="rId2"/>
          <a:stretch>
            <a:fillRect/>
          </a:stretch>
        </p:blipFill>
        <p:spPr>
          <a:xfrm>
            <a:off x="683568" y="1340768"/>
            <a:ext cx="8156765" cy="3741960"/>
          </a:xfrm>
          <a:prstGeom prst="rect">
            <a:avLst/>
          </a:prstGeom>
        </p:spPr>
      </p:pic>
    </p:spTree>
    <p:extLst>
      <p:ext uri="{BB962C8B-B14F-4D97-AF65-F5344CB8AC3E}">
        <p14:creationId xmlns:p14="http://schemas.microsoft.com/office/powerpoint/2010/main" val="17441519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FB86257F-493B-993F-D565-8637EBC81B20}"/>
              </a:ext>
            </a:extLst>
          </p:cNvPr>
          <p:cNvPicPr>
            <a:picLocks noChangeAspect="1"/>
          </p:cNvPicPr>
          <p:nvPr/>
        </p:nvPicPr>
        <p:blipFill>
          <a:blip r:embed="rId2"/>
          <a:stretch>
            <a:fillRect/>
          </a:stretch>
        </p:blipFill>
        <p:spPr>
          <a:xfrm>
            <a:off x="205570" y="980728"/>
            <a:ext cx="8732860" cy="4377655"/>
          </a:xfrm>
          <a:prstGeom prst="rect">
            <a:avLst/>
          </a:prstGeom>
        </p:spPr>
      </p:pic>
    </p:spTree>
    <p:extLst>
      <p:ext uri="{BB962C8B-B14F-4D97-AF65-F5344CB8AC3E}">
        <p14:creationId xmlns:p14="http://schemas.microsoft.com/office/powerpoint/2010/main" val="8176823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7EEE8F00-82B1-1B66-1CBE-30EAE95823D0}"/>
              </a:ext>
            </a:extLst>
          </p:cNvPr>
          <p:cNvPicPr>
            <a:picLocks noChangeAspect="1"/>
          </p:cNvPicPr>
          <p:nvPr/>
        </p:nvPicPr>
        <p:blipFill>
          <a:blip r:embed="rId2"/>
          <a:stretch>
            <a:fillRect/>
          </a:stretch>
        </p:blipFill>
        <p:spPr>
          <a:xfrm>
            <a:off x="254798" y="1340768"/>
            <a:ext cx="8634403" cy="3630141"/>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AF55BF45-F330-4948-E0DD-6CCB90E7933C}"/>
              </a:ext>
            </a:extLst>
          </p:cNvPr>
          <p:cNvPicPr>
            <a:picLocks noChangeAspect="1"/>
          </p:cNvPicPr>
          <p:nvPr/>
        </p:nvPicPr>
        <p:blipFill>
          <a:blip r:embed="rId2"/>
          <a:stretch>
            <a:fillRect/>
          </a:stretch>
        </p:blipFill>
        <p:spPr>
          <a:xfrm>
            <a:off x="0" y="1484784"/>
            <a:ext cx="9144000" cy="4232407"/>
          </a:xfrm>
          <a:prstGeom prst="rect">
            <a:avLst/>
          </a:prstGeom>
        </p:spPr>
      </p:pic>
      <p:sp>
        <p:nvSpPr>
          <p:cNvPr id="6" name="文本框 5">
            <a:extLst>
              <a:ext uri="{FF2B5EF4-FFF2-40B4-BE49-F238E27FC236}">
                <a16:creationId xmlns:a16="http://schemas.microsoft.com/office/drawing/2014/main" id="{FA19BE68-4839-B87A-A0A8-6620EE308764}"/>
              </a:ext>
            </a:extLst>
          </p:cNvPr>
          <p:cNvSpPr txBox="1"/>
          <p:nvPr/>
        </p:nvSpPr>
        <p:spPr>
          <a:xfrm>
            <a:off x="395536" y="476672"/>
            <a:ext cx="2664296" cy="523220"/>
          </a:xfrm>
          <a:prstGeom prst="rect">
            <a:avLst/>
          </a:prstGeom>
          <a:noFill/>
        </p:spPr>
        <p:txBody>
          <a:bodyPr wrap="square" rtlCol="0">
            <a:spAutoFit/>
          </a:bodyPr>
          <a:lstStyle/>
          <a:p>
            <a:r>
              <a:rPr lang="zh-CN" altLang="en-US" sz="2800" b="1" dirty="0">
                <a:solidFill>
                  <a:srgbClr val="0070C0"/>
                </a:solidFill>
              </a:rPr>
              <a:t>讨论：</a:t>
            </a:r>
          </a:p>
        </p:txBody>
      </p:sp>
    </p:spTree>
    <p:extLst>
      <p:ext uri="{BB962C8B-B14F-4D97-AF65-F5344CB8AC3E}">
        <p14:creationId xmlns:p14="http://schemas.microsoft.com/office/powerpoint/2010/main" val="36426970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1(P2IF903V092R2~PS$Q6O2"/>
          <p:cNvPicPr>
            <a:picLocks noChangeAspect="1"/>
          </p:cNvPicPr>
          <p:nvPr/>
        </p:nvPicPr>
        <p:blipFill>
          <a:blip r:embed="rId2"/>
          <a:stretch>
            <a:fillRect/>
          </a:stretch>
        </p:blipFill>
        <p:spPr>
          <a:xfrm>
            <a:off x="755576" y="1340768"/>
            <a:ext cx="7287895" cy="5248910"/>
          </a:xfrm>
          <a:prstGeom prst="rect">
            <a:avLst/>
          </a:prstGeom>
        </p:spPr>
      </p:pic>
      <p:sp>
        <p:nvSpPr>
          <p:cNvPr id="2" name="文本框 1">
            <a:extLst>
              <a:ext uri="{FF2B5EF4-FFF2-40B4-BE49-F238E27FC236}">
                <a16:creationId xmlns:a16="http://schemas.microsoft.com/office/drawing/2014/main" id="{7489E104-5312-0AF8-EEEA-DEED80386074}"/>
              </a:ext>
            </a:extLst>
          </p:cNvPr>
          <p:cNvSpPr txBox="1"/>
          <p:nvPr/>
        </p:nvSpPr>
        <p:spPr>
          <a:xfrm>
            <a:off x="395536" y="476672"/>
            <a:ext cx="3744416" cy="523220"/>
          </a:xfrm>
          <a:prstGeom prst="rect">
            <a:avLst/>
          </a:prstGeom>
          <a:noFill/>
        </p:spPr>
        <p:txBody>
          <a:bodyPr wrap="square" rtlCol="0">
            <a:spAutoFit/>
          </a:bodyPr>
          <a:lstStyle/>
          <a:p>
            <a:r>
              <a:rPr lang="zh-CN" altLang="en-US" sz="2800" b="1" dirty="0">
                <a:solidFill>
                  <a:srgbClr val="0070C0"/>
                </a:solidFill>
              </a:rPr>
              <a:t>观察最优解的位置：</a:t>
            </a: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1159</TotalTime>
  <Words>2066</Words>
  <Application>Microsoft Office PowerPoint</Application>
  <PresentationFormat>全屏显示(4:3)</PresentationFormat>
  <Paragraphs>180</Paragraphs>
  <Slides>40</Slides>
  <Notes>2</Notes>
  <HiddenSlides>1</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2</vt:i4>
      </vt:variant>
      <vt:variant>
        <vt:lpstr>幻灯片标题</vt:lpstr>
      </vt:variant>
      <vt:variant>
        <vt:i4>40</vt:i4>
      </vt:variant>
    </vt:vector>
  </HeadingPairs>
  <TitlesOfParts>
    <vt:vector size="54" baseType="lpstr">
      <vt:lpstr>MS Mincho</vt:lpstr>
      <vt:lpstr>NimbusRomNo9L-Regu</vt:lpstr>
      <vt:lpstr>rtcxr</vt:lpstr>
      <vt:lpstr>等线</vt:lpstr>
      <vt:lpstr>黑体</vt:lpstr>
      <vt:lpstr>宋体</vt:lpstr>
      <vt:lpstr>Arial</vt:lpstr>
      <vt:lpstr>Calibri</vt:lpstr>
      <vt:lpstr>Cambria Math</vt:lpstr>
      <vt:lpstr>Times New Roman</vt:lpstr>
      <vt:lpstr>Wingdings</vt:lpstr>
      <vt:lpstr>Office 主题​​</vt:lpstr>
      <vt:lpstr>Equation</vt:lpstr>
      <vt:lpstr>Document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最优化问题的三要素</vt:lpstr>
      <vt:lpstr>PowerPoint 演示文稿</vt:lpstr>
      <vt:lpstr>PowerPoint 演示文稿</vt:lpstr>
      <vt:lpstr> 1.非线性规划的图解法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5. 凸集、凸函数与凸规划</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zl</dc:creator>
  <cp:lastModifiedBy>Wei Zhang</cp:lastModifiedBy>
  <cp:revision>164</cp:revision>
  <cp:lastPrinted>2023-09-12T00:51:57Z</cp:lastPrinted>
  <dcterms:created xsi:type="dcterms:W3CDTF">2014-04-18T02:02:00Z</dcterms:created>
  <dcterms:modified xsi:type="dcterms:W3CDTF">2025-09-15T09:58:09Z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2052-10.1.0.6156</vt:lpwstr>
  </property>
</Properties>
</file>