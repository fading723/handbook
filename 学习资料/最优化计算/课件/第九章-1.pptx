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1"/>
  </p:sldMasterIdLst>
  <p:notesMasterIdLst>
    <p:notesMasterId r:id="rId40"/>
  </p:notesMasterIdLst>
  <p:sldIdLst>
    <p:sldId id="466" r:id="rId2"/>
    <p:sldId id="290" r:id="rId3"/>
    <p:sldId id="259" r:id="rId4"/>
    <p:sldId id="292" r:id="rId5"/>
    <p:sldId id="477" r:id="rId6"/>
    <p:sldId id="261" r:id="rId7"/>
    <p:sldId id="262" r:id="rId8"/>
    <p:sldId id="300" r:id="rId9"/>
    <p:sldId id="301" r:id="rId10"/>
    <p:sldId id="302" r:id="rId11"/>
    <p:sldId id="268" r:id="rId12"/>
    <p:sldId id="576" r:id="rId13"/>
    <p:sldId id="578" r:id="rId14"/>
    <p:sldId id="579" r:id="rId15"/>
    <p:sldId id="580" r:id="rId16"/>
    <p:sldId id="480" r:id="rId17"/>
    <p:sldId id="573" r:id="rId18"/>
    <p:sldId id="570" r:id="rId19"/>
    <p:sldId id="303" r:id="rId20"/>
    <p:sldId id="306" r:id="rId21"/>
    <p:sldId id="304" r:id="rId22"/>
    <p:sldId id="305" r:id="rId23"/>
    <p:sldId id="294" r:id="rId24"/>
    <p:sldId id="574" r:id="rId25"/>
    <p:sldId id="558" r:id="rId26"/>
    <p:sldId id="559" r:id="rId27"/>
    <p:sldId id="560" r:id="rId28"/>
    <p:sldId id="572" r:id="rId29"/>
    <p:sldId id="575" r:id="rId30"/>
    <p:sldId id="478" r:id="rId31"/>
    <p:sldId id="266" r:id="rId32"/>
    <p:sldId id="267" r:id="rId33"/>
    <p:sldId id="479" r:id="rId34"/>
    <p:sldId id="270" r:id="rId35"/>
    <p:sldId id="271" r:id="rId36"/>
    <p:sldId id="273" r:id="rId37"/>
    <p:sldId id="274" r:id="rId38"/>
    <p:sldId id="581" r:id="rId39"/>
  </p:sldIdLst>
  <p:sldSz cx="9144000" cy="6858000" type="screen4x3"/>
  <p:notesSz cx="6797675" cy="9928225"/>
  <p:custDataLst>
    <p:tags r:id="rId4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306" y="67"/>
      </p:cViewPr>
      <p:guideLst>
        <p:guide orient="horz" pos="2160"/>
        <p:guide pos="288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6411"/>
          </a:xfrm>
          <a:prstGeom prst="rect">
            <a:avLst/>
          </a:prstGeom>
        </p:spPr>
        <p:txBody>
          <a:bodyPr vert="horz" lIns="91440" tIns="45720" rIns="91440" bIns="45720" rtlCol="0"/>
          <a:lstStyle>
            <a:lvl1pPr algn="r">
              <a:defRPr sz="1200"/>
            </a:lvl1pPr>
          </a:lstStyle>
          <a:p>
            <a:fld id="{47F96A7A-F92B-41DF-80DE-77ED0E55E2AF}" type="datetimeFigureOut">
              <a:rPr lang="zh-CN" altLang="en-US" smtClean="0"/>
              <a:t>2025/10/27</a:t>
            </a:fld>
            <a:endParaRPr lang="zh-CN" altLang="en-US"/>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15907"/>
            <a:ext cx="5438140" cy="4467701"/>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6411"/>
          </a:xfrm>
          <a:prstGeom prst="rect">
            <a:avLst/>
          </a:prstGeom>
        </p:spPr>
        <p:txBody>
          <a:bodyPr vert="horz" lIns="91440" tIns="45720" rIns="91440" bIns="45720" rtlCol="0" anchor="b"/>
          <a:lstStyle>
            <a:lvl1pPr algn="r">
              <a:defRPr sz="1200"/>
            </a:lvl1pPr>
          </a:lstStyle>
          <a:p>
            <a:fld id="{7ED5B288-C3A6-4570-95A7-9A8D2425F32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26847DE9-B3C7-466E-8D1B-FEAA19412309}" type="datetimeFigureOut">
              <a:rPr lang="zh-CN" altLang="en-US" smtClean="0"/>
              <a:t>2025/10/27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34B80E7-A9E2-4803-A97B-3EE04E899B86}" type="slidenum">
              <a:rPr lang="zh-CN" altLang="en-US" smtClean="0"/>
              <a:t>‹#›</a:t>
            </a:fld>
            <a:endParaRPr lang="zh-CN" altLang="en-US"/>
          </a:p>
        </p:txBody>
      </p:sp>
    </p:spTree>
    <p:extLst>
      <p:ext uri="{BB962C8B-B14F-4D97-AF65-F5344CB8AC3E}">
        <p14:creationId xmlns:p14="http://schemas.microsoft.com/office/powerpoint/2010/main" val="4238802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26847DE9-B3C7-466E-8D1B-FEAA19412309}" type="datetimeFigureOut">
              <a:rPr lang="zh-CN" altLang="en-US" smtClean="0"/>
              <a:t>2025/10/27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34B80E7-A9E2-4803-A97B-3EE04E899B86}" type="slidenum">
              <a:rPr lang="zh-CN" altLang="en-US" smtClean="0"/>
              <a:t>‹#›</a:t>
            </a:fld>
            <a:endParaRPr lang="zh-CN" altLang="en-US"/>
          </a:p>
        </p:txBody>
      </p:sp>
    </p:spTree>
    <p:extLst>
      <p:ext uri="{BB962C8B-B14F-4D97-AF65-F5344CB8AC3E}">
        <p14:creationId xmlns:p14="http://schemas.microsoft.com/office/powerpoint/2010/main" val="914532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26847DE9-B3C7-466E-8D1B-FEAA19412309}" type="datetimeFigureOut">
              <a:rPr lang="zh-CN" altLang="en-US" smtClean="0"/>
              <a:t>2025/10/27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34B80E7-A9E2-4803-A97B-3EE04E899B86}" type="slidenum">
              <a:rPr lang="zh-CN" altLang="en-US" smtClean="0"/>
              <a:t>‹#›</a:t>
            </a:fld>
            <a:endParaRPr lang="zh-CN" altLang="en-US"/>
          </a:p>
        </p:txBody>
      </p:sp>
    </p:spTree>
    <p:extLst>
      <p:ext uri="{BB962C8B-B14F-4D97-AF65-F5344CB8AC3E}">
        <p14:creationId xmlns:p14="http://schemas.microsoft.com/office/powerpoint/2010/main" val="411046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26847DE9-B3C7-466E-8D1B-FEAA19412309}" type="datetimeFigureOut">
              <a:rPr lang="zh-CN" altLang="en-US" smtClean="0"/>
              <a:t>2025/10/27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34B80E7-A9E2-4803-A97B-3EE04E899B86}" type="slidenum">
              <a:rPr lang="zh-CN" altLang="en-US" smtClean="0"/>
              <a:t>‹#›</a:t>
            </a:fld>
            <a:endParaRPr lang="zh-CN" altLang="en-US"/>
          </a:p>
        </p:txBody>
      </p:sp>
    </p:spTree>
    <p:extLst>
      <p:ext uri="{BB962C8B-B14F-4D97-AF65-F5344CB8AC3E}">
        <p14:creationId xmlns:p14="http://schemas.microsoft.com/office/powerpoint/2010/main" val="3153081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26847DE9-B3C7-466E-8D1B-FEAA19412309}" type="datetimeFigureOut">
              <a:rPr lang="zh-CN" altLang="en-US" smtClean="0"/>
              <a:t>2025/10/27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934B80E7-A9E2-4803-A97B-3EE04E899B86}" type="slidenum">
              <a:rPr lang="zh-CN" altLang="en-US" smtClean="0"/>
              <a:t>‹#›</a:t>
            </a:fld>
            <a:endParaRPr lang="zh-CN" altLang="en-US"/>
          </a:p>
        </p:txBody>
      </p:sp>
    </p:spTree>
    <p:extLst>
      <p:ext uri="{BB962C8B-B14F-4D97-AF65-F5344CB8AC3E}">
        <p14:creationId xmlns:p14="http://schemas.microsoft.com/office/powerpoint/2010/main" val="275177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6847DE9-B3C7-466E-8D1B-FEAA19412309}" type="datetimeFigureOut">
              <a:rPr lang="zh-CN" altLang="en-US" smtClean="0"/>
              <a:t>2025/10/27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934B80E7-A9E2-4803-A97B-3EE04E899B86}" type="slidenum">
              <a:rPr lang="zh-CN" altLang="en-US" smtClean="0"/>
              <a:t>‹#›</a:t>
            </a:fld>
            <a:endParaRPr lang="zh-CN" altLang="en-US"/>
          </a:p>
        </p:txBody>
      </p:sp>
    </p:spTree>
    <p:extLst>
      <p:ext uri="{BB962C8B-B14F-4D97-AF65-F5344CB8AC3E}">
        <p14:creationId xmlns:p14="http://schemas.microsoft.com/office/powerpoint/2010/main" val="3580164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847DE9-B3C7-466E-8D1B-FEAA19412309}" type="datetimeFigureOut">
              <a:rPr lang="zh-CN" altLang="en-US" smtClean="0"/>
              <a:t>2025/10/27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934B80E7-A9E2-4803-A97B-3EE04E899B86}" type="slidenum">
              <a:rPr lang="zh-CN" altLang="en-US" smtClean="0"/>
              <a:t>‹#›</a:t>
            </a:fld>
            <a:endParaRPr lang="zh-CN" altLang="en-US"/>
          </a:p>
        </p:txBody>
      </p:sp>
    </p:spTree>
    <p:extLst>
      <p:ext uri="{BB962C8B-B14F-4D97-AF65-F5344CB8AC3E}">
        <p14:creationId xmlns:p14="http://schemas.microsoft.com/office/powerpoint/2010/main" val="71856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6847DE9-B3C7-466E-8D1B-FEAA19412309}" type="datetimeFigureOut">
              <a:rPr lang="zh-CN" altLang="en-US" smtClean="0"/>
              <a:t>2025/10/27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34B80E7-A9E2-4803-A97B-3EE04E899B86}" type="slidenum">
              <a:rPr lang="zh-CN" altLang="en-US" smtClean="0"/>
              <a:t>‹#›</a:t>
            </a:fld>
            <a:endParaRPr lang="zh-CN" altLang="en-US"/>
          </a:p>
        </p:txBody>
      </p:sp>
    </p:spTree>
    <p:extLst>
      <p:ext uri="{BB962C8B-B14F-4D97-AF65-F5344CB8AC3E}">
        <p14:creationId xmlns:p14="http://schemas.microsoft.com/office/powerpoint/2010/main" val="4162079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6847DE9-B3C7-466E-8D1B-FEAA19412309}" type="datetimeFigureOut">
              <a:rPr lang="zh-CN" altLang="en-US" smtClean="0"/>
              <a:t>2025/10/27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34B80E7-A9E2-4803-A97B-3EE04E899B86}" type="slidenum">
              <a:rPr lang="zh-CN" altLang="en-US" smtClean="0"/>
              <a:t>‹#›</a:t>
            </a:fld>
            <a:endParaRPr lang="zh-CN" altLang="en-US"/>
          </a:p>
        </p:txBody>
      </p:sp>
    </p:spTree>
    <p:extLst>
      <p:ext uri="{BB962C8B-B14F-4D97-AF65-F5344CB8AC3E}">
        <p14:creationId xmlns:p14="http://schemas.microsoft.com/office/powerpoint/2010/main" val="1067620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26847DE9-B3C7-466E-8D1B-FEAA19412309}" type="datetimeFigureOut">
              <a:rPr lang="zh-CN" altLang="en-US" smtClean="0"/>
              <a:t>2025/10/27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34B80E7-A9E2-4803-A97B-3EE04E899B86}" type="slidenum">
              <a:rPr lang="zh-CN" altLang="en-US" smtClean="0"/>
              <a:t>‹#›</a:t>
            </a:fld>
            <a:endParaRPr lang="zh-CN" altLang="en-US"/>
          </a:p>
        </p:txBody>
      </p:sp>
    </p:spTree>
    <p:extLst>
      <p:ext uri="{BB962C8B-B14F-4D97-AF65-F5344CB8AC3E}">
        <p14:creationId xmlns:p14="http://schemas.microsoft.com/office/powerpoint/2010/main" val="176665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26847DE9-B3C7-466E-8D1B-FEAA19412309}" type="datetimeFigureOut">
              <a:rPr lang="zh-CN" altLang="en-US" smtClean="0"/>
              <a:t>2025/10/27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34B80E7-A9E2-4803-A97B-3EE04E899B86}" type="slidenum">
              <a:rPr lang="zh-CN" altLang="en-US" smtClean="0"/>
              <a:t>‹#›</a:t>
            </a:fld>
            <a:endParaRPr lang="zh-CN" altLang="en-US"/>
          </a:p>
        </p:txBody>
      </p:sp>
    </p:spTree>
    <p:extLst>
      <p:ext uri="{BB962C8B-B14F-4D97-AF65-F5344CB8AC3E}">
        <p14:creationId xmlns:p14="http://schemas.microsoft.com/office/powerpoint/2010/main" val="4056925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40"/>
            <a:ext cx="82296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4" name="页脚占位符 3"/>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5225"/>
            <a:ext cx="2133600" cy="476250"/>
          </a:xfrm>
        </p:spPr>
        <p:txBody>
          <a:bodyPr/>
          <a:lstStyle>
            <a:lvl1pPr>
              <a:defRPr/>
            </a:lvl1pPr>
          </a:lstStyle>
          <a:p>
            <a:fld id="{1514072A-17B3-41A2-BE00-99954BA88FE7}" type="slidenum">
              <a:rPr lang="en-US" altLang="zh-CN"/>
              <a:t>‹#›</a:t>
            </a:fld>
            <a:endParaRPr lang="en-US" altLang="zh-CN"/>
          </a:p>
        </p:txBody>
      </p:sp>
    </p:spTree>
    <p:extLst>
      <p:ext uri="{BB962C8B-B14F-4D97-AF65-F5344CB8AC3E}">
        <p14:creationId xmlns:p14="http://schemas.microsoft.com/office/powerpoint/2010/main" val="3082158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847DE9-B3C7-466E-8D1B-FEAA19412309}" type="datetimeFigureOut">
              <a:rPr lang="zh-CN" altLang="en-US" smtClean="0"/>
              <a:t>2025/10/27</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4B80E7-A9E2-4803-A97B-3EE04E899B86}" type="slidenum">
              <a:rPr lang="zh-CN" altLang="en-US" smtClean="0"/>
              <a:t>‹#›</a:t>
            </a:fld>
            <a:endParaRPr lang="zh-CN" altLang="en-US"/>
          </a:p>
        </p:txBody>
      </p:sp>
    </p:spTree>
    <p:extLst>
      <p:ext uri="{BB962C8B-B14F-4D97-AF65-F5344CB8AC3E}">
        <p14:creationId xmlns:p14="http://schemas.microsoft.com/office/powerpoint/2010/main" val="53298084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0.png"/><Relationship Id="rId1" Type="http://schemas.openxmlformats.org/officeDocument/2006/relationships/slideLayout" Target="../slideLayouts/slideLayout2.xml"/><Relationship Id="rId4" Type="http://schemas.openxmlformats.org/officeDocument/2006/relationships/image" Target="../media/image150.png"/></Relationships>
</file>

<file path=ppt/slides/_rels/slide19.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19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4.bin"/><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879895" y="2780645"/>
            <a:ext cx="2630848" cy="600164"/>
          </a:xfrm>
          <a:prstGeom prst="rect">
            <a:avLst/>
          </a:prstGeom>
        </p:spPr>
        <p:txBody>
          <a:bodyPr wrap="none">
            <a:spAutoFit/>
          </a:bodyPr>
          <a:lstStyle/>
          <a:p>
            <a:pPr algn="ctr"/>
            <a:r>
              <a:rPr lang="en-US" altLang="zh-CN" sz="3300" b="1" dirty="0"/>
              <a:t>   9.1 KKT</a:t>
            </a:r>
            <a:r>
              <a:rPr lang="zh-CN" altLang="en-US" sz="3300" b="1" dirty="0"/>
              <a:t>条件</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54251" y="332656"/>
            <a:ext cx="8208912" cy="2328523"/>
          </a:xfrm>
          <a:prstGeom prst="rect">
            <a:avLst/>
          </a:prstGeom>
          <a:noFill/>
        </p:spPr>
        <p:txBody>
          <a:bodyPr wrap="square" rtlCol="0" anchor="t">
            <a:spAutoFit/>
          </a:bodyPr>
          <a:lstStyle/>
          <a:p>
            <a:pPr algn="just" fontAlgn="auto">
              <a:lnSpc>
                <a:spcPct val="150000"/>
              </a:lnSpc>
            </a:pPr>
            <a:r>
              <a:rPr lang="zh-CN" altLang="en-US" sz="2000" dirty="0">
                <a:latin typeface="宋体" panose="02010600030101010101" pitchFamily="2" charset="-122"/>
                <a:ea typeface="宋体" panose="02010600030101010101" pitchFamily="2" charset="-122"/>
              </a:rPr>
              <a:t>    卡罗需-库恩-塔克条件（英文原名: Karush-Kuhn-Tucker Conditions常见别名: Kuhn-Tucker，KKT条件，Karush-Kuhn-Tucker最优化条件，Karush-Kuhn-Tucker条件，Kuhn-Tucker最优化条件，Kuhn-Tucker条件）是一个非线性规划（Nonlinear Programming）问题有最优化解法的一个必要条件。这是一个广义化拉格朗日乘数的成果。</a:t>
            </a:r>
          </a:p>
        </p:txBody>
      </p:sp>
      <p:sp>
        <p:nvSpPr>
          <p:cNvPr id="2" name="矩形 1"/>
          <p:cNvSpPr/>
          <p:nvPr/>
        </p:nvSpPr>
        <p:spPr>
          <a:xfrm>
            <a:off x="375803" y="2661179"/>
            <a:ext cx="8208911" cy="4199611"/>
          </a:xfrm>
          <a:prstGeom prst="rect">
            <a:avLst/>
          </a:prstGeom>
        </p:spPr>
        <p:txBody>
          <a:bodyPr wrap="square">
            <a:spAutoFit/>
          </a:bodyPr>
          <a:lstStyle/>
          <a:p>
            <a:pPr algn="just">
              <a:lnSpc>
                <a:spcPct val="150000"/>
              </a:lnSpc>
            </a:pPr>
            <a:r>
              <a:rPr lang="en-US" altLang="zh-CN" sz="2000" dirty="0"/>
              <a:t>In mathematics, the Karush–Kuhn–Tucker (KKT) conditions (also known as the Kuhn–Tucker conditions) are necessary for a solution in nonlinear programming to be optimal, provided that some regularity conditions are satisfied. Allowing inequality constraints, the KKT approach to nonlinear programming generalizes the method of Lagrange multipliers, which allows only equality constraints. The KKT conditions were originally named after Harold W. Kuhn, and Albert W. Tucker, who first published the conditions. Later scholars discovered that the necessary conditions for this problem had been stated by William Karush in his master‘s thesis.</a:t>
            </a:r>
            <a:endParaRPr lang="zh-CN" alt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95536" y="620688"/>
            <a:ext cx="5154105" cy="400110"/>
          </a:xfrm>
          <a:prstGeom prst="rect">
            <a:avLst/>
          </a:prstGeom>
          <a:noFill/>
        </p:spPr>
        <p:txBody>
          <a:bodyPr wrap="square">
            <a:spAutoFit/>
          </a:bodyPr>
          <a:lstStyle/>
          <a:p>
            <a:pPr algn="just">
              <a:spcBef>
                <a:spcPts val="450"/>
              </a:spcBef>
              <a:spcAft>
                <a:spcPts val="450"/>
              </a:spcAft>
            </a:pPr>
            <a:r>
              <a:rPr lang="zh-CN" altLang="en-US" sz="2000" kern="100" dirty="0">
                <a:latin typeface="Times New Roman" panose="02020603050405020304" pitchFamily="18" charset="0"/>
                <a:ea typeface="黑体" panose="02010609060101010101" pitchFamily="49" charset="-122"/>
              </a:rPr>
              <a:t>一、基本概念</a:t>
            </a:r>
            <a:endParaRPr lang="zh-CN" altLang="zh-CN" sz="2000" kern="100" dirty="0">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6" name="文本框 5"/>
              <p:cNvSpPr txBox="1"/>
              <p:nvPr/>
            </p:nvSpPr>
            <p:spPr>
              <a:xfrm>
                <a:off x="553975" y="1113670"/>
                <a:ext cx="8188166" cy="5395644"/>
              </a:xfrm>
              <a:prstGeom prst="rect">
                <a:avLst/>
              </a:prstGeom>
              <a:noFill/>
            </p:spPr>
            <p:txBody>
              <a:bodyPr wrap="square" rtlCol="0">
                <a:spAutoFit/>
              </a:bodyPr>
              <a:lstStyle/>
              <a:p>
                <a:pPr algn="just" fontAlgn="auto">
                  <a:lnSpc>
                    <a:spcPct val="150000"/>
                  </a:lnSpc>
                </a:pPr>
                <a:r>
                  <a:rPr lang="en-US" altLang="zh-CN" sz="2000" b="1" dirty="0">
                    <a:latin typeface="宋体" panose="02010600030101010101" pitchFamily="2" charset="-122"/>
                    <a:ea typeface="宋体" panose="02010600030101010101" pitchFamily="2" charset="-122"/>
                    <a:cs typeface="宋体" panose="02010600030101010101" pitchFamily="2" charset="-122"/>
                  </a:rPr>
                  <a:t>	</a:t>
                </a:r>
                <a:r>
                  <a:rPr lang="zh-CN" altLang="en-US" sz="2000" b="1" dirty="0">
                    <a:solidFill>
                      <a:schemeClr val="accent1"/>
                    </a:solidFill>
                    <a:latin typeface="宋体" panose="02010600030101010101" pitchFamily="2" charset="-122"/>
                    <a:ea typeface="宋体" panose="02010600030101010101" pitchFamily="2" charset="-122"/>
                    <a:cs typeface="宋体" panose="02010600030101010101" pitchFamily="2" charset="-122"/>
                  </a:rPr>
                  <a:t>定理</a:t>
                </a:r>
                <a:r>
                  <a:rPr lang="zh-CN" altLang="en-US" sz="2000" b="1" dirty="0">
                    <a:latin typeface="宋体" panose="02010600030101010101" pitchFamily="2" charset="-122"/>
                    <a:ea typeface="宋体" panose="02010600030101010101" pitchFamily="2" charset="-122"/>
                    <a:cs typeface="宋体" panose="02010600030101010101" pitchFamily="2" charset="-122"/>
                  </a:rPr>
                  <a:t> </a:t>
                </a:r>
                <a:r>
                  <a:rPr lang="zh-CN" altLang="en-US" sz="2000" dirty="0">
                    <a:latin typeface="宋体" panose="02010600030101010101" pitchFamily="2" charset="-122"/>
                    <a:ea typeface="宋体" panose="02010600030101010101" pitchFamily="2" charset="-122"/>
                    <a:cs typeface="宋体" panose="02010600030101010101" pitchFamily="2" charset="-122"/>
                  </a:rPr>
                  <a:t>考虑优化问题</a:t>
                </a:r>
              </a:p>
              <a:p>
                <a:pPr algn="just" fontAlgn="auto">
                  <a:lnSpc>
                    <a:spcPct val="15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𝑚𝑖𝑛</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d>
                    </m:oMath>
                  </m:oMathPara>
                </a14:m>
                <a:endParaRPr lang="en-US" altLang="zh-CN" sz="2000" i="1" dirty="0">
                  <a:latin typeface="Cambria Math" panose="02040503050406030204" pitchFamily="18" charset="0"/>
                  <a:ea typeface="宋体" panose="02010600030101010101" pitchFamily="2" charset="-122"/>
                  <a:cs typeface="Cambria Math" panose="02040503050406030204" pitchFamily="18" charset="0"/>
                </a:endParaRPr>
              </a:p>
              <a:p>
                <a:pPr algn="just" fontAlgn="auto">
                  <a:lnSpc>
                    <a:spcPct val="15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𝑠</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𝑡</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h</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sub>
                      </m:sSub>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d>
                      <m:r>
                        <a:rPr lang="en-US" altLang="zh-CN" sz="2000" i="1">
                          <a:latin typeface="Cambria Math" panose="02040503050406030204" pitchFamily="18" charset="0"/>
                          <a:ea typeface="宋体" panose="02010600030101010101" pitchFamily="2" charset="-122"/>
                          <a:cs typeface="Cambria Math" panose="02040503050406030204" pitchFamily="18" charset="0"/>
                        </a:rPr>
                        <m:t>=0</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r>
                            <a:rPr lang="en-US" altLang="zh-CN" sz="2000" i="1">
                              <a:latin typeface="Cambria Math" panose="02040503050406030204" pitchFamily="18" charset="0"/>
                              <a:ea typeface="宋体" panose="02010600030101010101" pitchFamily="2" charset="-122"/>
                              <a:cs typeface="Cambria Math" panose="02040503050406030204" pitchFamily="18" charset="0"/>
                            </a:rPr>
                            <m:t>=1,2,...,</m:t>
                          </m:r>
                          <m:r>
                            <a:rPr lang="en-US" altLang="zh-CN" sz="2000" i="1">
                              <a:latin typeface="Cambria Math" panose="02040503050406030204" pitchFamily="18" charset="0"/>
                              <a:ea typeface="宋体" panose="02010600030101010101" pitchFamily="2" charset="-122"/>
                              <a:cs typeface="Cambria Math" panose="02040503050406030204" pitchFamily="18" charset="0"/>
                            </a:rPr>
                            <m:t>𝑚</m:t>
                          </m:r>
                        </m:e>
                      </m:d>
                      <m:r>
                        <a:rPr lang="en-US" altLang="zh-CN" sz="2000" i="1">
                          <a:latin typeface="Cambria Math" panose="02040503050406030204" pitchFamily="18" charset="0"/>
                          <a:ea typeface="宋体" panose="02010600030101010101" pitchFamily="2" charset="-122"/>
                          <a:cs typeface="Cambria Math" panose="02040503050406030204" pitchFamily="18" charset="0"/>
                        </a:rPr>
                        <m:t>       </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m:t>
                          </m:r>
                        </m:e>
                      </m:d>
                    </m:oMath>
                  </m:oMathPara>
                </a14:m>
                <a:endParaRPr lang="en-US" altLang="zh-CN" sz="2000" i="1" dirty="0">
                  <a:latin typeface="Cambria Math" panose="02040503050406030204" pitchFamily="18" charset="0"/>
                  <a:ea typeface="宋体" panose="02010600030101010101" pitchFamily="2" charset="-122"/>
                  <a:cs typeface="Cambria Math" panose="02040503050406030204" pitchFamily="18" charset="0"/>
                </a:endParaRPr>
              </a:p>
              <a:p>
                <a:pPr algn="just" fontAlgn="auto">
                  <a:lnSpc>
                    <a:spcPct val="150000"/>
                  </a:lnSpc>
                </a:pP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𝑗</m:t>
                          </m:r>
                        </m:sub>
                      </m:sSub>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d>
                      <m:r>
                        <a:rPr lang="en-US" altLang="zh-CN" sz="2000" i="1">
                          <a:latin typeface="Cambria Math" panose="02040503050406030204" pitchFamily="18" charset="0"/>
                          <a:ea typeface="宋体" panose="02010600030101010101" pitchFamily="2" charset="-122"/>
                          <a:cs typeface="Cambria Math" panose="02040503050406030204" pitchFamily="18" charset="0"/>
                        </a:rPr>
                        <m:t>≥0(</m:t>
                      </m:r>
                      <m:r>
                        <a:rPr lang="en-US" altLang="zh-CN" sz="2000" i="1">
                          <a:latin typeface="Cambria Math" panose="02040503050406030204" pitchFamily="18" charset="0"/>
                          <a:ea typeface="宋体" panose="02010600030101010101" pitchFamily="2" charset="-122"/>
                          <a:cs typeface="Cambria Math" panose="02040503050406030204" pitchFamily="18" charset="0"/>
                        </a:rPr>
                        <m:t>𝑗</m:t>
                      </m:r>
                      <m:r>
                        <a:rPr lang="en-US" altLang="zh-CN" sz="2000" i="1">
                          <a:latin typeface="Cambria Math" panose="02040503050406030204" pitchFamily="18" charset="0"/>
                          <a:ea typeface="宋体" panose="02010600030101010101" pitchFamily="2" charset="-122"/>
                          <a:cs typeface="Cambria Math" panose="02040503050406030204" pitchFamily="18" charset="0"/>
                        </a:rPr>
                        <m:t>=1,2,...,</m:t>
                      </m:r>
                      <m:r>
                        <a:rPr lang="en-US" altLang="zh-CN" sz="2000" i="1">
                          <a:latin typeface="Cambria Math" panose="02040503050406030204" pitchFamily="18" charset="0"/>
                          <a:ea typeface="宋体" panose="02010600030101010101" pitchFamily="2" charset="-122"/>
                          <a:cs typeface="Cambria Math" panose="02040503050406030204" pitchFamily="18" charset="0"/>
                        </a:rPr>
                        <m:t>𝑙</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oMath>
                  </m:oMathPara>
                </a14:m>
                <a:endParaRPr lang="en-US" altLang="zh-CN" sz="2000" i="1" dirty="0">
                  <a:latin typeface="Cambria Math" panose="02040503050406030204" pitchFamily="18" charset="0"/>
                  <a:ea typeface="宋体" panose="02010600030101010101" pitchFamily="2" charset="-122"/>
                  <a:cs typeface="Cambria Math" panose="02040503050406030204" pitchFamily="18" charset="0"/>
                </a:endParaRPr>
              </a:p>
              <a:p>
                <a:pPr algn="just" fontAlgn="auto">
                  <a:lnSpc>
                    <a:spcPct val="150000"/>
                  </a:lnSpc>
                </a:pPr>
                <a:r>
                  <a:rPr lang="zh-CN" altLang="en-US" sz="2000" dirty="0">
                    <a:latin typeface="宋体" panose="02010600030101010101" pitchFamily="2" charset="-122"/>
                    <a:ea typeface="宋体" panose="02010600030101010101" pitchFamily="2" charset="-122"/>
                    <a:cs typeface="宋体" panose="02010600030101010101" pitchFamily="2" charset="-122"/>
                  </a:rPr>
                  <a:t>记其可行域为</a:t>
                </a:r>
              </a:p>
              <a:p>
                <a:pPr algn="just" fontAlgn="auto">
                  <a:lnSpc>
                    <a:spcPct val="15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𝐻</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d>
                        <m:dPr>
                          <m:begChr m:val="{"/>
                          <m:endChr m:val="}"/>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b="0" i="1" smtClean="0">
                                  <a:latin typeface="Cambria Math" panose="02040503050406030204" pitchFamily="18" charset="0"/>
                                  <a:ea typeface="宋体" panose="02010600030101010101" pitchFamily="2" charset="-122"/>
                                  <a:cs typeface="Cambria Math" panose="02040503050406030204" pitchFamily="18" charset="0"/>
                                </a:rPr>
                                <m:t>𝑅</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𝑛</m:t>
                              </m:r>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 </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h</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r>
                            <a:rPr lang="en-US" altLang="zh-CN" sz="2000" i="1">
                              <a:latin typeface="Cambria Math" panose="02040503050406030204" pitchFamily="18" charset="0"/>
                              <a:ea typeface="宋体" panose="02010600030101010101" pitchFamily="2" charset="-122"/>
                              <a:cs typeface="Cambria Math" panose="02040503050406030204" pitchFamily="18" charset="0"/>
                            </a:rPr>
                            <m:t>)=0, </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𝑗</m:t>
                              </m:r>
                            </m:sub>
                          </m:sSub>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d>
                          <m:r>
                            <a:rPr lang="en-US" altLang="zh-CN" sz="2000" i="1">
                              <a:latin typeface="Cambria Math" panose="02040503050406030204" pitchFamily="18" charset="0"/>
                              <a:ea typeface="宋体" panose="02010600030101010101" pitchFamily="2" charset="-122"/>
                              <a:cs typeface="Cambria Math" panose="02040503050406030204" pitchFamily="18" charset="0"/>
                            </a:rPr>
                            <m:t>≥0, </m:t>
                          </m:r>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r>
                            <a:rPr lang="en-US" altLang="zh-CN" sz="2000" i="1">
                              <a:latin typeface="Cambria Math" panose="02040503050406030204" pitchFamily="18" charset="0"/>
                              <a:ea typeface="宋体" panose="02010600030101010101" pitchFamily="2" charset="-122"/>
                              <a:cs typeface="Cambria Math" panose="02040503050406030204" pitchFamily="18" charset="0"/>
                            </a:rPr>
                            <m:t>=1,2,...,</m:t>
                          </m:r>
                          <m:r>
                            <a:rPr lang="en-US" altLang="zh-CN" sz="2000" i="1">
                              <a:latin typeface="Cambria Math" panose="02040503050406030204" pitchFamily="18" charset="0"/>
                              <a:ea typeface="宋体" panose="02010600030101010101" pitchFamily="2" charset="-122"/>
                              <a:cs typeface="Cambria Math" panose="02040503050406030204" pitchFamily="18" charset="0"/>
                            </a:rPr>
                            <m:t>𝑚</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r>
                            <a:rPr lang="en-US" altLang="zh-CN" sz="2000" i="1">
                              <a:latin typeface="Cambria Math" panose="02040503050406030204" pitchFamily="18" charset="0"/>
                              <a:ea typeface="宋体" panose="02010600030101010101" pitchFamily="2" charset="-122"/>
                              <a:cs typeface="Cambria Math" panose="02040503050406030204" pitchFamily="18" charset="0"/>
                            </a:rPr>
                            <m:t>𝑗</m:t>
                          </m:r>
                          <m:r>
                            <a:rPr lang="en-US" altLang="zh-CN" sz="2000" i="1">
                              <a:latin typeface="Cambria Math" panose="02040503050406030204" pitchFamily="18" charset="0"/>
                              <a:ea typeface="宋体" panose="02010600030101010101" pitchFamily="2" charset="-122"/>
                              <a:cs typeface="Cambria Math" panose="02040503050406030204" pitchFamily="18" charset="0"/>
                            </a:rPr>
                            <m:t>=1,2,...,</m:t>
                          </m:r>
                          <m:r>
                            <a:rPr lang="en-US" altLang="zh-CN" sz="2000" i="1">
                              <a:latin typeface="Cambria Math" panose="02040503050406030204" pitchFamily="18" charset="0"/>
                              <a:ea typeface="宋体" panose="02010600030101010101" pitchFamily="2" charset="-122"/>
                              <a:cs typeface="Cambria Math" panose="02040503050406030204" pitchFamily="18" charset="0"/>
                            </a:rPr>
                            <m:t>𝑙</m:t>
                          </m:r>
                        </m:e>
                      </m:d>
                    </m:oMath>
                  </m:oMathPara>
                </a14:m>
                <a:endParaRPr lang="en-US" altLang="zh-CN" sz="2000" i="1" dirty="0">
                  <a:latin typeface="Cambria Math" panose="02040503050406030204" pitchFamily="18" charset="0"/>
                  <a:ea typeface="宋体" panose="02010600030101010101" pitchFamily="2" charset="-122"/>
                  <a:cs typeface="Cambria Math" panose="02040503050406030204" pitchFamily="18" charset="0"/>
                </a:endParaRPr>
              </a:p>
              <a:p>
                <a:pPr algn="just" fontAlgn="auto">
                  <a:lnSpc>
                    <a:spcPct val="150000"/>
                  </a:lnSpc>
                </a:pPr>
                <a:r>
                  <a:rPr lang="zh-CN" altLang="en-US" sz="2000" dirty="0">
                    <a:latin typeface="宋体" panose="02010600030101010101" pitchFamily="2" charset="-122"/>
                    <a:ea typeface="宋体" panose="02010600030101010101" pitchFamily="2" charset="-122"/>
                    <a:cs typeface="宋体" panose="02010600030101010101" pitchFamily="2" charset="-122"/>
                  </a:rPr>
                  <a:t>设</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𝐻</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r>
                      <a:rPr lang="en-US" altLang="zh-CN" sz="2000" i="1">
                        <a:latin typeface="Cambria Math" panose="02040503050406030204" pitchFamily="18" charset="0"/>
                        <a:ea typeface="宋体" panose="02010600030101010101" pitchFamily="2" charset="-122"/>
                        <a:cs typeface="Cambria Math" panose="02040503050406030204" pitchFamily="18" charset="0"/>
                      </a:rPr>
                      <m:t>𝐼</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up>
                        </m:sSup>
                      </m:e>
                    </m:d>
                    <m:r>
                      <a:rPr lang="en-US" altLang="zh-CN" sz="2000" i="1">
                        <a:latin typeface="Cambria Math" panose="02040503050406030204" pitchFamily="18" charset="0"/>
                        <a:ea typeface="宋体" panose="02010600030101010101" pitchFamily="2" charset="-122"/>
                        <a:cs typeface="Cambria Math" panose="02040503050406030204" pitchFamily="18" charset="0"/>
                      </a:rPr>
                      <m:t>=</m:t>
                    </m:r>
                    <m:d>
                      <m:dPr>
                        <m:begChr m:val="{"/>
                        <m:endChr m:val="}"/>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b="0" i="1" smtClean="0">
                            <a:latin typeface="Cambria Math" panose="02040503050406030204" pitchFamily="18" charset="0"/>
                            <a:ea typeface="宋体" panose="02010600030101010101" pitchFamily="2" charset="-122"/>
                            <a:cs typeface="Cambria Math" panose="02040503050406030204" pitchFamily="18" charset="0"/>
                          </a:rPr>
                          <m:t>𝑗</m:t>
                        </m:r>
                      </m:e>
                      <m:e>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000" b="0" i="1" smtClean="0">
                                <a:latin typeface="Cambria Math" panose="02040503050406030204" pitchFamily="18" charset="0"/>
                                <a:ea typeface="宋体" panose="02010600030101010101" pitchFamily="2" charset="-122"/>
                                <a:cs typeface="Cambria Math" panose="02040503050406030204" pitchFamily="18" charset="0"/>
                              </a:rPr>
                              <m:t>𝑗</m:t>
                            </m:r>
                          </m:sub>
                        </m:sSub>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up>
                            </m:sSup>
                          </m:e>
                        </m:d>
                        <m:r>
                          <a:rPr lang="en-US" altLang="zh-CN" sz="2000" i="1">
                            <a:latin typeface="Cambria Math" panose="02040503050406030204" pitchFamily="18" charset="0"/>
                            <a:ea typeface="宋体" panose="02010600030101010101" pitchFamily="2" charset="-122"/>
                            <a:cs typeface="Cambria Math" panose="02040503050406030204" pitchFamily="18" charset="0"/>
                          </a:rPr>
                          <m:t>=0, 1≤</m:t>
                        </m:r>
                        <m:r>
                          <a:rPr lang="en-US" altLang="zh-CN" sz="2000" b="0" i="1" smtClean="0">
                            <a:latin typeface="Cambria Math" panose="02040503050406030204" pitchFamily="18" charset="0"/>
                            <a:ea typeface="宋体" panose="02010600030101010101" pitchFamily="2" charset="-122"/>
                            <a:cs typeface="Cambria Math" panose="02040503050406030204" pitchFamily="18" charset="0"/>
                          </a:rPr>
                          <m:t>𝑗</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𝑙</m:t>
                        </m:r>
                      </m:e>
                    </m:d>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d>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与</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000" b="0" i="1" smtClean="0">
                            <a:latin typeface="Cambria Math" panose="02040503050406030204" pitchFamily="18" charset="0"/>
                            <a:ea typeface="宋体" panose="02010600030101010101" pitchFamily="2" charset="-122"/>
                            <a:cs typeface="Cambria Math" panose="02040503050406030204" pitchFamily="18" charset="0"/>
                          </a:rPr>
                          <m:t>𝑗</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b="0" i="1" smtClean="0">
                        <a:latin typeface="Cambria Math" panose="02040503050406030204" pitchFamily="18" charset="0"/>
                        <a:ea typeface="宋体" panose="02010600030101010101" pitchFamily="2" charset="-122"/>
                        <a:cs typeface="Cambria Math" panose="02040503050406030204" pitchFamily="18" charset="0"/>
                      </a:rPr>
                      <m:t>𝑗</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𝐼</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up>
                        </m:sSup>
                      </m:e>
                    </m:d>
                    <m:r>
                      <a:rPr lang="en-US" altLang="zh-CN" sz="2000" i="1">
                        <a:latin typeface="Cambria Math" panose="02040503050406030204" pitchFamily="18" charset="0"/>
                        <a:ea typeface="宋体" panose="02010600030101010101" pitchFamily="2" charset="-122"/>
                        <a:cs typeface="Cambria Math" panose="02040503050406030204" pitchFamily="18" charset="0"/>
                      </a:rPr>
                      <m:t>)</m:t>
                    </m:r>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在点</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up>
                    </m:sSup>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处可微，</a:t>
                </a:r>
                <a14:m>
                  <m:oMath xmlns:m="http://schemas.openxmlformats.org/officeDocument/2006/math">
                    <m:sSub>
                      <m:sSubPr>
                        <m:ctrlPr>
                          <a:rPr lang="en-US" altLang="zh-CN" sz="2000" i="1" smtClean="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000" b="0" i="1" smtClean="0">
                            <a:latin typeface="Cambria Math" panose="02040503050406030204" pitchFamily="18" charset="0"/>
                            <a:ea typeface="宋体" panose="02010600030101010101" pitchFamily="2" charset="-122"/>
                            <a:cs typeface="Cambria Math" panose="02040503050406030204" pitchFamily="18" charset="0"/>
                          </a:rPr>
                          <m:t>𝑗</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b="0" i="1" smtClean="0">
                        <a:latin typeface="Cambria Math" panose="02040503050406030204" pitchFamily="18" charset="0"/>
                        <a:ea typeface="宋体" panose="02010600030101010101" pitchFamily="2" charset="-122"/>
                        <a:cs typeface="Cambria Math" panose="02040503050406030204" pitchFamily="18" charset="0"/>
                      </a:rPr>
                      <m:t>𝑗</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𝐼</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up>
                        </m:sSup>
                      </m:e>
                    </m:d>
                    <m:r>
                      <a:rPr lang="en-US" altLang="zh-CN" sz="2000" i="1">
                        <a:latin typeface="Cambria Math" panose="02040503050406030204" pitchFamily="18" charset="0"/>
                        <a:ea typeface="宋体" panose="02010600030101010101" pitchFamily="2" charset="-122"/>
                        <a:cs typeface="Cambria Math" panose="02040503050406030204" pitchFamily="18" charset="0"/>
                      </a:rPr>
                      <m:t>)</m:t>
                    </m:r>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在点</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up>
                    </m:sSup>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处连续，</a:t>
                </a:r>
                <a:r>
                  <a:rPr lang="en-US" altLang="zh-CN" sz="2000" dirty="0">
                    <a:ea typeface="宋体" panose="02010600030101010101" pitchFamily="2" charset="-122"/>
                    <a:cs typeface="Cambria Math" panose="02040503050406030204" pitchFamily="18" charset="0"/>
                  </a:rPr>
                  <a:t> </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h</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sub>
                    </m:sSub>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d>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在点</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up>
                    </m:sSup>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处连续可微，且向量集</a:t>
                </a:r>
              </a:p>
              <a:p>
                <a:pPr algn="just" fontAlgn="auto">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000" b="0" i="1" smtClean="0">
                                  <a:latin typeface="Cambria Math" panose="02040503050406030204" pitchFamily="18" charset="0"/>
                                  <a:ea typeface="宋体" panose="02010600030101010101" pitchFamily="2" charset="-122"/>
                                  <a:cs typeface="Cambria Math" panose="02040503050406030204" pitchFamily="18" charset="0"/>
                                </a:rPr>
                                <m:t>𝑗</m:t>
                              </m:r>
                            </m:sub>
                          </m:sSub>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up>
                              </m:sSup>
                            </m:e>
                          </m:d>
                          <m:r>
                            <a:rPr lang="en-US" altLang="zh-CN" sz="2000" i="1">
                              <a:latin typeface="Cambria Math" panose="02040503050406030204" pitchFamily="18" charset="0"/>
                              <a:ea typeface="宋体" panose="02010600030101010101" pitchFamily="2" charset="-122"/>
                              <a:cs typeface="Cambria Math" panose="02040503050406030204" pitchFamily="18" charset="0"/>
                            </a:rPr>
                            <m:t>, </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h</m:t>
                              </m:r>
                            </m:e>
                            <m:sub>
                              <m:r>
                                <a:rPr lang="en-US" altLang="zh-CN" sz="2000" b="0" i="1" smtClean="0">
                                  <a:latin typeface="Cambria Math" panose="02040503050406030204" pitchFamily="18" charset="0"/>
                                  <a:ea typeface="宋体" panose="02010600030101010101" pitchFamily="2" charset="-122"/>
                                  <a:cs typeface="Cambria Math" panose="02040503050406030204" pitchFamily="18" charset="0"/>
                                </a:rPr>
                                <m:t>𝑖</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e>
                        <m:e>
                          <m:r>
                            <a:rPr lang="en-US" altLang="zh-CN" sz="2000" b="0" i="1" smtClean="0">
                              <a:latin typeface="Cambria Math" panose="02040503050406030204" pitchFamily="18" charset="0"/>
                              <a:ea typeface="宋体" panose="02010600030101010101" pitchFamily="2" charset="-122"/>
                              <a:cs typeface="Cambria Math" panose="02040503050406030204" pitchFamily="18" charset="0"/>
                            </a:rPr>
                            <m:t>𝑗</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𝐼</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up>
                              </m:sSup>
                            </m:e>
                          </m:d>
                          <m:r>
                            <a:rPr lang="en-US" altLang="zh-CN" sz="2000" i="1">
                              <a:latin typeface="Cambria Math" panose="02040503050406030204" pitchFamily="18" charset="0"/>
                              <a:ea typeface="宋体" panose="02010600030101010101" pitchFamily="2" charset="-122"/>
                              <a:cs typeface="Cambria Math" panose="02040503050406030204" pitchFamily="18" charset="0"/>
                            </a:rPr>
                            <m:t>, </m:t>
                          </m:r>
                          <m:r>
                            <a:rPr lang="en-US" altLang="zh-CN" sz="2000" b="0" i="1" smtClean="0">
                              <a:latin typeface="Cambria Math" panose="02040503050406030204" pitchFamily="18" charset="0"/>
                              <a:ea typeface="宋体" panose="02010600030101010101" pitchFamily="2" charset="-122"/>
                              <a:cs typeface="Cambria Math" panose="02040503050406030204" pitchFamily="18" charset="0"/>
                            </a:rPr>
                            <m:t>𝑖</m:t>
                          </m:r>
                          <m:r>
                            <a:rPr lang="en-US" altLang="zh-CN" sz="2000" i="1">
                              <a:latin typeface="Cambria Math" panose="02040503050406030204" pitchFamily="18" charset="0"/>
                              <a:ea typeface="宋体" panose="02010600030101010101" pitchFamily="2" charset="-122"/>
                              <a:cs typeface="Cambria Math" panose="02040503050406030204" pitchFamily="18" charset="0"/>
                            </a:rPr>
                            <m:t>=1,2,...,</m:t>
                          </m:r>
                          <m:r>
                            <a:rPr lang="en-US" altLang="zh-CN" sz="2000" b="0" i="1" smtClean="0">
                              <a:latin typeface="Cambria Math" panose="02040503050406030204" pitchFamily="18" charset="0"/>
                              <a:ea typeface="宋体" panose="02010600030101010101" pitchFamily="2" charset="-122"/>
                              <a:cs typeface="Cambria Math" panose="02040503050406030204" pitchFamily="18" charset="0"/>
                            </a:rPr>
                            <m:t>𝑚</m:t>
                          </m:r>
                        </m:e>
                      </m:d>
                    </m:oMath>
                  </m:oMathPara>
                </a14:m>
                <a:endParaRPr lang="en-US" altLang="zh-CN" sz="2000" i="1" dirty="0">
                  <a:latin typeface="Cambria Math" panose="02040503050406030204" pitchFamily="18" charset="0"/>
                  <a:ea typeface="宋体" panose="02010600030101010101" pitchFamily="2" charset="-122"/>
                  <a:cs typeface="Cambria Math" panose="02040503050406030204" pitchFamily="18" charset="0"/>
                </a:endParaRPr>
              </a:p>
              <a:p>
                <a:pPr algn="just" fontAlgn="auto">
                  <a:lnSpc>
                    <a:spcPct val="150000"/>
                  </a:lnSpc>
                </a:pPr>
                <a:r>
                  <a:rPr lang="zh-CN" altLang="en-US" sz="2000" dirty="0">
                    <a:latin typeface="Cambria Math" panose="02040503050406030204" pitchFamily="18" charset="0"/>
                    <a:ea typeface="宋体" panose="02010600030101010101" pitchFamily="2" charset="-122"/>
                    <a:cs typeface="Cambria Math" panose="02040503050406030204" pitchFamily="18" charset="0"/>
                  </a:rPr>
                  <a:t>线性无关。</a:t>
                </a:r>
              </a:p>
            </p:txBody>
          </p:sp>
        </mc:Choice>
        <mc:Fallback xmlns="">
          <p:sp>
            <p:nvSpPr>
              <p:cNvPr id="6" name="文本框 5"/>
              <p:cNvSpPr txBox="1">
                <a:spLocks noRot="1" noChangeAspect="1" noMove="1" noResize="1" noEditPoints="1" noAdjustHandles="1" noChangeArrowheads="1" noChangeShapeType="1" noTextEdit="1"/>
              </p:cNvSpPr>
              <p:nvPr/>
            </p:nvSpPr>
            <p:spPr>
              <a:xfrm>
                <a:off x="553975" y="1113670"/>
                <a:ext cx="8188166" cy="5395644"/>
              </a:xfrm>
              <a:prstGeom prst="rect">
                <a:avLst/>
              </a:prstGeom>
              <a:blipFill>
                <a:blip r:embed="rId2"/>
                <a:stretch>
                  <a:fillRect l="-819" r="-745" b="-904"/>
                </a:stretch>
              </a:blipFill>
            </p:spPr>
            <p:txBody>
              <a:bodyPr/>
              <a:lstStyle/>
              <a:p>
                <a:r>
                  <a:rPr lang="zh-CN" alt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p:cNvSpPr txBox="1"/>
              <p:nvPr/>
            </p:nvSpPr>
            <p:spPr>
              <a:xfrm>
                <a:off x="543877" y="1052736"/>
                <a:ext cx="8056245" cy="4558171"/>
              </a:xfrm>
              <a:prstGeom prst="rect">
                <a:avLst/>
              </a:prstGeom>
              <a:noFill/>
            </p:spPr>
            <p:txBody>
              <a:bodyPr wrap="square" rtlCol="0">
                <a:spAutoFit/>
              </a:bodyPr>
              <a:lstStyle/>
              <a:p>
                <a:pPr fontAlgn="auto">
                  <a:lnSpc>
                    <a:spcPct val="150000"/>
                  </a:lnSpc>
                </a:pPr>
                <a:r>
                  <a:rPr lang="zh-CN" altLang="en-US" sz="2400">
                    <a:latin typeface="宋体" panose="02010600030101010101" pitchFamily="2" charset="-122"/>
                    <a:ea typeface="宋体" panose="02010600030101010101" pitchFamily="2" charset="-122"/>
                  </a:rPr>
                  <a:t>若</a:t>
                </a:r>
                <a14:m>
                  <m:oMath xmlns:m="http://schemas.openxmlformats.org/officeDocument/2006/math">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p>
                  </m:oMath>
                </a14:m>
                <a:r>
                  <a:rPr lang="zh-CN" altLang="en-US" sz="2400">
                    <a:latin typeface="宋体" panose="02010600030101010101" pitchFamily="2" charset="-122"/>
                    <a:ea typeface="宋体" panose="02010600030101010101" pitchFamily="2" charset="-122"/>
                  </a:rPr>
                  <a:t>是该优化问题的局部最优解，则存在向量</a:t>
                </a:r>
                <a14:m>
                  <m:oMath xmlns:m="http://schemas.openxmlformats.org/officeDocument/2006/math">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𝛾</m:t>
                        </m:r>
                      </m:e>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𝛾</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1</m:t>
                                </m:r>
                              </m:sub>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b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𝛾</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2</m:t>
                                </m:r>
                              </m:sub>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b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𝛾</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𝑙</m:t>
                                </m:r>
                              </m:sub>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bSup>
                          </m:e>
                        </m:d>
                      </m:e>
                      <m:sup>
                        <m:r>
                          <a:rPr lang="en-US" altLang="zh-CN" sz="2400" i="1">
                            <a:latin typeface="Cambria Math" panose="02040503050406030204" pitchFamily="18" charset="0"/>
                            <a:ea typeface="宋体" panose="02010600030101010101" pitchFamily="2" charset="-122"/>
                            <a:cs typeface="Cambria Math" panose="02040503050406030204" pitchFamily="18" charset="0"/>
                          </a:rPr>
                          <m:t>𝑇</m:t>
                        </m:r>
                      </m:sup>
                    </m:sSup>
                  </m:oMath>
                </a14:m>
                <a:r>
                  <a:rPr lang="zh-CN" altLang="en-US" sz="2400">
                    <a:latin typeface="宋体" panose="02010600030101010101" pitchFamily="2" charset="-122"/>
                    <a:ea typeface="宋体" panose="02010600030101010101" pitchFamily="2" charset="-122"/>
                  </a:rPr>
                  <a:t>和向量</a:t>
                </a:r>
                <a14:m>
                  <m:oMath xmlns:m="http://schemas.openxmlformats.org/officeDocument/2006/math">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𝜆</m:t>
                        </m:r>
                      </m:e>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𝜆</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1</m:t>
                                </m:r>
                              </m:sub>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b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𝜆</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2</m:t>
                                </m:r>
                              </m:sub>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b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𝜆</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𝑚</m:t>
                                </m:r>
                              </m:sub>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bSup>
                          </m:e>
                        </m:d>
                      </m:e>
                      <m:sup>
                        <m:r>
                          <a:rPr lang="en-US" altLang="zh-CN" sz="2400" i="1">
                            <a:latin typeface="Cambria Math" panose="02040503050406030204" pitchFamily="18" charset="0"/>
                            <a:ea typeface="宋体" panose="02010600030101010101" pitchFamily="2" charset="-122"/>
                            <a:cs typeface="Cambria Math" panose="02040503050406030204" pitchFamily="18" charset="0"/>
                          </a:rPr>
                          <m:t>𝑇</m:t>
                        </m:r>
                      </m:sup>
                    </m:sSup>
                  </m:oMath>
                </a14:m>
                <a:r>
                  <a:rPr lang="zh-CN" altLang="en-US" sz="2400">
                    <a:latin typeface="宋体" panose="02010600030101010101" pitchFamily="2" charset="-122"/>
                    <a:ea typeface="宋体" panose="02010600030101010101" pitchFamily="2" charset="-122"/>
                  </a:rPr>
                  <a:t>，使下述条件成立：</a:t>
                </a:r>
              </a:p>
              <a:p>
                <a:pPr fontAlgn="auto">
                  <a:lnSpc>
                    <a:spcPct val="120000"/>
                  </a:lnSpc>
                </a:pPr>
                <a14:m>
                  <m:oMathPara xmlns:m="http://schemas.openxmlformats.org/officeDocument/2006/math">
                    <m:oMathParaPr>
                      <m:jc m:val="centerGroup"/>
                    </m:oMathParaPr>
                    <m:oMath xmlns:m="http://schemas.openxmlformats.org/officeDocument/2006/math">
                      <m:d>
                        <m:dPr>
                          <m:begChr m:val="{"/>
                          <m:endChr m:val=""/>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eqArr>
                            <m:eqArr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eqArrPr>
                            <m:e>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p>
                                </m:e>
                              </m:d>
                              <m:r>
                                <a:rPr lang="en-US" altLang="zh-CN" sz="2400" i="1">
                                  <a:latin typeface="Cambria Math" panose="02040503050406030204" pitchFamily="18" charset="0"/>
                                  <a:ea typeface="宋体" panose="02010600030101010101" pitchFamily="2" charset="-122"/>
                                  <a:cs typeface="Cambria Math" panose="02040503050406030204" pitchFamily="18" charset="0"/>
                                </a:rPr>
                                <m:t>−</m:t>
                              </m:r>
                              <m:nary>
                                <m:naryPr>
                                  <m:chr m:val="∑"/>
                                  <m:limLoc m:val="undOv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naryPr>
                                <m:sub>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宋体" panose="02010600030101010101" pitchFamily="2" charset="-122"/>
                                      <a:cs typeface="Cambria Math" panose="02040503050406030204" pitchFamily="18" charset="0"/>
                                    </a:rPr>
                                    <m:t>=1</m:t>
                                  </m:r>
                                </m:sub>
                                <m:sup>
                                  <m:r>
                                    <a:rPr lang="en-US" altLang="zh-CN" sz="2400" i="1">
                                      <a:latin typeface="Cambria Math" panose="02040503050406030204" pitchFamily="18" charset="0"/>
                                      <a:ea typeface="宋体" panose="02010600030101010101" pitchFamily="2" charset="-122"/>
                                      <a:cs typeface="Cambria Math" panose="02040503050406030204" pitchFamily="18" charset="0"/>
                                    </a:rPr>
                                    <m:t>𝑙</m:t>
                                  </m:r>
                                </m:sup>
                                <m:e>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𝛾</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sub>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b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sub>
                                  </m:sSub>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p>
                                    </m:e>
                                  </m:d>
                                  <m:r>
                                    <a:rPr lang="en-US" altLang="zh-CN" sz="2400" i="1">
                                      <a:latin typeface="Cambria Math" panose="02040503050406030204" pitchFamily="18" charset="0"/>
                                      <a:ea typeface="宋体" panose="02010600030101010101" pitchFamily="2" charset="-122"/>
                                      <a:cs typeface="Cambria Math" panose="02040503050406030204" pitchFamily="18" charset="0"/>
                                    </a:rPr>
                                    <m:t>−</m:t>
                                  </m:r>
                                  <m:nary>
                                    <m:naryPr>
                                      <m:chr m:val="∑"/>
                                      <m:limLoc m:val="undOv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naryPr>
                                    <m:sub>
                                      <m:r>
                                        <a:rPr lang="en-US" altLang="zh-CN" sz="2400" i="1">
                                          <a:latin typeface="Cambria Math" panose="02040503050406030204" pitchFamily="18" charset="0"/>
                                          <a:ea typeface="宋体" panose="02010600030101010101" pitchFamily="2" charset="-122"/>
                                          <a:cs typeface="Cambria Math" panose="02040503050406030204" pitchFamily="18" charset="0"/>
                                        </a:rPr>
                                        <m:t>𝑖</m:t>
                                      </m:r>
                                      <m:r>
                                        <a:rPr lang="en-US" altLang="zh-CN" sz="2400" i="1">
                                          <a:latin typeface="Cambria Math" panose="02040503050406030204" pitchFamily="18" charset="0"/>
                                          <a:ea typeface="宋体" panose="02010600030101010101" pitchFamily="2" charset="-122"/>
                                          <a:cs typeface="Cambria Math" panose="02040503050406030204" pitchFamily="18" charset="0"/>
                                        </a:rPr>
                                        <m:t>=1</m:t>
                                      </m:r>
                                    </m:sub>
                                    <m:sup>
                                      <m:r>
                                        <a:rPr lang="en-US" altLang="zh-CN" sz="2400" i="1">
                                          <a:latin typeface="Cambria Math" panose="02040503050406030204" pitchFamily="18" charset="0"/>
                                          <a:ea typeface="宋体" panose="02010600030101010101" pitchFamily="2" charset="-122"/>
                                          <a:cs typeface="Cambria Math" panose="02040503050406030204" pitchFamily="18" charset="0"/>
                                        </a:rPr>
                                        <m:t>𝑚</m:t>
                                      </m:r>
                                    </m:sup>
                                    <m:e>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𝜆</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𝑖</m:t>
                                          </m:r>
                                        </m:sub>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b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h</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𝑖</m:t>
                                          </m:r>
                                        </m:sub>
                                      </m:sSub>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p>
                                        </m:e>
                                      </m:d>
                                    </m:e>
                                  </m:nary>
                                  <m:r>
                                    <a:rPr lang="en-US" altLang="zh-CN" sz="2400" i="1">
                                      <a:latin typeface="Cambria Math" panose="02040503050406030204" pitchFamily="18" charset="0"/>
                                      <a:ea typeface="宋体" panose="02010600030101010101" pitchFamily="2" charset="-122"/>
                                      <a:cs typeface="Cambria Math" panose="02040503050406030204" pitchFamily="18" charset="0"/>
                                    </a:rPr>
                                    <m:t>=0   </m:t>
                                  </m:r>
                                </m:e>
                              </m:nary>
                            </m:e>
                            <m:e>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h</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𝑖</m:t>
                                  </m:r>
                                </m:sub>
                              </m:sSub>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p>
                                </m:e>
                              </m:d>
                              <m:r>
                                <a:rPr lang="en-US" altLang="zh-CN" sz="2400" i="1">
                                  <a:latin typeface="Cambria Math" panose="02040503050406030204" pitchFamily="18" charset="0"/>
                                  <a:ea typeface="宋体" panose="02010600030101010101" pitchFamily="2" charset="-122"/>
                                  <a:cs typeface="Cambria Math" panose="02040503050406030204" pitchFamily="18" charset="0"/>
                                </a:rPr>
                                <m:t>=0,   </m:t>
                              </m:r>
                              <m:r>
                                <a:rPr lang="en-US" altLang="zh-CN" sz="2400" i="1">
                                  <a:latin typeface="Cambria Math" panose="02040503050406030204" pitchFamily="18" charset="0"/>
                                  <a:ea typeface="宋体" panose="02010600030101010101" pitchFamily="2" charset="-122"/>
                                  <a:cs typeface="Cambria Math" panose="02040503050406030204" pitchFamily="18" charset="0"/>
                                </a:rPr>
                                <m:t>𝑖</m:t>
                              </m:r>
                              <m:r>
                                <a:rPr lang="en-US" altLang="zh-CN" sz="2400" i="1">
                                  <a:latin typeface="Cambria Math" panose="02040503050406030204" pitchFamily="18" charset="0"/>
                                  <a:ea typeface="宋体" panose="02010600030101010101" pitchFamily="2" charset="-122"/>
                                  <a:cs typeface="Cambria Math" panose="02040503050406030204" pitchFamily="18" charset="0"/>
                                </a:rPr>
                                <m:t>=1,2,...,</m:t>
                              </m:r>
                              <m:r>
                                <a:rPr lang="en-US" altLang="zh-CN" sz="2400" i="1">
                                  <a:latin typeface="Cambria Math" panose="02040503050406030204" pitchFamily="18" charset="0"/>
                                  <a:ea typeface="宋体" panose="02010600030101010101" pitchFamily="2" charset="-122"/>
                                  <a:cs typeface="Cambria Math" panose="02040503050406030204" pitchFamily="18" charset="0"/>
                                </a:rPr>
                                <m:t>𝑚</m:t>
                              </m:r>
                              <m:r>
                                <a:rPr lang="en-US" altLang="zh-CN" sz="2400" i="1">
                                  <a:latin typeface="Cambria Math" panose="02040503050406030204" pitchFamily="18" charset="0"/>
                                  <a:ea typeface="宋体" panose="02010600030101010101" pitchFamily="2" charset="-122"/>
                                  <a:cs typeface="Cambria Math" panose="02040503050406030204" pitchFamily="18" charset="0"/>
                                </a:rPr>
                                <m:t>                                     </m:t>
                              </m:r>
                            </m:e>
                            <m:e>
                              <m:r>
                                <a:rPr lang="en-US" altLang="zh-CN" sz="2400" i="1">
                                  <a:latin typeface="Cambria Math" panose="02040503050406030204" pitchFamily="18" charset="0"/>
                                  <a:ea typeface="宋体" panose="02010600030101010101" pitchFamily="2" charset="-122"/>
                                  <a:cs typeface="Cambria Math" panose="02040503050406030204" pitchFamily="18" charset="0"/>
                                </a:rPr>
                                <m:t>                                   </m:t>
                              </m:r>
                            </m:e>
                            <m:e>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sub>
                              </m:sSub>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p>
                                </m:e>
                              </m:d>
                              <m:r>
                                <a:rPr lang="en-US" altLang="zh-CN" sz="2400" i="1">
                                  <a:latin typeface="Cambria Math" panose="02040503050406030204" pitchFamily="18" charset="0"/>
                                  <a:ea typeface="宋体" panose="02010600030101010101" pitchFamily="2" charset="-122"/>
                                  <a:cs typeface="Cambria Math" panose="02040503050406030204" pitchFamily="18" charset="0"/>
                                </a:rPr>
                                <m:t>≥0, </m:t>
                              </m:r>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𝛾</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sub>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bSup>
                              <m:r>
                                <a:rPr lang="en-US" altLang="zh-CN" sz="2400" i="1">
                                  <a:latin typeface="Cambria Math" panose="02040503050406030204" pitchFamily="18" charset="0"/>
                                  <a:ea typeface="宋体" panose="02010600030101010101" pitchFamily="2" charset="-122"/>
                                  <a:cs typeface="Cambria Math" panose="02040503050406030204" pitchFamily="18" charset="0"/>
                                </a:rPr>
                                <m:t>≥0, </m:t>
                              </m:r>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𝛾</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sub>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bSup>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sub>
                              </m:sSub>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p>
                                </m:e>
                              </m:d>
                              <m:r>
                                <a:rPr lang="en-US" altLang="zh-CN" sz="2400" i="1">
                                  <a:latin typeface="Cambria Math" panose="02040503050406030204" pitchFamily="18" charset="0"/>
                                  <a:ea typeface="宋体" panose="02010600030101010101" pitchFamily="2" charset="-122"/>
                                  <a:cs typeface="Cambria Math" panose="02040503050406030204" pitchFamily="18" charset="0"/>
                                </a:rPr>
                                <m:t>=0,</m:t>
                              </m:r>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宋体" panose="02010600030101010101" pitchFamily="2" charset="-122"/>
                                  <a:cs typeface="Cambria Math" panose="02040503050406030204" pitchFamily="18" charset="0"/>
                                </a:rPr>
                                <m:t>=1,2,...,</m:t>
                              </m:r>
                              <m:r>
                                <a:rPr lang="en-US" altLang="zh-CN" sz="2400" i="1">
                                  <a:latin typeface="Cambria Math" panose="02040503050406030204" pitchFamily="18" charset="0"/>
                                  <a:ea typeface="宋体" panose="02010600030101010101" pitchFamily="2" charset="-122"/>
                                  <a:cs typeface="Cambria Math" panose="02040503050406030204" pitchFamily="18" charset="0"/>
                                </a:rPr>
                                <m:t>𝑙</m:t>
                              </m:r>
                            </m:e>
                          </m:eqArr>
                        </m:e>
                      </m:d>
                    </m:oMath>
                  </m:oMathPara>
                </a14:m>
                <a:endParaRPr lang="zh-CN" altLang="en-US" sz="2400">
                  <a:latin typeface="宋体" panose="02010600030101010101" pitchFamily="2" charset="-122"/>
                  <a:ea typeface="宋体" panose="02010600030101010101" pitchFamily="2"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543877" y="1052736"/>
                <a:ext cx="8056245" cy="4558171"/>
              </a:xfrm>
              <a:prstGeom prst="rect">
                <a:avLst/>
              </a:prstGeom>
              <a:blipFill>
                <a:blip r:embed="rId2"/>
                <a:stretch>
                  <a:fillRect l="-1135"/>
                </a:stretch>
              </a:blipFill>
            </p:spPr>
            <p:txBody>
              <a:bodyPr/>
              <a:lstStyle/>
              <a:p>
                <a:r>
                  <a:rPr lang="zh-CN" altLang="en-US">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p:cNvSpPr txBox="1"/>
              <p:nvPr/>
            </p:nvSpPr>
            <p:spPr>
              <a:xfrm>
                <a:off x="467544" y="599122"/>
                <a:ext cx="8432483" cy="5659755"/>
              </a:xfrm>
              <a:prstGeom prst="rect">
                <a:avLst/>
              </a:prstGeom>
              <a:noFill/>
            </p:spPr>
            <p:txBody>
              <a:bodyPr wrap="square" rtlCol="0">
                <a:spAutoFit/>
              </a:bodyPr>
              <a:lstStyle/>
              <a:p>
                <a:pPr marL="1585913" indent="-1585913" algn="just">
                  <a:tabLst>
                    <a:tab pos="1977866" algn="ctr"/>
                    <a:tab pos="3955733" algn="r"/>
                  </a:tabLst>
                </a:pPr>
                <a:r>
                  <a:rPr lang="zh-CN" altLang="en-US" sz="2400" b="1" kern="100" dirty="0">
                    <a:solidFill>
                      <a:schemeClr val="accent1"/>
                    </a:solidFill>
                    <a:latin typeface="宋体" panose="02010600030101010101" pitchFamily="2" charset="-122"/>
                    <a:ea typeface="宋体" panose="02010600030101010101" pitchFamily="2" charset="-122"/>
                    <a:cs typeface="宋体" panose="02010600030101010101" pitchFamily="2" charset="-122"/>
                    <a:sym typeface="+mn-ea"/>
                  </a:rPr>
                  <a:t>定义</a:t>
                </a:r>
                <a:r>
                  <a:rPr lang="en-US" altLang="zh-CN" sz="2400" b="1" kern="100" dirty="0">
                    <a:solidFill>
                      <a:schemeClr val="accent1"/>
                    </a:solidFill>
                    <a:latin typeface="宋体" panose="02010600030101010101" pitchFamily="2" charset="-122"/>
                    <a:ea typeface="宋体" panose="02010600030101010101" pitchFamily="2" charset="-122"/>
                    <a:cs typeface="宋体" panose="02010600030101010101" pitchFamily="2" charset="-122"/>
                    <a:sym typeface="+mn-ea"/>
                  </a:rPr>
                  <a:t>1</a:t>
                </a:r>
                <a:r>
                  <a:rPr lang="en-US" altLang="zh-CN" sz="2400" kern="100" dirty="0">
                    <a:solidFill>
                      <a:schemeClr val="accent1"/>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2400" kern="100" dirty="0">
                    <a:latin typeface="宋体" panose="02010600030101010101" pitchFamily="2" charset="-122"/>
                    <a:ea typeface="宋体" panose="02010600030101010101" pitchFamily="2" charset="-122"/>
                    <a:cs typeface="宋体" panose="02010600030101010101" pitchFamily="2" charset="-122"/>
                    <a:sym typeface="+mn-ea"/>
                  </a:rPr>
                  <a:t>通常称</a:t>
                </a:r>
                <a:endParaRPr lang="zh-CN" altLang="en-US" sz="2400" kern="100" dirty="0">
                  <a:latin typeface="宋体" panose="02010600030101010101" pitchFamily="2" charset="-122"/>
                  <a:ea typeface="宋体" panose="02010600030101010101" pitchFamily="2" charset="-122"/>
                  <a:cs typeface="宋体" panose="02010600030101010101" pitchFamily="2" charset="-122"/>
                </a:endParaRPr>
              </a:p>
              <a:p>
                <a:pPr marL="1585913" indent="-1585913" algn="just">
                  <a:tabLst>
                    <a:tab pos="1977866" algn="ctr"/>
                    <a:tab pos="3955733" algn="r"/>
                  </a:tabLst>
                </a:pPr>
                <a:endParaRPr lang="zh-CN" altLang="en-US" sz="2400" kern="100" dirty="0">
                  <a:latin typeface="宋体" panose="02010600030101010101" pitchFamily="2" charset="-122"/>
                  <a:ea typeface="宋体" panose="02010600030101010101" pitchFamily="2" charset="-122"/>
                  <a:cs typeface="宋体" panose="02010600030101010101" pitchFamily="2"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eqArr>
                            <m:eqArr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eqArrPr>
                            <m:e>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a:latin typeface="Cambria Math" panose="02040503050406030204" pitchFamily="18" charset="0"/>
                                          <a:ea typeface="MS Mincho" panose="02020609040205080304" charset="-128"/>
                                          <a:cs typeface="Cambria Math" panose="02040503050406030204" pitchFamily="18" charset="0"/>
                                        </a:rPr>
                                        <m:t>∗</m:t>
                                      </m:r>
                                    </m:sup>
                                  </m:sSup>
                                </m:e>
                              </m:d>
                              <m:r>
                                <a:rPr lang="en-US" altLang="zh-CN" sz="2400" i="1">
                                  <a:latin typeface="Cambria Math" panose="02040503050406030204" pitchFamily="18" charset="0"/>
                                  <a:ea typeface="MS Mincho" panose="02020609040205080304" charset="-128"/>
                                  <a:cs typeface="Cambria Math" panose="02040503050406030204" pitchFamily="18" charset="0"/>
                                </a:rPr>
                                <m:t>−</m:t>
                              </m:r>
                              <m:nary>
                                <m:naryPr>
                                  <m:chr m:val="∑"/>
                                  <m:limLoc m:val="undOv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naryPr>
                                <m:sub>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MS Mincho" panose="02020609040205080304" charset="-128"/>
                                      <a:cs typeface="Cambria Math" panose="02040503050406030204" pitchFamily="18" charset="0"/>
                                    </a:rPr>
                                    <m:t>=1</m:t>
                                  </m:r>
                                </m:sub>
                                <m:sup>
                                  <m:r>
                                    <a:rPr lang="en-US" altLang="zh-CN" sz="2400" i="1">
                                      <a:latin typeface="Cambria Math" panose="02040503050406030204" pitchFamily="18" charset="0"/>
                                      <a:ea typeface="宋体" panose="02010600030101010101" pitchFamily="2" charset="-122"/>
                                      <a:cs typeface="Cambria Math" panose="02040503050406030204" pitchFamily="18" charset="0"/>
                                    </a:rPr>
                                    <m:t>𝑙</m:t>
                                  </m:r>
                                </m:sup>
                                <m:e>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MS Mincho" panose="02020609040205080304" charset="-128"/>
                                          <a:cs typeface="Cambria Math" panose="02040503050406030204" pitchFamily="18" charset="0"/>
                                        </a:rPr>
                                        <m:t>𝛾</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sub>
                                    <m:sup>
                                      <m:r>
                                        <a:rPr lang="en-US" altLang="zh-CN" sz="2400" i="1">
                                          <a:latin typeface="Cambria Math" panose="02040503050406030204" pitchFamily="18" charset="0"/>
                                          <a:ea typeface="MS Mincho" panose="02020609040205080304" charset="-128"/>
                                          <a:cs typeface="Cambria Math" panose="02040503050406030204" pitchFamily="18" charset="0"/>
                                        </a:rPr>
                                        <m:t>∗</m:t>
                                      </m:r>
                                    </m:sup>
                                  </m:sSubSup>
                                  <m:r>
                                    <a:rPr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sub>
                                  </m:sSub>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a:latin typeface="Cambria Math" panose="02040503050406030204" pitchFamily="18" charset="0"/>
                                              <a:ea typeface="MS Mincho" panose="02020609040205080304" charset="-128"/>
                                              <a:cs typeface="Cambria Math" panose="02040503050406030204" pitchFamily="18" charset="0"/>
                                            </a:rPr>
                                            <m:t>∗</m:t>
                                          </m:r>
                                        </m:sup>
                                      </m:sSup>
                                    </m:e>
                                  </m:d>
                                  <m:r>
                                    <a:rPr lang="en-US" altLang="zh-CN" sz="2400" i="1">
                                      <a:latin typeface="Cambria Math" panose="02040503050406030204" pitchFamily="18" charset="0"/>
                                      <a:ea typeface="MS Mincho" panose="02020609040205080304" charset="-128"/>
                                      <a:cs typeface="Cambria Math" panose="02040503050406030204" pitchFamily="18" charset="0"/>
                                    </a:rPr>
                                    <m:t>−</m:t>
                                  </m:r>
                                  <m:nary>
                                    <m:naryPr>
                                      <m:chr m:val="∑"/>
                                      <m:limLoc m:val="undOv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naryPr>
                                    <m:sub>
                                      <m:r>
                                        <a:rPr lang="en-US" altLang="zh-CN" sz="2400" i="1">
                                          <a:latin typeface="Cambria Math" panose="02040503050406030204" pitchFamily="18" charset="0"/>
                                          <a:ea typeface="宋体" panose="02010600030101010101" pitchFamily="2" charset="-122"/>
                                          <a:cs typeface="Cambria Math" panose="02040503050406030204" pitchFamily="18" charset="0"/>
                                        </a:rPr>
                                        <m:t>𝑖</m:t>
                                      </m:r>
                                      <m:r>
                                        <a:rPr lang="en-US" altLang="zh-CN" sz="2400" i="1">
                                          <a:latin typeface="Cambria Math" panose="02040503050406030204" pitchFamily="18" charset="0"/>
                                          <a:ea typeface="MS Mincho" panose="02020609040205080304" charset="-128"/>
                                          <a:cs typeface="Cambria Math" panose="02040503050406030204" pitchFamily="18" charset="0"/>
                                        </a:rPr>
                                        <m:t>=1</m:t>
                                      </m:r>
                                    </m:sub>
                                    <m:sup>
                                      <m:r>
                                        <a:rPr lang="en-US" altLang="zh-CN" sz="2400" i="1">
                                          <a:latin typeface="Cambria Math" panose="02040503050406030204" pitchFamily="18" charset="0"/>
                                          <a:ea typeface="宋体" panose="02010600030101010101" pitchFamily="2" charset="-122"/>
                                          <a:cs typeface="Cambria Math" panose="02040503050406030204" pitchFamily="18" charset="0"/>
                                        </a:rPr>
                                        <m:t>𝑚</m:t>
                                      </m:r>
                                    </m:sup>
                                    <m:e>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MS Mincho" panose="02020609040205080304" charset="-128"/>
                                              <a:cs typeface="Cambria Math" panose="02040503050406030204" pitchFamily="18" charset="0"/>
                                            </a:rPr>
                                            <m:t>𝜆</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𝑖</m:t>
                                          </m:r>
                                        </m:sub>
                                        <m:sup>
                                          <m:r>
                                            <a:rPr lang="en-US" altLang="zh-CN" sz="2400" i="1">
                                              <a:latin typeface="Cambria Math" panose="02040503050406030204" pitchFamily="18" charset="0"/>
                                              <a:ea typeface="MS Mincho" panose="02020609040205080304" charset="-128"/>
                                              <a:cs typeface="Cambria Math" panose="02040503050406030204" pitchFamily="18" charset="0"/>
                                            </a:rPr>
                                            <m:t>∗</m:t>
                                          </m:r>
                                        </m:sup>
                                      </m:sSubSup>
                                      <m:r>
                                        <a:rPr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h</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𝑖</m:t>
                                          </m:r>
                                        </m:sub>
                                      </m:sSub>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a:latin typeface="Cambria Math" panose="02040503050406030204" pitchFamily="18" charset="0"/>
                                                  <a:ea typeface="MS Mincho" panose="02020609040205080304" charset="-128"/>
                                                  <a:cs typeface="Cambria Math" panose="02040503050406030204" pitchFamily="18" charset="0"/>
                                                </a:rPr>
                                                <m:t>∗</m:t>
                                              </m:r>
                                            </m:sup>
                                          </m:sSup>
                                        </m:e>
                                      </m:d>
                                    </m:e>
                                  </m:nary>
                                  <m:r>
                                    <a:rPr lang="en-US" altLang="zh-CN" sz="2400" i="1">
                                      <a:latin typeface="Cambria Math" panose="02040503050406030204" pitchFamily="18" charset="0"/>
                                      <a:ea typeface="MS Mincho" panose="02020609040205080304" charset="-128"/>
                                      <a:cs typeface="Cambria Math" panose="02040503050406030204" pitchFamily="18" charset="0"/>
                                    </a:rPr>
                                    <m:t>=0   </m:t>
                                  </m:r>
                                </m:e>
                              </m:nary>
                            </m:e>
                            <m:e>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h</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𝑖</m:t>
                                  </m:r>
                                </m:sub>
                              </m:sSub>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a:latin typeface="Cambria Math" panose="02040503050406030204" pitchFamily="18" charset="0"/>
                                          <a:ea typeface="MS Mincho" panose="02020609040205080304" charset="-128"/>
                                          <a:cs typeface="Cambria Math" panose="02040503050406030204" pitchFamily="18" charset="0"/>
                                        </a:rPr>
                                        <m:t>∗</m:t>
                                      </m:r>
                                    </m:sup>
                                  </m:sSup>
                                </m:e>
                              </m:d>
                              <m:r>
                                <a:rPr lang="en-US" altLang="zh-CN" sz="2400" i="1">
                                  <a:latin typeface="Cambria Math" panose="02040503050406030204" pitchFamily="18" charset="0"/>
                                  <a:ea typeface="MS Mincho" panose="02020609040205080304" charset="-128"/>
                                  <a:cs typeface="Cambria Math" panose="02040503050406030204" pitchFamily="18" charset="0"/>
                                </a:rPr>
                                <m:t>=0,   </m:t>
                              </m:r>
                              <m:r>
                                <a:rPr lang="en-US" altLang="zh-CN" sz="2400" i="1">
                                  <a:latin typeface="Cambria Math" panose="02040503050406030204" pitchFamily="18" charset="0"/>
                                  <a:ea typeface="宋体" panose="02010600030101010101" pitchFamily="2" charset="-122"/>
                                  <a:cs typeface="Cambria Math" panose="02040503050406030204" pitchFamily="18" charset="0"/>
                                </a:rPr>
                                <m:t>𝑖</m:t>
                              </m:r>
                              <m:r>
                                <a:rPr lang="en-US" altLang="zh-CN" sz="2400" i="1">
                                  <a:latin typeface="Cambria Math" panose="02040503050406030204" pitchFamily="18" charset="0"/>
                                  <a:ea typeface="MS Mincho" panose="02020609040205080304" charset="-128"/>
                                  <a:cs typeface="Cambria Math" panose="02040503050406030204" pitchFamily="18" charset="0"/>
                                </a:rPr>
                                <m:t>=1,2,...,</m:t>
                              </m:r>
                              <m:r>
                                <a:rPr lang="en-US" altLang="zh-CN" sz="2400" i="1">
                                  <a:latin typeface="Cambria Math" panose="02040503050406030204" pitchFamily="18" charset="0"/>
                                  <a:ea typeface="宋体" panose="02010600030101010101" pitchFamily="2" charset="-122"/>
                                  <a:cs typeface="Cambria Math" panose="02040503050406030204" pitchFamily="18" charset="0"/>
                                </a:rPr>
                                <m:t>𝑚</m:t>
                              </m:r>
                              <m:r>
                                <a:rPr lang="en-US" altLang="zh-CN" sz="2400" i="1">
                                  <a:latin typeface="Cambria Math" panose="02040503050406030204" pitchFamily="18" charset="0"/>
                                  <a:ea typeface="MS Mincho" panose="02020609040205080304" charset="-128"/>
                                  <a:cs typeface="Cambria Math" panose="02040503050406030204" pitchFamily="18" charset="0"/>
                                </a:rPr>
                                <m:t>                                     </m:t>
                              </m:r>
                            </m:e>
                            <m:e>
                              <m:r>
                                <a:rPr lang="en-US" altLang="zh-CN" sz="2400" i="1">
                                  <a:latin typeface="Cambria Math" panose="02040503050406030204" pitchFamily="18" charset="0"/>
                                  <a:ea typeface="MS Mincho" panose="02020609040205080304" charset="-128"/>
                                  <a:cs typeface="Cambria Math" panose="02040503050406030204" pitchFamily="18" charset="0"/>
                                </a:rPr>
                                <m:t>                                   </m:t>
                              </m:r>
                            </m:e>
                            <m:e>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sub>
                              </m:sSub>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a:latin typeface="Cambria Math" panose="02040503050406030204" pitchFamily="18" charset="0"/>
                                          <a:ea typeface="MS Mincho" panose="02020609040205080304" charset="-128"/>
                                          <a:cs typeface="Cambria Math" panose="02040503050406030204" pitchFamily="18" charset="0"/>
                                        </a:rPr>
                                        <m:t>∗</m:t>
                                      </m:r>
                                    </m:sup>
                                  </m:sSup>
                                </m:e>
                              </m:d>
                              <m:r>
                                <a:rPr lang="en-US" altLang="zh-CN" sz="2400" i="1">
                                  <a:latin typeface="Cambria Math" panose="02040503050406030204" pitchFamily="18" charset="0"/>
                                  <a:ea typeface="MS Mincho" panose="02020609040205080304" charset="-128"/>
                                  <a:cs typeface="Cambria Math" panose="02040503050406030204" pitchFamily="18" charset="0"/>
                                </a:rPr>
                                <m:t>≥0, </m:t>
                              </m:r>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MS Mincho" panose="02020609040205080304" charset="-128"/>
                                      <a:cs typeface="Cambria Math" panose="02040503050406030204" pitchFamily="18" charset="0"/>
                                    </a:rPr>
                                    <m:t>𝛾</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sub>
                                <m:sup>
                                  <m:r>
                                    <a:rPr lang="en-US" altLang="zh-CN" sz="2400" i="1">
                                      <a:latin typeface="Cambria Math" panose="02040503050406030204" pitchFamily="18" charset="0"/>
                                      <a:ea typeface="MS Mincho" panose="02020609040205080304" charset="-128"/>
                                      <a:cs typeface="Cambria Math" panose="02040503050406030204" pitchFamily="18" charset="0"/>
                                    </a:rPr>
                                    <m:t>∗</m:t>
                                  </m:r>
                                </m:sup>
                              </m:sSubSup>
                              <m:r>
                                <a:rPr lang="en-US" altLang="zh-CN" sz="2400" i="1">
                                  <a:latin typeface="Cambria Math" panose="02040503050406030204" pitchFamily="18" charset="0"/>
                                  <a:ea typeface="MS Mincho" panose="02020609040205080304" charset="-128"/>
                                  <a:cs typeface="Cambria Math" panose="02040503050406030204" pitchFamily="18" charset="0"/>
                                </a:rPr>
                                <m:t>≥0, </m:t>
                              </m:r>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MS Mincho" panose="02020609040205080304" charset="-128"/>
                                      <a:cs typeface="Cambria Math" panose="02040503050406030204" pitchFamily="18" charset="0"/>
                                    </a:rPr>
                                    <m:t>𝛾</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sub>
                                <m:sup>
                                  <m:r>
                                    <a:rPr lang="en-US" altLang="zh-CN" sz="2400" i="1">
                                      <a:latin typeface="Cambria Math" panose="02040503050406030204" pitchFamily="18" charset="0"/>
                                      <a:ea typeface="MS Mincho" panose="02020609040205080304" charset="-128"/>
                                      <a:cs typeface="Cambria Math" panose="02040503050406030204" pitchFamily="18" charset="0"/>
                                    </a:rPr>
                                    <m:t>∗</m:t>
                                  </m:r>
                                </m:sup>
                              </m:sSubSup>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sub>
                              </m:sSub>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a:latin typeface="Cambria Math" panose="02040503050406030204" pitchFamily="18" charset="0"/>
                                          <a:ea typeface="MS Mincho" panose="02020609040205080304" charset="-128"/>
                                          <a:cs typeface="Cambria Math" panose="02040503050406030204" pitchFamily="18" charset="0"/>
                                        </a:rPr>
                                        <m:t>∗</m:t>
                                      </m:r>
                                    </m:sup>
                                  </m:sSup>
                                </m:e>
                              </m:d>
                              <m:r>
                                <a:rPr lang="en-US" altLang="zh-CN" sz="2400" i="1">
                                  <a:latin typeface="Cambria Math" panose="02040503050406030204" pitchFamily="18" charset="0"/>
                                  <a:ea typeface="MS Mincho" panose="02020609040205080304" charset="-128"/>
                                  <a:cs typeface="Cambria Math" panose="02040503050406030204" pitchFamily="18" charset="0"/>
                                </a:rPr>
                                <m:t>=0,</m:t>
                              </m:r>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MS Mincho" panose="02020609040205080304" charset="-128"/>
                                  <a:cs typeface="Cambria Math" panose="02040503050406030204" pitchFamily="18" charset="0"/>
                                </a:rPr>
                                <m:t>=1,2,...,</m:t>
                              </m:r>
                              <m:r>
                                <a:rPr lang="en-US" altLang="zh-CN" sz="2400" i="1">
                                  <a:latin typeface="Cambria Math" panose="02040503050406030204" pitchFamily="18" charset="0"/>
                                  <a:ea typeface="宋体" panose="02010600030101010101" pitchFamily="2" charset="-122"/>
                                  <a:cs typeface="Cambria Math" panose="02040503050406030204" pitchFamily="18" charset="0"/>
                                </a:rPr>
                                <m:t>𝑙</m:t>
                              </m:r>
                            </m:e>
                          </m:eqArr>
                        </m:e>
                      </m:d>
                    </m:oMath>
                  </m:oMathPara>
                </a14:m>
                <a:endParaRPr lang="en-US" altLang="zh-CN" sz="2400" i="1" dirty="0">
                  <a:latin typeface="Cambria Math" panose="02040503050406030204" pitchFamily="18" charset="0"/>
                  <a:ea typeface="宋体" panose="02010600030101010101" pitchFamily="2" charset="-122"/>
                  <a:cs typeface="Cambria Math" panose="02040503050406030204" pitchFamily="18" charset="0"/>
                </a:endParaRPr>
              </a:p>
              <a:p>
                <a:endParaRPr lang="en-US" altLang="zh-CN" sz="2400" i="1" dirty="0">
                  <a:latin typeface="宋体" panose="02010600030101010101" pitchFamily="2" charset="-122"/>
                  <a:ea typeface="宋体" panose="02010600030101010101" pitchFamily="2" charset="-122"/>
                  <a:cs typeface="宋体" panose="02010600030101010101" pitchFamily="2" charset="-122"/>
                </a:endParaRPr>
              </a:p>
              <a:p>
                <a:pPr algn="just" fontAlgn="auto">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sym typeface="+mn-ea"/>
                  </a:rPr>
                  <a:t>为既含有等式约束又含有不等式约束的非线性规划问题</a:t>
                </a:r>
                <a14:m>
                  <m:oMath xmlns:m="http://schemas.openxmlformats.org/officeDocument/2006/math">
                    <m:d>
                      <m:dPr>
                        <m:ctrlPr>
                          <a:rPr lang="en-US" altLang="zh-CN" sz="2400" i="1" dirty="0">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dirty="0">
                            <a:latin typeface="Cambria Math" panose="02040503050406030204" pitchFamily="18" charset="0"/>
                            <a:ea typeface="MS Mincho" panose="02020609040205080304" charset="-128"/>
                            <a:cs typeface="Cambria Math" panose="02040503050406030204" pitchFamily="18" charset="0"/>
                          </a:rPr>
                          <m:t>∗</m:t>
                        </m:r>
                      </m:e>
                    </m:d>
                  </m:oMath>
                </a14:m>
                <a:r>
                  <a:rPr lang="zh-CN" altLang="en-US" sz="2400" dirty="0">
                    <a:latin typeface="宋体" panose="02010600030101010101" pitchFamily="2" charset="-122"/>
                    <a:ea typeface="宋体" panose="02010600030101010101" pitchFamily="2" charset="-122"/>
                    <a:cs typeface="宋体" panose="02010600030101010101" pitchFamily="2" charset="-122"/>
                    <a:sym typeface="+mn-ea"/>
                  </a:rPr>
                  <a:t>的</a:t>
                </a:r>
                <a:r>
                  <a:rPr lang="en-US" altLang="zh-CN" sz="2400" dirty="0">
                    <a:latin typeface="宋体" panose="02010600030101010101" pitchFamily="2" charset="-122"/>
                    <a:ea typeface="宋体" panose="02010600030101010101" pitchFamily="2" charset="-122"/>
                    <a:cs typeface="宋体" panose="02010600030101010101" pitchFamily="2" charset="-122"/>
                    <a:sym typeface="+mn-ea"/>
                  </a:rPr>
                  <a:t>KKT</a:t>
                </a:r>
                <a:r>
                  <a:rPr lang="zh-CN" altLang="en-US" sz="2400" dirty="0">
                    <a:latin typeface="宋体" panose="02010600030101010101" pitchFamily="2" charset="-122"/>
                    <a:ea typeface="宋体" panose="02010600030101010101" pitchFamily="2" charset="-122"/>
                    <a:cs typeface="宋体" panose="02010600030101010101" pitchFamily="2" charset="-122"/>
                    <a:sym typeface="+mn-ea"/>
                  </a:rPr>
                  <a:t>条件，满足</a:t>
                </a:r>
                <a:r>
                  <a:rPr lang="en-US" altLang="zh-CN" sz="2400" dirty="0">
                    <a:latin typeface="宋体" panose="02010600030101010101" pitchFamily="2" charset="-122"/>
                    <a:ea typeface="宋体" panose="02010600030101010101" pitchFamily="2" charset="-122"/>
                    <a:cs typeface="宋体" panose="02010600030101010101" pitchFamily="2" charset="-122"/>
                    <a:sym typeface="+mn-ea"/>
                  </a:rPr>
                  <a:t>KKT</a:t>
                </a:r>
                <a:r>
                  <a:rPr lang="zh-CN" altLang="en-US" sz="2400" dirty="0">
                    <a:latin typeface="宋体" panose="02010600030101010101" pitchFamily="2" charset="-122"/>
                    <a:ea typeface="宋体" panose="02010600030101010101" pitchFamily="2" charset="-122"/>
                    <a:cs typeface="宋体" panose="02010600030101010101" pitchFamily="2" charset="-122"/>
                    <a:sym typeface="+mn-ea"/>
                  </a:rPr>
                  <a:t>条件的点称为KKT点。如果一个非线性规划问题只含有等式约束或者只含有不等式约束，其相应的Kuhn-Tucker条件也相应地具有更简化的形式。</a:t>
                </a:r>
              </a:p>
            </p:txBody>
          </p:sp>
        </mc:Choice>
        <mc:Fallback xmlns="">
          <p:sp>
            <p:nvSpPr>
              <p:cNvPr id="4" name="文本框 3"/>
              <p:cNvSpPr txBox="1">
                <a:spLocks noRot="1" noChangeAspect="1" noMove="1" noResize="1" noEditPoints="1" noAdjustHandles="1" noChangeArrowheads="1" noChangeShapeType="1" noTextEdit="1"/>
              </p:cNvSpPr>
              <p:nvPr/>
            </p:nvSpPr>
            <p:spPr>
              <a:xfrm>
                <a:off x="467544" y="599122"/>
                <a:ext cx="8432483" cy="5659755"/>
              </a:xfrm>
              <a:prstGeom prst="rect">
                <a:avLst/>
              </a:prstGeom>
              <a:blipFill>
                <a:blip r:embed="rId2"/>
                <a:stretch>
                  <a:fillRect l="-1157" t="-861" r="-1085" b="-1399"/>
                </a:stretch>
              </a:blipFill>
            </p:spPr>
            <p:txBody>
              <a:bodyPr/>
              <a:lstStyle/>
              <a:p>
                <a:r>
                  <a:rPr lang="zh-CN" alt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p:cNvSpPr txBox="1"/>
              <p:nvPr/>
            </p:nvSpPr>
            <p:spPr>
              <a:xfrm>
                <a:off x="467202" y="1593057"/>
                <a:ext cx="8238649" cy="2584618"/>
              </a:xfrm>
              <a:prstGeom prst="rect">
                <a:avLst/>
              </a:prstGeom>
              <a:noFill/>
            </p:spPr>
            <p:txBody>
              <a:bodyPr wrap="square">
                <a:spAutoFit/>
              </a:bodyPr>
              <a:lstStyle/>
              <a:p>
                <a:pPr fontAlgn="auto">
                  <a:lnSpc>
                    <a:spcPct val="100000"/>
                  </a:lnSpc>
                </a:pPr>
                <a:r>
                  <a:rPr lang="zh-CN" altLang="en-US" sz="2400" b="1" kern="100" dirty="0">
                    <a:solidFill>
                      <a:schemeClr val="accent1"/>
                    </a:solidFill>
                    <a:latin typeface="宋体" panose="02010600030101010101" pitchFamily="2" charset="-122"/>
                    <a:ea typeface="宋体" panose="02010600030101010101" pitchFamily="2" charset="-122"/>
                  </a:rPr>
                  <a:t>定义</a:t>
                </a:r>
                <a:r>
                  <a:rPr lang="en-US" altLang="zh-CN" sz="2400" b="1" kern="100" dirty="0">
                    <a:solidFill>
                      <a:schemeClr val="accent1"/>
                    </a:solidFill>
                    <a:latin typeface="宋体" panose="02010600030101010101" pitchFamily="2" charset="-122"/>
                    <a:ea typeface="宋体" panose="02010600030101010101" pitchFamily="2" charset="-122"/>
                  </a:rPr>
                  <a:t>2 </a:t>
                </a:r>
                <a:r>
                  <a:rPr lang="zh-CN" altLang="en-US" sz="2400" kern="100" dirty="0">
                    <a:latin typeface="宋体" panose="02010600030101010101" pitchFamily="2" charset="-122"/>
                    <a:ea typeface="宋体" panose="02010600030101010101" pitchFamily="2" charset="-122"/>
                  </a:rPr>
                  <a:t>通常称函数</a:t>
                </a:r>
                <a:r>
                  <a:rPr lang="en-US" altLang="zh-CN" sz="2400" kern="100" dirty="0">
                    <a:latin typeface="宋体" panose="02010600030101010101" pitchFamily="2" charset="-122"/>
                    <a:ea typeface="宋体" panose="02010600030101010101" pitchFamily="2" charset="-122"/>
                  </a:rPr>
                  <a:t> </a:t>
                </a:r>
              </a:p>
              <a:p>
                <a:pPr fontAlgn="auto">
                  <a:lnSpc>
                    <a:spcPct val="100000"/>
                  </a:lnSpc>
                </a:pPr>
                <a14:m>
                  <m:oMathPara xmlns:m="http://schemas.openxmlformats.org/officeDocument/2006/math">
                    <m:oMathParaPr>
                      <m:jc m:val="centerGroup"/>
                    </m:oMathParaPr>
                    <m:oMath xmlns:m="http://schemas.openxmlformats.org/officeDocument/2006/math">
                      <m:r>
                        <a:rPr lang="en-US" altLang="zh-CN" sz="2400" i="1" dirty="0">
                          <a:latin typeface="Cambria Math" panose="02040503050406030204" pitchFamily="18" charset="0"/>
                          <a:cs typeface="Cambria Math" panose="02040503050406030204" pitchFamily="18" charset="0"/>
                        </a:rPr>
                        <m:t>𝑓</m:t>
                      </m:r>
                      <m:d>
                        <m:dPr>
                          <m:ctrlPr>
                            <a:rPr lang="en-US" altLang="zh-CN" sz="2400" i="1" dirty="0">
                              <a:latin typeface="Cambria Math" panose="02040503050406030204" pitchFamily="18" charset="0"/>
                              <a:cs typeface="Cambria Math" panose="02040503050406030204" pitchFamily="18" charset="0"/>
                            </a:rPr>
                          </m:ctrlPr>
                        </m:dPr>
                        <m:e>
                          <m:r>
                            <a:rPr lang="en-US" altLang="zh-CN" sz="2400" i="1" dirty="0">
                              <a:latin typeface="Cambria Math" panose="02040503050406030204" pitchFamily="18" charset="0"/>
                              <a:cs typeface="Cambria Math" panose="02040503050406030204" pitchFamily="18" charset="0"/>
                            </a:rPr>
                            <m:t>𝑥</m:t>
                          </m:r>
                        </m:e>
                      </m:d>
                      <m:r>
                        <a:rPr lang="en-US" altLang="zh-CN" sz="2400" i="1" dirty="0">
                          <a:latin typeface="Cambria Math" panose="02040503050406030204" pitchFamily="18" charset="0"/>
                          <a:cs typeface="Cambria Math" panose="02040503050406030204" pitchFamily="18" charset="0"/>
                        </a:rPr>
                        <m:t>−</m:t>
                      </m:r>
                      <m:nary>
                        <m:naryPr>
                          <m:chr m:val="∑"/>
                          <m:limLoc m:val="undOvr"/>
                          <m:ctrlPr>
                            <a:rPr lang="en-US" altLang="zh-CN" sz="2400" i="1" dirty="0">
                              <a:latin typeface="Cambria Math" panose="02040503050406030204" pitchFamily="18" charset="0"/>
                              <a:cs typeface="Cambria Math" panose="02040503050406030204" pitchFamily="18" charset="0"/>
                            </a:rPr>
                          </m:ctrlPr>
                        </m:naryPr>
                        <m:sub>
                          <m:r>
                            <a:rPr lang="en-US" altLang="zh-CN" sz="2400" i="1" dirty="0">
                              <a:latin typeface="Cambria Math" panose="02040503050406030204" pitchFamily="18" charset="0"/>
                              <a:cs typeface="Cambria Math" panose="02040503050406030204" pitchFamily="18" charset="0"/>
                            </a:rPr>
                            <m:t>𝑗</m:t>
                          </m:r>
                          <m:r>
                            <a:rPr lang="en-US" altLang="zh-CN" sz="2400" i="1" dirty="0">
                              <a:latin typeface="Cambria Math" panose="02040503050406030204" pitchFamily="18" charset="0"/>
                              <a:cs typeface="Cambria Math" panose="02040503050406030204" pitchFamily="18" charset="0"/>
                            </a:rPr>
                            <m:t>=1</m:t>
                          </m:r>
                        </m:sub>
                        <m:sup>
                          <m:r>
                            <a:rPr lang="en-US" altLang="zh-CN" sz="2400" i="1" dirty="0">
                              <a:latin typeface="Cambria Math" panose="02040503050406030204" pitchFamily="18" charset="0"/>
                              <a:cs typeface="Cambria Math" panose="02040503050406030204" pitchFamily="18" charset="0"/>
                            </a:rPr>
                            <m:t>𝑙</m:t>
                          </m:r>
                        </m:sup>
                        <m:e>
                          <m:sSub>
                            <m:sSubPr>
                              <m:ctrlPr>
                                <a:rPr lang="en-US" altLang="zh-CN" sz="2400" i="1" dirty="0">
                                  <a:latin typeface="Cambria Math" panose="02040503050406030204" pitchFamily="18" charset="0"/>
                                  <a:cs typeface="Cambria Math" panose="02040503050406030204" pitchFamily="18" charset="0"/>
                                </a:rPr>
                              </m:ctrlPr>
                            </m:sSubPr>
                            <m:e>
                              <m:r>
                                <a:rPr lang="en-US" altLang="zh-CN" sz="2400" i="1" dirty="0">
                                  <a:latin typeface="Cambria Math" panose="02040503050406030204" pitchFamily="18" charset="0"/>
                                  <a:cs typeface="Cambria Math" panose="02040503050406030204" pitchFamily="18" charset="0"/>
                                </a:rPr>
                                <m:t>𝛾</m:t>
                              </m:r>
                            </m:e>
                            <m:sub>
                              <m:r>
                                <a:rPr lang="en-US" altLang="zh-CN" sz="2400" i="1" dirty="0">
                                  <a:latin typeface="Cambria Math" panose="02040503050406030204" pitchFamily="18" charset="0"/>
                                  <a:cs typeface="Cambria Math" panose="02040503050406030204" pitchFamily="18" charset="0"/>
                                </a:rPr>
                                <m:t>𝑗</m:t>
                              </m:r>
                            </m:sub>
                          </m:sSub>
                          <m:sSub>
                            <m:sSubPr>
                              <m:ctrlPr>
                                <a:rPr lang="en-US" altLang="zh-CN" sz="2400" i="1" dirty="0">
                                  <a:latin typeface="Cambria Math" panose="02040503050406030204" pitchFamily="18" charset="0"/>
                                  <a:cs typeface="Cambria Math" panose="02040503050406030204" pitchFamily="18" charset="0"/>
                                </a:rPr>
                              </m:ctrlPr>
                            </m:sSubPr>
                            <m:e>
                              <m:r>
                                <a:rPr lang="en-US" altLang="zh-CN" sz="2400" i="1" dirty="0">
                                  <a:latin typeface="Cambria Math" panose="02040503050406030204" pitchFamily="18" charset="0"/>
                                  <a:cs typeface="Cambria Math" panose="02040503050406030204" pitchFamily="18" charset="0"/>
                                </a:rPr>
                                <m:t>𝑔</m:t>
                              </m:r>
                            </m:e>
                            <m:sub>
                              <m:r>
                                <a:rPr lang="en-US" altLang="zh-CN" sz="2400" i="1" dirty="0">
                                  <a:latin typeface="Cambria Math" panose="02040503050406030204" pitchFamily="18" charset="0"/>
                                  <a:cs typeface="Cambria Math" panose="02040503050406030204" pitchFamily="18" charset="0"/>
                                </a:rPr>
                                <m:t>𝑗</m:t>
                              </m:r>
                            </m:sub>
                          </m:sSub>
                          <m:d>
                            <m:dPr>
                              <m:ctrlPr>
                                <a:rPr lang="en-US" altLang="zh-CN" sz="2400" i="1" dirty="0">
                                  <a:latin typeface="Cambria Math" panose="02040503050406030204" pitchFamily="18" charset="0"/>
                                  <a:cs typeface="Cambria Math" panose="02040503050406030204" pitchFamily="18" charset="0"/>
                                </a:rPr>
                              </m:ctrlPr>
                            </m:dPr>
                            <m:e>
                              <m:r>
                                <a:rPr lang="en-US" altLang="zh-CN" sz="2400" i="1" dirty="0">
                                  <a:latin typeface="Cambria Math" panose="02040503050406030204" pitchFamily="18" charset="0"/>
                                  <a:cs typeface="Cambria Math" panose="02040503050406030204" pitchFamily="18" charset="0"/>
                                </a:rPr>
                                <m:t>𝑥</m:t>
                              </m:r>
                            </m:e>
                          </m:d>
                          <m:r>
                            <a:rPr lang="en-US" altLang="zh-CN" sz="2400" i="1" dirty="0">
                              <a:latin typeface="Cambria Math" panose="02040503050406030204" pitchFamily="18" charset="0"/>
                              <a:cs typeface="Cambria Math" panose="02040503050406030204" pitchFamily="18" charset="0"/>
                            </a:rPr>
                            <m:t>−</m:t>
                          </m:r>
                          <m:nary>
                            <m:naryPr>
                              <m:chr m:val="∑"/>
                              <m:limLoc m:val="undOvr"/>
                              <m:ctrlPr>
                                <a:rPr lang="en-US" altLang="zh-CN" sz="2400" i="1" dirty="0">
                                  <a:latin typeface="Cambria Math" panose="02040503050406030204" pitchFamily="18" charset="0"/>
                                  <a:cs typeface="Cambria Math" panose="02040503050406030204" pitchFamily="18" charset="0"/>
                                </a:rPr>
                              </m:ctrlPr>
                            </m:naryPr>
                            <m:sub>
                              <m:r>
                                <a:rPr lang="en-US" altLang="zh-CN" sz="2400" i="1" dirty="0">
                                  <a:latin typeface="Cambria Math" panose="02040503050406030204" pitchFamily="18" charset="0"/>
                                  <a:cs typeface="Cambria Math" panose="02040503050406030204" pitchFamily="18" charset="0"/>
                                </a:rPr>
                                <m:t>𝑖</m:t>
                              </m:r>
                              <m:r>
                                <a:rPr lang="en-US" altLang="zh-CN" sz="2400" i="1" dirty="0">
                                  <a:latin typeface="Cambria Math" panose="02040503050406030204" pitchFamily="18" charset="0"/>
                                  <a:cs typeface="Cambria Math" panose="02040503050406030204" pitchFamily="18" charset="0"/>
                                </a:rPr>
                                <m:t>=1</m:t>
                              </m:r>
                            </m:sub>
                            <m:sup>
                              <m:r>
                                <a:rPr lang="en-US" altLang="zh-CN" sz="2400" i="1" dirty="0">
                                  <a:latin typeface="Cambria Math" panose="02040503050406030204" pitchFamily="18" charset="0"/>
                                  <a:cs typeface="Cambria Math" panose="02040503050406030204" pitchFamily="18" charset="0"/>
                                </a:rPr>
                                <m:t>𝑚</m:t>
                              </m:r>
                            </m:sup>
                            <m:e>
                              <m:sSub>
                                <m:sSubPr>
                                  <m:ctrlPr>
                                    <a:rPr lang="en-US" altLang="zh-CN" sz="2400" i="1" dirty="0">
                                      <a:latin typeface="Cambria Math" panose="02040503050406030204" pitchFamily="18" charset="0"/>
                                      <a:cs typeface="Cambria Math" panose="02040503050406030204" pitchFamily="18" charset="0"/>
                                    </a:rPr>
                                  </m:ctrlPr>
                                </m:sSubPr>
                                <m:e>
                                  <m:r>
                                    <a:rPr lang="en-US" altLang="zh-CN" sz="2400" i="1" dirty="0">
                                      <a:latin typeface="Cambria Math" panose="02040503050406030204" pitchFamily="18" charset="0"/>
                                      <a:cs typeface="Cambria Math" panose="02040503050406030204" pitchFamily="18" charset="0"/>
                                    </a:rPr>
                                    <m:t>𝜆</m:t>
                                  </m:r>
                                </m:e>
                                <m:sub>
                                  <m:r>
                                    <a:rPr lang="en-US" altLang="zh-CN" sz="2400" i="1" dirty="0">
                                      <a:latin typeface="Cambria Math" panose="02040503050406030204" pitchFamily="18" charset="0"/>
                                      <a:cs typeface="Cambria Math" panose="02040503050406030204" pitchFamily="18" charset="0"/>
                                    </a:rPr>
                                    <m:t>𝑖</m:t>
                                  </m:r>
                                </m:sub>
                              </m:sSub>
                              <m:sSub>
                                <m:sSubPr>
                                  <m:ctrlPr>
                                    <a:rPr lang="en-US" altLang="zh-CN" sz="2400" i="1" dirty="0">
                                      <a:latin typeface="Cambria Math" panose="02040503050406030204" pitchFamily="18" charset="0"/>
                                      <a:cs typeface="Cambria Math" panose="02040503050406030204" pitchFamily="18" charset="0"/>
                                    </a:rPr>
                                  </m:ctrlPr>
                                </m:sSubPr>
                                <m:e>
                                  <m:r>
                                    <a:rPr lang="en-US" altLang="zh-CN" sz="2400" i="1" dirty="0">
                                      <a:latin typeface="Cambria Math" panose="02040503050406030204" pitchFamily="18" charset="0"/>
                                      <a:cs typeface="Cambria Math" panose="02040503050406030204" pitchFamily="18" charset="0"/>
                                    </a:rPr>
                                    <m:t>h</m:t>
                                  </m:r>
                                </m:e>
                                <m:sub>
                                  <m:r>
                                    <a:rPr lang="en-US" altLang="zh-CN" sz="2400" i="1" dirty="0">
                                      <a:latin typeface="Cambria Math" panose="02040503050406030204" pitchFamily="18" charset="0"/>
                                      <a:cs typeface="Cambria Math" panose="02040503050406030204" pitchFamily="18" charset="0"/>
                                    </a:rPr>
                                    <m:t>𝑖</m:t>
                                  </m:r>
                                </m:sub>
                              </m:sSub>
                              <m:d>
                                <m:dPr>
                                  <m:ctrlPr>
                                    <a:rPr lang="en-US" altLang="zh-CN" sz="2400" i="1" dirty="0">
                                      <a:latin typeface="Cambria Math" panose="02040503050406030204" pitchFamily="18" charset="0"/>
                                      <a:cs typeface="Cambria Math" panose="02040503050406030204" pitchFamily="18" charset="0"/>
                                    </a:rPr>
                                  </m:ctrlPr>
                                </m:dPr>
                                <m:e>
                                  <m:r>
                                    <a:rPr lang="en-US" altLang="zh-CN" sz="2400" i="1" dirty="0">
                                      <a:latin typeface="Cambria Math" panose="02040503050406030204" pitchFamily="18" charset="0"/>
                                      <a:cs typeface="Cambria Math" panose="02040503050406030204" pitchFamily="18" charset="0"/>
                                    </a:rPr>
                                    <m:t>𝑥</m:t>
                                  </m:r>
                                </m:e>
                              </m:d>
                            </m:e>
                          </m:nary>
                        </m:e>
                      </m:nary>
                    </m:oMath>
                  </m:oMathPara>
                </a14:m>
                <a:endParaRPr lang="en-US" altLang="zh-CN" sz="2400" i="1"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50000"/>
                  </a:lnSpc>
                </a:pPr>
                <a:r>
                  <a:rPr lang="zh-CN" altLang="en-US" sz="2400" dirty="0">
                    <a:latin typeface="宋体" panose="02010600030101010101" pitchFamily="2" charset="-122"/>
                    <a:ea typeface="宋体" panose="02010600030101010101" pitchFamily="2" charset="-122"/>
                  </a:rPr>
                  <a:t>为问题</a:t>
                </a:r>
                <a14:m>
                  <m:oMath xmlns:m="http://schemas.openxmlformats.org/officeDocument/2006/math">
                    <m:d>
                      <m:dPr>
                        <m:ctrlPr>
                          <a:rPr lang="en-US" altLang="zh-CN" sz="2400" i="1" dirty="0">
                            <a:latin typeface="Cambria Math" panose="02040503050406030204" pitchFamily="18" charset="0"/>
                            <a:cs typeface="Cambria Math" panose="02040503050406030204" pitchFamily="18" charset="0"/>
                          </a:rPr>
                        </m:ctrlPr>
                      </m:dPr>
                      <m:e>
                        <m:r>
                          <a:rPr lang="en-US" altLang="zh-CN" sz="2400" i="1" dirty="0">
                            <a:latin typeface="Cambria Math" panose="02040503050406030204" pitchFamily="18" charset="0"/>
                            <a:cs typeface="Cambria Math" panose="02040503050406030204" pitchFamily="18" charset="0"/>
                          </a:rPr>
                          <m:t>∗</m:t>
                        </m:r>
                      </m:e>
                    </m:d>
                  </m:oMath>
                </a14:m>
                <a:r>
                  <a:rPr lang="zh-CN" altLang="en-US" sz="2400" dirty="0">
                    <a:latin typeface="宋体" panose="02010600030101010101" pitchFamily="2" charset="-122"/>
                    <a:ea typeface="宋体" panose="02010600030101010101" pitchFamily="2" charset="-122"/>
                  </a:rPr>
                  <a:t>的拉格朗日函数，称乘子</a:t>
                </a: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𝛾</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1</m:t>
                        </m:r>
                      </m:sub>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b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𝛾</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2</m:t>
                        </m:r>
                      </m:sub>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b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𝛾</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𝑙</m:t>
                        </m:r>
                      </m:sub>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bSup>
                  </m:oMath>
                </a14:m>
                <a:r>
                  <a:rPr lang="zh-CN" altLang="en-US" sz="2400" dirty="0">
                    <a:latin typeface="宋体" panose="02010600030101010101" pitchFamily="2" charset="-122"/>
                    <a:ea typeface="宋体" panose="02010600030101010101" pitchFamily="2" charset="-122"/>
                  </a:rPr>
                  <a:t>和</a:t>
                </a: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𝜆</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1</m:t>
                        </m:r>
                      </m:sub>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b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𝜆</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2</m:t>
                        </m:r>
                      </m:sub>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b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𝜆</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𝑚</m:t>
                        </m:r>
                      </m:sub>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bSup>
                  </m:oMath>
                </a14:m>
                <a:r>
                  <a:rPr lang="zh-CN" altLang="en-US" sz="2400" dirty="0">
                    <a:latin typeface="宋体" panose="02010600030101010101" pitchFamily="2" charset="-122"/>
                    <a:ea typeface="宋体" panose="02010600030101010101" pitchFamily="2" charset="-122"/>
                  </a:rPr>
                  <a:t>为拉格朗日乘子，称向量</a:t>
                </a:r>
                <a14:m>
                  <m:oMath xmlns:m="http://schemas.openxmlformats.org/officeDocument/2006/math">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𝛾</m:t>
                        </m:r>
                      </m:e>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p>
                  </m:oMath>
                </a14:m>
                <a:r>
                  <a:rPr lang="zh-CN" altLang="en-US" sz="2400" dirty="0">
                    <a:latin typeface="宋体" panose="02010600030101010101" pitchFamily="2" charset="-122"/>
                    <a:ea typeface="宋体" panose="02010600030101010101" pitchFamily="2" charset="-122"/>
                  </a:rPr>
                  <a:t>和</a:t>
                </a:r>
                <a14:m>
                  <m:oMath xmlns:m="http://schemas.openxmlformats.org/officeDocument/2006/math">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𝜆</m:t>
                        </m:r>
                      </m:e>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p>
                  </m:oMath>
                </a14:m>
                <a:r>
                  <a:rPr lang="zh-CN" altLang="en-US" sz="2400" dirty="0">
                    <a:latin typeface="宋体" panose="02010600030101010101" pitchFamily="2" charset="-122"/>
                    <a:ea typeface="宋体" panose="02010600030101010101" pitchFamily="2" charset="-122"/>
                  </a:rPr>
                  <a:t>为乘子向量。</a:t>
                </a:r>
              </a:p>
            </p:txBody>
          </p:sp>
        </mc:Choice>
        <mc:Fallback xmlns="">
          <p:sp>
            <p:nvSpPr>
              <p:cNvPr id="4" name="文本框 3"/>
              <p:cNvSpPr txBox="1">
                <a:spLocks noRot="1" noChangeAspect="1" noMove="1" noResize="1" noEditPoints="1" noAdjustHandles="1" noChangeArrowheads="1" noChangeShapeType="1" noTextEdit="1"/>
              </p:cNvSpPr>
              <p:nvPr/>
            </p:nvSpPr>
            <p:spPr>
              <a:xfrm>
                <a:off x="467202" y="1593057"/>
                <a:ext cx="8238649" cy="2584618"/>
              </a:xfrm>
              <a:prstGeom prst="rect">
                <a:avLst/>
              </a:prstGeom>
              <a:blipFill>
                <a:blip r:embed="rId2"/>
                <a:stretch>
                  <a:fillRect l="-1184" t="-1887" b="-3774"/>
                </a:stretch>
              </a:blipFill>
            </p:spPr>
            <p:txBody>
              <a:bodyPr/>
              <a:lstStyle/>
              <a:p>
                <a:r>
                  <a:rPr lang="zh-CN" alt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文本框 6"/>
              <p:cNvSpPr txBox="1"/>
              <p:nvPr/>
            </p:nvSpPr>
            <p:spPr>
              <a:xfrm>
                <a:off x="2537774" y="1314417"/>
                <a:ext cx="3429000" cy="8301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mPr>
                        <m:mr>
                          <m:e>
                            <m:func>
                              <m:func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400" kern="100">
                                    <a:latin typeface="Cambria Math" panose="02040503050406030204" pitchFamily="18" charset="0"/>
                                    <a:ea typeface="等线" panose="02010600030101010101" pitchFamily="2" charset="-122"/>
                                    <a:cs typeface="Times New Roman" panose="02020603050405020304" pitchFamily="18" charset="0"/>
                                  </a:rPr>
                                  <m:t>min</m:t>
                                </m:r>
                              </m:fName>
                              <m:e>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b>
                                </m:sSub>
                              </m:e>
                            </m:func>
                          </m:e>
                        </m:mr>
                        <m:m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𝑠</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𝑡</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 2−</m:t>
                            </m:r>
                            <m:sSubSup>
                              <m:sSub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p>
                            </m:sSubSup>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b>
                              <m:sup>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p>
                            </m:sSubSup>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≥0</m:t>
                            </m:r>
                          </m:e>
                        </m:mr>
                      </m:m>
                    </m:oMath>
                  </m:oMathPara>
                </a14:m>
                <a:endParaRPr lang="zh-CN" altLang="en-US" sz="2400" dirty="0"/>
              </a:p>
            </p:txBody>
          </p:sp>
        </mc:Choice>
        <mc:Fallback xmlns="">
          <p:sp>
            <p:nvSpPr>
              <p:cNvPr id="7" name="文本框 6"/>
              <p:cNvSpPr txBox="1">
                <a:spLocks noRot="1" noChangeAspect="1" noMove="1" noResize="1" noEditPoints="1" noAdjustHandles="1" noChangeArrowheads="1" noChangeShapeType="1" noTextEdit="1"/>
              </p:cNvSpPr>
              <p:nvPr/>
            </p:nvSpPr>
            <p:spPr>
              <a:xfrm>
                <a:off x="2537774" y="1314417"/>
                <a:ext cx="3429000" cy="830164"/>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558117" y="2066548"/>
                <a:ext cx="7560702" cy="1207831"/>
              </a:xfrm>
              <a:prstGeom prst="rect">
                <a:avLst/>
              </a:prstGeom>
              <a:noFill/>
            </p:spPr>
            <p:txBody>
              <a:bodyPr wrap="square">
                <a:spAutoFit/>
              </a:bodyPr>
              <a:lstStyle/>
              <a:p>
                <a:pPr algn="just" fontAlgn="auto">
                  <a:lnSpc>
                    <a:spcPct val="150000"/>
                  </a:lnSpc>
                </a:pPr>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解：拉格朗日函数为</a:t>
                </a:r>
              </a:p>
              <a:p>
                <a:pPr algn="just" fontAlgn="auto">
                  <a:lnSpc>
                    <a:spcPct val="150000"/>
                  </a:lnSpc>
                </a:pPr>
                <a14:m>
                  <m:oMathPara xmlns:m="http://schemas.openxmlformats.org/officeDocument/2006/math">
                    <m:oMathParaPr>
                      <m:jc m:val="centerGroup"/>
                    </m:oMathParaPr>
                    <m:oMath xmlns:m="http://schemas.openxmlformats.org/officeDocument/2006/math">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                             </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𝐿</m:t>
                      </m:r>
                      <m:d>
                        <m:d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𝜆</m:t>
                          </m:r>
                        </m:e>
                      </m:d>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𝜆</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SubSup>
                        <m:sSub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p>
                      </m:sSubSup>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b>
                        <m:sup>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p>
                      </m:sSubSup>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oMath>
                  </m:oMathPara>
                </a14:m>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558117" y="2066548"/>
                <a:ext cx="7560702" cy="1207831"/>
              </a:xfrm>
              <a:prstGeom prst="rect">
                <a:avLst/>
              </a:prstGeom>
              <a:blipFill>
                <a:blip r:embed="rId3"/>
                <a:stretch>
                  <a:fillRect l="-12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210804" y="3352231"/>
                <a:ext cx="3815239" cy="2418226"/>
              </a:xfrm>
              <a:prstGeom prst="rect">
                <a:avLst/>
              </a:prstGeom>
              <a:noFill/>
            </p:spPr>
            <p:txBody>
              <a:bodyPr wrap="square">
                <a:spAutoFit/>
              </a:bodyPr>
              <a:lstStyle/>
              <a:p>
                <a:pPr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KKT</a:t>
                </a:r>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条件为</a:t>
                </a:r>
              </a:p>
              <a:p>
                <a:pPr algn="just"/>
                <a14:m>
                  <m:oMathPara xmlns:m="http://schemas.openxmlformats.org/officeDocument/2006/math">
                    <m:oMathParaPr>
                      <m:jc m:val="centerGroup"/>
                    </m:oMathParaPr>
                    <m:oMath xmlns:m="http://schemas.openxmlformats.org/officeDocument/2006/math">
                      <m:d>
                        <m:dPr>
                          <m:begChr m:val="{"/>
                          <m:end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1"/>
                                    <m:mcJc m:val="center"/>
                                  </m:mcPr>
                                </m:mc>
                              </m:mcs>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1+2</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𝜆</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=0</m:t>
                                </m:r>
                              </m:e>
                            </m:mr>
                            <m:m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1+2</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𝜆</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=0</m:t>
                                </m:r>
                              </m:e>
                            </m:mr>
                            <m:mr>
                              <m:e>
                                <m:m>
                                  <m:mPr>
                                    <m:mcs>
                                      <m:mc>
                                        <m:mcPr>
                                          <m:count m:val="1"/>
                                          <m:mcJc m:val="center"/>
                                        </m:mcPr>
                                      </m:mc>
                                    </m:mcs>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𝜆</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≥0</m:t>
                                      </m:r>
                                    </m:e>
                                  </m:mr>
                                  <m:m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SubSup>
                                        <m:sSub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p>
                                      </m:sSubSup>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b>
                                        <m:sup>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p>
                                      </m:sSubSup>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≥0</m:t>
                                      </m:r>
                                    </m:e>
                                  </m:mr>
                                  <m:m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𝜆</m:t>
                                      </m:r>
                                      <m:d>
                                        <m:d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SubSup>
                                            <m:sSub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p>
                                          </m:sSubSup>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b>
                                            <m:sup>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p>
                                          </m:sSubSup>
                                        </m:e>
                                      </m:d>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=0</m:t>
                                      </m:r>
                                    </m:e>
                                  </m:mr>
                                </m:m>
                              </m:e>
                            </m:mr>
                          </m:m>
                        </m:e>
                      </m:d>
                    </m:oMath>
                  </m:oMathPara>
                </a14:m>
                <a:endParaRPr lang="zh-CN" altLang="en-US" sz="2400" dirty="0"/>
              </a:p>
            </p:txBody>
          </p:sp>
        </mc:Choice>
        <mc:Fallback xmlns="">
          <p:sp>
            <p:nvSpPr>
              <p:cNvPr id="11" name="文本框 10"/>
              <p:cNvSpPr txBox="1">
                <a:spLocks noRot="1" noChangeAspect="1" noMove="1" noResize="1" noEditPoints="1" noAdjustHandles="1" noChangeArrowheads="1" noChangeShapeType="1" noTextEdit="1"/>
              </p:cNvSpPr>
              <p:nvPr/>
            </p:nvSpPr>
            <p:spPr>
              <a:xfrm>
                <a:off x="210804" y="3352231"/>
                <a:ext cx="3815239" cy="2418226"/>
              </a:xfrm>
              <a:prstGeom prst="rect">
                <a:avLst/>
              </a:prstGeom>
              <a:blipFill>
                <a:blip r:embed="rId4"/>
                <a:stretch>
                  <a:fillRect l="-2560" t="-17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3774691" y="3509086"/>
                <a:ext cx="5369309" cy="2242793"/>
              </a:xfrm>
              <a:prstGeom prst="rect">
                <a:avLst/>
              </a:prstGeom>
              <a:noFill/>
            </p:spPr>
            <p:txBody>
              <a:bodyPr wrap="square">
                <a:spAutoFit/>
              </a:bodyPr>
              <a:lstStyle/>
              <a:p>
                <a:pPr algn="just" fontAlgn="auto">
                  <a:lnSpc>
                    <a:spcPct val="150000"/>
                  </a:lnSpc>
                </a:pPr>
                <a:r>
                  <a:rPr lang="zh-CN" altLang="zh-CN" sz="2400" kern="100" dirty="0">
                    <a:latin typeface="宋体" panose="02010600030101010101" pitchFamily="2" charset="-122"/>
                    <a:ea typeface="宋体" panose="02010600030101010101" pitchFamily="2" charset="-122"/>
                    <a:cs typeface="宋体" panose="02010600030101010101" pitchFamily="2" charset="-122"/>
                  </a:rPr>
                  <a:t>由前两个等式知</a:t>
                </a:r>
                <a14:m>
                  <m:oMath xmlns:m="http://schemas.openxmlformats.org/officeDocument/2006/math">
                    <m:r>
                      <a:rPr lang="en-US" altLang="zh-CN" sz="2400" i="1" kern="100">
                        <a:latin typeface="Cambria Math" panose="02040503050406030204" pitchFamily="18" charset="0"/>
                        <a:ea typeface="MS Mincho" panose="02020609040205080304" charset="-128"/>
                        <a:cs typeface="Cambria Math" panose="02040503050406030204" pitchFamily="18" charset="0"/>
                      </a:rPr>
                      <m:t>𝜆</m:t>
                    </m:r>
                    <m:r>
                      <a:rPr lang="en-US" altLang="zh-CN" sz="2400" i="1" kern="100">
                        <a:latin typeface="Cambria Math" panose="02040503050406030204" pitchFamily="18" charset="0"/>
                        <a:ea typeface="MS Mincho" panose="02020609040205080304" charset="-128"/>
                        <a:cs typeface="Cambria Math" panose="02040503050406030204" pitchFamily="18" charset="0"/>
                      </a:rPr>
                      <m:t>≠0</m:t>
                    </m:r>
                    <m:r>
                      <a:rPr lang="zh-CN" altLang="zh-CN" sz="2400" i="1" kern="100">
                        <a:latin typeface="Cambria Math" panose="02040503050406030204" pitchFamily="18" charset="0"/>
                        <a:ea typeface="MS Mincho" panose="02020609040205080304" charset="-128"/>
                        <a:cs typeface="Cambria Math" panose="02040503050406030204" pitchFamily="18" charset="0"/>
                      </a:rPr>
                      <m:t>，</m:t>
                    </m:r>
                    <m:sSub>
                      <m:sSub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kern="100">
                            <a:latin typeface="Cambria Math" panose="02040503050406030204" pitchFamily="18" charset="0"/>
                            <a:ea typeface="MS Mincho" panose="02020609040205080304" charset="-128"/>
                            <a:cs typeface="Cambria Math" panose="02040503050406030204" pitchFamily="18" charset="0"/>
                          </a:rPr>
                          <m:t>1</m:t>
                        </m:r>
                      </m:sub>
                    </m:sSub>
                    <m:r>
                      <a:rPr lang="en-US" altLang="zh-CN" sz="2400" i="1" kern="100">
                        <a:latin typeface="Cambria Math" panose="02040503050406030204" pitchFamily="18" charset="0"/>
                        <a:ea typeface="MS Mincho" panose="02020609040205080304" charset="-128"/>
                        <a:cs typeface="Cambria Math" panose="02040503050406030204" pitchFamily="18" charset="0"/>
                      </a:rPr>
                      <m:t>=</m:t>
                    </m:r>
                    <m:sSub>
                      <m:sSub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kern="100">
                            <a:latin typeface="Cambria Math" panose="02040503050406030204" pitchFamily="18" charset="0"/>
                            <a:ea typeface="MS Mincho" panose="02020609040205080304" charset="-128"/>
                            <a:cs typeface="Cambria Math" panose="02040503050406030204" pitchFamily="18" charset="0"/>
                          </a:rPr>
                          <m:t>2</m:t>
                        </m:r>
                      </m:sub>
                    </m:sSub>
                  </m:oMath>
                </a14:m>
                <a:r>
                  <a:rPr lang="zh-CN" altLang="zh-CN" sz="2400" kern="100" dirty="0">
                    <a:latin typeface="宋体" panose="02010600030101010101" pitchFamily="2" charset="-122"/>
                    <a:ea typeface="宋体" panose="02010600030101010101" pitchFamily="2" charset="-122"/>
                    <a:cs typeface="宋体" panose="02010600030101010101" pitchFamily="2" charset="-122"/>
                  </a:rPr>
                  <a:t>，所以</a:t>
                </a:r>
              </a:p>
              <a:p>
                <a:pPr algn="just" fontAlgn="auto">
                  <a:lnSpc>
                    <a:spcPct val="150000"/>
                  </a:lnSpc>
                </a:pPr>
                <a14:m>
                  <m:oMathPara xmlns:m="http://schemas.openxmlformats.org/officeDocument/2006/math">
                    <m:oMathParaPr>
                      <m:jc m:val="centerGroup"/>
                    </m:oMathParaPr>
                    <m:oMath xmlns:m="http://schemas.openxmlformats.org/officeDocument/2006/math">
                      <m:r>
                        <a:rPr lang="en-US" altLang="zh-CN" sz="2400" i="1" kern="100">
                          <a:latin typeface="Cambria Math" panose="02040503050406030204" pitchFamily="18" charset="0"/>
                          <a:ea typeface="MS Mincho" panose="02020609040205080304" charset="-128"/>
                          <a:cs typeface="Cambria Math" panose="02040503050406030204" pitchFamily="18" charset="0"/>
                        </a:rPr>
                        <m:t>2−</m:t>
                      </m:r>
                      <m:sSubSup>
                        <m:sSubSup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kern="100">
                              <a:latin typeface="Cambria Math" panose="02040503050406030204" pitchFamily="18" charset="0"/>
                              <a:ea typeface="MS Mincho" panose="02020609040205080304" charset="-128"/>
                              <a:cs typeface="Cambria Math" panose="02040503050406030204" pitchFamily="18" charset="0"/>
                            </a:rPr>
                            <m:t>1</m:t>
                          </m:r>
                        </m:sub>
                        <m:sup>
                          <m:r>
                            <a:rPr lang="en-US" altLang="zh-CN" sz="2400" i="1" kern="100">
                              <a:latin typeface="Cambria Math" panose="02040503050406030204" pitchFamily="18" charset="0"/>
                              <a:ea typeface="MS Mincho" panose="02020609040205080304" charset="-128"/>
                              <a:cs typeface="Cambria Math" panose="02040503050406030204" pitchFamily="18" charset="0"/>
                            </a:rPr>
                            <m:t>2</m:t>
                          </m:r>
                        </m:sup>
                      </m:sSubSup>
                      <m:r>
                        <a:rPr lang="en-US" altLang="zh-CN" sz="2400" i="1" kern="100">
                          <a:latin typeface="Cambria Math" panose="02040503050406030204" pitchFamily="18" charset="0"/>
                          <a:ea typeface="MS Mincho" panose="02020609040205080304" charset="-128"/>
                          <a:cs typeface="Cambria Math" panose="02040503050406030204" pitchFamily="18" charset="0"/>
                        </a:rPr>
                        <m:t>−</m:t>
                      </m:r>
                      <m:sSubSup>
                        <m:sSubSup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kern="100">
                              <a:latin typeface="Cambria Math" panose="02040503050406030204" pitchFamily="18" charset="0"/>
                              <a:ea typeface="MS Mincho" panose="02020609040205080304" charset="-128"/>
                              <a:cs typeface="Cambria Math" panose="02040503050406030204" pitchFamily="18" charset="0"/>
                            </a:rPr>
                            <m:t>2</m:t>
                          </m:r>
                        </m:sub>
                        <m:sup>
                          <m:r>
                            <a:rPr lang="en-US" altLang="zh-CN" sz="2400" i="1" kern="100">
                              <a:latin typeface="Cambria Math" panose="02040503050406030204" pitchFamily="18" charset="0"/>
                              <a:ea typeface="MS Mincho" panose="02020609040205080304" charset="-128"/>
                              <a:cs typeface="Cambria Math" panose="02040503050406030204" pitchFamily="18" charset="0"/>
                            </a:rPr>
                            <m:t>2</m:t>
                          </m:r>
                        </m:sup>
                      </m:sSubSup>
                      <m:r>
                        <a:rPr lang="en-US" altLang="zh-CN" sz="2400" i="1" kern="100">
                          <a:latin typeface="Cambria Math" panose="02040503050406030204" pitchFamily="18" charset="0"/>
                          <a:ea typeface="MS Mincho" panose="02020609040205080304" charset="-128"/>
                          <a:cs typeface="Cambria Math" panose="02040503050406030204" pitchFamily="18" charset="0"/>
                        </a:rPr>
                        <m:t>=0</m:t>
                      </m:r>
                    </m:oMath>
                  </m:oMathPara>
                </a14:m>
                <a:endParaRPr lang="zh-CN" altLang="zh-CN" sz="2400" kern="100" dirty="0">
                  <a:latin typeface="宋体" panose="02010600030101010101" pitchFamily="2" charset="-122"/>
                  <a:ea typeface="宋体" panose="02010600030101010101" pitchFamily="2" charset="-122"/>
                  <a:cs typeface="宋体" panose="02010600030101010101" pitchFamily="2" charset="-122"/>
                </a:endParaRPr>
              </a:p>
              <a:p>
                <a:pPr algn="ctr" fontAlgn="auto">
                  <a:lnSpc>
                    <a:spcPct val="150000"/>
                  </a:lnSpc>
                </a:pPr>
                <a14:m>
                  <m:oMath xmlns:m="http://schemas.openxmlformats.org/officeDocument/2006/math">
                    <m:sSub>
                      <m:sSub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kern="100">
                            <a:latin typeface="Cambria Math" panose="02040503050406030204" pitchFamily="18" charset="0"/>
                            <a:ea typeface="MS Mincho" panose="02020609040205080304" charset="-128"/>
                            <a:cs typeface="Cambria Math" panose="02040503050406030204" pitchFamily="18" charset="0"/>
                          </a:rPr>
                          <m:t>1</m:t>
                        </m:r>
                      </m:sub>
                    </m:sSub>
                    <m:r>
                      <a:rPr lang="en-US" altLang="zh-CN" sz="2400" i="1" kern="100">
                        <a:latin typeface="Cambria Math" panose="02040503050406030204" pitchFamily="18" charset="0"/>
                        <a:ea typeface="MS Mincho" panose="02020609040205080304" charset="-128"/>
                        <a:cs typeface="Cambria Math" panose="02040503050406030204" pitchFamily="18" charset="0"/>
                      </a:rPr>
                      <m:t>=−1</m:t>
                    </m:r>
                  </m:oMath>
                </a14:m>
                <a:r>
                  <a:rPr lang="zh-CN" altLang="zh-CN" sz="2400" kern="100" dirty="0">
                    <a:latin typeface="宋体" panose="02010600030101010101" pitchFamily="2" charset="-122"/>
                    <a:ea typeface="宋体" panose="02010600030101010101" pitchFamily="2" charset="-122"/>
                    <a:cs typeface="宋体" panose="02010600030101010101" pitchFamily="2" charset="-122"/>
                  </a:rPr>
                  <a:t>（正值舍去）</a:t>
                </a:r>
              </a:p>
              <a:p>
                <a:pPr algn="just" fontAlgn="auto">
                  <a:lnSpc>
                    <a:spcPct val="150000"/>
                  </a:lnSpc>
                </a:pPr>
                <a:r>
                  <a:rPr lang="zh-CN" altLang="zh-CN" sz="2400" kern="100" dirty="0">
                    <a:latin typeface="宋体" panose="02010600030101010101" pitchFamily="2" charset="-122"/>
                    <a:ea typeface="宋体" panose="02010600030101010101" pitchFamily="2" charset="-122"/>
                    <a:cs typeface="宋体" panose="02010600030101010101" pitchFamily="2" charset="-122"/>
                  </a:rPr>
                  <a:t>故</a:t>
                </a:r>
                <a:r>
                  <a:rPr lang="en-US" altLang="zh-CN" sz="2400" kern="100" dirty="0">
                    <a:latin typeface="宋体" panose="02010600030101010101" pitchFamily="2" charset="-122"/>
                    <a:ea typeface="宋体" panose="02010600030101010101" pitchFamily="2" charset="-122"/>
                    <a:cs typeface="宋体" panose="02010600030101010101" pitchFamily="2" charset="-122"/>
                  </a:rPr>
                  <a:t>KKT</a:t>
                </a:r>
                <a:r>
                  <a:rPr lang="zh-CN" altLang="zh-CN" sz="2400" kern="100" dirty="0">
                    <a:latin typeface="宋体" panose="02010600030101010101" pitchFamily="2" charset="-122"/>
                    <a:ea typeface="宋体" panose="02010600030101010101" pitchFamily="2" charset="-122"/>
                    <a:cs typeface="宋体" panose="02010600030101010101" pitchFamily="2" charset="-122"/>
                  </a:rPr>
                  <a:t>点为</a:t>
                </a:r>
                <a14:m>
                  <m:oMath xmlns:m="http://schemas.openxmlformats.org/officeDocument/2006/math">
                    <m:sSub>
                      <m:sSub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kern="100">
                            <a:latin typeface="Cambria Math" panose="02040503050406030204" pitchFamily="18" charset="0"/>
                            <a:ea typeface="MS Mincho" panose="02020609040205080304" charset="-128"/>
                            <a:cs typeface="Cambria Math" panose="02040503050406030204" pitchFamily="18" charset="0"/>
                          </a:rPr>
                          <m:t>1</m:t>
                        </m:r>
                      </m:sub>
                    </m:sSub>
                    <m:r>
                      <a:rPr lang="en-US" altLang="zh-CN" sz="2400" i="1" kern="100">
                        <a:latin typeface="Cambria Math" panose="02040503050406030204" pitchFamily="18" charset="0"/>
                        <a:ea typeface="MS Mincho" panose="02020609040205080304" charset="-128"/>
                        <a:cs typeface="Cambria Math" panose="02040503050406030204" pitchFamily="18" charset="0"/>
                      </a:rPr>
                      <m:t>=−1,</m:t>
                    </m:r>
                    <m:sSub>
                      <m:sSub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kern="100">
                            <a:latin typeface="Cambria Math" panose="02040503050406030204" pitchFamily="18" charset="0"/>
                            <a:ea typeface="MS Mincho" panose="02020609040205080304" charset="-128"/>
                            <a:cs typeface="Cambria Math" panose="02040503050406030204" pitchFamily="18" charset="0"/>
                          </a:rPr>
                          <m:t>2</m:t>
                        </m:r>
                      </m:sub>
                    </m:sSub>
                    <m:r>
                      <a:rPr lang="en-US" altLang="zh-CN" sz="2400" i="1" kern="100">
                        <a:latin typeface="Cambria Math" panose="02040503050406030204" pitchFamily="18" charset="0"/>
                        <a:ea typeface="MS Mincho" panose="02020609040205080304" charset="-128"/>
                        <a:cs typeface="Cambria Math" panose="02040503050406030204" pitchFamily="18" charset="0"/>
                      </a:rPr>
                      <m:t>=−1,</m:t>
                    </m:r>
                    <m:r>
                      <a:rPr lang="en-US" altLang="zh-CN" sz="2400" i="1" kern="100">
                        <a:latin typeface="Cambria Math" panose="02040503050406030204" pitchFamily="18" charset="0"/>
                        <a:ea typeface="MS Mincho" panose="02020609040205080304" charset="-128"/>
                        <a:cs typeface="Cambria Math" panose="02040503050406030204" pitchFamily="18" charset="0"/>
                      </a:rPr>
                      <m:t>𝜆</m:t>
                    </m:r>
                    <m:r>
                      <a:rPr lang="en-US" altLang="zh-CN" sz="2400" i="1" kern="100">
                        <a:latin typeface="Cambria Math" panose="02040503050406030204" pitchFamily="18" charset="0"/>
                        <a:ea typeface="MS Mincho" panose="02020609040205080304" charset="-128"/>
                        <a:cs typeface="Cambria Math" panose="02040503050406030204" pitchFamily="18" charset="0"/>
                      </a:rPr>
                      <m:t>=0.5</m:t>
                    </m:r>
                  </m:oMath>
                </a14:m>
                <a:r>
                  <a:rPr lang="en-US" altLang="zh-CN" sz="2400" kern="100" dirty="0">
                    <a:latin typeface="宋体" panose="02010600030101010101" pitchFamily="2" charset="-122"/>
                    <a:ea typeface="宋体" panose="02010600030101010101" pitchFamily="2" charset="-122"/>
                    <a:cs typeface="宋体" panose="02010600030101010101" pitchFamily="2" charset="-122"/>
                  </a:rPr>
                  <a:t>.</a:t>
                </a:r>
                <a:endParaRPr lang="zh-CN" altLang="zh-CN" sz="2400" kern="100" dirty="0">
                  <a:latin typeface="宋体" panose="02010600030101010101" pitchFamily="2" charset="-122"/>
                  <a:ea typeface="宋体" panose="02010600030101010101" pitchFamily="2" charset="-122"/>
                  <a:cs typeface="宋体" panose="02010600030101010101" pitchFamily="2" charset="-122"/>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3774691" y="3509086"/>
                <a:ext cx="5369309" cy="2242793"/>
              </a:xfrm>
              <a:prstGeom prst="rect">
                <a:avLst/>
              </a:prstGeom>
              <a:blipFill>
                <a:blip r:embed="rId5"/>
                <a:stretch>
                  <a:fillRect l="-1703" b="-4620"/>
                </a:stretch>
              </a:blipFill>
            </p:spPr>
            <p:txBody>
              <a:bodyPr/>
              <a:lstStyle/>
              <a:p>
                <a:r>
                  <a:rPr lang="zh-CN" altLang="en-US">
                    <a:noFill/>
                  </a:rPr>
                  <a:t> </a:t>
                </a:r>
              </a:p>
            </p:txBody>
          </p:sp>
        </mc:Fallback>
      </mc:AlternateContent>
      <p:sp>
        <p:nvSpPr>
          <p:cNvPr id="8" name="文本框 7"/>
          <p:cNvSpPr txBox="1"/>
          <p:nvPr/>
        </p:nvSpPr>
        <p:spPr>
          <a:xfrm>
            <a:off x="323528" y="404664"/>
            <a:ext cx="5154105" cy="461665"/>
          </a:xfrm>
          <a:prstGeom prst="rect">
            <a:avLst/>
          </a:prstGeom>
          <a:noFill/>
        </p:spPr>
        <p:txBody>
          <a:bodyPr wrap="square">
            <a:spAutoFit/>
          </a:bodyPr>
          <a:lstStyle/>
          <a:p>
            <a:pPr algn="just">
              <a:spcBef>
                <a:spcPts val="450"/>
              </a:spcBef>
              <a:spcAft>
                <a:spcPts val="450"/>
              </a:spcAft>
            </a:pPr>
            <a:r>
              <a:rPr lang="zh-CN" altLang="en-US" sz="2400" kern="100" dirty="0">
                <a:latin typeface="Times New Roman" panose="02020603050405020304" pitchFamily="18" charset="0"/>
                <a:ea typeface="黑体" panose="02010609060101010101" pitchFamily="49" charset="-122"/>
              </a:rPr>
              <a:t>二、计算举例</a:t>
            </a:r>
            <a:endParaRPr lang="zh-CN" altLang="zh-CN" sz="2400" kern="100" dirty="0">
              <a:latin typeface="Times New Roman" panose="02020603050405020304" pitchFamily="18" charset="0"/>
              <a:ea typeface="宋体" panose="02010600030101010101" pitchFamily="2" charset="-122"/>
            </a:endParaRPr>
          </a:p>
        </p:txBody>
      </p:sp>
      <p:sp>
        <p:nvSpPr>
          <p:cNvPr id="12" name="文本框 11"/>
          <p:cNvSpPr txBox="1"/>
          <p:nvPr/>
        </p:nvSpPr>
        <p:spPr>
          <a:xfrm>
            <a:off x="323900" y="905763"/>
            <a:ext cx="5472236" cy="461665"/>
          </a:xfrm>
          <a:prstGeom prst="rect">
            <a:avLst/>
          </a:prstGeom>
          <a:noFill/>
        </p:spPr>
        <p:txBody>
          <a:bodyPr wrap="square">
            <a:spAutoFit/>
          </a:bodyPr>
          <a:lstStyle/>
          <a:p>
            <a:pPr algn="ctr">
              <a:tabLst>
                <a:tab pos="1977866" algn="ctr"/>
                <a:tab pos="3955733" algn="r"/>
              </a:tabLst>
            </a:pPr>
            <a:r>
              <a:rPr lang="zh-CN" altLang="zh-CN" sz="2400" b="1" kern="100" dirty="0">
                <a:solidFill>
                  <a:schemeClr val="accent1"/>
                </a:solidFill>
                <a:latin typeface="宋体" panose="02010600030101010101" pitchFamily="2" charset="-122"/>
                <a:ea typeface="宋体" panose="02010600030101010101" pitchFamily="2" charset="-122"/>
              </a:rPr>
              <a:t>例</a:t>
            </a:r>
            <a:r>
              <a:rPr lang="en-US" altLang="zh-CN" sz="2400" kern="100" dirty="0">
                <a:latin typeface="宋体" panose="02010600030101010101" pitchFamily="2" charset="-122"/>
                <a:ea typeface="宋体" panose="02010600030101010101" pitchFamily="2" charset="-122"/>
              </a:rPr>
              <a:t>1</a:t>
            </a:r>
            <a:r>
              <a:rPr lang="zh-CN" altLang="zh-CN" sz="2400" kern="100" dirty="0">
                <a:latin typeface="宋体" panose="02010600030101010101" pitchFamily="2" charset="-122"/>
                <a:ea typeface="宋体" panose="02010600030101010101" pitchFamily="2" charset="-122"/>
              </a:rPr>
              <a:t> 求下列非线性规划问题的</a:t>
            </a:r>
            <a:r>
              <a:rPr lang="en-US" altLang="zh-CN" sz="2400" kern="100" dirty="0">
                <a:latin typeface="宋体" panose="02010600030101010101" pitchFamily="2" charset="-122"/>
                <a:ea typeface="宋体" panose="02010600030101010101" pitchFamily="2" charset="-122"/>
              </a:rPr>
              <a:t>KKT</a:t>
            </a:r>
            <a:r>
              <a:rPr lang="zh-CN" altLang="zh-CN" sz="2400" kern="100" dirty="0">
                <a:latin typeface="宋体" panose="02010600030101010101" pitchFamily="2" charset="-122"/>
                <a:ea typeface="宋体" panose="02010600030101010101" pitchFamily="2" charset="-122"/>
              </a:rPr>
              <a:t>点</a:t>
            </a:r>
            <a:r>
              <a:rPr lang="zh-CN" altLang="en-US" sz="2400" kern="100" dirty="0">
                <a:latin typeface="宋体" panose="02010600030101010101" pitchFamily="2" charset="-122"/>
                <a:ea typeface="宋体" panose="02010600030101010101" pitchFamily="2" charset="-122"/>
              </a:rPr>
              <a:t>。</a:t>
            </a:r>
            <a:endParaRPr lang="zh-CN" altLang="zh-CN" sz="2400" kern="100"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p:cNvSpPr txBox="1"/>
              <p:nvPr/>
            </p:nvSpPr>
            <p:spPr>
              <a:xfrm>
                <a:off x="2685790" y="1646899"/>
                <a:ext cx="3429000" cy="1567993"/>
              </a:xfrm>
              <a:prstGeom prst="rect">
                <a:avLst/>
              </a:prstGeom>
              <a:noFill/>
            </p:spPr>
            <p:txBody>
              <a:bodyPr wrap="square">
                <a:spAutoFit/>
              </a:bodyPr>
              <a:lstStyle/>
              <a:p>
                <a:pPr algn="just"/>
                <a:br>
                  <a:rPr lang="en-US" altLang="zh-CN" sz="2400" i="1" kern="100" dirty="0">
                    <a:latin typeface="Cambria Math" panose="02040503050406030204" pitchFamily="18" charset="0"/>
                    <a:ea typeface="等线" panose="02010600030101010101" pitchFamily="2" charset="-122"/>
                    <a:cs typeface="Times New Roman" panose="02020603050405020304" pitchFamily="18" charset="0"/>
                  </a:rPr>
                </a:br>
                <a14:m>
                  <m:oMathPara xmlns:m="http://schemas.openxmlformats.org/officeDocument/2006/math">
                    <m:oMathParaPr>
                      <m:jc m:val="centerGroup"/>
                    </m:oMathParaPr>
                    <m:oMath xmlns:m="http://schemas.openxmlformats.org/officeDocument/2006/math">
                      <m:m>
                        <m:mPr>
                          <m:mcs>
                            <m:mc>
                              <m:mcPr>
                                <m:count m:val="1"/>
                                <m:mcJc m:val="center"/>
                              </m:mcPr>
                            </m:mc>
                          </m:mcs>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mPr>
                        <m:mr>
                          <m:e>
                            <m:func>
                              <m:func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400" kern="100">
                                    <a:latin typeface="Cambria Math" panose="02040503050406030204" pitchFamily="18" charset="0"/>
                                    <a:ea typeface="等线" panose="02010600030101010101" pitchFamily="2" charset="-122"/>
                                    <a:cs typeface="Times New Roman" panose="02020603050405020304" pitchFamily="18" charset="0"/>
                                  </a:rPr>
                                  <m:t>min</m:t>
                                </m:r>
                              </m:fName>
                              <m:e>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ub>
                                </m:sSub>
                              </m:e>
                            </m:func>
                          </m:e>
                        </m:mr>
                        <m:m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𝑠</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𝑡</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 </m:t>
                            </m:r>
                            <m:m>
                              <m:mPr>
                                <m:mcs>
                                  <m:mc>
                                    <m:mcPr>
                                      <m:count m:val="1"/>
                                      <m:mcJc m:val="center"/>
                                    </m:mcPr>
                                  </m:mc>
                                </m:mcs>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mPr>
                              <m:mr>
                                <m:e>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≥0</m:t>
                                  </m:r>
                                </m:e>
                              </m:mr>
                              <m:m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e>
                                    <m:sup>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b>
                                    <m:sup>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p>
                                  </m:sSubSup>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≥0</m:t>
                                  </m:r>
                                </m:e>
                              </m:mr>
                            </m:m>
                          </m:e>
                        </m:mr>
                      </m:m>
                    </m:oMath>
                  </m:oMathPara>
                </a14:m>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2685790" y="1646899"/>
                <a:ext cx="3429000" cy="1567993"/>
              </a:xfrm>
              <a:prstGeom prst="rect">
                <a:avLst/>
              </a:prstGeom>
              <a:blipFill>
                <a:blip r:embed="rId2"/>
                <a:stretch>
                  <a:fillRect r="-3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755576" y="3861048"/>
                <a:ext cx="7920880" cy="1205330"/>
              </a:xfrm>
              <a:prstGeom prst="rect">
                <a:avLst/>
              </a:prstGeom>
              <a:noFill/>
            </p:spPr>
            <p:txBody>
              <a:bodyPr wrap="square">
                <a:spAutoFit/>
              </a:bodyPr>
              <a:lstStyle/>
              <a:p>
                <a:pPr algn="just"/>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解：拉格朗日函数为</a:t>
                </a:r>
                <a:endParaRPr lang="en-US" altLang="zh-CN" sz="2400" kern="100" dirty="0">
                  <a:latin typeface="宋体" panose="02010600030101010101" pitchFamily="2" charset="-122"/>
                  <a:ea typeface="宋体" panose="02010600030101010101" pitchFamily="2" charset="-122"/>
                  <a:cs typeface="Times New Roman" panose="02020603050405020304" pitchFamily="18" charset="0"/>
                </a:endParaRPr>
              </a:p>
              <a:p>
                <a:pPr algn="just"/>
                <a:endParaRPr lang="zh-CN" altLang="zh-CN" sz="2400" kern="100" dirty="0">
                  <a:latin typeface="宋体" panose="02010600030101010101" pitchFamily="2" charset="-122"/>
                  <a:ea typeface="宋体" panose="02010600030101010101" pitchFamily="2" charset="-122"/>
                  <a:cs typeface="Times New Roman" panose="02020603050405020304" pitchFamily="18" charset="0"/>
                </a:endParaRPr>
              </a:p>
              <a:p>
                <a:pPr algn="just"/>
                <a:r>
                  <a:rPr lang="en-US" altLang="zh-CN" sz="2400" kern="100" dirty="0">
                    <a:latin typeface="宋体" panose="02010600030101010101" pitchFamily="2" charset="-122"/>
                    <a:ea typeface="宋体" panose="02010600030101010101" pitchFamily="2" charset="-122"/>
                    <a:cs typeface="Times New Roman" panose="02020603050405020304" pitchFamily="18" charset="0"/>
                  </a:rPr>
                  <a:t>      </a:t>
                </a:r>
                <a14:m>
                  <m:oMath xmlns:m="http://schemas.openxmlformats.org/officeDocument/2006/math">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𝐿</m:t>
                    </m:r>
                    <m:d>
                      <m:d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𝜆</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𝜇</m:t>
                        </m:r>
                      </m:e>
                    </m:d>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𝜆</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𝜇</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e>
                      <m:sup>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b>
                      <m:sup>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p>
                    </m:sSubSup>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oMath>
                </a14:m>
                <a:endParaRPr lang="zh-CN" altLang="zh-CN" sz="2400" kern="100" dirty="0">
                  <a:latin typeface="宋体" panose="02010600030101010101" pitchFamily="2" charset="-122"/>
                  <a:ea typeface="宋体" panose="02010600030101010101" pitchFamily="2" charset="-122"/>
                  <a:cs typeface="Times New Roman" panose="02020603050405020304" pitchFamily="18" charset="0"/>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755576" y="3861048"/>
                <a:ext cx="7920880" cy="1205330"/>
              </a:xfrm>
              <a:prstGeom prst="rect">
                <a:avLst/>
              </a:prstGeom>
              <a:blipFill>
                <a:blip r:embed="rId3"/>
                <a:stretch>
                  <a:fillRect l="-1232" t="-4040" b="-7071"/>
                </a:stretch>
              </a:blipFill>
            </p:spPr>
            <p:txBody>
              <a:bodyPr/>
              <a:lstStyle/>
              <a:p>
                <a:r>
                  <a:rPr lang="zh-CN" altLang="en-US">
                    <a:noFill/>
                  </a:rPr>
                  <a:t> </a:t>
                </a:r>
              </a:p>
            </p:txBody>
          </p:sp>
        </mc:Fallback>
      </mc:AlternateContent>
      <p:sp>
        <p:nvSpPr>
          <p:cNvPr id="7" name="文本框 6"/>
          <p:cNvSpPr txBox="1"/>
          <p:nvPr/>
        </p:nvSpPr>
        <p:spPr>
          <a:xfrm>
            <a:off x="400379" y="908720"/>
            <a:ext cx="5899813" cy="461665"/>
          </a:xfrm>
          <a:prstGeom prst="rect">
            <a:avLst/>
          </a:prstGeom>
          <a:noFill/>
        </p:spPr>
        <p:txBody>
          <a:bodyPr wrap="square">
            <a:spAutoFit/>
          </a:bodyPr>
          <a:lstStyle/>
          <a:p>
            <a:pPr algn="ctr">
              <a:tabLst>
                <a:tab pos="1977866" algn="ctr"/>
                <a:tab pos="3955733" algn="r"/>
              </a:tabLst>
            </a:pPr>
            <a:r>
              <a:rPr lang="zh-CN" altLang="zh-CN" sz="2400" b="1" kern="100" dirty="0">
                <a:solidFill>
                  <a:schemeClr val="accent1"/>
                </a:solidFill>
                <a:latin typeface="宋体" panose="02010600030101010101" pitchFamily="2" charset="-122"/>
                <a:ea typeface="宋体" panose="02010600030101010101" pitchFamily="2" charset="-122"/>
              </a:rPr>
              <a:t>例</a:t>
            </a:r>
            <a:r>
              <a:rPr lang="en-US" altLang="zh-CN" sz="2400" kern="100" dirty="0">
                <a:latin typeface="宋体" panose="02010600030101010101" pitchFamily="2" charset="-122"/>
                <a:ea typeface="宋体" panose="02010600030101010101" pitchFamily="2" charset="-122"/>
              </a:rPr>
              <a:t>2</a:t>
            </a:r>
            <a:r>
              <a:rPr lang="zh-CN" altLang="zh-CN" sz="2400" kern="100" dirty="0">
                <a:latin typeface="宋体" panose="02010600030101010101" pitchFamily="2" charset="-122"/>
                <a:ea typeface="宋体" panose="02010600030101010101" pitchFamily="2" charset="-122"/>
              </a:rPr>
              <a:t> 求下列非线性规划问题的</a:t>
            </a:r>
            <a:r>
              <a:rPr lang="en-US" altLang="zh-CN" sz="2400" kern="100" dirty="0">
                <a:latin typeface="宋体" panose="02010600030101010101" pitchFamily="2" charset="-122"/>
                <a:ea typeface="宋体" panose="02010600030101010101" pitchFamily="2" charset="-122"/>
              </a:rPr>
              <a:t>KKT</a:t>
            </a:r>
            <a:r>
              <a:rPr lang="zh-CN" altLang="zh-CN" sz="2400" kern="100" dirty="0">
                <a:latin typeface="宋体" panose="02010600030101010101" pitchFamily="2" charset="-122"/>
                <a:ea typeface="宋体" panose="02010600030101010101" pitchFamily="2" charset="-122"/>
              </a:rPr>
              <a:t>点</a:t>
            </a:r>
            <a:r>
              <a:rPr lang="zh-CN" altLang="en-US" sz="2400" kern="100" dirty="0">
                <a:latin typeface="宋体" panose="02010600030101010101" pitchFamily="2" charset="-122"/>
                <a:ea typeface="宋体" panose="02010600030101010101" pitchFamily="2" charset="-122"/>
              </a:rPr>
              <a:t>。</a:t>
            </a:r>
            <a:endParaRPr lang="zh-CN" altLang="zh-CN" sz="2400" kern="100"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p:cNvSpPr txBox="1"/>
              <p:nvPr/>
            </p:nvSpPr>
            <p:spPr>
              <a:xfrm>
                <a:off x="307656" y="3123253"/>
                <a:ext cx="8261033" cy="2763834"/>
              </a:xfrm>
              <a:prstGeom prst="rect">
                <a:avLst/>
              </a:prstGeom>
              <a:noFill/>
            </p:spPr>
            <p:txBody>
              <a:bodyPr wrap="square">
                <a:spAutoFit/>
              </a:bodyPr>
              <a:lstStyle/>
              <a:p>
                <a:pPr algn="just" fontAlgn="auto">
                  <a:lnSpc>
                    <a:spcPct val="150000"/>
                  </a:lnSpc>
                </a:pPr>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由第一个等式知</a:t>
                </a:r>
                <a14:m>
                  <m:oMath xmlns:m="http://schemas.openxmlformats.org/officeDocument/2006/math">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𝜇</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，所以</a:t>
                </a:r>
                <a14:m>
                  <m:oMath xmlns:m="http://schemas.openxmlformats.org/officeDocument/2006/math">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1−</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−1</m:t>
                            </m:r>
                          </m:e>
                        </m:d>
                      </m:e>
                      <m:sup>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2</m:t>
                        </m:r>
                      </m:sub>
                      <m:sup>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2</m:t>
                        </m:r>
                      </m:sup>
                    </m:sSubSup>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=0</m:t>
                    </m:r>
                  </m:oMath>
                </a14:m>
                <a:endParaRPr lang="zh-CN" altLang="zh-CN" sz="2200" kern="100" dirty="0">
                  <a:latin typeface="宋体" panose="02010600030101010101" pitchFamily="2" charset="-122"/>
                  <a:ea typeface="宋体" panose="02010600030101010101" pitchFamily="2" charset="-122"/>
                  <a:cs typeface="Times New Roman" panose="02020603050405020304" pitchFamily="18" charset="0"/>
                </a:endParaRPr>
              </a:p>
              <a:p>
                <a:pPr algn="just">
                  <a:lnSpc>
                    <a:spcPct val="150000"/>
                  </a:lnSpc>
                  <a:spcBef>
                    <a:spcPts val="450"/>
                  </a:spcBef>
                  <a:spcAft>
                    <a:spcPts val="450"/>
                  </a:spcAft>
                </a:pPr>
                <a:r>
                  <a:rPr lang="en-US" altLang="zh-CN" sz="2200" kern="100" dirty="0">
                    <a:latin typeface="宋体" panose="02010600030101010101" pitchFamily="2" charset="-122"/>
                    <a:ea typeface="宋体" panose="02010600030101010101" pitchFamily="2" charset="-122"/>
                    <a:cs typeface="Times New Roman" panose="02020603050405020304" pitchFamily="18" charset="0"/>
                  </a:rPr>
                  <a:t>    </a:t>
                </a:r>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若</a:t>
                </a:r>
                <a14:m>
                  <m:oMath xmlns:m="http://schemas.openxmlformats.org/officeDocument/2006/math">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𝜆</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，由第二个等式知</a:t>
                </a:r>
                <a14:m>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，所以</a:t>
                </a:r>
                <a14:m>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或</a:t>
                </a:r>
                <a:r>
                  <a:rPr lang="en-US" altLang="zh-CN" sz="2200" kern="100" dirty="0">
                    <a:latin typeface="宋体" panose="02010600030101010101" pitchFamily="2" charset="-122"/>
                    <a:ea typeface="宋体" panose="02010600030101010101" pitchFamily="2" charset="-122"/>
                    <a:cs typeface="Times New Roman" panose="02020603050405020304" pitchFamily="18" charset="0"/>
                  </a:rPr>
                  <a:t>2</a:t>
                </a:r>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，再由第一个等式知</a:t>
                </a:r>
                <a14:m>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a:t>
                </a:r>
              </a:p>
              <a:p>
                <a:pPr algn="just" fontAlgn="auto">
                  <a:lnSpc>
                    <a:spcPct val="150000"/>
                  </a:lnSpc>
                </a:pPr>
                <a:r>
                  <a:rPr lang="en-US" altLang="zh-CN" sz="2200" kern="100" dirty="0">
                    <a:latin typeface="宋体" panose="02010600030101010101" pitchFamily="2" charset="-122"/>
                    <a:ea typeface="宋体" panose="02010600030101010101" pitchFamily="2" charset="-122"/>
                    <a:cs typeface="Times New Roman" panose="02020603050405020304" pitchFamily="18" charset="0"/>
                  </a:rPr>
                  <a:t>    </a:t>
                </a:r>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若</a:t>
                </a:r>
                <a14:m>
                  <m:oMath xmlns:m="http://schemas.openxmlformats.org/officeDocument/2006/math">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𝜆</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&gt;0</m:t>
                    </m:r>
                  </m:oMath>
                </a14:m>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，由</a:t>
                </a:r>
                <a14:m>
                  <m:oMath xmlns:m="http://schemas.openxmlformats.org/officeDocument/2006/math">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𝜆</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知</a:t>
                </a:r>
                <a14:m>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，与第二个等式矛盾。</a:t>
                </a:r>
              </a:p>
              <a:p>
                <a:pPr algn="just">
                  <a:lnSpc>
                    <a:spcPct val="150000"/>
                  </a:lnSpc>
                  <a:spcBef>
                    <a:spcPts val="450"/>
                  </a:spcBef>
                </a:pPr>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故</a:t>
                </a:r>
                <a:r>
                  <a:rPr lang="en-US" altLang="zh-CN" sz="2200" kern="100" dirty="0">
                    <a:latin typeface="宋体" panose="02010600030101010101" pitchFamily="2" charset="-122"/>
                    <a:ea typeface="宋体" panose="02010600030101010101" pitchFamily="2" charset="-122"/>
                    <a:cs typeface="Times New Roman" panose="02020603050405020304" pitchFamily="18" charset="0"/>
                  </a:rPr>
                  <a:t>KKT</a:t>
                </a:r>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点为</a:t>
                </a:r>
                <a14:m>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=0,</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=0,</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𝜆</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=0,</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𝜇</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=0.5</m:t>
                    </m:r>
                  </m:oMath>
                </a14:m>
                <a:r>
                  <a:rPr lang="zh-CN" altLang="en-US" sz="2200" kern="100" dirty="0">
                    <a:latin typeface="宋体" panose="02010600030101010101" pitchFamily="2" charset="-122"/>
                    <a:ea typeface="宋体" panose="02010600030101010101" pitchFamily="2" charset="-122"/>
                    <a:cs typeface="Times New Roman" panose="02020603050405020304" pitchFamily="18" charset="0"/>
                  </a:rPr>
                  <a:t>。</a:t>
                </a:r>
                <a:endParaRPr lang="zh-CN" altLang="zh-CN" sz="2200" kern="100" dirty="0">
                  <a:latin typeface="宋体" panose="02010600030101010101" pitchFamily="2" charset="-122"/>
                  <a:ea typeface="宋体" panose="02010600030101010101" pitchFamily="2" charset="-122"/>
                  <a:cs typeface="Times New Roman" panose="02020603050405020304" pitchFamily="18"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307656" y="3123253"/>
                <a:ext cx="8261033" cy="2763834"/>
              </a:xfrm>
              <a:prstGeom prst="rect">
                <a:avLst/>
              </a:prstGeom>
              <a:blipFill>
                <a:blip r:embed="rId2"/>
                <a:stretch>
                  <a:fillRect l="-959" r="-885" b="-28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467544" y="908720"/>
                <a:ext cx="7508081" cy="2271199"/>
              </a:xfrm>
              <a:prstGeom prst="rect">
                <a:avLst/>
              </a:prstGeom>
              <a:noFill/>
            </p:spPr>
            <p:txBody>
              <a:bodyPr wrap="square">
                <a:spAutoFit/>
              </a:bodyPr>
              <a:lstStyle/>
              <a:p>
                <a:pPr algn="just"/>
                <a:r>
                  <a:rPr lang="en-US" altLang="zh-CN" sz="2200" kern="100" dirty="0">
                    <a:latin typeface="宋体" panose="02010600030101010101" pitchFamily="2" charset="-122"/>
                    <a:ea typeface="宋体" panose="02010600030101010101" pitchFamily="2" charset="-122"/>
                    <a:cs typeface="Times New Roman" panose="02020603050405020304" pitchFamily="18" charset="0"/>
                  </a:rPr>
                  <a:t>KKT</a:t>
                </a:r>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条件为</a:t>
                </a:r>
              </a:p>
              <a:p>
                <a:pPr algn="just"/>
                <a14:m>
                  <m:oMathPara xmlns:m="http://schemas.openxmlformats.org/officeDocument/2006/math">
                    <m:oMathParaPr>
                      <m:jc m:val="centerGroup"/>
                    </m:oMathParaPr>
                    <m:oMath xmlns:m="http://schemas.openxmlformats.org/officeDocument/2006/math">
                      <m:d>
                        <m:dPr>
                          <m:begChr m:val="{"/>
                          <m:endChr m:val=""/>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1"/>
                                    <m:mcJc m:val="center"/>
                                  </m:mcPr>
                                </m:mc>
                              </m:mcs>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1+2</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𝜇</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−1)=0</m:t>
                                </m:r>
                              </m:e>
                            </m:mr>
                            <m:m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𝜆</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+2</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𝜇</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=0</m:t>
                                </m:r>
                              </m:e>
                            </m:mr>
                            <m:mr>
                              <m:e>
                                <m:m>
                                  <m:mPr>
                                    <m:mcs>
                                      <m:mc>
                                        <m:mcPr>
                                          <m:count m:val="1"/>
                                          <m:mcJc m:val="center"/>
                                        </m:mcPr>
                                      </m:mc>
                                    </m:mcs>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𝜆</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𝜇</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≥0</m:t>
                                      </m:r>
                                    </m:e>
                                  </m:mr>
                                  <m:mr>
                                    <m:e>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≥0,1−</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−1)</m:t>
                                          </m:r>
                                        </m:e>
                                        <m:sup>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2</m:t>
                                          </m:r>
                                        </m:sub>
                                        <m:sup>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2</m:t>
                                          </m:r>
                                        </m:sup>
                                      </m:sSubSup>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≥0</m:t>
                                      </m:r>
                                    </m:e>
                                  </m:mr>
                                  <m:m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𝜆</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=0,</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𝜇</m:t>
                                      </m:r>
                                      <m:d>
                                        <m:d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1−</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−1)</m:t>
                                              </m:r>
                                            </m:e>
                                            <m:sup>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2</m:t>
                                              </m:r>
                                            </m:sub>
                                            <m:sup>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2</m:t>
                                              </m:r>
                                            </m:sup>
                                          </m:sSubSup>
                                        </m:e>
                                      </m:d>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=0</m:t>
                                      </m:r>
                                    </m:e>
                                  </m:mr>
                                </m:m>
                              </m:e>
                            </m:mr>
                          </m:m>
                        </m:e>
                      </m:d>
                    </m:oMath>
                  </m:oMathPara>
                </a14:m>
                <a:endParaRPr lang="zh-CN" altLang="en-US" sz="2200" dirty="0">
                  <a:latin typeface="宋体" panose="02010600030101010101" pitchFamily="2" charset="-122"/>
                  <a:ea typeface="宋体" panose="02010600030101010101" pitchFamily="2"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467544" y="908720"/>
                <a:ext cx="7508081" cy="2271199"/>
              </a:xfrm>
              <a:prstGeom prst="rect">
                <a:avLst/>
              </a:prstGeom>
              <a:blipFill>
                <a:blip r:embed="rId3"/>
                <a:stretch>
                  <a:fillRect l="-1056" t="-2145"/>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478C3DA1-348A-42DA-9B81-61725D8D9987}"/>
                  </a:ext>
                </a:extLst>
              </p:cNvPr>
              <p:cNvSpPr txBox="1"/>
              <p:nvPr/>
            </p:nvSpPr>
            <p:spPr>
              <a:xfrm>
                <a:off x="467544" y="404664"/>
                <a:ext cx="7200800" cy="3889847"/>
              </a:xfrm>
              <a:prstGeom prst="rect">
                <a:avLst/>
              </a:prstGeom>
              <a:noFill/>
            </p:spPr>
            <p:txBody>
              <a:bodyPr wrap="square">
                <a:spAutoFit/>
              </a:bodyPr>
              <a:lstStyle/>
              <a:p>
                <a:pPr algn="just"/>
                <a:r>
                  <a:rPr lang="zh-CN" altLang="zh-CN" sz="2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练习</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：利用</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KKT</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条件求下列优化问题的最优解</a:t>
                </a:r>
              </a:p>
              <a:p>
                <a:pPr algn="just"/>
                <a14:m>
                  <m:oMathPara xmlns:m="http://schemas.openxmlformats.org/officeDocument/2006/math">
                    <m:oMathParaPr>
                      <m:jc m:val="centerGroup"/>
                    </m:oMathParaPr>
                    <m:oMath xmlns:m="http://schemas.openxmlformats.org/officeDocument/2006/math">
                      <m:m>
                        <m:mPr>
                          <m:mcs>
                            <m:mc>
                              <m:mcPr>
                                <m:count m:val="1"/>
                                <m:mcJc m:val="center"/>
                              </m:mcPr>
                            </m:mc>
                          </m:mcs>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mPr>
                        <m:mr>
                          <m:e>
                            <m:func>
                              <m:func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800" kern="100">
                                    <a:effectLst/>
                                    <a:latin typeface="Cambria Math" panose="02040503050406030204" pitchFamily="18" charset="0"/>
                                    <a:ea typeface="等线" panose="02010600030101010101" pitchFamily="2" charset="-122"/>
                                    <a:cs typeface="Times New Roman" panose="02020603050405020304" pitchFamily="18" charset="0"/>
                                  </a:rPr>
                                  <m:t>min</m:t>
                                </m:r>
                              </m:fName>
                              <m:e>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𝑎</m:t>
                                        </m:r>
                                      </m:e>
                                    </m:d>
                                  </m:e>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sup>
                                </m:sSup>
                              </m:e>
                            </m:func>
                          </m:e>
                        </m:mr>
                        <m:m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𝑠</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𝑡</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 </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≥0</m:t>
                            </m:r>
                          </m:e>
                        </m:mr>
                      </m:m>
                    </m:oMath>
                  </m:oMathPara>
                </a14:m>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m>
                        <m:mPr>
                          <m:mcs>
                            <m:mc>
                              <m:mcPr>
                                <m:count m:val="1"/>
                                <m:mcJc m:val="center"/>
                              </m:mcPr>
                            </m:mc>
                          </m:mcs>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mPr>
                        <m:mr>
                          <m:e>
                            <m:func>
                              <m:func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800" kern="100">
                                    <a:effectLst/>
                                    <a:latin typeface="Cambria Math" panose="02040503050406030204" pitchFamily="18" charset="0"/>
                                    <a:ea typeface="等线" panose="02010600030101010101" pitchFamily="2" charset="-122"/>
                                    <a:cs typeface="Times New Roman" panose="02020603050405020304" pitchFamily="18" charset="0"/>
                                  </a:rPr>
                                  <m:t>min</m:t>
                                </m:r>
                              </m:fName>
                              <m:e>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𝑎</m:t>
                                        </m:r>
                                      </m:e>
                                    </m:d>
                                  </m:e>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𝑏</m:t>
                                        </m:r>
                                      </m:e>
                                    </m:d>
                                  </m:e>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sup>
                                </m:sSup>
                              </m:e>
                            </m:func>
                          </m:e>
                        </m:mr>
                        <m:m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𝑠</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𝑡</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≥0</m:t>
                            </m:r>
                          </m:e>
                        </m:mr>
                      </m:m>
                    </m:oMath>
                  </m:oMathPara>
                </a14:m>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endParaRPr lang="en-US" altLang="zh-CN" sz="2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algn="just"/>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478C3DA1-348A-42DA-9B81-61725D8D9987}"/>
                  </a:ext>
                </a:extLst>
              </p:cNvPr>
              <p:cNvSpPr txBox="1">
                <a:spLocks noRot="1" noChangeAspect="1" noMove="1" noResize="1" noEditPoints="1" noAdjustHandles="1" noChangeArrowheads="1" noChangeShapeType="1" noTextEdit="1"/>
              </p:cNvSpPr>
              <p:nvPr/>
            </p:nvSpPr>
            <p:spPr>
              <a:xfrm>
                <a:off x="467544" y="404664"/>
                <a:ext cx="7200800" cy="3889847"/>
              </a:xfrm>
              <a:prstGeom prst="rect">
                <a:avLst/>
              </a:prstGeom>
              <a:blipFill>
                <a:blip r:embed="rId2"/>
                <a:stretch>
                  <a:fillRect l="-1778" t="-1724" r="-7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3C156EF-6456-49CA-87FB-BE69547B938C}"/>
                  </a:ext>
                </a:extLst>
              </p:cNvPr>
              <p:cNvSpPr txBox="1"/>
              <p:nvPr/>
            </p:nvSpPr>
            <p:spPr>
              <a:xfrm>
                <a:off x="475232" y="3140968"/>
                <a:ext cx="4572000" cy="1437125"/>
              </a:xfrm>
              <a:prstGeom prst="rect">
                <a:avLst/>
              </a:prstGeom>
              <a:noFill/>
            </p:spPr>
            <p:txBody>
              <a:bodyPr wrap="square">
                <a:spAutoFit/>
              </a:bodyPr>
              <a:lstStyle/>
              <a:p>
                <a:pPr algn="just"/>
                <a:r>
                  <a:rPr lang="zh-CN" altLang="zh-CN" sz="2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思考</a:t>
                </a:r>
              </a:p>
              <a:p>
                <a:pPr algn="just"/>
                <a14:m>
                  <m:oMathPara xmlns:m="http://schemas.openxmlformats.org/officeDocument/2006/math">
                    <m:oMathParaPr>
                      <m:jc m:val="centerGroup"/>
                    </m:oMathParaPr>
                    <m:oMath xmlns:m="http://schemas.openxmlformats.org/officeDocument/2006/math">
                      <m:m>
                        <m:mPr>
                          <m:mcs>
                            <m:mc>
                              <m:mcPr>
                                <m:count m:val="1"/>
                                <m:mcJc m:val="center"/>
                              </m:mcPr>
                            </m:mc>
                          </m:mcs>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mPr>
                        <m:mr>
                          <m:e>
                            <m:func>
                              <m:func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funcPr>
                              <m:fName>
                                <m:limLow>
                                  <m:limLow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limLowPr>
                                  <m:e>
                                    <m:r>
                                      <m:rPr>
                                        <m:sty m:val="p"/>
                                      </m:rPr>
                                      <a:rPr lang="en-US" altLang="zh-CN" sz="2800" kern="100">
                                        <a:effectLst/>
                                        <a:latin typeface="Cambria Math" panose="02040503050406030204" pitchFamily="18" charset="0"/>
                                        <a:ea typeface="等线" panose="02010600030101010101" pitchFamily="2" charset="-122"/>
                                        <a:cs typeface="Times New Roman" panose="02020603050405020304" pitchFamily="18" charset="0"/>
                                      </a:rPr>
                                      <m:t>min</m:t>
                                    </m:r>
                                  </m:e>
                                  <m:lim>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𝑅</m:t>
                                        </m:r>
                                      </m:e>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sup>
                                    </m:sSup>
                                  </m:lim>
                                </m:limLow>
                              </m:fName>
                              <m:e>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d>
                                      <m:dPr>
                                        <m:begChr m:val="‖"/>
                                        <m:endChr m:val="‖"/>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𝑏</m:t>
                                        </m:r>
                                      </m:e>
                                    </m:d>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sub>
                                </m:sSub>
                              </m:e>
                            </m:func>
                          </m:e>
                        </m:mr>
                        <m:m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𝑠</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𝑡</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 </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≥0</m:t>
                            </m:r>
                          </m:e>
                        </m:mr>
                      </m:m>
                    </m:oMath>
                  </m:oMathPara>
                </a14:m>
                <a:endParaRPr lang="zh-CN" altLang="en-US" sz="2800" dirty="0"/>
              </a:p>
            </p:txBody>
          </p:sp>
        </mc:Choice>
        <mc:Fallback xmlns="">
          <p:sp>
            <p:nvSpPr>
              <p:cNvPr id="5" name="文本框 4">
                <a:extLst>
                  <a:ext uri="{FF2B5EF4-FFF2-40B4-BE49-F238E27FC236}">
                    <a16:creationId xmlns:a16="http://schemas.microsoft.com/office/drawing/2014/main" id="{13C156EF-6456-49CA-87FB-BE69547B938C}"/>
                  </a:ext>
                </a:extLst>
              </p:cNvPr>
              <p:cNvSpPr txBox="1">
                <a:spLocks noRot="1" noChangeAspect="1" noMove="1" noResize="1" noEditPoints="1" noAdjustHandles="1" noChangeArrowheads="1" noChangeShapeType="1" noTextEdit="1"/>
              </p:cNvSpPr>
              <p:nvPr/>
            </p:nvSpPr>
            <p:spPr>
              <a:xfrm>
                <a:off x="475232" y="3140968"/>
                <a:ext cx="4572000" cy="1437125"/>
              </a:xfrm>
              <a:prstGeom prst="rect">
                <a:avLst/>
              </a:prstGeom>
              <a:blipFill>
                <a:blip r:embed="rId3"/>
                <a:stretch>
                  <a:fillRect l="-2800" t="-466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66805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67544" y="1268760"/>
            <a:ext cx="5154105" cy="461665"/>
          </a:xfrm>
          <a:prstGeom prst="rect">
            <a:avLst/>
          </a:prstGeom>
          <a:noFill/>
        </p:spPr>
        <p:txBody>
          <a:bodyPr wrap="square">
            <a:spAutoFit/>
          </a:bodyPr>
          <a:lstStyle/>
          <a:p>
            <a:pPr algn="just">
              <a:spcBef>
                <a:spcPts val="450"/>
              </a:spcBef>
              <a:spcAft>
                <a:spcPts val="450"/>
              </a:spcAft>
            </a:pPr>
            <a:r>
              <a:rPr lang="zh-CN" altLang="en-US" sz="2400" kern="100" dirty="0">
                <a:latin typeface="Times New Roman" panose="02020603050405020304" pitchFamily="18" charset="0"/>
                <a:ea typeface="黑体" panose="02010609060101010101" pitchFamily="49" charset="-122"/>
              </a:rPr>
              <a:t>三、小结</a:t>
            </a:r>
            <a:endParaRPr lang="zh-CN" altLang="zh-CN" sz="2400" kern="100" dirty="0">
              <a:latin typeface="Times New Roman" panose="02020603050405020304" pitchFamily="18" charset="0"/>
              <a:ea typeface="宋体" panose="02010600030101010101" pitchFamily="2" charset="-122"/>
            </a:endParaRPr>
          </a:p>
        </p:txBody>
      </p:sp>
      <p:sp>
        <p:nvSpPr>
          <p:cNvPr id="7" name="文本框 6"/>
          <p:cNvSpPr txBox="1"/>
          <p:nvPr/>
        </p:nvSpPr>
        <p:spPr>
          <a:xfrm>
            <a:off x="656325" y="2025038"/>
            <a:ext cx="7830870" cy="2775760"/>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US" altLang="zh-CN" sz="2400" dirty="0">
                <a:latin typeface="宋体" panose="02010600030101010101" pitchFamily="2" charset="-122"/>
                <a:ea typeface="宋体" panose="02010600030101010101" pitchFamily="2" charset="-122"/>
              </a:rPr>
              <a:t>KKT</a:t>
            </a:r>
            <a:r>
              <a:rPr lang="zh-CN" altLang="en-US" sz="2400" dirty="0">
                <a:latin typeface="宋体" panose="02010600030101010101" pitchFamily="2" charset="-122"/>
                <a:ea typeface="宋体" panose="02010600030101010101" pitchFamily="2" charset="-122"/>
              </a:rPr>
              <a:t>条件是非线性规划领域中最重要的理论成果之一，是确定某点是最优点的一阶必要条件。</a:t>
            </a:r>
            <a:endParaRPr lang="en-US" altLang="zh-CN" sz="2400" dirty="0">
              <a:latin typeface="宋体" panose="02010600030101010101" pitchFamily="2" charset="-122"/>
              <a:ea typeface="宋体" panose="02010600030101010101" pitchFamily="2" charset="-122"/>
            </a:endParaRPr>
          </a:p>
          <a:p>
            <a:pPr marL="342900" indent="-342900" algn="just">
              <a:lnSpc>
                <a:spcPct val="150000"/>
              </a:lnSpc>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一般来说它并不是充分条件，因而满足这个条件的点不一定是最优点。但对于凸规划，</a:t>
            </a:r>
            <a:r>
              <a:rPr lang="en-US" altLang="zh-CN" sz="2400" dirty="0">
                <a:latin typeface="宋体" panose="02010600030101010101" pitchFamily="2" charset="-122"/>
                <a:ea typeface="宋体" panose="02010600030101010101" pitchFamily="2" charset="-122"/>
              </a:rPr>
              <a:t>KKT</a:t>
            </a:r>
            <a:r>
              <a:rPr lang="zh-CN" altLang="en-US" sz="2400" dirty="0">
                <a:latin typeface="宋体" panose="02010600030101010101" pitchFamily="2" charset="-122"/>
                <a:ea typeface="宋体" panose="02010600030101010101" pitchFamily="2" charset="-122"/>
              </a:rPr>
              <a:t>条件既是最优点存在的必要条件，同时也是充分条件。</a:t>
            </a:r>
            <a:endParaRPr lang="zh-CN" altLang="zh-CN" sz="2400" kern="100" dirty="0">
              <a:latin typeface="宋体" panose="02010600030101010101" pitchFamily="2" charset="-122"/>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D33B7A3-10AD-838C-9A6A-618D4B721961}"/>
              </a:ext>
            </a:extLst>
          </p:cNvPr>
          <p:cNvPicPr>
            <a:picLocks noChangeAspect="1"/>
          </p:cNvPicPr>
          <p:nvPr/>
        </p:nvPicPr>
        <p:blipFill>
          <a:blip r:embed="rId2"/>
          <a:stretch>
            <a:fillRect/>
          </a:stretch>
        </p:blipFill>
        <p:spPr>
          <a:xfrm>
            <a:off x="1187624" y="764704"/>
            <a:ext cx="6172200" cy="3771900"/>
          </a:xfrm>
          <a:prstGeom prst="rect">
            <a:avLst/>
          </a:prstGeom>
        </p:spPr>
      </p:pic>
    </p:spTree>
    <p:extLst>
      <p:ext uri="{BB962C8B-B14F-4D97-AF65-F5344CB8AC3E}">
        <p14:creationId xmlns:p14="http://schemas.microsoft.com/office/powerpoint/2010/main" val="414917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CFAC7D7-ADFC-E53C-68B5-81744CFB1C4A}"/>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9D1DC1AC-30F4-4D83-6AC9-3939BB440906}"/>
              </a:ext>
            </a:extLst>
          </p:cNvPr>
          <p:cNvPicPr>
            <a:picLocks noChangeAspect="1"/>
          </p:cNvPicPr>
          <p:nvPr/>
        </p:nvPicPr>
        <p:blipFill>
          <a:blip r:embed="rId2"/>
          <a:stretch>
            <a:fillRect/>
          </a:stretch>
        </p:blipFill>
        <p:spPr>
          <a:xfrm>
            <a:off x="433387" y="857250"/>
            <a:ext cx="8277225" cy="5143500"/>
          </a:xfrm>
          <a:prstGeom prst="rect">
            <a:avLst/>
          </a:prstGeom>
        </p:spPr>
      </p:pic>
    </p:spTree>
    <p:extLst>
      <p:ext uri="{BB962C8B-B14F-4D97-AF65-F5344CB8AC3E}">
        <p14:creationId xmlns:p14="http://schemas.microsoft.com/office/powerpoint/2010/main" val="31350010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35CF843-7C50-30F7-3596-EDDB484CAABC}"/>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0A6652CC-4059-1979-5532-3601FEC006CE}"/>
              </a:ext>
            </a:extLst>
          </p:cNvPr>
          <p:cNvPicPr>
            <a:picLocks noChangeAspect="1"/>
          </p:cNvPicPr>
          <p:nvPr/>
        </p:nvPicPr>
        <p:blipFill>
          <a:blip r:embed="rId2"/>
          <a:stretch>
            <a:fillRect/>
          </a:stretch>
        </p:blipFill>
        <p:spPr>
          <a:xfrm>
            <a:off x="238125" y="890587"/>
            <a:ext cx="8667750" cy="5076825"/>
          </a:xfrm>
          <a:prstGeom prst="rect">
            <a:avLst/>
          </a:prstGeom>
        </p:spPr>
      </p:pic>
    </p:spTree>
    <p:extLst>
      <p:ext uri="{BB962C8B-B14F-4D97-AF65-F5344CB8AC3E}">
        <p14:creationId xmlns:p14="http://schemas.microsoft.com/office/powerpoint/2010/main" val="3928882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6FF6CE2-9C57-ECE4-2D44-FE5F9E6D2DD3}"/>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BD22B06F-F11C-F9A5-EB1F-8DDD3ED310F1}"/>
              </a:ext>
            </a:extLst>
          </p:cNvPr>
          <p:cNvPicPr>
            <a:picLocks noChangeAspect="1"/>
          </p:cNvPicPr>
          <p:nvPr/>
        </p:nvPicPr>
        <p:blipFill>
          <a:blip r:embed="rId2"/>
          <a:stretch>
            <a:fillRect/>
          </a:stretch>
        </p:blipFill>
        <p:spPr>
          <a:xfrm>
            <a:off x="323528" y="697432"/>
            <a:ext cx="8392315" cy="5395864"/>
          </a:xfrm>
          <a:prstGeom prst="rect">
            <a:avLst/>
          </a:prstGeom>
        </p:spPr>
      </p:pic>
    </p:spTree>
    <p:extLst>
      <p:ext uri="{BB962C8B-B14F-4D97-AF65-F5344CB8AC3E}">
        <p14:creationId xmlns:p14="http://schemas.microsoft.com/office/powerpoint/2010/main" val="31931369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510738" y="2564904"/>
            <a:ext cx="3858749" cy="600164"/>
          </a:xfrm>
          <a:prstGeom prst="rect">
            <a:avLst/>
          </a:prstGeom>
        </p:spPr>
        <p:txBody>
          <a:bodyPr wrap="none">
            <a:spAutoFit/>
          </a:bodyPr>
          <a:lstStyle/>
          <a:p>
            <a:pPr algn="ctr"/>
            <a:r>
              <a:rPr lang="en-US" altLang="zh-CN" sz="3300" b="1" dirty="0"/>
              <a:t>   </a:t>
            </a:r>
            <a:r>
              <a:rPr lang="zh-CN" altLang="en-US" sz="3300" b="1" dirty="0"/>
              <a:t>拉格朗日对偶问题</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39552" y="1862826"/>
            <a:ext cx="7164796" cy="1667764"/>
          </a:xfrm>
          <a:prstGeom prst="rect">
            <a:avLst/>
          </a:prstGeom>
          <a:noFill/>
        </p:spPr>
        <p:txBody>
          <a:bodyPr wrap="square">
            <a:spAutoFit/>
          </a:bodyPr>
          <a:lstStyle/>
          <a:p>
            <a:pPr algn="just" fontAlgn="auto">
              <a:lnSpc>
                <a:spcPct val="150000"/>
              </a:lnSpc>
            </a:pPr>
            <a:r>
              <a:rPr lang="zh-CN" altLang="en-US" sz="2400" dirty="0">
                <a:solidFill>
                  <a:srgbClr val="121212"/>
                </a:solidFill>
                <a:latin typeface="宋体" panose="02010600030101010101" pitchFamily="2" charset="-122"/>
                <a:ea typeface="宋体" panose="02010600030101010101" pitchFamily="2" charset="-122"/>
              </a:rPr>
              <a:t>    在约束最优化问题中，常常利用拉格朗日对偶性</a:t>
            </a:r>
            <a:r>
              <a:rPr lang="en-US" altLang="zh-CN" sz="2400" dirty="0">
                <a:solidFill>
                  <a:srgbClr val="121212"/>
                </a:solidFill>
                <a:latin typeface="宋体" panose="02010600030101010101" pitchFamily="2" charset="-122"/>
                <a:ea typeface="宋体" panose="02010600030101010101" pitchFamily="2" charset="-122"/>
              </a:rPr>
              <a:t>(Lagrange duality)</a:t>
            </a:r>
            <a:r>
              <a:rPr lang="zh-CN" altLang="en-US" sz="2400" dirty="0">
                <a:solidFill>
                  <a:srgbClr val="121212"/>
                </a:solidFill>
                <a:latin typeface="宋体" panose="02010600030101010101" pitchFamily="2" charset="-122"/>
                <a:ea typeface="宋体" panose="02010600030101010101" pitchFamily="2" charset="-122"/>
              </a:rPr>
              <a:t>将原始问题转为对偶问题，通过解决对偶问题而得到原始问题的解。</a:t>
            </a:r>
            <a:endParaRPr lang="zh-CN" altLang="en-US" sz="2400" dirty="0">
              <a:latin typeface="宋体" panose="02010600030101010101" pitchFamily="2" charset="-122"/>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4702" y="1592444"/>
            <a:ext cx="6075294" cy="461665"/>
          </a:xfrm>
          <a:prstGeom prst="rect">
            <a:avLst/>
          </a:prstGeom>
          <a:noFill/>
        </p:spPr>
        <p:txBody>
          <a:bodyPr wrap="square">
            <a:spAutoFit/>
          </a:bodyPr>
          <a:lstStyle/>
          <a:p>
            <a:r>
              <a:rPr lang="zh-CN" altLang="en-US" sz="2400" dirty="0">
                <a:latin typeface="宋体" panose="02010600030101010101" pitchFamily="2" charset="-122"/>
                <a:ea typeface="宋体" panose="02010600030101010101" pitchFamily="2" charset="-122"/>
              </a:rPr>
              <a:t>考虑不等式约束优化问题</a:t>
            </a:r>
          </a:p>
        </p:txBody>
      </p:sp>
      <p:sp>
        <p:nvSpPr>
          <p:cNvPr id="5" name="文本框 4"/>
          <p:cNvSpPr txBox="1"/>
          <p:nvPr/>
        </p:nvSpPr>
        <p:spPr>
          <a:xfrm>
            <a:off x="179512" y="764179"/>
            <a:ext cx="3308775" cy="461665"/>
          </a:xfrm>
          <a:prstGeom prst="rect">
            <a:avLst/>
          </a:prstGeom>
          <a:noFill/>
        </p:spPr>
        <p:txBody>
          <a:bodyPr wrap="square" rtlCol="0">
            <a:spAutoFit/>
          </a:bodyPr>
          <a:lstStyle/>
          <a:p>
            <a:r>
              <a:rPr lang="zh-CN" altLang="en-US" sz="2400" b="1" dirty="0">
                <a:latin typeface="黑体" panose="02010609060101010101" pitchFamily="49" charset="-122"/>
                <a:ea typeface="黑体" panose="02010609060101010101" pitchFamily="49" charset="-122"/>
              </a:rPr>
              <a:t>一、不等式约束情形</a:t>
            </a:r>
          </a:p>
        </p:txBody>
      </p:sp>
      <p:sp>
        <p:nvSpPr>
          <p:cNvPr id="7" name="文本框 6"/>
          <p:cNvSpPr txBox="1"/>
          <p:nvPr/>
        </p:nvSpPr>
        <p:spPr>
          <a:xfrm>
            <a:off x="937181" y="2913790"/>
            <a:ext cx="4428827" cy="461665"/>
          </a:xfrm>
          <a:prstGeom prst="rect">
            <a:avLst/>
          </a:prstGeom>
          <a:noFill/>
        </p:spPr>
        <p:txBody>
          <a:bodyPr wrap="square">
            <a:spAutoFit/>
          </a:bodyPr>
          <a:lstStyle/>
          <a:p>
            <a:r>
              <a:rPr lang="zh-CN" altLang="en-US" sz="2400" dirty="0">
                <a:latin typeface="宋体" panose="02010600030101010101" pitchFamily="2" charset="-122"/>
                <a:ea typeface="宋体" panose="02010600030101010101" pitchFamily="2" charset="-122"/>
              </a:rPr>
              <a:t>将约束写成向量函数</a:t>
            </a:r>
          </a:p>
        </p:txBody>
      </p:sp>
      <p:sp>
        <p:nvSpPr>
          <p:cNvPr id="9" name="文本框 8"/>
          <p:cNvSpPr txBox="1"/>
          <p:nvPr/>
        </p:nvSpPr>
        <p:spPr>
          <a:xfrm>
            <a:off x="1021961" y="4108655"/>
            <a:ext cx="3900054" cy="461665"/>
          </a:xfrm>
          <a:prstGeom prst="rect">
            <a:avLst/>
          </a:prstGeom>
          <a:noFill/>
        </p:spPr>
        <p:txBody>
          <a:bodyPr wrap="square">
            <a:spAutoFit/>
          </a:bodyPr>
          <a:lstStyle/>
          <a:p>
            <a:r>
              <a:rPr lang="zh-CN" altLang="en-US" sz="2400" dirty="0">
                <a:latin typeface="宋体" panose="02010600030101010101" pitchFamily="2" charset="-122"/>
                <a:ea typeface="宋体" panose="02010600030101010101" pitchFamily="2" charset="-122"/>
              </a:rPr>
              <a:t>问题被重写为</a:t>
            </a:r>
          </a:p>
        </p:txBody>
      </p:sp>
      <mc:AlternateContent xmlns:mc="http://schemas.openxmlformats.org/markup-compatibility/2006" xmlns:a14="http://schemas.microsoft.com/office/drawing/2010/main">
        <mc:Choice Requires="a14">
          <p:sp>
            <p:nvSpPr>
              <p:cNvPr id="2" name="文本框 1"/>
              <p:cNvSpPr txBox="1"/>
              <p:nvPr/>
            </p:nvSpPr>
            <p:spPr>
              <a:xfrm>
                <a:off x="1228589" y="2136677"/>
                <a:ext cx="7250126" cy="573106"/>
              </a:xfrm>
              <a:prstGeom prst="rect">
                <a:avLst/>
              </a:prstGeom>
              <a:noFill/>
            </p:spPr>
            <p:txBody>
              <a:bodyPr wrap="none" rtlCol="0" anchor="t">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ea typeface="MS Mincho" panose="02020609040205080304" charset="-128"/>
                          <a:cs typeface="Cambria Math" panose="02040503050406030204" pitchFamily="18" charset="0"/>
                        </a:rPr>
                        <m:t> </m:t>
                      </m:r>
                      <m:func>
                        <m:funcPr>
                          <m:ctrlPr>
                            <a:rPr lang="en-US" altLang="zh-CN" sz="2400" i="1">
                              <a:latin typeface="Cambria Math" panose="02040503050406030204" pitchFamily="18" charset="0"/>
                              <a:ea typeface="MS Mincho" panose="02020609040205080304" charset="-128"/>
                              <a:cs typeface="Cambria Math" panose="02040503050406030204" pitchFamily="18" charset="0"/>
                            </a:rPr>
                          </m:ctrlPr>
                        </m:funcPr>
                        <m:fName>
                          <m:limLow>
                            <m:limLowPr>
                              <m:ctrlPr>
                                <a:rPr lang="en-US" altLang="zh-CN" sz="2400" i="1">
                                  <a:latin typeface="Cambria Math" panose="02040503050406030204" pitchFamily="18" charset="0"/>
                                  <a:ea typeface="MS Mincho" panose="02020609040205080304" charset="-128"/>
                                  <a:cs typeface="Cambria Math" panose="02040503050406030204" pitchFamily="18" charset="0"/>
                                </a:rPr>
                              </m:ctrlPr>
                            </m:limLowPr>
                            <m:e>
                              <m:r>
                                <m:rPr>
                                  <m:sty m:val="p"/>
                                </m:rPr>
                                <a:rPr lang="en-US" altLang="zh-CN" sz="2400">
                                  <a:latin typeface="Cambria Math" panose="02040503050406030204" pitchFamily="18" charset="0"/>
                                  <a:ea typeface="MS Mincho" panose="02020609040205080304" charset="-128"/>
                                  <a:cs typeface="Cambria Math" panose="02040503050406030204" pitchFamily="18" charset="0"/>
                                </a:rPr>
                                <m:t>min</m:t>
                              </m:r>
                            </m:e>
                            <m:lim>
                              <m:r>
                                <a:rPr lang="en-US" altLang="zh-CN" sz="2400" i="1">
                                  <a:latin typeface="Cambria Math" panose="02040503050406030204" pitchFamily="18" charset="0"/>
                                  <a:ea typeface="MS Mincho" panose="02020609040205080304" charset="-128"/>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sSup>
                                <m:sSupPr>
                                  <m:ctrlPr>
                                    <a:rPr lang="en-US" altLang="zh-CN" sz="2400" i="1">
                                      <a:latin typeface="Cambria Math" panose="02040503050406030204" pitchFamily="18" charset="0"/>
                                      <a:ea typeface="MS Mincho" panose="02020609040205080304" charset="-128"/>
                                      <a:cs typeface="Cambria Math" panose="02040503050406030204" pitchFamily="18" charset="0"/>
                                    </a:rPr>
                                  </m:ctrlPr>
                                </m:sSupPr>
                                <m:e>
                                  <m:r>
                                    <a:rPr lang="en-US" altLang="zh-CN" sz="2400" i="1">
                                      <a:latin typeface="Cambria Math" panose="02040503050406030204" pitchFamily="18" charset="0"/>
                                      <a:ea typeface="MS Mincho" panose="02020609040205080304" charset="-128"/>
                                      <a:cs typeface="Cambria Math" panose="02040503050406030204" pitchFamily="18" charset="0"/>
                                    </a:rPr>
                                    <m:t>𝑅</m:t>
                                  </m:r>
                                </m:e>
                                <m:sup>
                                  <m:r>
                                    <a:rPr lang="en-US" altLang="zh-CN" sz="2400" i="1">
                                      <a:latin typeface="Cambria Math" panose="02040503050406030204" pitchFamily="18" charset="0"/>
                                      <a:ea typeface="MS Mincho" panose="02020609040205080304" charset="-128"/>
                                      <a:cs typeface="Cambria Math" panose="02040503050406030204" pitchFamily="18" charset="0"/>
                                    </a:rPr>
                                    <m:t>𝑛</m:t>
                                  </m:r>
                                </m:sup>
                              </m:sSup>
                            </m:lim>
                          </m:limLow>
                        </m:fName>
                        <m:e>
                          <m:r>
                            <a:rPr lang="en-US" altLang="zh-CN" sz="2400" i="1">
                              <a:latin typeface="Cambria Math" panose="02040503050406030204" pitchFamily="18" charset="0"/>
                              <a:ea typeface="MS Mincho" panose="02020609040205080304" charset="-128"/>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          </m:t>
                          </m:r>
                          <m:r>
                            <a:rPr lang="en-US" altLang="zh-CN" sz="2400" i="1">
                              <a:latin typeface="Cambria Math" panose="02040503050406030204" pitchFamily="18" charset="0"/>
                              <a:ea typeface="MS Mincho" panose="02020609040205080304" charset="-128"/>
                              <a:cs typeface="Cambria Math" panose="02040503050406030204" pitchFamily="18" charset="0"/>
                            </a:rPr>
                            <m:t>𝑠𝑢𝑏𝑗𝑒𝑐𝑡</m:t>
                          </m:r>
                          <m:r>
                            <a:rPr lang="en-US" altLang="zh-CN" sz="2400" i="1">
                              <a:latin typeface="Cambria Math" panose="02040503050406030204" pitchFamily="18" charset="0"/>
                              <a:ea typeface="MS Mincho" panose="02020609040205080304" charset="-128"/>
                              <a:cs typeface="Cambria Math" panose="02040503050406030204" pitchFamily="18" charset="0"/>
                            </a:rPr>
                            <m:t> </m:t>
                          </m:r>
                          <m:r>
                            <a:rPr lang="en-US" altLang="zh-CN" sz="2400" i="1">
                              <a:latin typeface="Cambria Math" panose="02040503050406030204" pitchFamily="18" charset="0"/>
                              <a:ea typeface="MS Mincho" panose="02020609040205080304" charset="-128"/>
                              <a:cs typeface="Cambria Math" panose="02040503050406030204" pitchFamily="18" charset="0"/>
                            </a:rPr>
                            <m:t>𝑡𝑜</m:t>
                          </m:r>
                          <m:r>
                            <a:rPr lang="en-US" altLang="zh-CN" sz="2400" i="1">
                              <a:latin typeface="Cambria Math" panose="02040503050406030204" pitchFamily="18" charset="0"/>
                              <a:ea typeface="MS Mincho" panose="02020609040205080304" charset="-128"/>
                              <a:cs typeface="Cambria Math" panose="02040503050406030204" pitchFamily="18" charset="0"/>
                            </a:rPr>
                            <m:t>      </m:t>
                          </m:r>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𝑐</m:t>
                              </m:r>
                            </m:e>
                            <m:sub>
                              <m:r>
                                <a:rPr lang="en-US" altLang="zh-CN" sz="2400" i="1">
                                  <a:latin typeface="Cambria Math" panose="02040503050406030204" pitchFamily="18" charset="0"/>
                                  <a:ea typeface="MS Mincho" panose="02020609040205080304" charset="-128"/>
                                  <a:cs typeface="Cambria Math" panose="02040503050406030204" pitchFamily="18" charset="0"/>
                                </a:rPr>
                                <m:t>𝑖</m:t>
                              </m:r>
                            </m:sub>
                          </m:sSub>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)≥0,</m:t>
                          </m:r>
                          <m:r>
                            <a:rPr lang="en-US" altLang="zh-CN" sz="2400" i="1">
                              <a:latin typeface="Cambria Math" panose="02040503050406030204" pitchFamily="18" charset="0"/>
                              <a:ea typeface="MS Mincho" panose="02020609040205080304" charset="-128"/>
                              <a:cs typeface="Cambria Math" panose="02040503050406030204" pitchFamily="18" charset="0"/>
                            </a:rPr>
                            <m:t>𝑖</m:t>
                          </m:r>
                          <m:r>
                            <a:rPr lang="en-US" altLang="zh-CN" sz="2400" i="1">
                              <a:latin typeface="Cambria Math" panose="02040503050406030204" pitchFamily="18" charset="0"/>
                              <a:ea typeface="MS Mincho" panose="02020609040205080304" charset="-128"/>
                              <a:cs typeface="Cambria Math" panose="02040503050406030204" pitchFamily="18" charset="0"/>
                            </a:rPr>
                            <m:t>=1,2,...,</m:t>
                          </m:r>
                          <m:r>
                            <a:rPr lang="en-US" altLang="zh-CN" sz="2400" i="1">
                              <a:latin typeface="Cambria Math" panose="02040503050406030204" pitchFamily="18" charset="0"/>
                              <a:ea typeface="MS Mincho" panose="02020609040205080304" charset="-128"/>
                              <a:cs typeface="Cambria Math" panose="02040503050406030204" pitchFamily="18" charset="0"/>
                            </a:rPr>
                            <m:t>𝑚</m:t>
                          </m:r>
                        </m:e>
                      </m:func>
                      <m:r>
                        <a:rPr lang="en-US" altLang="zh-CN" sz="2400" i="1">
                          <a:latin typeface="Cambria Math" panose="02040503050406030204" pitchFamily="18" charset="0"/>
                          <a:ea typeface="MS Mincho" panose="02020609040205080304" charset="-128"/>
                          <a:cs typeface="Cambria Math" panose="02040503050406030204" pitchFamily="18" charset="0"/>
                        </a:rPr>
                        <m:t> </m:t>
                      </m:r>
                    </m:oMath>
                  </m:oMathPara>
                </a14:m>
                <a:endParaRPr lang="zh-CN" altLang="en-US" sz="2400" dirty="0">
                  <a:latin typeface="宋体" panose="02010600030101010101" pitchFamily="2" charset="-122"/>
                  <a:ea typeface="宋体" panose="02010600030101010101" pitchFamily="2"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1228589" y="2136677"/>
                <a:ext cx="7250126" cy="573106"/>
              </a:xfrm>
              <a:prstGeom prst="rect">
                <a:avLst/>
              </a:prstGeom>
              <a:blipFill>
                <a:blip r:embed="rId2"/>
                <a:stretch>
                  <a:fillRect b="-4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2299308" y="3505773"/>
                <a:ext cx="4705006" cy="461665"/>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ea typeface="MS Mincho" panose="02020609040205080304" charset="-128"/>
                          <a:cs typeface="Cambria Math" panose="02040503050406030204" pitchFamily="18" charset="0"/>
                        </a:rPr>
                        <m:t>𝑐</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 </m:t>
                      </m:r>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𝑐</m:t>
                          </m:r>
                        </m:e>
                        <m:sub>
                          <m:r>
                            <a:rPr lang="en-US" altLang="zh-CN" sz="2400" i="1">
                              <a:latin typeface="Cambria Math" panose="02040503050406030204" pitchFamily="18" charset="0"/>
                              <a:ea typeface="MS Mincho" panose="02020609040205080304" charset="-128"/>
                              <a:cs typeface="Cambria Math" panose="02040503050406030204" pitchFamily="18" charset="0"/>
                            </a:rPr>
                            <m:t>1</m:t>
                          </m:r>
                        </m:sub>
                      </m:sSub>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 </m:t>
                      </m:r>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𝑐</m:t>
                          </m:r>
                        </m:e>
                        <m:sub>
                          <m:r>
                            <a:rPr lang="en-US" altLang="zh-CN" sz="2400" i="1">
                              <a:latin typeface="Cambria Math" panose="02040503050406030204" pitchFamily="18" charset="0"/>
                              <a:ea typeface="MS Mincho" panose="02020609040205080304" charset="-128"/>
                              <a:cs typeface="Cambria Math" panose="02040503050406030204" pitchFamily="18" charset="0"/>
                            </a:rPr>
                            <m:t>2</m:t>
                          </m:r>
                        </m:sub>
                      </m:sSub>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 </m:t>
                      </m:r>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𝑐</m:t>
                          </m:r>
                        </m:e>
                        <m:sub>
                          <m:r>
                            <a:rPr lang="en-US" altLang="zh-CN" sz="2400" i="1">
                              <a:latin typeface="Cambria Math" panose="02040503050406030204" pitchFamily="18" charset="0"/>
                              <a:ea typeface="MS Mincho" panose="02020609040205080304" charset="-128"/>
                              <a:cs typeface="Cambria Math" panose="02040503050406030204" pitchFamily="18" charset="0"/>
                            </a:rPr>
                            <m:t>𝑚</m:t>
                          </m:r>
                        </m:sub>
                      </m:sSub>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sSup>
                        <m:sSupPr>
                          <m:ctrlPr>
                            <a:rPr lang="en-US" altLang="zh-CN" sz="2400" i="1">
                              <a:latin typeface="Cambria Math" panose="02040503050406030204" pitchFamily="18" charset="0"/>
                              <a:ea typeface="MS Mincho" panose="02020609040205080304" charset="-128"/>
                              <a:cs typeface="Cambria Math" panose="02040503050406030204" pitchFamily="18" charset="0"/>
                            </a:rPr>
                          </m:ctrlPr>
                        </m:sSupPr>
                        <m:e>
                          <m:r>
                            <a:rPr lang="en-US" altLang="zh-CN" sz="2400" i="1">
                              <a:latin typeface="Cambria Math" panose="02040503050406030204" pitchFamily="18" charset="0"/>
                              <a:ea typeface="MS Mincho" panose="02020609040205080304" charset="-128"/>
                              <a:cs typeface="Cambria Math" panose="02040503050406030204" pitchFamily="18" charset="0"/>
                            </a:rPr>
                            <m:t>)</m:t>
                          </m:r>
                        </m:e>
                        <m:sup>
                          <m:r>
                            <a:rPr lang="en-US" altLang="zh-CN" sz="2400" i="1">
                              <a:latin typeface="Cambria Math" panose="02040503050406030204" pitchFamily="18" charset="0"/>
                              <a:ea typeface="MS Mincho" panose="02020609040205080304" charset="-128"/>
                              <a:cs typeface="Cambria Math" panose="02040503050406030204" pitchFamily="18" charset="0"/>
                            </a:rPr>
                            <m:t>𝑇</m:t>
                          </m:r>
                        </m:sup>
                      </m:sSup>
                    </m:oMath>
                  </m:oMathPara>
                </a14:m>
                <a:endParaRPr lang="zh-CN" altLang="en-US" sz="2400" dirty="0">
                  <a:latin typeface="宋体" panose="02010600030101010101" pitchFamily="2" charset="-122"/>
                  <a:ea typeface="宋体" panose="02010600030101010101" pitchFamily="2" charset="-122"/>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2299308" y="3505773"/>
                <a:ext cx="4705006" cy="461665"/>
              </a:xfrm>
              <a:prstGeom prst="rect">
                <a:avLst/>
              </a:prstGeom>
              <a:blipFill>
                <a:blip r:embed="rId3"/>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1507591" y="4684908"/>
                <a:ext cx="5177443" cy="573106"/>
              </a:xfrm>
              <a:prstGeom prst="rect">
                <a:avLst/>
              </a:prstGeom>
              <a:noFill/>
            </p:spPr>
            <p:txBody>
              <a:bodyPr wrap="none" rtlCol="0" anchor="t">
                <a:spAutoFit/>
              </a:bodyPr>
              <a:lstStyle/>
              <a:p>
                <a:pPr/>
                <a14:m>
                  <m:oMathPara xmlns:m="http://schemas.openxmlformats.org/officeDocument/2006/math">
                    <m:oMathParaPr>
                      <m:jc m:val="centerGroup"/>
                    </m:oMathParaPr>
                    <m:oMath xmlns:m="http://schemas.openxmlformats.org/officeDocument/2006/math">
                      <m:func>
                        <m:funcPr>
                          <m:ctrlPr>
                            <a:rPr lang="en-US" altLang="zh-CN" sz="2400" i="1">
                              <a:latin typeface="Cambria Math" panose="02040503050406030204" pitchFamily="18" charset="0"/>
                              <a:ea typeface="MS Mincho" panose="02020609040205080304" charset="-128"/>
                              <a:cs typeface="Cambria Math" panose="02040503050406030204" pitchFamily="18" charset="0"/>
                            </a:rPr>
                          </m:ctrlPr>
                        </m:funcPr>
                        <m:fName>
                          <m:limLow>
                            <m:limLowPr>
                              <m:ctrlPr>
                                <a:rPr lang="en-US" altLang="zh-CN" sz="2400" i="1">
                                  <a:latin typeface="Cambria Math" panose="02040503050406030204" pitchFamily="18" charset="0"/>
                                  <a:ea typeface="MS Mincho" panose="02020609040205080304" charset="-128"/>
                                  <a:cs typeface="Cambria Math" panose="02040503050406030204" pitchFamily="18" charset="0"/>
                                </a:rPr>
                              </m:ctrlPr>
                            </m:limLowPr>
                            <m:e>
                              <m:r>
                                <m:rPr>
                                  <m:sty m:val="p"/>
                                </m:rPr>
                                <a:rPr lang="en-US" altLang="zh-CN" sz="2400">
                                  <a:latin typeface="Cambria Math" panose="02040503050406030204" pitchFamily="18" charset="0"/>
                                  <a:ea typeface="MS Mincho" panose="02020609040205080304" charset="-128"/>
                                  <a:cs typeface="Cambria Math" panose="02040503050406030204" pitchFamily="18" charset="0"/>
                                </a:rPr>
                                <m:t>min</m:t>
                              </m:r>
                            </m:e>
                            <m:lim>
                              <m:r>
                                <a:rPr lang="en-US" altLang="zh-CN" sz="2400" i="1">
                                  <a:latin typeface="Cambria Math" panose="02040503050406030204" pitchFamily="18" charset="0"/>
                                  <a:ea typeface="MS Mincho" panose="02020609040205080304" charset="-128"/>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sSup>
                                <m:sSupPr>
                                  <m:ctrlPr>
                                    <a:rPr lang="en-US" altLang="zh-CN" sz="2400" i="1">
                                      <a:latin typeface="Cambria Math" panose="02040503050406030204" pitchFamily="18" charset="0"/>
                                      <a:ea typeface="MS Mincho" panose="02020609040205080304" charset="-128"/>
                                      <a:cs typeface="Cambria Math" panose="02040503050406030204" pitchFamily="18" charset="0"/>
                                    </a:rPr>
                                  </m:ctrlPr>
                                </m:sSupPr>
                                <m:e>
                                  <m:r>
                                    <a:rPr lang="en-US" altLang="zh-CN" sz="2400" i="1">
                                      <a:latin typeface="Cambria Math" panose="02040503050406030204" pitchFamily="18" charset="0"/>
                                      <a:ea typeface="MS Mincho" panose="02020609040205080304" charset="-128"/>
                                      <a:cs typeface="Cambria Math" panose="02040503050406030204" pitchFamily="18" charset="0"/>
                                    </a:rPr>
                                    <m:t>𝑅</m:t>
                                  </m:r>
                                </m:e>
                                <m:sup>
                                  <m:r>
                                    <a:rPr lang="en-US" altLang="zh-CN" sz="2400" i="1">
                                      <a:latin typeface="Cambria Math" panose="02040503050406030204" pitchFamily="18" charset="0"/>
                                      <a:ea typeface="MS Mincho" panose="02020609040205080304" charset="-128"/>
                                      <a:cs typeface="Cambria Math" panose="02040503050406030204" pitchFamily="18" charset="0"/>
                                    </a:rPr>
                                    <m:t>𝑛</m:t>
                                  </m:r>
                                </m:sup>
                              </m:sSup>
                            </m:lim>
                          </m:limLow>
                        </m:fName>
                        <m:e>
                          <m:r>
                            <a:rPr lang="en-US" altLang="zh-CN" sz="2400" i="1">
                              <a:latin typeface="Cambria Math" panose="02040503050406030204" pitchFamily="18" charset="0"/>
                              <a:ea typeface="MS Mincho" panose="02020609040205080304" charset="-128"/>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          </m:t>
                          </m:r>
                          <m:r>
                            <a:rPr lang="en-US" altLang="zh-CN" sz="2400" i="1">
                              <a:latin typeface="Cambria Math" panose="02040503050406030204" pitchFamily="18" charset="0"/>
                              <a:ea typeface="MS Mincho" panose="02020609040205080304" charset="-128"/>
                              <a:cs typeface="Cambria Math" panose="02040503050406030204" pitchFamily="18" charset="0"/>
                            </a:rPr>
                            <m:t>𝑠𝑢𝑏𝑗𝑒𝑐𝑡</m:t>
                          </m:r>
                          <m:r>
                            <a:rPr lang="en-US" altLang="zh-CN" sz="2400" i="1">
                              <a:latin typeface="Cambria Math" panose="02040503050406030204" pitchFamily="18" charset="0"/>
                              <a:ea typeface="MS Mincho" panose="02020609040205080304" charset="-128"/>
                              <a:cs typeface="Cambria Math" panose="02040503050406030204" pitchFamily="18" charset="0"/>
                            </a:rPr>
                            <m:t> </m:t>
                          </m:r>
                          <m:r>
                            <a:rPr lang="en-US" altLang="zh-CN" sz="2400" i="1">
                              <a:latin typeface="Cambria Math" panose="02040503050406030204" pitchFamily="18" charset="0"/>
                              <a:ea typeface="MS Mincho" panose="02020609040205080304" charset="-128"/>
                              <a:cs typeface="Cambria Math" panose="02040503050406030204" pitchFamily="18" charset="0"/>
                            </a:rPr>
                            <m:t>𝑡𝑜</m:t>
                          </m:r>
                          <m:r>
                            <a:rPr lang="en-US" altLang="zh-CN" sz="2400" i="1">
                              <a:latin typeface="Cambria Math" panose="02040503050406030204" pitchFamily="18" charset="0"/>
                              <a:ea typeface="MS Mincho" panose="02020609040205080304" charset="-128"/>
                              <a:cs typeface="Cambria Math" panose="02040503050406030204" pitchFamily="18" charset="0"/>
                            </a:rPr>
                            <m:t>      </m:t>
                          </m:r>
                          <m:r>
                            <a:rPr lang="en-US" altLang="zh-CN" sz="2400" i="1">
                              <a:latin typeface="Cambria Math" panose="02040503050406030204" pitchFamily="18" charset="0"/>
                              <a:ea typeface="MS Mincho" panose="02020609040205080304" charset="-128"/>
                              <a:cs typeface="Cambria Math" panose="02040503050406030204" pitchFamily="18" charset="0"/>
                            </a:rPr>
                            <m:t>𝑐</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)≥0</m:t>
                          </m:r>
                        </m:e>
                      </m:func>
                    </m:oMath>
                  </m:oMathPara>
                </a14:m>
                <a:endParaRPr lang="zh-CN" altLang="en-US" sz="2400" dirty="0">
                  <a:latin typeface="宋体" panose="02010600030101010101" pitchFamily="2" charset="-122"/>
                  <a:ea typeface="宋体" panose="02010600030101010101" pitchFamily="2" charset="-122"/>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1507591" y="4684908"/>
                <a:ext cx="5177443" cy="573106"/>
              </a:xfrm>
              <a:prstGeom prst="rect">
                <a:avLst/>
              </a:prstGeom>
              <a:blipFill>
                <a:blip r:embed="rId4"/>
                <a:stretch>
                  <a:fillRect b="-4255"/>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9" grpId="0"/>
      <p:bldP spid="2" grpId="0"/>
      <p:bldP spid="3" grpId="0"/>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文本框 18"/>
              <p:cNvSpPr txBox="1"/>
              <p:nvPr/>
            </p:nvSpPr>
            <p:spPr>
              <a:xfrm>
                <a:off x="881590" y="1280627"/>
                <a:ext cx="7074786" cy="4775731"/>
              </a:xfrm>
              <a:prstGeom prst="rect">
                <a:avLst/>
              </a:prstGeom>
              <a:noFill/>
            </p:spPr>
            <p:txBody>
              <a:bodyPr wrap="square">
                <a:spAutoFit/>
              </a:bodyPr>
              <a:lstStyle/>
              <a:p>
                <a:pPr algn="just">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拉格朗日函数为</a:t>
                </a:r>
                <a:endParaRPr lang="en-US" altLang="zh-CN" sz="2400" i="1" dirty="0">
                  <a:latin typeface="Cambria Math" panose="02040503050406030204" pitchFamily="18" charset="0"/>
                  <a:ea typeface="宋体" panose="02010600030101010101" pitchFamily="2" charset="-122"/>
                  <a:cs typeface="Cambria Math" panose="02040503050406030204" pitchFamily="18" charset="0"/>
                </a:endParaRPr>
              </a:p>
              <a:p>
                <a:pPr algn="just">
                  <a:lnSpc>
                    <a:spcPct val="150000"/>
                  </a:lnSpc>
                </a:pPr>
                <a14:m>
                  <m:oMathPara xmlns:m="http://schemas.openxmlformats.org/officeDocument/2006/math">
                    <m:oMathParaPr>
                      <m:jc m:val="centerGroup"/>
                    </m:oMathParaPr>
                    <m:oMath xmlns:m="http://schemas.openxmlformats.org/officeDocument/2006/math">
                      <m:r>
                        <a:rPr lang="en-US" altLang="zh-CN" sz="2400" i="1" dirty="0">
                          <a:latin typeface="Cambria Math" panose="02040503050406030204" pitchFamily="18" charset="0"/>
                          <a:ea typeface="宋体" panose="02010600030101010101" pitchFamily="2" charset="-122"/>
                          <a:cs typeface="Cambria Math" panose="02040503050406030204" pitchFamily="18" charset="0"/>
                        </a:rPr>
                        <m:t>ℒ</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𝜆</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sSup>
                        <m:sSupPr>
                          <m:ctrlPr>
                            <a:rPr lang="en-US" altLang="zh-CN" sz="2400" i="1">
                              <a:latin typeface="Cambria Math" panose="02040503050406030204" pitchFamily="18" charset="0"/>
                              <a:ea typeface="MS Mincho" panose="02020609040205080304" charset="-128"/>
                              <a:cs typeface="Cambria Math" panose="02040503050406030204" pitchFamily="18" charset="0"/>
                            </a:rPr>
                          </m:ctrlPr>
                        </m:sSupPr>
                        <m:e>
                          <m:r>
                            <a:rPr lang="en-US" altLang="zh-CN" sz="2400" i="1">
                              <a:latin typeface="Cambria Math" panose="02040503050406030204" pitchFamily="18" charset="0"/>
                              <a:ea typeface="MS Mincho" panose="02020609040205080304" charset="-128"/>
                              <a:cs typeface="Cambria Math" panose="02040503050406030204" pitchFamily="18" charset="0"/>
                            </a:rPr>
                            <m:t>𝜆</m:t>
                          </m:r>
                        </m:e>
                        <m:sup>
                          <m:r>
                            <a:rPr lang="en-US" altLang="zh-CN" sz="2400" i="1">
                              <a:latin typeface="Cambria Math" panose="02040503050406030204" pitchFamily="18" charset="0"/>
                              <a:ea typeface="MS Mincho" panose="02020609040205080304" charset="-128"/>
                              <a:cs typeface="Cambria Math" panose="02040503050406030204" pitchFamily="18" charset="0"/>
                            </a:rPr>
                            <m:t>𝑇</m:t>
                          </m:r>
                        </m:sup>
                      </m:sSup>
                      <m:r>
                        <a:rPr lang="en-US" altLang="zh-CN" sz="2400" i="1">
                          <a:latin typeface="Cambria Math" panose="02040503050406030204" pitchFamily="18" charset="0"/>
                          <a:ea typeface="MS Mincho" panose="02020609040205080304" charset="-128"/>
                          <a:cs typeface="Cambria Math" panose="02040503050406030204" pitchFamily="18" charset="0"/>
                        </a:rPr>
                        <m:t>𝑐</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oMath>
                  </m:oMathPara>
                </a14:m>
                <a:endParaRPr lang="en-US" altLang="zh-CN" sz="2400" dirty="0">
                  <a:latin typeface="宋体" panose="02010600030101010101" pitchFamily="2" charset="-122"/>
                  <a:ea typeface="宋体" panose="02010600030101010101" pitchFamily="2" charset="-122"/>
                  <a:cs typeface="宋体" panose="02010600030101010101" pitchFamily="2" charset="-122"/>
                </a:endParaRPr>
              </a:p>
              <a:p>
                <a:pPr algn="just">
                  <a:lnSpc>
                    <a:spcPct val="150000"/>
                  </a:lnSpc>
                </a:pPr>
                <a:endParaRPr lang="en-US" altLang="zh-CN" sz="2400" dirty="0">
                  <a:latin typeface="宋体" panose="02010600030101010101" pitchFamily="2" charset="-122"/>
                  <a:ea typeface="宋体" panose="02010600030101010101" pitchFamily="2" charset="-122"/>
                  <a:cs typeface="宋体" panose="02010600030101010101" pitchFamily="2" charset="-122"/>
                </a:endParaRPr>
              </a:p>
              <a:p>
                <a:pPr algn="just">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其中</a:t>
                </a:r>
                <a14:m>
                  <m:oMath xmlns:m="http://schemas.openxmlformats.org/officeDocument/2006/math">
                    <m:r>
                      <a:rPr lang="en-US" altLang="zh-CN" sz="2400" i="1" kern="100">
                        <a:latin typeface="Cambria Math" panose="02040503050406030204" pitchFamily="18" charset="0"/>
                        <a:ea typeface="MS Mincho" panose="02020609040205080304" charset="-128"/>
                        <a:cs typeface="Cambria Math" panose="02040503050406030204" pitchFamily="18" charset="0"/>
                      </a:rPr>
                      <m:t>𝜆</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sSup>
                      <m:sSup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𝑅</m:t>
                        </m:r>
                      </m:e>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𝑚</m:t>
                        </m:r>
                      </m:sup>
                    </m:sSup>
                  </m:oMath>
                </a14:m>
                <a:r>
                  <a:rPr lang="zh-CN" altLang="en-US" sz="2400" dirty="0">
                    <a:latin typeface="宋体" panose="02010600030101010101" pitchFamily="2" charset="-122"/>
                    <a:ea typeface="宋体" panose="02010600030101010101" pitchFamily="2" charset="-122"/>
                    <a:cs typeface="宋体" panose="02010600030101010101" pitchFamily="2" charset="-122"/>
                  </a:rPr>
                  <a:t>是拉格朗日乘子。定义对偶目标函数</a:t>
                </a:r>
                <a:endParaRPr lang="en-US" altLang="zh-CN" sz="2400" dirty="0">
                  <a:latin typeface="宋体" panose="02010600030101010101" pitchFamily="2" charset="-122"/>
                  <a:ea typeface="宋体" panose="02010600030101010101" pitchFamily="2" charset="-122"/>
                  <a:cs typeface="宋体" panose="02010600030101010101" pitchFamily="2" charset="-122"/>
                </a:endParaRPr>
              </a:p>
              <a:p>
                <a:pPr algn="just">
                  <a:lnSpc>
                    <a:spcPct val="150000"/>
                  </a:lnSpc>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ea typeface="MS Mincho" panose="02020609040205080304" charset="-128"/>
                          <a:cs typeface="Cambria Math" panose="02040503050406030204" pitchFamily="18" charset="0"/>
                        </a:rPr>
                        <m:t>𝑞</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𝜆</m:t>
                      </m:r>
                      <m:r>
                        <a:rPr lang="en-US" altLang="zh-CN" sz="2400" i="1">
                          <a:latin typeface="Cambria Math" panose="02040503050406030204" pitchFamily="18" charset="0"/>
                          <a:ea typeface="MS Mincho" panose="02020609040205080304" charset="-128"/>
                          <a:cs typeface="Cambria Math" panose="02040503050406030204" pitchFamily="18" charset="0"/>
                        </a:rPr>
                        <m:t>)≝</m:t>
                      </m:r>
                      <m:func>
                        <m:funcPr>
                          <m:ctrlPr>
                            <a:rPr lang="en-US" altLang="zh-CN" sz="2400" i="1">
                              <a:latin typeface="Cambria Math" panose="02040503050406030204" pitchFamily="18" charset="0"/>
                              <a:ea typeface="MS Mincho" panose="02020609040205080304" charset="-128"/>
                              <a:cs typeface="Cambria Math" panose="02040503050406030204" pitchFamily="18" charset="0"/>
                            </a:rPr>
                          </m:ctrlPr>
                        </m:funcPr>
                        <m:fName>
                          <m:limLow>
                            <m:limLowPr>
                              <m:ctrlPr>
                                <a:rPr lang="en-US" altLang="zh-CN" sz="2400" i="1">
                                  <a:latin typeface="Cambria Math" panose="02040503050406030204" pitchFamily="18" charset="0"/>
                                  <a:ea typeface="MS Mincho" panose="02020609040205080304" charset="-128"/>
                                  <a:cs typeface="Cambria Math" panose="02040503050406030204" pitchFamily="18" charset="0"/>
                                </a:rPr>
                              </m:ctrlPr>
                            </m:limLowPr>
                            <m:e>
                              <m:r>
                                <m:rPr>
                                  <m:sty m:val="p"/>
                                </m:rPr>
                                <a:rPr lang="en-US" altLang="zh-CN" sz="2400">
                                  <a:latin typeface="Cambria Math" panose="02040503050406030204" pitchFamily="18" charset="0"/>
                                  <a:ea typeface="MS Mincho" panose="02020609040205080304" charset="-128"/>
                                  <a:cs typeface="Cambria Math" panose="02040503050406030204" pitchFamily="18" charset="0"/>
                                </a:rPr>
                                <m:t>inf</m:t>
                              </m:r>
                            </m:e>
                            <m:lim>
                              <m:r>
                                <a:rPr lang="en-US" altLang="zh-CN" sz="2400" i="1">
                                  <a:latin typeface="Cambria Math" panose="02040503050406030204" pitchFamily="18" charset="0"/>
                                  <a:ea typeface="MS Mincho" panose="02020609040205080304" charset="-128"/>
                                  <a:cs typeface="Cambria Math" panose="02040503050406030204" pitchFamily="18" charset="0"/>
                                </a:rPr>
                                <m:t>𝑥</m:t>
                              </m:r>
                            </m:lim>
                          </m:limLow>
                        </m:fName>
                        <m:e>
                          <m:r>
                            <a:rPr lang="en-US" altLang="zh-CN" sz="2400" i="1" dirty="0">
                              <a:latin typeface="Cambria Math" panose="02040503050406030204" pitchFamily="18" charset="0"/>
                              <a:ea typeface="宋体" panose="02010600030101010101" pitchFamily="2" charset="-122"/>
                              <a:cs typeface="Cambria Math" panose="02040503050406030204" pitchFamily="18" charset="0"/>
                            </a:rPr>
                            <m:t>ℒ</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𝜆</m:t>
                          </m:r>
                          <m:r>
                            <a:rPr lang="en-US" altLang="zh-CN" sz="2400" i="1">
                              <a:latin typeface="Cambria Math" panose="02040503050406030204" pitchFamily="18" charset="0"/>
                              <a:ea typeface="MS Mincho" panose="02020609040205080304" charset="-128"/>
                              <a:cs typeface="Cambria Math" panose="02040503050406030204" pitchFamily="18" charset="0"/>
                            </a:rPr>
                            <m:t>)     </m:t>
                          </m:r>
                        </m:e>
                      </m:func>
                    </m:oMath>
                  </m:oMathPara>
                </a14:m>
                <a:endParaRPr lang="en-US" altLang="zh-CN" sz="2400" dirty="0">
                  <a:latin typeface="宋体" panose="02010600030101010101" pitchFamily="2" charset="-122"/>
                  <a:ea typeface="宋体" panose="02010600030101010101" pitchFamily="2" charset="-122"/>
                  <a:cs typeface="宋体" panose="02010600030101010101" pitchFamily="2" charset="-122"/>
                </a:endParaRPr>
              </a:p>
              <a:p>
                <a:pPr algn="just">
                  <a:lnSpc>
                    <a:spcPct val="150000"/>
                  </a:lnSpc>
                </a:pPr>
                <a:r>
                  <a:rPr lang="zh-CN" altLang="en-US" sz="2400" dirty="0">
                    <a:latin typeface="宋体" panose="02010600030101010101" pitchFamily="2" charset="-122"/>
                    <a:ea typeface="宋体" panose="02010600030101010101" pitchFamily="2" charset="-122"/>
                  </a:rPr>
                  <a:t>构造对偶问题</a:t>
                </a:r>
                <a:endParaRPr lang="en-US" altLang="zh-CN" sz="2400" dirty="0">
                  <a:latin typeface="宋体" panose="02010600030101010101" pitchFamily="2" charset="-122"/>
                  <a:ea typeface="宋体" panose="02010600030101010101" pitchFamily="2" charset="-122"/>
                </a:endParaRPr>
              </a:p>
              <a:p>
                <a:pPr algn="just">
                  <a:lnSpc>
                    <a:spcPct val="150000"/>
                  </a:lnSpc>
                </a:pPr>
                <a14:m>
                  <m:oMathPara xmlns:m="http://schemas.openxmlformats.org/officeDocument/2006/math">
                    <m:oMathParaPr>
                      <m:jc m:val="centerGroup"/>
                    </m:oMathParaPr>
                    <m:oMath xmlns:m="http://schemas.openxmlformats.org/officeDocument/2006/math">
                      <m:func>
                        <m:funcPr>
                          <m:ctrlPr>
                            <a:rPr lang="en-US" altLang="zh-CN" sz="2400" i="1">
                              <a:latin typeface="Cambria Math" panose="02040503050406030204" pitchFamily="18" charset="0"/>
                              <a:ea typeface="MS Mincho" panose="02020609040205080304" charset="-128"/>
                              <a:cs typeface="Cambria Math" panose="02040503050406030204" pitchFamily="18" charset="0"/>
                            </a:rPr>
                          </m:ctrlPr>
                        </m:funcPr>
                        <m:fName>
                          <m:limLow>
                            <m:limLowPr>
                              <m:ctrlPr>
                                <a:rPr lang="en-US" altLang="zh-CN" sz="2400" i="1">
                                  <a:latin typeface="Cambria Math" panose="02040503050406030204" pitchFamily="18" charset="0"/>
                                  <a:ea typeface="MS Mincho" panose="02020609040205080304" charset="-128"/>
                                  <a:cs typeface="Cambria Math" panose="02040503050406030204" pitchFamily="18" charset="0"/>
                                </a:rPr>
                              </m:ctrlPr>
                            </m:limLowPr>
                            <m:e>
                              <m:r>
                                <m:rPr>
                                  <m:sty m:val="p"/>
                                </m:rPr>
                                <a:rPr lang="en-US" altLang="zh-CN" sz="2400">
                                  <a:latin typeface="Cambria Math" panose="02040503050406030204" pitchFamily="18" charset="0"/>
                                  <a:ea typeface="MS Mincho" panose="02020609040205080304" charset="-128"/>
                                  <a:cs typeface="Cambria Math" panose="02040503050406030204" pitchFamily="18" charset="0"/>
                                </a:rPr>
                                <m:t>max</m:t>
                              </m:r>
                            </m:e>
                            <m:lim>
                              <m:r>
                                <a:rPr lang="en-US" altLang="zh-CN" sz="2400" i="1">
                                  <a:latin typeface="Cambria Math" panose="02040503050406030204" pitchFamily="18" charset="0"/>
                                  <a:ea typeface="MS Mincho" panose="02020609040205080304" charset="-128"/>
                                  <a:cs typeface="Cambria Math" panose="02040503050406030204" pitchFamily="18" charset="0"/>
                                </a:rPr>
                                <m:t>𝜆</m:t>
                              </m:r>
                              <m:r>
                                <a:rPr lang="en-US" altLang="zh-CN" sz="2400" i="1">
                                  <a:latin typeface="Cambria Math" panose="02040503050406030204" pitchFamily="18" charset="0"/>
                                  <a:ea typeface="MS Mincho" panose="02020609040205080304" charset="-128"/>
                                  <a:cs typeface="Cambria Math" panose="02040503050406030204" pitchFamily="18" charset="0"/>
                                </a:rPr>
                                <m:t>∈</m:t>
                              </m:r>
                              <m:sSup>
                                <m:sSupPr>
                                  <m:ctrlPr>
                                    <a:rPr lang="en-US" altLang="zh-CN" sz="2400" i="1">
                                      <a:latin typeface="Cambria Math" panose="02040503050406030204" pitchFamily="18" charset="0"/>
                                      <a:ea typeface="MS Mincho" panose="02020609040205080304" charset="-128"/>
                                      <a:cs typeface="Cambria Math" panose="02040503050406030204" pitchFamily="18" charset="0"/>
                                    </a:rPr>
                                  </m:ctrlPr>
                                </m:sSupPr>
                                <m:e>
                                  <m:r>
                                    <a:rPr lang="en-US" altLang="zh-CN" sz="2400" i="1">
                                      <a:latin typeface="Cambria Math" panose="02040503050406030204" pitchFamily="18" charset="0"/>
                                      <a:ea typeface="MS Mincho" panose="02020609040205080304" charset="-128"/>
                                      <a:cs typeface="Cambria Math" panose="02040503050406030204" pitchFamily="18" charset="0"/>
                                    </a:rPr>
                                    <m:t>𝑅</m:t>
                                  </m:r>
                                </m:e>
                                <m:sup>
                                  <m:r>
                                    <a:rPr lang="en-US" altLang="zh-CN" sz="2400" i="1">
                                      <a:latin typeface="Cambria Math" panose="02040503050406030204" pitchFamily="18" charset="0"/>
                                      <a:ea typeface="MS Mincho" panose="02020609040205080304" charset="-128"/>
                                      <a:cs typeface="Cambria Math" panose="02040503050406030204" pitchFamily="18" charset="0"/>
                                    </a:rPr>
                                    <m:t>𝑛</m:t>
                                  </m:r>
                                </m:sup>
                              </m:sSup>
                            </m:lim>
                          </m:limLow>
                        </m:fName>
                        <m:e>
                          <m:r>
                            <a:rPr lang="en-US" altLang="zh-CN" sz="2400" i="1">
                              <a:latin typeface="Cambria Math" panose="02040503050406030204" pitchFamily="18" charset="0"/>
                              <a:ea typeface="MS Mincho" panose="02020609040205080304" charset="-128"/>
                              <a:cs typeface="Cambria Math" panose="02040503050406030204" pitchFamily="18" charset="0"/>
                            </a:rPr>
                            <m:t>𝑞</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𝜆</m:t>
                          </m:r>
                          <m:r>
                            <a:rPr lang="en-US" altLang="zh-CN" sz="2400" i="1">
                              <a:latin typeface="Cambria Math" panose="02040503050406030204" pitchFamily="18" charset="0"/>
                              <a:ea typeface="MS Mincho" panose="02020609040205080304" charset="-128"/>
                              <a:cs typeface="Cambria Math" panose="02040503050406030204" pitchFamily="18" charset="0"/>
                            </a:rPr>
                            <m:t>)          </m:t>
                          </m:r>
                          <m:r>
                            <a:rPr lang="en-US" altLang="zh-CN" sz="2400" i="1">
                              <a:latin typeface="Cambria Math" panose="02040503050406030204" pitchFamily="18" charset="0"/>
                              <a:ea typeface="MS Mincho" panose="02020609040205080304" charset="-128"/>
                              <a:cs typeface="Cambria Math" panose="02040503050406030204" pitchFamily="18" charset="0"/>
                            </a:rPr>
                            <m:t>𝑠𝑢𝑏𝑗𝑒𝑐𝑡</m:t>
                          </m:r>
                          <m:r>
                            <a:rPr lang="en-US" altLang="zh-CN" sz="2400" i="1">
                              <a:latin typeface="Cambria Math" panose="02040503050406030204" pitchFamily="18" charset="0"/>
                              <a:ea typeface="MS Mincho" panose="02020609040205080304" charset="-128"/>
                              <a:cs typeface="Cambria Math" panose="02040503050406030204" pitchFamily="18" charset="0"/>
                            </a:rPr>
                            <m:t> </m:t>
                          </m:r>
                          <m:r>
                            <a:rPr lang="en-US" altLang="zh-CN" sz="2400" i="1">
                              <a:latin typeface="Cambria Math" panose="02040503050406030204" pitchFamily="18" charset="0"/>
                              <a:ea typeface="MS Mincho" panose="02020609040205080304" charset="-128"/>
                              <a:cs typeface="Cambria Math" panose="02040503050406030204" pitchFamily="18" charset="0"/>
                            </a:rPr>
                            <m:t>𝑡𝑜</m:t>
                          </m:r>
                          <m:r>
                            <a:rPr lang="en-US" altLang="zh-CN" sz="2400" i="1">
                              <a:latin typeface="Cambria Math" panose="02040503050406030204" pitchFamily="18" charset="0"/>
                              <a:ea typeface="MS Mincho" panose="02020609040205080304" charset="-128"/>
                              <a:cs typeface="Cambria Math" panose="02040503050406030204" pitchFamily="18" charset="0"/>
                            </a:rPr>
                            <m:t>      </m:t>
                          </m:r>
                          <m:r>
                            <a:rPr lang="en-US" altLang="zh-CN" sz="2400" i="1">
                              <a:latin typeface="Cambria Math" panose="02040503050406030204" pitchFamily="18" charset="0"/>
                              <a:ea typeface="MS Mincho" panose="02020609040205080304" charset="-128"/>
                              <a:cs typeface="Cambria Math" panose="02040503050406030204" pitchFamily="18" charset="0"/>
                            </a:rPr>
                            <m:t>𝜆</m:t>
                          </m:r>
                          <m:r>
                            <a:rPr lang="en-US" altLang="zh-CN" sz="2400" i="1">
                              <a:latin typeface="Cambria Math" panose="02040503050406030204" pitchFamily="18" charset="0"/>
                              <a:ea typeface="MS Mincho" panose="02020609040205080304" charset="-128"/>
                              <a:cs typeface="Cambria Math" panose="02040503050406030204" pitchFamily="18" charset="0"/>
                            </a:rPr>
                            <m:t>≥0</m:t>
                          </m:r>
                        </m:e>
                      </m:func>
                    </m:oMath>
                  </m:oMathPara>
                </a14:m>
                <a:endParaRPr lang="zh-CN" altLang="en-US" sz="2400" dirty="0">
                  <a:latin typeface="宋体" panose="02010600030101010101" pitchFamily="2" charset="-122"/>
                  <a:ea typeface="宋体" panose="02010600030101010101" pitchFamily="2" charset="-122"/>
                </a:endParaRPr>
              </a:p>
              <a:p>
                <a:pPr algn="just">
                  <a:lnSpc>
                    <a:spcPct val="150000"/>
                  </a:lnSpc>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mc:Choice>
        <mc:Fallback xmlns="">
          <p:sp>
            <p:nvSpPr>
              <p:cNvPr id="19" name="文本框 18"/>
              <p:cNvSpPr txBox="1">
                <a:spLocks noRot="1" noChangeAspect="1" noMove="1" noResize="1" noEditPoints="1" noAdjustHandles="1" noChangeArrowheads="1" noChangeShapeType="1" noTextEdit="1"/>
              </p:cNvSpPr>
              <p:nvPr/>
            </p:nvSpPr>
            <p:spPr>
              <a:xfrm>
                <a:off x="881590" y="1280627"/>
                <a:ext cx="7074786" cy="4775731"/>
              </a:xfrm>
              <a:prstGeom prst="rect">
                <a:avLst/>
              </a:prstGeom>
              <a:blipFill>
                <a:blip r:embed="rId2"/>
                <a:stretch>
                  <a:fillRect l="-13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78A885A-C8A3-1595-B15B-AB78FFD5D09D}"/>
                  </a:ext>
                </a:extLst>
              </p:cNvPr>
              <p:cNvSpPr txBox="1"/>
              <p:nvPr/>
            </p:nvSpPr>
            <p:spPr>
              <a:xfrm>
                <a:off x="1907704" y="620688"/>
                <a:ext cx="5177443" cy="573106"/>
              </a:xfrm>
              <a:prstGeom prst="rect">
                <a:avLst/>
              </a:prstGeom>
              <a:noFill/>
            </p:spPr>
            <p:txBody>
              <a:bodyPr wrap="none" rtlCol="0" anchor="t">
                <a:spAutoFit/>
              </a:bodyPr>
              <a:lstStyle/>
              <a:p>
                <a:pPr/>
                <a14:m>
                  <m:oMathPara xmlns:m="http://schemas.openxmlformats.org/officeDocument/2006/math">
                    <m:oMathParaPr>
                      <m:jc m:val="centerGroup"/>
                    </m:oMathParaPr>
                    <m:oMath xmlns:m="http://schemas.openxmlformats.org/officeDocument/2006/math">
                      <m:func>
                        <m:funcPr>
                          <m:ctrlPr>
                            <a:rPr lang="en-US" altLang="zh-CN" sz="2400" i="1">
                              <a:latin typeface="Cambria Math" panose="02040503050406030204" pitchFamily="18" charset="0"/>
                              <a:ea typeface="MS Mincho" panose="02020609040205080304" charset="-128"/>
                              <a:cs typeface="Cambria Math" panose="02040503050406030204" pitchFamily="18" charset="0"/>
                            </a:rPr>
                          </m:ctrlPr>
                        </m:funcPr>
                        <m:fName>
                          <m:limLow>
                            <m:limLowPr>
                              <m:ctrlPr>
                                <a:rPr lang="en-US" altLang="zh-CN" sz="2400" i="1">
                                  <a:latin typeface="Cambria Math" panose="02040503050406030204" pitchFamily="18" charset="0"/>
                                  <a:ea typeface="MS Mincho" panose="02020609040205080304" charset="-128"/>
                                  <a:cs typeface="Cambria Math" panose="02040503050406030204" pitchFamily="18" charset="0"/>
                                </a:rPr>
                              </m:ctrlPr>
                            </m:limLowPr>
                            <m:e>
                              <m:r>
                                <m:rPr>
                                  <m:sty m:val="p"/>
                                </m:rPr>
                                <a:rPr lang="en-US" altLang="zh-CN" sz="2400">
                                  <a:latin typeface="Cambria Math" panose="02040503050406030204" pitchFamily="18" charset="0"/>
                                  <a:ea typeface="MS Mincho" panose="02020609040205080304" charset="-128"/>
                                  <a:cs typeface="Cambria Math" panose="02040503050406030204" pitchFamily="18" charset="0"/>
                                </a:rPr>
                                <m:t>min</m:t>
                              </m:r>
                            </m:e>
                            <m:lim>
                              <m:r>
                                <a:rPr lang="en-US" altLang="zh-CN" sz="2400" i="1">
                                  <a:latin typeface="Cambria Math" panose="02040503050406030204" pitchFamily="18" charset="0"/>
                                  <a:ea typeface="MS Mincho" panose="02020609040205080304" charset="-128"/>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sSup>
                                <m:sSupPr>
                                  <m:ctrlPr>
                                    <a:rPr lang="en-US" altLang="zh-CN" sz="2400" i="1">
                                      <a:latin typeface="Cambria Math" panose="02040503050406030204" pitchFamily="18" charset="0"/>
                                      <a:ea typeface="MS Mincho" panose="02020609040205080304" charset="-128"/>
                                      <a:cs typeface="Cambria Math" panose="02040503050406030204" pitchFamily="18" charset="0"/>
                                    </a:rPr>
                                  </m:ctrlPr>
                                </m:sSupPr>
                                <m:e>
                                  <m:r>
                                    <a:rPr lang="en-US" altLang="zh-CN" sz="2400" i="1">
                                      <a:latin typeface="Cambria Math" panose="02040503050406030204" pitchFamily="18" charset="0"/>
                                      <a:ea typeface="MS Mincho" panose="02020609040205080304" charset="-128"/>
                                      <a:cs typeface="Cambria Math" panose="02040503050406030204" pitchFamily="18" charset="0"/>
                                    </a:rPr>
                                    <m:t>𝑅</m:t>
                                  </m:r>
                                </m:e>
                                <m:sup>
                                  <m:r>
                                    <a:rPr lang="en-US" altLang="zh-CN" sz="2400" i="1">
                                      <a:latin typeface="Cambria Math" panose="02040503050406030204" pitchFamily="18" charset="0"/>
                                      <a:ea typeface="MS Mincho" panose="02020609040205080304" charset="-128"/>
                                      <a:cs typeface="Cambria Math" panose="02040503050406030204" pitchFamily="18" charset="0"/>
                                    </a:rPr>
                                    <m:t>𝑛</m:t>
                                  </m:r>
                                </m:sup>
                              </m:sSup>
                            </m:lim>
                          </m:limLow>
                        </m:fName>
                        <m:e>
                          <m:r>
                            <a:rPr lang="en-US" altLang="zh-CN" sz="2400" i="1">
                              <a:latin typeface="Cambria Math" panose="02040503050406030204" pitchFamily="18" charset="0"/>
                              <a:ea typeface="MS Mincho" panose="02020609040205080304" charset="-128"/>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          </m:t>
                          </m:r>
                          <m:r>
                            <a:rPr lang="en-US" altLang="zh-CN" sz="2400" i="1">
                              <a:latin typeface="Cambria Math" panose="02040503050406030204" pitchFamily="18" charset="0"/>
                              <a:ea typeface="MS Mincho" panose="02020609040205080304" charset="-128"/>
                              <a:cs typeface="Cambria Math" panose="02040503050406030204" pitchFamily="18" charset="0"/>
                            </a:rPr>
                            <m:t>𝑠𝑢𝑏𝑗𝑒𝑐𝑡</m:t>
                          </m:r>
                          <m:r>
                            <a:rPr lang="en-US" altLang="zh-CN" sz="2400" i="1">
                              <a:latin typeface="Cambria Math" panose="02040503050406030204" pitchFamily="18" charset="0"/>
                              <a:ea typeface="MS Mincho" panose="02020609040205080304" charset="-128"/>
                              <a:cs typeface="Cambria Math" panose="02040503050406030204" pitchFamily="18" charset="0"/>
                            </a:rPr>
                            <m:t> </m:t>
                          </m:r>
                          <m:r>
                            <a:rPr lang="en-US" altLang="zh-CN" sz="2400" i="1">
                              <a:latin typeface="Cambria Math" panose="02040503050406030204" pitchFamily="18" charset="0"/>
                              <a:ea typeface="MS Mincho" panose="02020609040205080304" charset="-128"/>
                              <a:cs typeface="Cambria Math" panose="02040503050406030204" pitchFamily="18" charset="0"/>
                            </a:rPr>
                            <m:t>𝑡𝑜</m:t>
                          </m:r>
                          <m:r>
                            <a:rPr lang="en-US" altLang="zh-CN" sz="2400" i="1">
                              <a:latin typeface="Cambria Math" panose="02040503050406030204" pitchFamily="18" charset="0"/>
                              <a:ea typeface="MS Mincho" panose="02020609040205080304" charset="-128"/>
                              <a:cs typeface="Cambria Math" panose="02040503050406030204" pitchFamily="18" charset="0"/>
                            </a:rPr>
                            <m:t>      </m:t>
                          </m:r>
                          <m:r>
                            <a:rPr lang="en-US" altLang="zh-CN" sz="2400" i="1">
                              <a:latin typeface="Cambria Math" panose="02040503050406030204" pitchFamily="18" charset="0"/>
                              <a:ea typeface="MS Mincho" panose="02020609040205080304" charset="-128"/>
                              <a:cs typeface="Cambria Math" panose="02040503050406030204" pitchFamily="18" charset="0"/>
                            </a:rPr>
                            <m:t>𝑐</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)≥0</m:t>
                          </m:r>
                        </m:e>
                      </m:func>
                    </m:oMath>
                  </m:oMathPara>
                </a14:m>
                <a:endParaRPr lang="zh-CN" altLang="en-US" sz="2400" dirty="0">
                  <a:latin typeface="宋体" panose="02010600030101010101" pitchFamily="2" charset="-122"/>
                  <a:ea typeface="宋体" panose="02010600030101010101" pitchFamily="2" charset="-122"/>
                </a:endParaRPr>
              </a:p>
            </p:txBody>
          </p:sp>
        </mc:Choice>
        <mc:Fallback xmlns="">
          <p:sp>
            <p:nvSpPr>
              <p:cNvPr id="3" name="文本框 2">
                <a:extLst>
                  <a:ext uri="{FF2B5EF4-FFF2-40B4-BE49-F238E27FC236}">
                    <a16:creationId xmlns:a16="http://schemas.microsoft.com/office/drawing/2014/main" id="{078A885A-C8A3-1595-B15B-AB78FFD5D09D}"/>
                  </a:ext>
                </a:extLst>
              </p:cNvPr>
              <p:cNvSpPr txBox="1">
                <a:spLocks noRot="1" noChangeAspect="1" noMove="1" noResize="1" noEditPoints="1" noAdjustHandles="1" noChangeArrowheads="1" noChangeShapeType="1" noTextEdit="1"/>
              </p:cNvSpPr>
              <p:nvPr/>
            </p:nvSpPr>
            <p:spPr>
              <a:xfrm>
                <a:off x="1907704" y="620688"/>
                <a:ext cx="5177443" cy="573106"/>
              </a:xfrm>
              <a:prstGeom prst="rect">
                <a:avLst/>
              </a:prstGeom>
              <a:blipFill>
                <a:blip r:embed="rId3"/>
                <a:stretch>
                  <a:fillRect b="-4255"/>
                </a:stretch>
              </a:blipFill>
            </p:spPr>
            <p:txBody>
              <a:bodyPr/>
              <a:lstStyle/>
              <a:p>
                <a:r>
                  <a:rPr lang="zh-CN" altLang="en-US">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186283" y="1590347"/>
            <a:ext cx="1674186" cy="461665"/>
          </a:xfrm>
          <a:prstGeom prst="rect">
            <a:avLst/>
          </a:prstGeom>
          <a:noFill/>
        </p:spPr>
        <p:txBody>
          <a:bodyPr wrap="square" rtlCol="0">
            <a:spAutoFit/>
          </a:bodyPr>
          <a:lstStyle/>
          <a:p>
            <a:pPr algn="just"/>
            <a:r>
              <a:rPr lang="zh-CN" altLang="en-US" sz="2400" b="1" dirty="0">
                <a:latin typeface="宋体" panose="02010600030101010101" pitchFamily="2" charset="-122"/>
                <a:ea typeface="宋体" panose="02010600030101010101" pitchFamily="2" charset="-122"/>
              </a:rPr>
              <a:t>原问题</a:t>
            </a:r>
          </a:p>
        </p:txBody>
      </p:sp>
      <p:sp>
        <p:nvSpPr>
          <p:cNvPr id="5" name="文本框 4"/>
          <p:cNvSpPr txBox="1"/>
          <p:nvPr/>
        </p:nvSpPr>
        <p:spPr>
          <a:xfrm>
            <a:off x="1186283" y="3232793"/>
            <a:ext cx="1674186" cy="461665"/>
          </a:xfrm>
          <a:prstGeom prst="rect">
            <a:avLst/>
          </a:prstGeom>
          <a:noFill/>
        </p:spPr>
        <p:txBody>
          <a:bodyPr wrap="square" rtlCol="0">
            <a:spAutoFit/>
          </a:bodyPr>
          <a:lstStyle/>
          <a:p>
            <a:pPr algn="just"/>
            <a:r>
              <a:rPr lang="zh-CN" altLang="en-US" sz="2400" b="1" dirty="0">
                <a:latin typeface="宋体" panose="02010600030101010101" pitchFamily="2" charset="-122"/>
                <a:ea typeface="宋体" panose="02010600030101010101" pitchFamily="2" charset="-122"/>
              </a:rPr>
              <a:t>对偶问题</a:t>
            </a:r>
          </a:p>
        </p:txBody>
      </p:sp>
      <mc:AlternateContent xmlns:mc="http://schemas.openxmlformats.org/markup-compatibility/2006" xmlns:a14="http://schemas.microsoft.com/office/drawing/2010/main">
        <mc:Choice Requires="a14">
          <p:sp>
            <p:nvSpPr>
              <p:cNvPr id="9" name="文本框 8"/>
              <p:cNvSpPr txBox="1"/>
              <p:nvPr/>
            </p:nvSpPr>
            <p:spPr>
              <a:xfrm>
                <a:off x="1871663" y="2025015"/>
                <a:ext cx="5004435" cy="573106"/>
              </a:xfrm>
              <a:prstGeom prst="rect">
                <a:avLst/>
              </a:prstGeom>
              <a:noFill/>
            </p:spPr>
            <p:txBody>
              <a:bodyPr wrap="square" rtlCol="0">
                <a:spAutoFit/>
              </a:bodyPr>
              <a:lstStyle/>
              <a:p>
                <a:pPr algn="just"/>
                <a14:m>
                  <m:oMathPara xmlns:m="http://schemas.openxmlformats.org/officeDocument/2006/math">
                    <m:oMathParaPr>
                      <m:jc m:val="centerGroup"/>
                    </m:oMathParaPr>
                    <m:oMath xmlns:m="http://schemas.openxmlformats.org/officeDocument/2006/math">
                      <m:func>
                        <m:funcPr>
                          <m:ctrlPr>
                            <a:rPr lang="en-US" altLang="zh-CN" sz="2400" i="1">
                              <a:latin typeface="Cambria Math" panose="02040503050406030204" pitchFamily="18" charset="0"/>
                              <a:ea typeface="MS Mincho" panose="02020609040205080304" charset="-128"/>
                              <a:cs typeface="Cambria Math" panose="02040503050406030204" pitchFamily="18" charset="0"/>
                            </a:rPr>
                          </m:ctrlPr>
                        </m:funcPr>
                        <m:fName>
                          <m:limLow>
                            <m:limLowPr>
                              <m:ctrlPr>
                                <a:rPr lang="en-US" altLang="zh-CN" sz="2400" i="1">
                                  <a:latin typeface="Cambria Math" panose="02040503050406030204" pitchFamily="18" charset="0"/>
                                  <a:ea typeface="MS Mincho" panose="02020609040205080304" charset="-128"/>
                                  <a:cs typeface="Cambria Math" panose="02040503050406030204" pitchFamily="18" charset="0"/>
                                </a:rPr>
                              </m:ctrlPr>
                            </m:limLowPr>
                            <m:e>
                              <m:r>
                                <m:rPr>
                                  <m:sty m:val="p"/>
                                </m:rPr>
                                <a:rPr lang="en-US" altLang="zh-CN" sz="2400">
                                  <a:latin typeface="Cambria Math" panose="02040503050406030204" pitchFamily="18" charset="0"/>
                                  <a:ea typeface="MS Mincho" panose="02020609040205080304" charset="-128"/>
                                  <a:cs typeface="Cambria Math" panose="02040503050406030204" pitchFamily="18" charset="0"/>
                                </a:rPr>
                                <m:t>min</m:t>
                              </m:r>
                            </m:e>
                            <m:lim>
                              <m:r>
                                <a:rPr lang="en-US" altLang="zh-CN" sz="2400" i="1">
                                  <a:latin typeface="Cambria Math" panose="02040503050406030204" pitchFamily="18" charset="0"/>
                                  <a:ea typeface="MS Mincho" panose="02020609040205080304" charset="-128"/>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sSup>
                                <m:sSupPr>
                                  <m:ctrlPr>
                                    <a:rPr lang="en-US" altLang="zh-CN" sz="2400" i="1">
                                      <a:latin typeface="Cambria Math" panose="02040503050406030204" pitchFamily="18" charset="0"/>
                                      <a:ea typeface="MS Mincho" panose="02020609040205080304" charset="-128"/>
                                      <a:cs typeface="Cambria Math" panose="02040503050406030204" pitchFamily="18" charset="0"/>
                                    </a:rPr>
                                  </m:ctrlPr>
                                </m:sSupPr>
                                <m:e>
                                  <m:r>
                                    <a:rPr lang="en-US" altLang="zh-CN" sz="2400" i="1">
                                      <a:latin typeface="Cambria Math" panose="02040503050406030204" pitchFamily="18" charset="0"/>
                                      <a:ea typeface="MS Mincho" panose="02020609040205080304" charset="-128"/>
                                      <a:cs typeface="Cambria Math" panose="02040503050406030204" pitchFamily="18" charset="0"/>
                                    </a:rPr>
                                    <m:t>𝑅</m:t>
                                  </m:r>
                                </m:e>
                                <m:sup>
                                  <m:r>
                                    <a:rPr lang="en-US" altLang="zh-CN" sz="2400" i="1">
                                      <a:latin typeface="Cambria Math" panose="02040503050406030204" pitchFamily="18" charset="0"/>
                                      <a:ea typeface="MS Mincho" panose="02020609040205080304" charset="-128"/>
                                      <a:cs typeface="Cambria Math" panose="02040503050406030204" pitchFamily="18" charset="0"/>
                                    </a:rPr>
                                    <m:t>𝑛</m:t>
                                  </m:r>
                                </m:sup>
                              </m:sSup>
                            </m:lim>
                          </m:limLow>
                        </m:fName>
                        <m:e>
                          <m:r>
                            <a:rPr lang="en-US" altLang="zh-CN" sz="2400" i="1">
                              <a:latin typeface="Cambria Math" panose="02040503050406030204" pitchFamily="18" charset="0"/>
                              <a:ea typeface="MS Mincho" panose="02020609040205080304" charset="-128"/>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          </m:t>
                          </m:r>
                          <m:r>
                            <a:rPr lang="en-US" altLang="zh-CN" sz="2400" i="1">
                              <a:latin typeface="Cambria Math" panose="02040503050406030204" pitchFamily="18" charset="0"/>
                              <a:ea typeface="MS Mincho" panose="02020609040205080304" charset="-128"/>
                              <a:cs typeface="Cambria Math" panose="02040503050406030204" pitchFamily="18" charset="0"/>
                            </a:rPr>
                            <m:t>𝑠𝑢𝑏𝑗𝑒𝑐𝑡</m:t>
                          </m:r>
                          <m:r>
                            <a:rPr lang="en-US" altLang="zh-CN" sz="2400" i="1">
                              <a:latin typeface="Cambria Math" panose="02040503050406030204" pitchFamily="18" charset="0"/>
                              <a:ea typeface="MS Mincho" panose="02020609040205080304" charset="-128"/>
                              <a:cs typeface="Cambria Math" panose="02040503050406030204" pitchFamily="18" charset="0"/>
                            </a:rPr>
                            <m:t> </m:t>
                          </m:r>
                          <m:r>
                            <a:rPr lang="en-US" altLang="zh-CN" sz="2400" i="1">
                              <a:latin typeface="Cambria Math" panose="02040503050406030204" pitchFamily="18" charset="0"/>
                              <a:ea typeface="MS Mincho" panose="02020609040205080304" charset="-128"/>
                              <a:cs typeface="Cambria Math" panose="02040503050406030204" pitchFamily="18" charset="0"/>
                            </a:rPr>
                            <m:t>𝑡𝑜</m:t>
                          </m:r>
                          <m:r>
                            <a:rPr lang="en-US" altLang="zh-CN" sz="2400" i="1">
                              <a:latin typeface="Cambria Math" panose="02040503050406030204" pitchFamily="18" charset="0"/>
                              <a:ea typeface="MS Mincho" panose="02020609040205080304" charset="-128"/>
                              <a:cs typeface="Cambria Math" panose="02040503050406030204" pitchFamily="18" charset="0"/>
                            </a:rPr>
                            <m:t>      </m:t>
                          </m:r>
                          <m:r>
                            <a:rPr lang="en-US" altLang="zh-CN" sz="2400" i="1">
                              <a:latin typeface="Cambria Math" panose="02040503050406030204" pitchFamily="18" charset="0"/>
                              <a:ea typeface="MS Mincho" panose="02020609040205080304" charset="-128"/>
                              <a:cs typeface="Cambria Math" panose="02040503050406030204" pitchFamily="18" charset="0"/>
                            </a:rPr>
                            <m:t>𝑐</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)≥0</m:t>
                          </m:r>
                        </m:e>
                      </m:func>
                    </m:oMath>
                  </m:oMathPara>
                </a14:m>
                <a:endParaRPr lang="zh-CN" altLang="en-US" sz="2400" dirty="0">
                  <a:latin typeface="宋体" panose="02010600030101010101" pitchFamily="2" charset="-122"/>
                  <a:ea typeface="宋体" panose="02010600030101010101" pitchFamily="2" charset="-122"/>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1871663" y="2025015"/>
                <a:ext cx="5004435" cy="573106"/>
              </a:xfrm>
              <a:prstGeom prst="rect">
                <a:avLst/>
              </a:prstGeom>
              <a:blipFill>
                <a:blip r:embed="rId2"/>
                <a:stretch>
                  <a:fillRect r="-122" b="-53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1925479" y="3537109"/>
                <a:ext cx="5886881" cy="1478225"/>
              </a:xfrm>
              <a:prstGeom prst="rect">
                <a:avLst/>
              </a:prstGeom>
              <a:noFill/>
            </p:spPr>
            <p:txBody>
              <a:bodyPr wrap="square" rtlCol="0">
                <a:spAutoFit/>
              </a:bodyPr>
              <a:lstStyle/>
              <a:p>
                <a:pPr algn="just" fontAlgn="auto">
                  <a:lnSpc>
                    <a:spcPct val="150000"/>
                  </a:lnSpc>
                </a:pPr>
                <a14:m>
                  <m:oMathPara xmlns:m="http://schemas.openxmlformats.org/officeDocument/2006/math">
                    <m:oMathParaPr>
                      <m:jc m:val="centerGroup"/>
                    </m:oMathParaPr>
                    <m:oMath xmlns:m="http://schemas.openxmlformats.org/officeDocument/2006/math">
                      <m:func>
                        <m:funcPr>
                          <m:ctrlPr>
                            <a:rPr lang="en-US" altLang="zh-CN" sz="2400" i="1">
                              <a:latin typeface="Cambria Math" panose="02040503050406030204" pitchFamily="18" charset="0"/>
                              <a:ea typeface="MS Mincho" panose="02020609040205080304" charset="-128"/>
                              <a:cs typeface="Cambria Math" panose="02040503050406030204" pitchFamily="18" charset="0"/>
                            </a:rPr>
                          </m:ctrlPr>
                        </m:funcPr>
                        <m:fName>
                          <m:limLow>
                            <m:limLowPr>
                              <m:ctrlPr>
                                <a:rPr lang="en-US" altLang="zh-CN" sz="2400" i="1">
                                  <a:latin typeface="Cambria Math" panose="02040503050406030204" pitchFamily="18" charset="0"/>
                                  <a:ea typeface="MS Mincho" panose="02020609040205080304" charset="-128"/>
                                  <a:cs typeface="Cambria Math" panose="02040503050406030204" pitchFamily="18" charset="0"/>
                                </a:rPr>
                              </m:ctrlPr>
                            </m:limLowPr>
                            <m:e>
                              <m:r>
                                <m:rPr>
                                  <m:sty m:val="p"/>
                                </m:rPr>
                                <a:rPr lang="en-US" altLang="zh-CN" sz="2400">
                                  <a:latin typeface="Cambria Math" panose="02040503050406030204" pitchFamily="18" charset="0"/>
                                  <a:ea typeface="MS Mincho" panose="02020609040205080304" charset="-128"/>
                                  <a:cs typeface="Cambria Math" panose="02040503050406030204" pitchFamily="18" charset="0"/>
                                </a:rPr>
                                <m:t>max</m:t>
                              </m:r>
                            </m:e>
                            <m:lim>
                              <m:r>
                                <a:rPr lang="en-US" altLang="zh-CN" sz="2400" i="1">
                                  <a:latin typeface="Cambria Math" panose="02040503050406030204" pitchFamily="18" charset="0"/>
                                  <a:ea typeface="MS Mincho" panose="02020609040205080304" charset="-128"/>
                                  <a:cs typeface="Cambria Math" panose="02040503050406030204" pitchFamily="18" charset="0"/>
                                </a:rPr>
                                <m:t>𝜆</m:t>
                              </m:r>
                              <m:r>
                                <a:rPr lang="en-US" altLang="zh-CN" sz="2400" i="1">
                                  <a:latin typeface="Cambria Math" panose="02040503050406030204" pitchFamily="18" charset="0"/>
                                  <a:ea typeface="MS Mincho" panose="02020609040205080304" charset="-128"/>
                                  <a:cs typeface="Cambria Math" panose="02040503050406030204" pitchFamily="18" charset="0"/>
                                </a:rPr>
                                <m:t>∈</m:t>
                              </m:r>
                              <m:sSup>
                                <m:sSupPr>
                                  <m:ctrlPr>
                                    <a:rPr lang="en-US" altLang="zh-CN" sz="2400" i="1">
                                      <a:latin typeface="Cambria Math" panose="02040503050406030204" pitchFamily="18" charset="0"/>
                                      <a:ea typeface="MS Mincho" panose="02020609040205080304" charset="-128"/>
                                      <a:cs typeface="Cambria Math" panose="02040503050406030204" pitchFamily="18" charset="0"/>
                                    </a:rPr>
                                  </m:ctrlPr>
                                </m:sSupPr>
                                <m:e>
                                  <m:r>
                                    <a:rPr lang="en-US" altLang="zh-CN" sz="2400" i="1">
                                      <a:latin typeface="Cambria Math" panose="02040503050406030204" pitchFamily="18" charset="0"/>
                                      <a:ea typeface="MS Mincho" panose="02020609040205080304" charset="-128"/>
                                      <a:cs typeface="Cambria Math" panose="02040503050406030204" pitchFamily="18" charset="0"/>
                                    </a:rPr>
                                    <m:t>𝑅</m:t>
                                  </m:r>
                                </m:e>
                                <m:sup>
                                  <m:r>
                                    <a:rPr lang="en-US" altLang="zh-CN" sz="2400" i="1">
                                      <a:latin typeface="Cambria Math" panose="02040503050406030204" pitchFamily="18" charset="0"/>
                                      <a:ea typeface="MS Mincho" panose="02020609040205080304" charset="-128"/>
                                      <a:cs typeface="Cambria Math" panose="02040503050406030204" pitchFamily="18" charset="0"/>
                                    </a:rPr>
                                    <m:t>𝑛</m:t>
                                  </m:r>
                                </m:sup>
                              </m:sSup>
                            </m:lim>
                          </m:limLow>
                        </m:fName>
                        <m:e>
                          <m:r>
                            <a:rPr lang="en-US" altLang="zh-CN" sz="2400" i="1">
                              <a:latin typeface="Cambria Math" panose="02040503050406030204" pitchFamily="18" charset="0"/>
                              <a:ea typeface="MS Mincho" panose="02020609040205080304" charset="-128"/>
                              <a:cs typeface="Cambria Math" panose="02040503050406030204" pitchFamily="18" charset="0"/>
                            </a:rPr>
                            <m:t>𝑞</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𝜆</m:t>
                          </m:r>
                          <m:r>
                            <a:rPr lang="en-US" altLang="zh-CN" sz="2400" i="1">
                              <a:latin typeface="Cambria Math" panose="02040503050406030204" pitchFamily="18" charset="0"/>
                              <a:ea typeface="MS Mincho" panose="02020609040205080304" charset="-128"/>
                              <a:cs typeface="Cambria Math" panose="02040503050406030204" pitchFamily="18" charset="0"/>
                            </a:rPr>
                            <m:t>)          </m:t>
                          </m:r>
                          <m:r>
                            <a:rPr lang="en-US" altLang="zh-CN" sz="2400" i="1">
                              <a:latin typeface="Cambria Math" panose="02040503050406030204" pitchFamily="18" charset="0"/>
                              <a:ea typeface="MS Mincho" panose="02020609040205080304" charset="-128"/>
                              <a:cs typeface="Cambria Math" panose="02040503050406030204" pitchFamily="18" charset="0"/>
                            </a:rPr>
                            <m:t>𝑠𝑢𝑏𝑗𝑒𝑐𝑡</m:t>
                          </m:r>
                          <m:r>
                            <a:rPr lang="en-US" altLang="zh-CN" sz="2400" i="1">
                              <a:latin typeface="Cambria Math" panose="02040503050406030204" pitchFamily="18" charset="0"/>
                              <a:ea typeface="MS Mincho" panose="02020609040205080304" charset="-128"/>
                              <a:cs typeface="Cambria Math" panose="02040503050406030204" pitchFamily="18" charset="0"/>
                            </a:rPr>
                            <m:t> </m:t>
                          </m:r>
                          <m:r>
                            <a:rPr lang="en-US" altLang="zh-CN" sz="2400" i="1">
                              <a:latin typeface="Cambria Math" panose="02040503050406030204" pitchFamily="18" charset="0"/>
                              <a:ea typeface="MS Mincho" panose="02020609040205080304" charset="-128"/>
                              <a:cs typeface="Cambria Math" panose="02040503050406030204" pitchFamily="18" charset="0"/>
                            </a:rPr>
                            <m:t>𝑡𝑜</m:t>
                          </m:r>
                          <m:r>
                            <a:rPr lang="en-US" altLang="zh-CN" sz="2400" i="1">
                              <a:latin typeface="Cambria Math" panose="02040503050406030204" pitchFamily="18" charset="0"/>
                              <a:ea typeface="MS Mincho" panose="02020609040205080304" charset="-128"/>
                              <a:cs typeface="Cambria Math" panose="02040503050406030204" pitchFamily="18" charset="0"/>
                            </a:rPr>
                            <m:t>      </m:t>
                          </m:r>
                          <m:r>
                            <a:rPr lang="en-US" altLang="zh-CN" sz="2400" i="1">
                              <a:latin typeface="Cambria Math" panose="02040503050406030204" pitchFamily="18" charset="0"/>
                              <a:ea typeface="MS Mincho" panose="02020609040205080304" charset="-128"/>
                              <a:cs typeface="Cambria Math" panose="02040503050406030204" pitchFamily="18" charset="0"/>
                            </a:rPr>
                            <m:t>𝜆</m:t>
                          </m:r>
                          <m:r>
                            <a:rPr lang="en-US" altLang="zh-CN" sz="2400" i="1">
                              <a:latin typeface="Cambria Math" panose="02040503050406030204" pitchFamily="18" charset="0"/>
                              <a:ea typeface="MS Mincho" panose="02020609040205080304" charset="-128"/>
                              <a:cs typeface="Cambria Math" panose="02040503050406030204" pitchFamily="18" charset="0"/>
                            </a:rPr>
                            <m:t>≥0</m:t>
                          </m:r>
                        </m:e>
                      </m:func>
                    </m:oMath>
                  </m:oMathPara>
                </a14:m>
                <a:endParaRPr lang="en-US" altLang="zh-CN" sz="2400" i="1" dirty="0">
                  <a:latin typeface="宋体" panose="02010600030101010101" pitchFamily="2" charset="-122"/>
                  <a:ea typeface="宋体" panose="02010600030101010101" pitchFamily="2" charset="-122"/>
                  <a:cs typeface="Cambria Math" panose="02040503050406030204" pitchFamily="18" charset="0"/>
                </a:endParaRPr>
              </a:p>
              <a:p>
                <a:pPr algn="just" fontAlgn="auto">
                  <a:lnSpc>
                    <a:spcPct val="150000"/>
                  </a:lnSpc>
                </a:pPr>
                <a:r>
                  <a:rPr lang="en-US" altLang="zh-CN" sz="2400" dirty="0">
                    <a:latin typeface="宋体" panose="02010600030101010101" pitchFamily="2" charset="-122"/>
                    <a:ea typeface="宋体" panose="02010600030101010101" pitchFamily="2" charset="-122"/>
                    <a:cs typeface="Cambria Math" panose="02040503050406030204" pitchFamily="18" charset="0"/>
                  </a:rPr>
                  <a:t>              </a:t>
                </a:r>
                <a14:m>
                  <m:oMath xmlns:m="http://schemas.openxmlformats.org/officeDocument/2006/math">
                    <m:r>
                      <a:rPr lang="en-US" altLang="zh-CN" sz="2400" i="1">
                        <a:latin typeface="Cambria Math" panose="02040503050406030204" pitchFamily="18" charset="0"/>
                        <a:ea typeface="MS Mincho" panose="02020609040205080304" charset="-128"/>
                        <a:cs typeface="Cambria Math" panose="02040503050406030204" pitchFamily="18" charset="0"/>
                      </a:rPr>
                      <m:t>𝑞</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𝜆</m:t>
                    </m:r>
                    <m:r>
                      <a:rPr lang="en-US" altLang="zh-CN" sz="2400" i="1">
                        <a:latin typeface="Cambria Math" panose="02040503050406030204" pitchFamily="18" charset="0"/>
                        <a:ea typeface="MS Mincho" panose="02020609040205080304" charset="-128"/>
                        <a:cs typeface="Cambria Math" panose="02040503050406030204" pitchFamily="18" charset="0"/>
                      </a:rPr>
                      <m:t>)≝</m:t>
                    </m:r>
                    <m:func>
                      <m:funcPr>
                        <m:ctrlPr>
                          <a:rPr lang="en-US" altLang="zh-CN" sz="2400" i="1">
                            <a:latin typeface="Cambria Math" panose="02040503050406030204" pitchFamily="18" charset="0"/>
                            <a:ea typeface="MS Mincho" panose="02020609040205080304" charset="-128"/>
                            <a:cs typeface="Cambria Math" panose="02040503050406030204" pitchFamily="18" charset="0"/>
                          </a:rPr>
                        </m:ctrlPr>
                      </m:funcPr>
                      <m:fName>
                        <m:limLow>
                          <m:limLowPr>
                            <m:ctrlPr>
                              <a:rPr lang="en-US" altLang="zh-CN" sz="2400" i="1">
                                <a:latin typeface="Cambria Math" panose="02040503050406030204" pitchFamily="18" charset="0"/>
                                <a:ea typeface="MS Mincho" panose="02020609040205080304" charset="-128"/>
                                <a:cs typeface="Cambria Math" panose="02040503050406030204" pitchFamily="18" charset="0"/>
                              </a:rPr>
                            </m:ctrlPr>
                          </m:limLowPr>
                          <m:e>
                            <m:r>
                              <m:rPr>
                                <m:sty m:val="p"/>
                              </m:rPr>
                              <a:rPr lang="en-US" altLang="zh-CN" sz="2400">
                                <a:latin typeface="Cambria Math" panose="02040503050406030204" pitchFamily="18" charset="0"/>
                                <a:ea typeface="MS Mincho" panose="02020609040205080304" charset="-128"/>
                                <a:cs typeface="Cambria Math" panose="02040503050406030204" pitchFamily="18" charset="0"/>
                              </a:rPr>
                              <m:t>inf</m:t>
                            </m:r>
                          </m:e>
                          <m:lim>
                            <m:r>
                              <a:rPr lang="en-US" altLang="zh-CN" sz="2400" i="1">
                                <a:latin typeface="Cambria Math" panose="02040503050406030204" pitchFamily="18" charset="0"/>
                                <a:ea typeface="MS Mincho" panose="02020609040205080304" charset="-128"/>
                                <a:cs typeface="Cambria Math" panose="02040503050406030204" pitchFamily="18" charset="0"/>
                              </a:rPr>
                              <m:t>𝑥</m:t>
                            </m:r>
                          </m:lim>
                        </m:limLow>
                      </m:fName>
                      <m:e>
                        <m:r>
                          <a:rPr lang="en-US" altLang="zh-CN" sz="2400" i="1" dirty="0">
                            <a:latin typeface="Cambria Math" panose="02040503050406030204" pitchFamily="18" charset="0"/>
                            <a:ea typeface="宋体" panose="02010600030101010101" pitchFamily="2" charset="-122"/>
                            <a:cs typeface="Cambria Math" panose="02040503050406030204" pitchFamily="18" charset="0"/>
                          </a:rPr>
                          <m:t>ℒ</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𝜆</m:t>
                        </m:r>
                        <m:r>
                          <a:rPr lang="en-US" altLang="zh-CN" sz="2400" i="1">
                            <a:latin typeface="Cambria Math" panose="02040503050406030204" pitchFamily="18" charset="0"/>
                            <a:ea typeface="MS Mincho" panose="02020609040205080304" charset="-128"/>
                            <a:cs typeface="Cambria Math" panose="02040503050406030204" pitchFamily="18" charset="0"/>
                          </a:rPr>
                          <m:t>)     </m:t>
                        </m:r>
                      </m:e>
                    </m:func>
                  </m:oMath>
                </a14:m>
                <a:endParaRPr lang="zh-CN" altLang="en-US" sz="2400" dirty="0">
                  <a:latin typeface="宋体" panose="02010600030101010101" pitchFamily="2" charset="-122"/>
                  <a:ea typeface="宋体" panose="02010600030101010101" pitchFamily="2" charset="-122"/>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1925479" y="3537109"/>
                <a:ext cx="5886881" cy="1478225"/>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629084" y="2182829"/>
            <a:ext cx="3429000" cy="559769"/>
          </a:xfrm>
          <a:prstGeom prst="rect">
            <a:avLst/>
          </a:prstGeom>
          <a:noFill/>
        </p:spPr>
        <p:txBody>
          <a:bodyPr wrap="square">
            <a:spAutoFit/>
          </a:bodyPr>
          <a:lstStyle/>
          <a:p>
            <a:pPr>
              <a:lnSpc>
                <a:spcPct val="150000"/>
              </a:lnSpc>
            </a:pPr>
            <a:r>
              <a:rPr lang="zh-CN" altLang="en-US" sz="2400" dirty="0">
                <a:latin typeface="宋体" panose="02010600030101010101" pitchFamily="2" charset="-122"/>
                <a:ea typeface="宋体" panose="02010600030101010101" pitchFamily="2" charset="-122"/>
              </a:rPr>
              <a:t>  拉格朗日函数是</a:t>
            </a:r>
          </a:p>
        </p:txBody>
      </p:sp>
      <mc:AlternateContent xmlns:mc="http://schemas.openxmlformats.org/markup-compatibility/2006" xmlns:a14="http://schemas.microsoft.com/office/drawing/2010/main">
        <mc:Choice Requires="a14">
          <p:sp>
            <p:nvSpPr>
              <p:cNvPr id="18" name="文本框 17"/>
              <p:cNvSpPr txBox="1"/>
              <p:nvPr/>
            </p:nvSpPr>
            <p:spPr>
              <a:xfrm>
                <a:off x="1043608" y="3729475"/>
                <a:ext cx="7560840" cy="1127296"/>
              </a:xfrm>
              <a:prstGeom prst="rect">
                <a:avLst/>
              </a:prstGeom>
              <a:noFill/>
            </p:spPr>
            <p:txBody>
              <a:bodyPr wrap="square">
                <a:spAutoFit/>
              </a:bodyPr>
              <a:lstStyle/>
              <a:p>
                <a:pPr algn="just">
                  <a:lnSpc>
                    <a:spcPct val="150000"/>
                  </a:lnSpc>
                </a:pP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如果固定</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𝜆</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ub>
                    </m:sSub>
                  </m:oMath>
                </a14:m>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，这是一个关于</a:t>
                </a:r>
                <a:r>
                  <a:rPr lang="en-US" altLang="zh-CN" sz="2400" kern="100" dirty="0">
                    <a:latin typeface="宋体" panose="02010600030101010101" pitchFamily="2" charset="-122"/>
                    <a:ea typeface="宋体" panose="02010600030101010101" pitchFamily="2" charset="-122"/>
                    <a:cs typeface="Times New Roman" panose="02020603050405020304" pitchFamily="18" charset="0"/>
                  </a:rPr>
                  <a:t> </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b>
                            </m:sSub>
                          </m:e>
                        </m:d>
                      </m:e>
                      <m:sup>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𝑇</m:t>
                        </m:r>
                      </m:sup>
                    </m:sSup>
                  </m:oMath>
                </a14:m>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的凸函数。因此，关于</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b>
                            </m:sSub>
                          </m:e>
                        </m:d>
                      </m:e>
                      <m:sup>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𝑇</m:t>
                        </m:r>
                      </m:sup>
                    </m:sSup>
                  </m:oMath>
                </a14:m>
                <a:r>
                  <a:rPr lang="en-US" altLang="zh-CN" sz="2400" i="1" kern="100" dirty="0">
                    <a:latin typeface="宋体" panose="02010600030101010101" pitchFamily="2" charset="-122"/>
                    <a:ea typeface="宋体" panose="02010600030101010101" pitchFamily="2" charset="-122"/>
                    <a:cs typeface="Times New Roman" panose="02020603050405020304" pitchFamily="18" charset="0"/>
                  </a:rPr>
                  <a:t> </a:t>
                </a: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的极小点在偏导数等于零处取得，也就是</a:t>
                </a:r>
                <a:endParaRPr lang="zh-CN" altLang="zh-CN" sz="2400" kern="100" dirty="0">
                  <a:latin typeface="宋体" panose="02010600030101010101" pitchFamily="2" charset="-122"/>
                  <a:ea typeface="宋体" panose="02010600030101010101" pitchFamily="2" charset="-122"/>
                  <a:cs typeface="Times New Roman" panose="02020603050405020304" pitchFamily="18" charset="0"/>
                </a:endParaRPr>
              </a:p>
            </p:txBody>
          </p:sp>
        </mc:Choice>
        <mc:Fallback xmlns="">
          <p:sp>
            <p:nvSpPr>
              <p:cNvPr id="18" name="文本框 17"/>
              <p:cNvSpPr txBox="1">
                <a:spLocks noRot="1" noChangeAspect="1" noMove="1" noResize="1" noEditPoints="1" noAdjustHandles="1" noChangeArrowheads="1" noChangeShapeType="1" noTextEdit="1"/>
              </p:cNvSpPr>
              <p:nvPr/>
            </p:nvSpPr>
            <p:spPr>
              <a:xfrm>
                <a:off x="1043608" y="3729475"/>
                <a:ext cx="7560840" cy="1127296"/>
              </a:xfrm>
              <a:prstGeom prst="rect">
                <a:avLst/>
              </a:prstGeom>
              <a:blipFill>
                <a:blip r:embed="rId2"/>
                <a:stretch>
                  <a:fillRect l="-1210" r="-1290" b="-102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934924" y="894335"/>
                <a:ext cx="7560840" cy="904799"/>
              </a:xfrm>
              <a:prstGeom prst="rect">
                <a:avLst/>
              </a:prstGeom>
              <a:noFill/>
            </p:spPr>
            <p:txBody>
              <a:bodyPr wrap="square">
                <a:spAutoFit/>
              </a:bodyPr>
              <a:lstStyle/>
              <a:p>
                <a:pPr algn="just">
                  <a:lnSpc>
                    <a:spcPct val="150000"/>
                  </a:lnSpc>
                </a:pPr>
                <a:r>
                  <a:rPr lang="zh-CN" altLang="en-US" sz="2400" b="1" kern="0" dirty="0">
                    <a:solidFill>
                      <a:srgbClr val="0070C0"/>
                    </a:solidFill>
                    <a:latin typeface="宋体" panose="02010600030101010101" pitchFamily="2" charset="-122"/>
                    <a:ea typeface="宋体" panose="02010600030101010101" pitchFamily="2" charset="-122"/>
                    <a:cs typeface="ItcKabel-Bold"/>
                  </a:rPr>
                  <a:t>例</a:t>
                </a:r>
                <a:r>
                  <a:rPr lang="en-US" altLang="zh-CN" sz="2400" b="1" kern="0" dirty="0">
                    <a:solidFill>
                      <a:srgbClr val="0070C0"/>
                    </a:solidFill>
                    <a:latin typeface="宋体" panose="02010600030101010101" pitchFamily="2" charset="-122"/>
                    <a:ea typeface="宋体" panose="02010600030101010101" pitchFamily="2" charset="-122"/>
                    <a:cs typeface="ItcKabel-Bold"/>
                  </a:rPr>
                  <a:t>1 </a:t>
                </a:r>
                <a14:m>
                  <m:oMath xmlns:m="http://schemas.openxmlformats.org/officeDocument/2006/math">
                    <m:func>
                      <m:funcPr>
                        <m:ctrlPr>
                          <a:rPr lang="en-US" altLang="zh-CN" sz="2400" i="1">
                            <a:latin typeface="Cambria Math" panose="02040503050406030204" pitchFamily="18" charset="0"/>
                            <a:ea typeface="MS Mincho" panose="02020609040205080304" charset="-128"/>
                            <a:cs typeface="Cambria Math" panose="02040503050406030204" pitchFamily="18" charset="0"/>
                          </a:rPr>
                        </m:ctrlPr>
                      </m:funcPr>
                      <m:fName>
                        <m:limLow>
                          <m:limLowPr>
                            <m:ctrlPr>
                              <a:rPr lang="en-US" altLang="zh-CN" sz="2400" i="1">
                                <a:latin typeface="Cambria Math" panose="02040503050406030204" pitchFamily="18" charset="0"/>
                                <a:ea typeface="MS Mincho" panose="02020609040205080304" charset="-128"/>
                                <a:cs typeface="Cambria Math" panose="02040503050406030204" pitchFamily="18" charset="0"/>
                              </a:rPr>
                            </m:ctrlPr>
                          </m:limLowPr>
                          <m:e>
                            <m:r>
                              <m:rPr>
                                <m:sty m:val="p"/>
                              </m:rPr>
                              <a:rPr lang="en-US" altLang="zh-CN" sz="2400">
                                <a:latin typeface="Cambria Math" panose="02040503050406030204" pitchFamily="18" charset="0"/>
                                <a:ea typeface="MS Mincho" panose="02020609040205080304" charset="-128"/>
                                <a:cs typeface="Cambria Math" panose="02040503050406030204" pitchFamily="18" charset="0"/>
                              </a:rPr>
                              <m:t>min</m:t>
                            </m:r>
                          </m:e>
                          <m:lim>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𝑥</m:t>
                                </m:r>
                              </m:e>
                              <m:sub>
                                <m:r>
                                  <a:rPr lang="en-US" altLang="zh-CN" sz="2400" i="1">
                                    <a:latin typeface="Cambria Math" panose="02040503050406030204" pitchFamily="18" charset="0"/>
                                    <a:ea typeface="MS Mincho" panose="02020609040205080304" charset="-128"/>
                                    <a:cs typeface="Cambria Math" panose="02040503050406030204" pitchFamily="18" charset="0"/>
                                  </a:rPr>
                                  <m:t>1</m:t>
                                </m:r>
                              </m:sub>
                            </m:sSub>
                            <m:r>
                              <a:rPr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𝑥</m:t>
                                </m:r>
                              </m:e>
                              <m:sub>
                                <m:r>
                                  <a:rPr lang="en-US" altLang="zh-CN" sz="2400" i="1">
                                    <a:latin typeface="Cambria Math" panose="02040503050406030204" pitchFamily="18" charset="0"/>
                                    <a:ea typeface="MS Mincho" panose="02020609040205080304" charset="-128"/>
                                    <a:cs typeface="Cambria Math" panose="02040503050406030204" pitchFamily="18" charset="0"/>
                                  </a:rPr>
                                  <m:t>2</m:t>
                                </m:r>
                              </m:sub>
                            </m:sSub>
                            <m:r>
                              <a:rPr lang="en-US" altLang="zh-CN" sz="2400" i="1">
                                <a:latin typeface="Cambria Math" panose="02040503050406030204" pitchFamily="18" charset="0"/>
                                <a:ea typeface="MS Mincho" panose="02020609040205080304" charset="-128"/>
                                <a:cs typeface="Cambria Math" panose="02040503050406030204" pitchFamily="18" charset="0"/>
                              </a:rPr>
                              <m:t>)</m:t>
                            </m:r>
                          </m:lim>
                        </m:limLow>
                      </m:fName>
                      <m:e>
                        <m:r>
                          <a:rPr lang="en-US" altLang="zh-CN" sz="2400" i="1">
                            <a:latin typeface="Cambria Math" panose="02040503050406030204" pitchFamily="18" charset="0"/>
                            <a:ea typeface="MS Mincho" panose="02020609040205080304" charset="-128"/>
                            <a:cs typeface="Cambria Math" panose="02040503050406030204" pitchFamily="18" charset="0"/>
                          </a:rPr>
                          <m:t>0.5(</m:t>
                        </m:r>
                        <m:sSubSup>
                          <m:sSubSupPr>
                            <m:ctrlPr>
                              <a:rPr lang="en-US" altLang="zh-CN" sz="2400" i="1">
                                <a:latin typeface="Cambria Math" panose="02040503050406030204" pitchFamily="18" charset="0"/>
                                <a:ea typeface="MS Mincho" panose="02020609040205080304" charset="-128"/>
                                <a:cs typeface="Cambria Math" panose="02040503050406030204" pitchFamily="18" charset="0"/>
                              </a:rPr>
                            </m:ctrlPr>
                          </m:sSubSupPr>
                          <m:e>
                            <m:r>
                              <a:rPr lang="en-US" altLang="zh-CN" sz="2400" i="1">
                                <a:latin typeface="Cambria Math" panose="02040503050406030204" pitchFamily="18" charset="0"/>
                                <a:ea typeface="MS Mincho" panose="02020609040205080304" charset="-128"/>
                                <a:cs typeface="Cambria Math" panose="02040503050406030204" pitchFamily="18" charset="0"/>
                              </a:rPr>
                              <m:t>𝑥</m:t>
                            </m:r>
                          </m:e>
                          <m:sub>
                            <m:r>
                              <a:rPr lang="en-US" altLang="zh-CN" sz="2400" i="1">
                                <a:latin typeface="Cambria Math" panose="02040503050406030204" pitchFamily="18" charset="0"/>
                                <a:ea typeface="MS Mincho" panose="02020609040205080304" charset="-128"/>
                                <a:cs typeface="Cambria Math" panose="02040503050406030204" pitchFamily="18" charset="0"/>
                              </a:rPr>
                              <m:t>1</m:t>
                            </m:r>
                          </m:sub>
                          <m:sup>
                            <m:r>
                              <a:rPr lang="en-US" altLang="zh-CN" sz="2400" i="1">
                                <a:latin typeface="Cambria Math" panose="02040503050406030204" pitchFamily="18" charset="0"/>
                                <a:ea typeface="MS Mincho" panose="02020609040205080304" charset="-128"/>
                                <a:cs typeface="Cambria Math" panose="02040503050406030204" pitchFamily="18" charset="0"/>
                              </a:rPr>
                              <m:t>2</m:t>
                            </m:r>
                          </m:sup>
                        </m:sSubSup>
                        <m:r>
                          <a:rPr lang="en-US" altLang="zh-CN" sz="2400" i="1">
                            <a:latin typeface="Cambria Math" panose="02040503050406030204" pitchFamily="18" charset="0"/>
                            <a:ea typeface="MS Mincho" panose="02020609040205080304" charset="-128"/>
                            <a:cs typeface="Cambria Math" panose="02040503050406030204" pitchFamily="18" charset="0"/>
                          </a:rPr>
                          <m:t>+</m:t>
                        </m:r>
                        <m:sSubSup>
                          <m:sSubSupPr>
                            <m:ctrlPr>
                              <a:rPr lang="en-US" altLang="zh-CN" sz="2400" i="1">
                                <a:latin typeface="Cambria Math" panose="02040503050406030204" pitchFamily="18" charset="0"/>
                                <a:ea typeface="MS Mincho" panose="02020609040205080304" charset="-128"/>
                                <a:cs typeface="Cambria Math" panose="02040503050406030204" pitchFamily="18" charset="0"/>
                              </a:rPr>
                            </m:ctrlPr>
                          </m:sSubSupPr>
                          <m:e>
                            <m:r>
                              <a:rPr lang="en-US" altLang="zh-CN" sz="2400" i="1">
                                <a:latin typeface="Cambria Math" panose="02040503050406030204" pitchFamily="18" charset="0"/>
                                <a:ea typeface="MS Mincho" panose="02020609040205080304" charset="-128"/>
                                <a:cs typeface="Cambria Math" panose="02040503050406030204" pitchFamily="18" charset="0"/>
                              </a:rPr>
                              <m:t>𝑥</m:t>
                            </m:r>
                          </m:e>
                          <m:sub>
                            <m:r>
                              <a:rPr lang="en-US" altLang="zh-CN" sz="2400" i="1">
                                <a:latin typeface="Cambria Math" panose="02040503050406030204" pitchFamily="18" charset="0"/>
                                <a:ea typeface="MS Mincho" panose="02020609040205080304" charset="-128"/>
                                <a:cs typeface="Cambria Math" panose="02040503050406030204" pitchFamily="18" charset="0"/>
                              </a:rPr>
                              <m:t>2</m:t>
                            </m:r>
                          </m:sub>
                          <m:sup>
                            <m:r>
                              <a:rPr lang="en-US" altLang="zh-CN" sz="2400" i="1">
                                <a:latin typeface="Cambria Math" panose="02040503050406030204" pitchFamily="18" charset="0"/>
                                <a:ea typeface="MS Mincho" panose="02020609040205080304" charset="-128"/>
                                <a:cs typeface="Cambria Math" panose="02040503050406030204" pitchFamily="18" charset="0"/>
                              </a:rPr>
                              <m:t>2</m:t>
                            </m:r>
                          </m:sup>
                        </m:sSubSup>
                        <m:r>
                          <a:rPr lang="en-US" altLang="zh-CN" sz="2400" i="1">
                            <a:latin typeface="Cambria Math" panose="02040503050406030204" pitchFamily="18" charset="0"/>
                            <a:ea typeface="MS Mincho" panose="02020609040205080304" charset="-128"/>
                            <a:cs typeface="Cambria Math" panose="02040503050406030204" pitchFamily="18" charset="0"/>
                          </a:rPr>
                          <m:t>)          </m:t>
                        </m:r>
                        <m:r>
                          <a:rPr lang="en-US" altLang="zh-CN" sz="2400" i="1">
                            <a:latin typeface="Cambria Math" panose="02040503050406030204" pitchFamily="18" charset="0"/>
                            <a:ea typeface="MS Mincho" panose="02020609040205080304" charset="-128"/>
                            <a:cs typeface="Cambria Math" panose="02040503050406030204" pitchFamily="18" charset="0"/>
                          </a:rPr>
                          <m:t>𝑠𝑢𝑏𝑗𝑒𝑐𝑡</m:t>
                        </m:r>
                        <m:r>
                          <a:rPr lang="en-US" altLang="zh-CN" sz="2400" i="1">
                            <a:latin typeface="Cambria Math" panose="02040503050406030204" pitchFamily="18" charset="0"/>
                            <a:ea typeface="MS Mincho" panose="02020609040205080304" charset="-128"/>
                            <a:cs typeface="Cambria Math" panose="02040503050406030204" pitchFamily="18" charset="0"/>
                          </a:rPr>
                          <m:t> </m:t>
                        </m:r>
                        <m:r>
                          <a:rPr lang="en-US" altLang="zh-CN" sz="2400" i="1">
                            <a:latin typeface="Cambria Math" panose="02040503050406030204" pitchFamily="18" charset="0"/>
                            <a:ea typeface="MS Mincho" panose="02020609040205080304" charset="-128"/>
                            <a:cs typeface="Cambria Math" panose="02040503050406030204" pitchFamily="18" charset="0"/>
                          </a:rPr>
                          <m:t>𝑡𝑜</m:t>
                        </m:r>
                        <m:r>
                          <a:rPr lang="en-US" altLang="zh-CN" sz="2400" i="1">
                            <a:latin typeface="Cambria Math" panose="02040503050406030204" pitchFamily="18" charset="0"/>
                            <a:ea typeface="MS Mincho" panose="02020609040205080304" charset="-128"/>
                            <a:cs typeface="Cambria Math" panose="02040503050406030204" pitchFamily="18" charset="0"/>
                          </a:rPr>
                          <m:t>     </m:t>
                        </m:r>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𝑥</m:t>
                            </m:r>
                          </m:e>
                          <m:sub>
                            <m:r>
                              <a:rPr lang="en-US" altLang="zh-CN" sz="2400" i="1">
                                <a:latin typeface="Cambria Math" panose="02040503050406030204" pitchFamily="18" charset="0"/>
                                <a:ea typeface="MS Mincho" panose="02020609040205080304" charset="-128"/>
                                <a:cs typeface="Cambria Math" panose="02040503050406030204" pitchFamily="18" charset="0"/>
                              </a:rPr>
                              <m:t>1</m:t>
                            </m:r>
                          </m:sub>
                        </m:sSub>
                        <m:r>
                          <a:rPr lang="en-US" altLang="zh-CN" sz="2400" i="1">
                            <a:latin typeface="Cambria Math" panose="02040503050406030204" pitchFamily="18" charset="0"/>
                            <a:ea typeface="MS Mincho" panose="02020609040205080304" charset="-128"/>
                            <a:cs typeface="Cambria Math" panose="02040503050406030204" pitchFamily="18" charset="0"/>
                          </a:rPr>
                          <m:t>−1≥0</m:t>
                        </m:r>
                      </m:e>
                    </m:func>
                  </m:oMath>
                </a14:m>
                <a:endParaRPr lang="zh-CN" altLang="zh-CN" sz="2400" kern="100" dirty="0">
                  <a:solidFill>
                    <a:srgbClr val="0070C0"/>
                  </a:solidFill>
                  <a:latin typeface="宋体" panose="02010600030101010101" pitchFamily="2" charset="-122"/>
                  <a:ea typeface="宋体" panose="02010600030101010101" pitchFamily="2" charset="-122"/>
                  <a:cs typeface="Times New Roman" panose="02020603050405020304" pitchFamily="18"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934924" y="894335"/>
                <a:ext cx="7560840" cy="904799"/>
              </a:xfrm>
              <a:prstGeom prst="rect">
                <a:avLst/>
              </a:prstGeom>
              <a:blipFill>
                <a:blip r:embed="rId3"/>
                <a:stretch>
                  <a:fillRect l="-1209" b="-60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1300950" y="2854329"/>
                <a:ext cx="6876801" cy="653833"/>
              </a:xfrm>
              <a:prstGeom prst="rect">
                <a:avLst/>
              </a:prstGeom>
              <a:noFill/>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altLang="zh-CN" sz="2400" i="1" dirty="0">
                          <a:latin typeface="Cambria Math" panose="02040503050406030204" pitchFamily="18" charset="0"/>
                          <a:ea typeface="宋体" panose="02010600030101010101" pitchFamily="2" charset="-122"/>
                          <a:cs typeface="Cambria Math" panose="02040503050406030204" pitchFamily="18" charset="0"/>
                        </a:rPr>
                        <m:t>ℒ</m:t>
                      </m:r>
                      <m:r>
                        <a:rPr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𝑥</m:t>
                          </m:r>
                        </m:e>
                        <m:sub>
                          <m:r>
                            <a:rPr lang="en-US" altLang="zh-CN" sz="2400" i="1">
                              <a:latin typeface="Cambria Math" panose="02040503050406030204" pitchFamily="18" charset="0"/>
                              <a:ea typeface="MS Mincho" panose="02020609040205080304" charset="-128"/>
                              <a:cs typeface="Cambria Math" panose="02040503050406030204" pitchFamily="18" charset="0"/>
                            </a:rPr>
                            <m:t>1</m:t>
                          </m:r>
                        </m:sub>
                      </m:sSub>
                      <m:r>
                        <a:rPr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𝑥</m:t>
                          </m:r>
                        </m:e>
                        <m:sub>
                          <m:r>
                            <a:rPr lang="en-US" altLang="zh-CN" sz="2400" i="1">
                              <a:latin typeface="Cambria Math" panose="02040503050406030204" pitchFamily="18" charset="0"/>
                              <a:ea typeface="MS Mincho" panose="02020609040205080304" charset="-128"/>
                              <a:cs typeface="Cambria Math" panose="02040503050406030204" pitchFamily="18" charset="0"/>
                            </a:rPr>
                            <m:t>2</m:t>
                          </m:r>
                        </m:sub>
                      </m:sSub>
                      <m:r>
                        <a:rPr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𝜆</m:t>
                          </m:r>
                        </m:e>
                        <m:sub>
                          <m:r>
                            <a:rPr lang="en-US" altLang="zh-CN" sz="2400" i="1">
                              <a:latin typeface="Cambria Math" panose="02040503050406030204" pitchFamily="18" charset="0"/>
                              <a:ea typeface="MS Mincho" panose="02020609040205080304" charset="-128"/>
                              <a:cs typeface="Cambria Math" panose="02040503050406030204" pitchFamily="18" charset="0"/>
                            </a:rPr>
                            <m:t>1</m:t>
                          </m:r>
                        </m:sub>
                      </m:sSub>
                      <m:r>
                        <a:rPr lang="en-US" altLang="zh-CN" sz="2400" i="1">
                          <a:latin typeface="Cambria Math" panose="02040503050406030204" pitchFamily="18" charset="0"/>
                          <a:ea typeface="MS Mincho" panose="02020609040205080304" charset="-128"/>
                          <a:cs typeface="Cambria Math" panose="02040503050406030204" pitchFamily="18" charset="0"/>
                        </a:rPr>
                        <m:t>)=0.5(</m:t>
                      </m:r>
                      <m:sSubSup>
                        <m:sSubSupPr>
                          <m:ctrlPr>
                            <a:rPr lang="en-US" altLang="zh-CN" sz="2400" i="1">
                              <a:latin typeface="Cambria Math" panose="02040503050406030204" pitchFamily="18" charset="0"/>
                              <a:ea typeface="MS Mincho" panose="02020609040205080304" charset="-128"/>
                              <a:cs typeface="Cambria Math" panose="02040503050406030204" pitchFamily="18" charset="0"/>
                            </a:rPr>
                          </m:ctrlPr>
                        </m:sSubSupPr>
                        <m:e>
                          <m:r>
                            <a:rPr lang="en-US" altLang="zh-CN" sz="2400" i="1">
                              <a:latin typeface="Cambria Math" panose="02040503050406030204" pitchFamily="18" charset="0"/>
                              <a:ea typeface="MS Mincho" panose="02020609040205080304" charset="-128"/>
                              <a:cs typeface="Cambria Math" panose="02040503050406030204" pitchFamily="18" charset="0"/>
                            </a:rPr>
                            <m:t>𝑥</m:t>
                          </m:r>
                        </m:e>
                        <m:sub>
                          <m:r>
                            <a:rPr lang="en-US" altLang="zh-CN" sz="2400" i="1">
                              <a:latin typeface="Cambria Math" panose="02040503050406030204" pitchFamily="18" charset="0"/>
                              <a:ea typeface="MS Mincho" panose="02020609040205080304" charset="-128"/>
                              <a:cs typeface="Cambria Math" panose="02040503050406030204" pitchFamily="18" charset="0"/>
                            </a:rPr>
                            <m:t>1</m:t>
                          </m:r>
                        </m:sub>
                        <m:sup>
                          <m:r>
                            <a:rPr lang="en-US" altLang="zh-CN" sz="2400" i="1">
                              <a:latin typeface="Cambria Math" panose="02040503050406030204" pitchFamily="18" charset="0"/>
                              <a:ea typeface="MS Mincho" panose="02020609040205080304" charset="-128"/>
                              <a:cs typeface="Cambria Math" panose="02040503050406030204" pitchFamily="18" charset="0"/>
                            </a:rPr>
                            <m:t>2</m:t>
                          </m:r>
                        </m:sup>
                      </m:sSubSup>
                      <m:r>
                        <a:rPr lang="en-US" altLang="zh-CN" sz="2400" i="1">
                          <a:latin typeface="Cambria Math" panose="02040503050406030204" pitchFamily="18" charset="0"/>
                          <a:ea typeface="MS Mincho" panose="02020609040205080304" charset="-128"/>
                          <a:cs typeface="Cambria Math" panose="02040503050406030204" pitchFamily="18" charset="0"/>
                        </a:rPr>
                        <m:t>+</m:t>
                      </m:r>
                      <m:sSubSup>
                        <m:sSubSupPr>
                          <m:ctrlPr>
                            <a:rPr lang="en-US" altLang="zh-CN" sz="2400" i="1">
                              <a:latin typeface="Cambria Math" panose="02040503050406030204" pitchFamily="18" charset="0"/>
                              <a:ea typeface="MS Mincho" panose="02020609040205080304" charset="-128"/>
                              <a:cs typeface="Cambria Math" panose="02040503050406030204" pitchFamily="18" charset="0"/>
                            </a:rPr>
                          </m:ctrlPr>
                        </m:sSubSupPr>
                        <m:e>
                          <m:r>
                            <a:rPr lang="en-US" altLang="zh-CN" sz="2400" i="1">
                              <a:latin typeface="Cambria Math" panose="02040503050406030204" pitchFamily="18" charset="0"/>
                              <a:ea typeface="MS Mincho" panose="02020609040205080304" charset="-128"/>
                              <a:cs typeface="Cambria Math" panose="02040503050406030204" pitchFamily="18" charset="0"/>
                            </a:rPr>
                            <m:t>𝑥</m:t>
                          </m:r>
                        </m:e>
                        <m:sub>
                          <m:r>
                            <a:rPr lang="en-US" altLang="zh-CN" sz="2400" i="1">
                              <a:latin typeface="Cambria Math" panose="02040503050406030204" pitchFamily="18" charset="0"/>
                              <a:ea typeface="MS Mincho" panose="02020609040205080304" charset="-128"/>
                              <a:cs typeface="Cambria Math" panose="02040503050406030204" pitchFamily="18" charset="0"/>
                            </a:rPr>
                            <m:t>2</m:t>
                          </m:r>
                        </m:sub>
                        <m:sup>
                          <m:r>
                            <a:rPr lang="en-US" altLang="zh-CN" sz="2400" i="1">
                              <a:latin typeface="Cambria Math" panose="02040503050406030204" pitchFamily="18" charset="0"/>
                              <a:ea typeface="MS Mincho" panose="02020609040205080304" charset="-128"/>
                              <a:cs typeface="Cambria Math" panose="02040503050406030204" pitchFamily="18" charset="0"/>
                            </a:rPr>
                            <m:t>2</m:t>
                          </m:r>
                        </m:sup>
                      </m:sSubSup>
                      <m:r>
                        <a:rPr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𝜆</m:t>
                          </m:r>
                        </m:e>
                        <m:sub>
                          <m:r>
                            <a:rPr lang="en-US" altLang="zh-CN" sz="2400" i="1">
                              <a:latin typeface="Cambria Math" panose="02040503050406030204" pitchFamily="18" charset="0"/>
                              <a:ea typeface="MS Mincho" panose="02020609040205080304" charset="-128"/>
                              <a:cs typeface="Cambria Math" panose="02040503050406030204" pitchFamily="18" charset="0"/>
                            </a:rPr>
                            <m:t>1</m:t>
                          </m:r>
                        </m:sub>
                      </m:sSub>
                      <m:r>
                        <a:rPr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𝑥</m:t>
                          </m:r>
                        </m:e>
                        <m:sub>
                          <m:r>
                            <a:rPr lang="en-US" altLang="zh-CN" sz="2400" i="1">
                              <a:latin typeface="Cambria Math" panose="02040503050406030204" pitchFamily="18" charset="0"/>
                              <a:ea typeface="MS Mincho" panose="02020609040205080304" charset="-128"/>
                              <a:cs typeface="Cambria Math" panose="02040503050406030204" pitchFamily="18" charset="0"/>
                            </a:rPr>
                            <m:t>1</m:t>
                          </m:r>
                        </m:sub>
                      </m:sSub>
                      <m:r>
                        <a:rPr lang="en-US" altLang="zh-CN" sz="2400" i="1">
                          <a:latin typeface="Cambria Math" panose="02040503050406030204" pitchFamily="18" charset="0"/>
                          <a:ea typeface="MS Mincho" panose="02020609040205080304" charset="-128"/>
                          <a:cs typeface="Cambria Math" panose="02040503050406030204" pitchFamily="18" charset="0"/>
                        </a:rPr>
                        <m:t>−1).</m:t>
                      </m:r>
                    </m:oMath>
                  </m:oMathPara>
                </a14:m>
                <a:endParaRPr lang="zh-CN" altLang="en-US" sz="2400" dirty="0">
                  <a:latin typeface="宋体" panose="02010600030101010101" pitchFamily="2" charset="-122"/>
                  <a:ea typeface="宋体" panose="02010600030101010101" pitchFamily="2" charset="-122"/>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1300950" y="2854329"/>
                <a:ext cx="6876801" cy="65383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2699792" y="5115337"/>
                <a:ext cx="3037046" cy="646331"/>
              </a:xfrm>
              <a:prstGeom prst="rect">
                <a:avLst/>
              </a:prstGeom>
              <a:noFill/>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𝑥</m:t>
                          </m:r>
                        </m:e>
                        <m:sub>
                          <m:r>
                            <a:rPr lang="en-US" altLang="zh-CN" sz="2400" i="1">
                              <a:latin typeface="Cambria Math" panose="02040503050406030204" pitchFamily="18" charset="0"/>
                              <a:ea typeface="MS Mincho" panose="02020609040205080304" charset="-128"/>
                              <a:cs typeface="Cambria Math" panose="02040503050406030204" pitchFamily="18" charset="0"/>
                            </a:rPr>
                            <m:t>1</m:t>
                          </m:r>
                        </m:sub>
                      </m:sSub>
                      <m:r>
                        <a:rPr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𝜆</m:t>
                          </m:r>
                        </m:e>
                        <m:sub>
                          <m:r>
                            <a:rPr lang="en-US" altLang="zh-CN" sz="2400" i="1">
                              <a:latin typeface="Cambria Math" panose="02040503050406030204" pitchFamily="18" charset="0"/>
                              <a:ea typeface="MS Mincho" panose="02020609040205080304" charset="-128"/>
                              <a:cs typeface="Cambria Math" panose="02040503050406030204" pitchFamily="18" charset="0"/>
                            </a:rPr>
                            <m:t>1</m:t>
                          </m:r>
                        </m:sub>
                      </m:sSub>
                      <m:r>
                        <a:rPr lang="en-US" altLang="zh-CN" sz="2400" i="1">
                          <a:latin typeface="Cambria Math" panose="02040503050406030204" pitchFamily="18" charset="0"/>
                          <a:ea typeface="MS Mincho" panose="02020609040205080304" charset="-128"/>
                          <a:cs typeface="Cambria Math" panose="02040503050406030204" pitchFamily="18" charset="0"/>
                        </a:rPr>
                        <m:t>=0</m:t>
                      </m:r>
                      <m:r>
                        <a:rPr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𝑥</m:t>
                          </m:r>
                        </m:e>
                        <m:sub>
                          <m:r>
                            <a:rPr lang="en-US" altLang="zh-CN" sz="2400" i="1">
                              <a:latin typeface="Cambria Math" panose="02040503050406030204" pitchFamily="18" charset="0"/>
                              <a:ea typeface="MS Mincho" panose="02020609040205080304" charset="-128"/>
                              <a:cs typeface="Cambria Math" panose="02040503050406030204" pitchFamily="18" charset="0"/>
                            </a:rPr>
                            <m:t>2</m:t>
                          </m:r>
                        </m:sub>
                      </m:sSub>
                      <m:r>
                        <a:rPr lang="en-US" altLang="zh-CN" sz="2400" i="1">
                          <a:latin typeface="Cambria Math" panose="02040503050406030204" pitchFamily="18" charset="0"/>
                          <a:ea typeface="MS Mincho" panose="02020609040205080304" charset="-128"/>
                          <a:cs typeface="Cambria Math" panose="02040503050406030204" pitchFamily="18" charset="0"/>
                        </a:rPr>
                        <m:t>=0.</m:t>
                      </m:r>
                    </m:oMath>
                  </m:oMathPara>
                </a14:m>
                <a:endParaRPr lang="en-US" altLang="zh-CN" sz="2400" dirty="0">
                  <a:latin typeface="宋体" panose="02010600030101010101" pitchFamily="2" charset="-122"/>
                  <a:ea typeface="宋体" panose="02010600030101010101" pitchFamily="2"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2699792" y="5115337"/>
                <a:ext cx="3037046" cy="646331"/>
              </a:xfrm>
              <a:prstGeom prst="rect">
                <a:avLst/>
              </a:prstGeom>
              <a:blipFill>
                <a:blip r:embed="rId5"/>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8" grpId="0"/>
      <p:bldP spid="3" grpId="0"/>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p:cNvSpPr txBox="1"/>
              <p:nvPr/>
            </p:nvSpPr>
            <p:spPr>
              <a:xfrm>
                <a:off x="683568" y="905309"/>
                <a:ext cx="7344816" cy="1127296"/>
              </a:xfrm>
              <a:prstGeom prst="rect">
                <a:avLst/>
              </a:prstGeom>
              <a:noFill/>
            </p:spPr>
            <p:txBody>
              <a:bodyPr wrap="square">
                <a:spAutoFit/>
              </a:bodyPr>
              <a:lstStyle/>
              <a:p>
                <a:pPr fontAlgn="auto">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    将求得的</a:t>
                </a:r>
                <a14:m>
                  <m:oMath xmlns:m="http://schemas.openxmlformats.org/officeDocument/2006/math">
                    <m:sSub>
                      <m:sSub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kern="100">
                            <a:latin typeface="Cambria Math" panose="02040503050406030204" pitchFamily="18" charset="0"/>
                            <a:ea typeface="MS Mincho" panose="02020609040205080304" charset="-128"/>
                            <a:cs typeface="Cambria Math" panose="02040503050406030204" pitchFamily="18" charset="0"/>
                          </a:rPr>
                          <m:t>1</m:t>
                        </m:r>
                      </m:sub>
                    </m:sSub>
                    <m:r>
                      <a:rPr lang="en-US" altLang="zh-CN" sz="2400" i="1" kern="100">
                        <a:latin typeface="Cambria Math" panose="02040503050406030204" pitchFamily="18" charset="0"/>
                        <a:ea typeface="MS Mincho" panose="02020609040205080304" charset="-128"/>
                        <a:cs typeface="Cambria Math" panose="02040503050406030204" pitchFamily="18" charset="0"/>
                      </a:rPr>
                      <m:t>,</m:t>
                    </m:r>
                    <m:sSub>
                      <m:sSub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kern="100">
                            <a:latin typeface="Cambria Math" panose="02040503050406030204" pitchFamily="18" charset="0"/>
                            <a:ea typeface="MS Mincho" panose="02020609040205080304" charset="-128"/>
                            <a:cs typeface="Cambria Math" panose="02040503050406030204" pitchFamily="18" charset="0"/>
                          </a:rPr>
                          <m:t>2</m:t>
                        </m:r>
                      </m:sub>
                    </m:sSub>
                    <m:r>
                      <a:rPr lang="en-US" altLang="zh-CN" sz="2400" i="1" kern="100">
                        <a:latin typeface="Cambria Math" panose="02040503050406030204" pitchFamily="18" charset="0"/>
                        <a:ea typeface="MS Mincho" panose="02020609040205080304" charset="-128"/>
                        <a:cs typeface="Cambria Math" panose="02040503050406030204" pitchFamily="18" charset="0"/>
                      </a:rPr>
                      <m:t> </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带入拉格朗日函数</a:t>
                </a:r>
                <a14:m>
                  <m:oMath xmlns:m="http://schemas.openxmlformats.org/officeDocument/2006/math">
                    <m:r>
                      <a:rPr lang="en-US" altLang="zh-CN" sz="2400" i="1" dirty="0">
                        <a:latin typeface="Cambria Math" panose="02040503050406030204" pitchFamily="18" charset="0"/>
                        <a:ea typeface="MS Mincho" panose="02020609040205080304" charset="-128"/>
                        <a:cs typeface="Cambria Math" panose="02040503050406030204" pitchFamily="18" charset="0"/>
                      </a:rPr>
                      <m:t>ℒ</m:t>
                    </m:r>
                    <m:r>
                      <a:rPr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a:latin typeface="Cambria Math" panose="02040503050406030204" pitchFamily="18" charset="0"/>
                            <a:ea typeface="MS Mincho" panose="02020609040205080304" charset="-128"/>
                            <a:cs typeface="Cambria Math" panose="02040503050406030204" pitchFamily="18" charset="0"/>
                          </a:rPr>
                          <m:t>1</m:t>
                        </m:r>
                      </m:sub>
                    </m:sSub>
                    <m:r>
                      <a:rPr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a:latin typeface="Cambria Math" panose="02040503050406030204" pitchFamily="18" charset="0"/>
                            <a:ea typeface="MS Mincho" panose="02020609040205080304" charset="-128"/>
                            <a:cs typeface="Cambria Math" panose="02040503050406030204" pitchFamily="18" charset="0"/>
                          </a:rPr>
                          <m:t>2</m:t>
                        </m:r>
                      </m:sub>
                    </m:sSub>
                    <m:r>
                      <a:rPr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𝜆</m:t>
                        </m:r>
                      </m:e>
                      <m:sub>
                        <m:r>
                          <a:rPr lang="en-US" altLang="zh-CN" sz="2400" i="1">
                            <a:latin typeface="Cambria Math" panose="02040503050406030204" pitchFamily="18" charset="0"/>
                            <a:ea typeface="MS Mincho" panose="02020609040205080304" charset="-128"/>
                            <a:cs typeface="Cambria Math" panose="02040503050406030204" pitchFamily="18" charset="0"/>
                          </a:rPr>
                          <m:t>1</m:t>
                        </m:r>
                      </m:sub>
                    </m:sSub>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MS Mincho" panose="02020609040205080304" charset="-128"/>
                        <a:cs typeface="Cambria Math" panose="02040503050406030204" pitchFamily="18" charset="0"/>
                      </a:rPr>
                      <m:t> </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，我们得到对偶问题的目标函数</a:t>
                </a:r>
              </a:p>
            </p:txBody>
          </p:sp>
        </mc:Choice>
        <mc:Fallback xmlns="">
          <p:sp>
            <p:nvSpPr>
              <p:cNvPr id="5" name="文本框 4"/>
              <p:cNvSpPr txBox="1">
                <a:spLocks noRot="1" noChangeAspect="1" noMove="1" noResize="1" noEditPoints="1" noAdjustHandles="1" noChangeArrowheads="1" noChangeShapeType="1" noTextEdit="1"/>
              </p:cNvSpPr>
              <p:nvPr/>
            </p:nvSpPr>
            <p:spPr>
              <a:xfrm>
                <a:off x="683568" y="905309"/>
                <a:ext cx="7344816" cy="1127296"/>
              </a:xfrm>
              <a:prstGeom prst="rect">
                <a:avLst/>
              </a:prstGeom>
              <a:blipFill>
                <a:blip r:embed="rId2"/>
                <a:stretch>
                  <a:fillRect l="-1245" b="-10870"/>
                </a:stretch>
              </a:blipFill>
            </p:spPr>
            <p:txBody>
              <a:bodyPr/>
              <a:lstStyle/>
              <a:p>
                <a:r>
                  <a:rPr lang="zh-CN" altLang="en-US">
                    <a:noFill/>
                  </a:rPr>
                  <a:t> </a:t>
                </a:r>
              </a:p>
            </p:txBody>
          </p:sp>
        </mc:Fallback>
      </mc:AlternateContent>
      <p:sp>
        <p:nvSpPr>
          <p:cNvPr id="9" name="文本框 8"/>
          <p:cNvSpPr txBox="1"/>
          <p:nvPr/>
        </p:nvSpPr>
        <p:spPr>
          <a:xfrm>
            <a:off x="783278" y="3149115"/>
            <a:ext cx="3429000" cy="559769"/>
          </a:xfrm>
          <a:prstGeom prst="rect">
            <a:avLst/>
          </a:prstGeom>
          <a:noFill/>
        </p:spPr>
        <p:txBody>
          <a:bodyPr wrap="square">
            <a:spAutoFit/>
          </a:bodyPr>
          <a:lstStyle/>
          <a:p>
            <a:pPr>
              <a:lnSpc>
                <a:spcPct val="150000"/>
              </a:lnSpc>
            </a:pPr>
            <a:r>
              <a:rPr lang="zh-CN" altLang="en-US" sz="2400" dirty="0">
                <a:latin typeface="宋体" panose="02010600030101010101" pitchFamily="2" charset="-122"/>
                <a:ea typeface="宋体" panose="02010600030101010101" pitchFamily="2" charset="-122"/>
              </a:rPr>
              <a:t>因此，对偶问题是</a:t>
            </a:r>
          </a:p>
        </p:txBody>
      </p:sp>
      <mc:AlternateContent xmlns:mc="http://schemas.openxmlformats.org/markup-compatibility/2006" xmlns:a14="http://schemas.microsoft.com/office/drawing/2010/main">
        <mc:Choice Requires="a14">
          <p:sp>
            <p:nvSpPr>
              <p:cNvPr id="13" name="文本框 12"/>
              <p:cNvSpPr txBox="1"/>
              <p:nvPr/>
            </p:nvSpPr>
            <p:spPr>
              <a:xfrm>
                <a:off x="708678" y="4665591"/>
                <a:ext cx="6978988" cy="573298"/>
              </a:xfrm>
              <a:prstGeom prst="rect">
                <a:avLst/>
              </a:prstGeom>
              <a:noFill/>
            </p:spPr>
            <p:txBody>
              <a:bodyPr wrap="square">
                <a:spAutoFit/>
              </a:bodyPr>
              <a:lstStyle/>
              <a:p>
                <a:pPr algn="just">
                  <a:lnSpc>
                    <a:spcPct val="150000"/>
                  </a:lnSpc>
                </a:pPr>
                <a:r>
                  <a:rPr lang="zh-CN" altLang="en-US" sz="2400" dirty="0">
                    <a:latin typeface="宋体" panose="02010600030101010101" pitchFamily="2" charset="-122"/>
                    <a:ea typeface="宋体" panose="02010600030101010101" pitchFamily="2" charset="-122"/>
                  </a:rPr>
                  <a:t>显然对偶问题的最优解</a:t>
                </a:r>
                <a14:m>
                  <m:oMath xmlns:m="http://schemas.openxmlformats.org/officeDocument/2006/math">
                    <m:r>
                      <a:rPr lang="zh-CN" altLang="en-US" sz="2400" i="1" kern="100" dirty="0">
                        <a:latin typeface="Cambria Math" panose="02040503050406030204" pitchFamily="18" charset="0"/>
                        <a:ea typeface="MS Mincho" panose="02020609040205080304" charset="-128"/>
                        <a:cs typeface="Cambria Math" panose="02040503050406030204" pitchFamily="18" charset="0"/>
                      </a:rPr>
                      <m:t>是</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𝜆</m:t>
                        </m:r>
                      </m:e>
                      <m:sub>
                        <m:r>
                          <a:rPr lang="en-US" altLang="zh-CN" sz="2400" i="1">
                            <a:latin typeface="Cambria Math" panose="02040503050406030204" pitchFamily="18" charset="0"/>
                            <a:ea typeface="MS Mincho" panose="02020609040205080304" charset="-128"/>
                            <a:cs typeface="Cambria Math" panose="02040503050406030204" pitchFamily="18" charset="0"/>
                          </a:rPr>
                          <m:t>1</m:t>
                        </m:r>
                      </m:sub>
                    </m:sSub>
                    <m:r>
                      <a:rPr lang="en-US" altLang="zh-CN" sz="2400" i="1">
                        <a:latin typeface="Cambria Math" panose="02040503050406030204" pitchFamily="18" charset="0"/>
                        <a:ea typeface="MS Mincho" panose="02020609040205080304" charset="-128"/>
                        <a:cs typeface="Cambria Math" panose="02040503050406030204" pitchFamily="18" charset="0"/>
                      </a:rPr>
                      <m:t>=1</m:t>
                    </m:r>
                    <m:r>
                      <a:rPr lang="en-US" altLang="zh-CN" sz="2400" i="1">
                        <a:latin typeface="Cambria Math" panose="02040503050406030204" pitchFamily="18" charset="0"/>
                        <a:ea typeface="MS Mincho" panose="02020609040205080304" charset="-128"/>
                        <a:cs typeface="Cambria Math" panose="02040503050406030204" pitchFamily="18" charset="0"/>
                      </a:rPr>
                      <m:t>。</m:t>
                    </m:r>
                  </m:oMath>
                </a14:m>
                <a:endParaRPr lang="zh-CN" altLang="en-US" sz="2400" dirty="0">
                  <a:latin typeface="宋体" panose="02010600030101010101" pitchFamily="2" charset="-122"/>
                  <a:ea typeface="宋体" panose="02010600030101010101" pitchFamily="2" charset="-122"/>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708678" y="4665591"/>
                <a:ext cx="6978988" cy="573298"/>
              </a:xfrm>
              <a:prstGeom prst="rect">
                <a:avLst/>
              </a:prstGeom>
              <a:blipFill>
                <a:blip r:embed="rId3"/>
                <a:stretch>
                  <a:fillRect l="-1310" b="-212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1780223" y="2337267"/>
                <a:ext cx="6680209" cy="652807"/>
              </a:xfrm>
              <a:prstGeom prst="rect">
                <a:avLst/>
              </a:prstGeom>
              <a:noFill/>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altLang="zh-CN" sz="2400" i="1" dirty="0">
                          <a:latin typeface="Cambria Math" panose="02040503050406030204" pitchFamily="18" charset="0"/>
                          <a:ea typeface="宋体" panose="02010600030101010101" pitchFamily="2" charset="-122"/>
                          <a:cs typeface="Cambria Math" panose="02040503050406030204" pitchFamily="18" charset="0"/>
                        </a:rPr>
                        <m:t>𝑞</m:t>
                      </m:r>
                      <m:r>
                        <a:rPr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𝜆</m:t>
                          </m:r>
                        </m:e>
                        <m:sub>
                          <m:r>
                            <a:rPr lang="en-US" altLang="zh-CN" sz="2400" i="1">
                              <a:latin typeface="Cambria Math" panose="02040503050406030204" pitchFamily="18" charset="0"/>
                              <a:ea typeface="MS Mincho" panose="02020609040205080304" charset="-128"/>
                              <a:cs typeface="Cambria Math" panose="02040503050406030204" pitchFamily="18" charset="0"/>
                            </a:rPr>
                            <m:t>1</m:t>
                          </m:r>
                        </m:sub>
                      </m:sSub>
                      <m:r>
                        <a:rPr lang="en-US" altLang="zh-CN" sz="2400" i="1">
                          <a:latin typeface="Cambria Math" panose="02040503050406030204" pitchFamily="18" charset="0"/>
                          <a:ea typeface="MS Mincho" panose="02020609040205080304" charset="-128"/>
                          <a:cs typeface="Cambria Math" panose="02040503050406030204" pitchFamily="18" charset="0"/>
                        </a:rPr>
                        <m:t>)=0.5(</m:t>
                      </m:r>
                      <m:sSubSup>
                        <m:sSubSupPr>
                          <m:ctrlPr>
                            <a:rPr lang="en-US" altLang="zh-CN" sz="2400" i="1">
                              <a:latin typeface="Cambria Math" panose="02040503050406030204" pitchFamily="18" charset="0"/>
                              <a:ea typeface="MS Mincho" panose="02020609040205080304" charset="-128"/>
                              <a:cs typeface="Cambria Math" panose="02040503050406030204" pitchFamily="18" charset="0"/>
                            </a:rPr>
                          </m:ctrlPr>
                        </m:sSubSupPr>
                        <m:e>
                          <m:r>
                            <a:rPr lang="en-US" altLang="zh-CN" sz="2400" i="1">
                              <a:latin typeface="Cambria Math" panose="02040503050406030204" pitchFamily="18" charset="0"/>
                              <a:ea typeface="MS Mincho" panose="02020609040205080304" charset="-128"/>
                              <a:cs typeface="Cambria Math" panose="02040503050406030204" pitchFamily="18" charset="0"/>
                            </a:rPr>
                            <m:t>𝜆</m:t>
                          </m:r>
                        </m:e>
                        <m:sub>
                          <m:r>
                            <a:rPr lang="en-US" altLang="zh-CN" sz="2400" i="1">
                              <a:latin typeface="Cambria Math" panose="02040503050406030204" pitchFamily="18" charset="0"/>
                              <a:ea typeface="MS Mincho" panose="02020609040205080304" charset="-128"/>
                              <a:cs typeface="Cambria Math" panose="02040503050406030204" pitchFamily="18" charset="0"/>
                            </a:rPr>
                            <m:t>1</m:t>
                          </m:r>
                        </m:sub>
                        <m:sup>
                          <m:r>
                            <a:rPr lang="en-US" altLang="zh-CN" sz="2400" i="1">
                              <a:latin typeface="Cambria Math" panose="02040503050406030204" pitchFamily="18" charset="0"/>
                              <a:ea typeface="MS Mincho" panose="02020609040205080304" charset="-128"/>
                              <a:cs typeface="Cambria Math" panose="02040503050406030204" pitchFamily="18" charset="0"/>
                            </a:rPr>
                            <m:t>2</m:t>
                          </m:r>
                        </m:sup>
                      </m:sSubSup>
                      <m:r>
                        <a:rPr lang="en-US" altLang="zh-CN" sz="2400" i="1">
                          <a:latin typeface="Cambria Math" panose="02040503050406030204" pitchFamily="18" charset="0"/>
                          <a:ea typeface="MS Mincho" panose="02020609040205080304" charset="-128"/>
                          <a:cs typeface="Cambria Math" panose="02040503050406030204" pitchFamily="18" charset="0"/>
                        </a:rPr>
                        <m:t>+0)−</m:t>
                      </m:r>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𝜆</m:t>
                          </m:r>
                        </m:e>
                        <m:sub>
                          <m:r>
                            <a:rPr lang="en-US" altLang="zh-CN" sz="2400" i="1">
                              <a:latin typeface="Cambria Math" panose="02040503050406030204" pitchFamily="18" charset="0"/>
                              <a:ea typeface="MS Mincho" panose="02020609040205080304" charset="-128"/>
                              <a:cs typeface="Cambria Math" panose="02040503050406030204" pitchFamily="18" charset="0"/>
                            </a:rPr>
                            <m:t>1</m:t>
                          </m:r>
                        </m:sub>
                      </m:sSub>
                      <m:r>
                        <a:rPr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𝜆</m:t>
                          </m:r>
                        </m:e>
                        <m:sub>
                          <m:r>
                            <a:rPr lang="en-US" altLang="zh-CN" sz="2400" i="1">
                              <a:latin typeface="Cambria Math" panose="02040503050406030204" pitchFamily="18" charset="0"/>
                              <a:ea typeface="MS Mincho" panose="02020609040205080304" charset="-128"/>
                              <a:cs typeface="Cambria Math" panose="02040503050406030204" pitchFamily="18" charset="0"/>
                            </a:rPr>
                            <m:t>1</m:t>
                          </m:r>
                        </m:sub>
                      </m:sSub>
                      <m:r>
                        <a:rPr lang="en-US" altLang="zh-CN" sz="2400" i="1">
                          <a:latin typeface="Cambria Math" panose="02040503050406030204" pitchFamily="18" charset="0"/>
                          <a:ea typeface="MS Mincho" panose="02020609040205080304" charset="-128"/>
                          <a:cs typeface="Cambria Math" panose="02040503050406030204" pitchFamily="18" charset="0"/>
                        </a:rPr>
                        <m:t>−1)=−0.5</m:t>
                      </m:r>
                      <m:sSubSup>
                        <m:sSubSupPr>
                          <m:ctrlPr>
                            <a:rPr lang="en-US" altLang="zh-CN" sz="2400" i="1">
                              <a:latin typeface="Cambria Math" panose="02040503050406030204" pitchFamily="18" charset="0"/>
                              <a:ea typeface="MS Mincho" panose="02020609040205080304" charset="-128"/>
                              <a:cs typeface="Cambria Math" panose="02040503050406030204" pitchFamily="18" charset="0"/>
                            </a:rPr>
                          </m:ctrlPr>
                        </m:sSubSupPr>
                        <m:e>
                          <m:r>
                            <a:rPr lang="en-US" altLang="zh-CN" sz="2400" i="1">
                              <a:latin typeface="Cambria Math" panose="02040503050406030204" pitchFamily="18" charset="0"/>
                              <a:ea typeface="MS Mincho" panose="02020609040205080304" charset="-128"/>
                              <a:cs typeface="Cambria Math" panose="02040503050406030204" pitchFamily="18" charset="0"/>
                            </a:rPr>
                            <m:t>𝜆</m:t>
                          </m:r>
                        </m:e>
                        <m:sub>
                          <m:r>
                            <a:rPr lang="en-US" altLang="zh-CN" sz="2400" i="1">
                              <a:latin typeface="Cambria Math" panose="02040503050406030204" pitchFamily="18" charset="0"/>
                              <a:ea typeface="MS Mincho" panose="02020609040205080304" charset="-128"/>
                              <a:cs typeface="Cambria Math" panose="02040503050406030204" pitchFamily="18" charset="0"/>
                            </a:rPr>
                            <m:t>1</m:t>
                          </m:r>
                        </m:sub>
                        <m:sup>
                          <m:r>
                            <a:rPr lang="en-US" altLang="zh-CN" sz="2400" i="1">
                              <a:latin typeface="Cambria Math" panose="02040503050406030204" pitchFamily="18" charset="0"/>
                              <a:ea typeface="MS Mincho" panose="02020609040205080304" charset="-128"/>
                              <a:cs typeface="Cambria Math" panose="02040503050406030204" pitchFamily="18" charset="0"/>
                            </a:rPr>
                            <m:t>2</m:t>
                          </m:r>
                        </m:sup>
                      </m:sSubSup>
                      <m:r>
                        <a:rPr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𝜆</m:t>
                          </m:r>
                        </m:e>
                        <m:sub>
                          <m:r>
                            <a:rPr lang="en-US" altLang="zh-CN" sz="2400" i="1">
                              <a:latin typeface="Cambria Math" panose="02040503050406030204" pitchFamily="18" charset="0"/>
                              <a:ea typeface="MS Mincho" panose="02020609040205080304" charset="-128"/>
                              <a:cs typeface="Cambria Math" panose="02040503050406030204" pitchFamily="18" charset="0"/>
                            </a:rPr>
                            <m:t>1</m:t>
                          </m:r>
                        </m:sub>
                      </m:sSub>
                      <m:r>
                        <a:rPr lang="en-US" altLang="zh-CN" sz="2400" i="1">
                          <a:latin typeface="Cambria Math" panose="02040503050406030204" pitchFamily="18" charset="0"/>
                          <a:ea typeface="MS Mincho" panose="02020609040205080304" charset="-128"/>
                          <a:cs typeface="Cambria Math" panose="02040503050406030204" pitchFamily="18" charset="0"/>
                        </a:rPr>
                        <m:t>.</m:t>
                      </m:r>
                    </m:oMath>
                  </m:oMathPara>
                </a14:m>
                <a:endParaRPr lang="zh-CN" altLang="en-US" sz="2400" dirty="0">
                  <a:latin typeface="宋体" panose="02010600030101010101" pitchFamily="2" charset="-122"/>
                  <a:ea typeface="宋体" panose="02010600030101010101" pitchFamily="2"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1780223" y="2337267"/>
                <a:ext cx="6680209" cy="65280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2476074" y="3655531"/>
                <a:ext cx="3316129" cy="902106"/>
              </a:xfrm>
              <a:prstGeom prst="rect">
                <a:avLst/>
              </a:prstGeom>
              <a:noFill/>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func>
                        <m:funcPr>
                          <m:ctrlPr>
                            <a:rPr lang="en-US" altLang="zh-CN" sz="2400" i="1">
                              <a:latin typeface="Cambria Math" panose="02040503050406030204" pitchFamily="18" charset="0"/>
                              <a:ea typeface="MS Mincho" panose="02020609040205080304" charset="-128"/>
                              <a:cs typeface="Cambria Math" panose="02040503050406030204" pitchFamily="18" charset="0"/>
                            </a:rPr>
                          </m:ctrlPr>
                        </m:funcPr>
                        <m:fName>
                          <m:limLow>
                            <m:limLowPr>
                              <m:ctrlPr>
                                <a:rPr lang="en-US" altLang="zh-CN" sz="2400" i="1">
                                  <a:latin typeface="Cambria Math" panose="02040503050406030204" pitchFamily="18" charset="0"/>
                                  <a:ea typeface="MS Mincho" panose="02020609040205080304" charset="-128"/>
                                  <a:cs typeface="Cambria Math" panose="02040503050406030204" pitchFamily="18" charset="0"/>
                                </a:rPr>
                              </m:ctrlPr>
                            </m:limLowPr>
                            <m:e>
                              <m:r>
                                <m:rPr>
                                  <m:sty m:val="p"/>
                                </m:rPr>
                                <a:rPr lang="en-US" altLang="zh-CN" sz="2400">
                                  <a:latin typeface="Cambria Math" panose="02040503050406030204" pitchFamily="18" charset="0"/>
                                  <a:ea typeface="MS Mincho" panose="02020609040205080304" charset="-128"/>
                                  <a:cs typeface="Cambria Math" panose="02040503050406030204" pitchFamily="18" charset="0"/>
                                </a:rPr>
                                <m:t>max</m:t>
                              </m:r>
                            </m:e>
                            <m:lim>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𝜆</m:t>
                                  </m:r>
                                </m:e>
                                <m:sub>
                                  <m:r>
                                    <a:rPr lang="en-US" altLang="zh-CN" sz="2400" i="1">
                                      <a:latin typeface="Cambria Math" panose="02040503050406030204" pitchFamily="18" charset="0"/>
                                      <a:ea typeface="MS Mincho" panose="02020609040205080304" charset="-128"/>
                                      <a:cs typeface="Cambria Math" panose="02040503050406030204" pitchFamily="18" charset="0"/>
                                    </a:rPr>
                                    <m:t>1</m:t>
                                  </m:r>
                                </m:sub>
                              </m:sSub>
                              <m:r>
                                <a:rPr lang="en-US" altLang="zh-CN" sz="2400" i="1">
                                  <a:latin typeface="Cambria Math" panose="02040503050406030204" pitchFamily="18" charset="0"/>
                                  <a:ea typeface="MS Mincho" panose="02020609040205080304" charset="-128"/>
                                  <a:cs typeface="Cambria Math" panose="02040503050406030204" pitchFamily="18" charset="0"/>
                                </a:rPr>
                                <m:t>≥0</m:t>
                              </m:r>
                            </m:lim>
                          </m:limLow>
                        </m:fName>
                        <m:e>
                          <m:r>
                            <a:rPr lang="en-US" altLang="zh-CN" sz="2400" i="1">
                              <a:latin typeface="Cambria Math" panose="02040503050406030204" pitchFamily="18" charset="0"/>
                              <a:ea typeface="MS Mincho" panose="02020609040205080304" charset="-128"/>
                              <a:cs typeface="Cambria Math" panose="02040503050406030204" pitchFamily="18" charset="0"/>
                            </a:rPr>
                            <m:t>−0.5</m:t>
                          </m:r>
                          <m:sSubSup>
                            <m:sSubSupPr>
                              <m:ctrlPr>
                                <a:rPr lang="en-US" altLang="zh-CN" sz="2400" i="1">
                                  <a:latin typeface="Cambria Math" panose="02040503050406030204" pitchFamily="18" charset="0"/>
                                  <a:ea typeface="MS Mincho" panose="02020609040205080304" charset="-128"/>
                                  <a:cs typeface="Cambria Math" panose="02040503050406030204" pitchFamily="18" charset="0"/>
                                </a:rPr>
                              </m:ctrlPr>
                            </m:sSubSupPr>
                            <m:e>
                              <m:r>
                                <a:rPr lang="en-US" altLang="zh-CN" sz="2400" i="1">
                                  <a:latin typeface="Cambria Math" panose="02040503050406030204" pitchFamily="18" charset="0"/>
                                  <a:ea typeface="MS Mincho" panose="02020609040205080304" charset="-128"/>
                                  <a:cs typeface="Cambria Math" panose="02040503050406030204" pitchFamily="18" charset="0"/>
                                </a:rPr>
                                <m:t>𝜆</m:t>
                              </m:r>
                            </m:e>
                            <m:sub>
                              <m:r>
                                <a:rPr lang="en-US" altLang="zh-CN" sz="2400" i="1">
                                  <a:latin typeface="Cambria Math" panose="02040503050406030204" pitchFamily="18" charset="0"/>
                                  <a:ea typeface="MS Mincho" panose="02020609040205080304" charset="-128"/>
                                  <a:cs typeface="Cambria Math" panose="02040503050406030204" pitchFamily="18" charset="0"/>
                                </a:rPr>
                                <m:t>1</m:t>
                              </m:r>
                            </m:sub>
                            <m:sup>
                              <m:r>
                                <a:rPr lang="en-US" altLang="zh-CN" sz="2400" i="1">
                                  <a:latin typeface="Cambria Math" panose="02040503050406030204" pitchFamily="18" charset="0"/>
                                  <a:ea typeface="MS Mincho" panose="02020609040205080304" charset="-128"/>
                                  <a:cs typeface="Cambria Math" panose="02040503050406030204" pitchFamily="18" charset="0"/>
                                </a:rPr>
                                <m:t>2</m:t>
                              </m:r>
                            </m:sup>
                          </m:sSubSup>
                          <m:r>
                            <a:rPr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𝜆</m:t>
                              </m:r>
                            </m:e>
                            <m:sub>
                              <m:r>
                                <a:rPr lang="en-US" altLang="zh-CN" sz="2400" i="1">
                                  <a:latin typeface="Cambria Math" panose="02040503050406030204" pitchFamily="18" charset="0"/>
                                  <a:ea typeface="MS Mincho" panose="02020609040205080304" charset="-128"/>
                                  <a:cs typeface="Cambria Math" panose="02040503050406030204" pitchFamily="18" charset="0"/>
                                </a:rPr>
                                <m:t>1</m:t>
                              </m:r>
                            </m:sub>
                          </m:sSub>
                          <m:r>
                            <a:rPr lang="en-US" altLang="zh-CN" sz="2400" i="1">
                              <a:latin typeface="Cambria Math" panose="02040503050406030204" pitchFamily="18" charset="0"/>
                              <a:ea typeface="MS Mincho" panose="02020609040205080304" charset="-128"/>
                              <a:cs typeface="Cambria Math" panose="02040503050406030204" pitchFamily="18" charset="0"/>
                            </a:rPr>
                            <m:t> ,   </m:t>
                          </m:r>
                        </m:e>
                      </m:func>
                    </m:oMath>
                  </m:oMathPara>
                </a14:m>
                <a:endParaRPr lang="zh-CN" altLang="en-US" sz="2400" dirty="0">
                  <a:latin typeface="宋体" panose="02010600030101010101" pitchFamily="2" charset="-122"/>
                  <a:ea typeface="宋体" panose="02010600030101010101" pitchFamily="2" charset="-122"/>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2476074" y="3655531"/>
                <a:ext cx="3316129" cy="902106"/>
              </a:xfrm>
              <a:prstGeom prst="rect">
                <a:avLst/>
              </a:prstGeom>
              <a:blipFill>
                <a:blip r:embed="rId5"/>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文本框 9"/>
              <p:cNvSpPr txBox="1"/>
              <p:nvPr/>
            </p:nvSpPr>
            <p:spPr>
              <a:xfrm>
                <a:off x="195436" y="434430"/>
                <a:ext cx="8753128" cy="5989140"/>
              </a:xfrm>
              <a:prstGeom prst="rect">
                <a:avLst/>
              </a:prstGeom>
              <a:noFill/>
            </p:spPr>
            <p:txBody>
              <a:bodyPr wrap="square">
                <a:spAutoFit/>
              </a:bodyPr>
              <a:lstStyle/>
              <a:p>
                <a:pPr algn="just">
                  <a:lnSpc>
                    <a:spcPct val="150000"/>
                  </a:lnSpc>
                </a:pPr>
                <a:r>
                  <a:rPr lang="zh-CN" altLang="en-US" sz="2200" b="1" kern="0" dirty="0">
                    <a:solidFill>
                      <a:srgbClr val="0070C0"/>
                    </a:solidFill>
                    <a:latin typeface="ItcKabel-Bold"/>
                    <a:ea typeface="等线" panose="02010600030101010101" pitchFamily="2" charset="-122"/>
                    <a:cs typeface="ItcKabel-Bold"/>
                  </a:rPr>
                  <a:t>例</a:t>
                </a:r>
                <a:r>
                  <a:rPr lang="en-US" altLang="zh-CN" sz="2200" b="1" kern="0" dirty="0">
                    <a:solidFill>
                      <a:srgbClr val="0070C0"/>
                    </a:solidFill>
                    <a:latin typeface="ItcKabel-Bold"/>
                    <a:ea typeface="等线" panose="02010600030101010101" pitchFamily="2" charset="-122"/>
                    <a:cs typeface="ItcKabel-Bold"/>
                  </a:rPr>
                  <a:t>2 </a:t>
                </a:r>
                <a:r>
                  <a:rPr lang="zh-CN" altLang="en-US" sz="2200" kern="0" dirty="0">
                    <a:latin typeface="宋体" panose="02010600030101010101" pitchFamily="2" charset="-122"/>
                    <a:ea typeface="宋体" panose="02010600030101010101" pitchFamily="2" charset="-122"/>
                    <a:cs typeface="宋体" panose="02010600030101010101" pitchFamily="2" charset="-122"/>
                  </a:rPr>
                  <a:t> 考虑一类特殊的线性规划问题</a:t>
                </a:r>
                <a:endParaRPr lang="en-US" altLang="zh-CN" sz="2200" i="1" kern="100" dirty="0">
                  <a:latin typeface="宋体" panose="02010600030101010101" pitchFamily="2" charset="-122"/>
                  <a:ea typeface="宋体" panose="02010600030101010101" pitchFamily="2" charset="-122"/>
                  <a:cs typeface="宋体" panose="02010600030101010101" pitchFamily="2" charset="-122"/>
                </a:endParaRPr>
              </a:p>
              <a:p>
                <a:pPr algn="just" fontAlgn="auto">
                  <a:lnSpc>
                    <a:spcPct val="150000"/>
                  </a:lnSpc>
                </a:pPr>
                <a14:m>
                  <m:oMathPara xmlns:m="http://schemas.openxmlformats.org/officeDocument/2006/math">
                    <m:oMathParaPr>
                      <m:jc m:val="centerGroup"/>
                    </m:oMathParaPr>
                    <m:oMath xmlns:m="http://schemas.openxmlformats.org/officeDocument/2006/math">
                      <m:m>
                        <m:mPr>
                          <m:mcs>
                            <m:mc>
                              <m:mcPr>
                                <m:count m:val="1"/>
                                <m:mcJc m:val="center"/>
                              </m:mcPr>
                            </m:mc>
                          </m:mcs>
                          <m:ctrlPr>
                            <a:rPr lang="zh-CN" altLang="zh-CN" sz="2200" i="1" kern="100">
                              <a:latin typeface="Cambria Math" panose="02040503050406030204" pitchFamily="18" charset="0"/>
                              <a:ea typeface="宋体" panose="02010600030101010101" pitchFamily="2" charset="-122"/>
                              <a:cs typeface="Cambria Math" panose="02040503050406030204" pitchFamily="18" charset="0"/>
                            </a:rPr>
                          </m:ctrlPr>
                        </m:mPr>
                        <m:mr>
                          <m:e>
                            <m:func>
                              <m:funcPr>
                                <m:ctrlPr>
                                  <a:rPr lang="zh-CN" altLang="zh-CN" sz="2200" i="1" kern="100">
                                    <a:latin typeface="Cambria Math" panose="02040503050406030204" pitchFamily="18" charset="0"/>
                                    <a:ea typeface="宋体" panose="02010600030101010101" pitchFamily="2" charset="-122"/>
                                    <a:cs typeface="Cambria Math" panose="02040503050406030204" pitchFamily="18" charset="0"/>
                                  </a:rPr>
                                </m:ctrlPr>
                              </m:funcPr>
                              <m:fName>
                                <m:r>
                                  <m:rPr>
                                    <m:sty m:val="p"/>
                                  </m:rPr>
                                  <a:rPr lang="en-US" altLang="zh-CN" sz="2200" kern="100">
                                    <a:latin typeface="Cambria Math" panose="02040503050406030204" pitchFamily="18" charset="0"/>
                                    <a:ea typeface="宋体" panose="02010600030101010101" pitchFamily="2" charset="-122"/>
                                    <a:cs typeface="Cambria Math" panose="02040503050406030204" pitchFamily="18" charset="0"/>
                                  </a:rPr>
                                  <m:t>min</m:t>
                                </m:r>
                              </m:fName>
                              <m:e>
                                <m:sSup>
                                  <m:sSupPr>
                                    <m:ctrlPr>
                                      <a:rPr lang="zh-CN" altLang="zh-CN" sz="22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𝑐</m:t>
                                    </m:r>
                                  </m:e>
                                  <m:sup>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𝑥</m:t>
                                </m:r>
                              </m:e>
                            </m:func>
                          </m:e>
                        </m:mr>
                        <m:mr>
                          <m:e>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𝑠</m:t>
                            </m:r>
                            <m:r>
                              <a:rPr lang="en-US" altLang="zh-CN" sz="2200" i="1" kern="100">
                                <a:latin typeface="Cambria Math" panose="02040503050406030204" pitchFamily="18" charset="0"/>
                                <a:ea typeface="MS Mincho" panose="02020609040205080304" charset="-128"/>
                                <a:cs typeface="Cambria Math" panose="02040503050406030204" pitchFamily="18" charset="0"/>
                              </a:rPr>
                              <m:t>.</m:t>
                            </m:r>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𝑡</m:t>
                            </m:r>
                            <m:r>
                              <a:rPr lang="en-US" altLang="zh-CN" sz="2200" i="1" kern="100">
                                <a:latin typeface="Cambria Math" panose="02040503050406030204" pitchFamily="18" charset="0"/>
                                <a:ea typeface="MS Mincho" panose="02020609040205080304" charset="-128"/>
                                <a:cs typeface="Cambria Math" panose="02040503050406030204" pitchFamily="18" charset="0"/>
                              </a:rPr>
                              <m:t>. </m:t>
                            </m:r>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𝐴𝑥</m:t>
                            </m:r>
                            <m:r>
                              <a:rPr lang="en-US" altLang="zh-CN" sz="2200" i="1" kern="100">
                                <a:latin typeface="Cambria Math" panose="02040503050406030204" pitchFamily="18" charset="0"/>
                                <a:ea typeface="MS Mincho" panose="02020609040205080304" charset="-128"/>
                                <a:cs typeface="Cambria Math" panose="02040503050406030204" pitchFamily="18" charset="0"/>
                              </a:rPr>
                              <m:t>−</m:t>
                            </m:r>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𝑏</m:t>
                            </m:r>
                            <m:r>
                              <a:rPr lang="en-US" altLang="zh-CN" sz="2200" i="1" kern="100">
                                <a:latin typeface="Cambria Math" panose="02040503050406030204" pitchFamily="18" charset="0"/>
                                <a:ea typeface="MS Mincho" panose="02020609040205080304" charset="-128"/>
                                <a:cs typeface="Cambria Math" panose="02040503050406030204" pitchFamily="18" charset="0"/>
                              </a:rPr>
                              <m:t>≥0</m:t>
                            </m:r>
                          </m:e>
                        </m:mr>
                      </m:m>
                    </m:oMath>
                  </m:oMathPara>
                </a14:m>
                <a:endParaRPr lang="en-US" altLang="zh-CN" sz="2200" kern="100" dirty="0">
                  <a:latin typeface="宋体" panose="02010600030101010101" pitchFamily="2" charset="-122"/>
                  <a:ea typeface="宋体" panose="02010600030101010101" pitchFamily="2" charset="-122"/>
                  <a:cs typeface="宋体" panose="02010600030101010101" pitchFamily="2" charset="-122"/>
                </a:endParaRPr>
              </a:p>
              <a:p>
                <a:pPr algn="just" fontAlgn="auto">
                  <a:lnSpc>
                    <a:spcPct val="150000"/>
                  </a:lnSpc>
                </a:pPr>
                <a:r>
                  <a:rPr lang="zh-CN" altLang="en-US" sz="2200" kern="0" dirty="0">
                    <a:latin typeface="宋体" panose="02010600030101010101" pitchFamily="2" charset="-122"/>
                    <a:ea typeface="宋体" panose="02010600030101010101" pitchFamily="2" charset="-122"/>
                    <a:cs typeface="宋体" panose="02010600030101010101" pitchFamily="2" charset="-122"/>
                  </a:rPr>
                  <a:t>对偶问题的目标是</a:t>
                </a:r>
                <a:endParaRPr lang="en-US" altLang="zh-CN" sz="2200" kern="0" dirty="0">
                  <a:latin typeface="宋体" panose="02010600030101010101" pitchFamily="2" charset="-122"/>
                  <a:ea typeface="宋体" panose="02010600030101010101" pitchFamily="2" charset="-122"/>
                  <a:cs typeface="宋体" panose="02010600030101010101" pitchFamily="2" charset="-122"/>
                </a:endParaRPr>
              </a:p>
              <a:p>
                <a:pPr algn="just" fontAlgn="auto">
                  <a:lnSpc>
                    <a:spcPct val="150000"/>
                  </a:lnSpc>
                </a:pPr>
                <a14:m>
                  <m:oMathPara xmlns:m="http://schemas.openxmlformats.org/officeDocument/2006/math">
                    <m:oMathParaPr>
                      <m:jc m:val="centerGroup"/>
                    </m:oMathParaPr>
                    <m:oMath xmlns:m="http://schemas.openxmlformats.org/officeDocument/2006/math">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𝑞</m:t>
                      </m:r>
                      <m:d>
                        <m:dPr>
                          <m:ctrlPr>
                            <a:rPr lang="zh-CN" altLang="zh-CN" sz="2200" i="1" kern="100">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kern="100">
                              <a:latin typeface="Cambria Math" panose="02040503050406030204" pitchFamily="18" charset="0"/>
                              <a:ea typeface="MS Mincho" panose="02020609040205080304" charset="-128"/>
                              <a:cs typeface="Cambria Math" panose="02040503050406030204" pitchFamily="18" charset="0"/>
                            </a:rPr>
                            <m:t>𝜆</m:t>
                          </m:r>
                        </m:e>
                      </m:d>
                      <m:r>
                        <a:rPr lang="en-US" altLang="zh-CN" sz="2200" i="1" kern="100">
                          <a:latin typeface="Cambria Math" panose="02040503050406030204" pitchFamily="18" charset="0"/>
                          <a:ea typeface="MS Mincho" panose="02020609040205080304" charset="-128"/>
                          <a:cs typeface="Cambria Math" panose="02040503050406030204" pitchFamily="18" charset="0"/>
                        </a:rPr>
                        <m:t>=</m:t>
                      </m:r>
                      <m:func>
                        <m:funcPr>
                          <m:ctrlPr>
                            <a:rPr lang="zh-CN" altLang="zh-CN" sz="2200" i="1" kern="100">
                              <a:latin typeface="Cambria Math" panose="02040503050406030204" pitchFamily="18" charset="0"/>
                              <a:ea typeface="宋体" panose="02010600030101010101" pitchFamily="2" charset="-122"/>
                              <a:cs typeface="Cambria Math" panose="02040503050406030204" pitchFamily="18" charset="0"/>
                            </a:rPr>
                          </m:ctrlPr>
                        </m:funcPr>
                        <m:fName>
                          <m:limLow>
                            <m:limLowPr>
                              <m:ctrlPr>
                                <a:rPr lang="zh-CN" altLang="zh-CN" sz="2200" i="1" kern="100">
                                  <a:latin typeface="Cambria Math" panose="02040503050406030204" pitchFamily="18" charset="0"/>
                                  <a:ea typeface="宋体" panose="02010600030101010101" pitchFamily="2" charset="-122"/>
                                  <a:cs typeface="Cambria Math" panose="02040503050406030204" pitchFamily="18" charset="0"/>
                                </a:rPr>
                              </m:ctrlPr>
                            </m:limLowPr>
                            <m:e>
                              <m:r>
                                <m:rPr>
                                  <m:sty m:val="p"/>
                                </m:rPr>
                                <a:rPr lang="en-US" altLang="zh-CN" sz="2200" kern="100">
                                  <a:latin typeface="Cambria Math" panose="02040503050406030204" pitchFamily="18" charset="0"/>
                                  <a:ea typeface="宋体" panose="02010600030101010101" pitchFamily="2" charset="-122"/>
                                  <a:cs typeface="Cambria Math" panose="02040503050406030204" pitchFamily="18" charset="0"/>
                                </a:rPr>
                                <m:t>inf</m:t>
                              </m:r>
                            </m:e>
                            <m:lim>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𝑥</m:t>
                              </m:r>
                            </m:lim>
                          </m:limLow>
                        </m:fName>
                        <m:e>
                          <m:d>
                            <m:dPr>
                              <m:begChr m:val="["/>
                              <m:endChr m:val="]"/>
                              <m:ctrlPr>
                                <a:rPr lang="zh-CN" altLang="zh-CN" sz="2200" i="1" kern="100">
                                  <a:latin typeface="Cambria Math" panose="02040503050406030204" pitchFamily="18" charset="0"/>
                                  <a:ea typeface="宋体" panose="02010600030101010101" pitchFamily="2" charset="-122"/>
                                  <a:cs typeface="Cambria Math" panose="02040503050406030204" pitchFamily="18" charset="0"/>
                                </a:rPr>
                              </m:ctrlPr>
                            </m:dPr>
                            <m:e>
                              <m:sSup>
                                <m:sSupPr>
                                  <m:ctrlPr>
                                    <a:rPr lang="zh-CN" altLang="zh-CN" sz="22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𝑐</m:t>
                                  </m:r>
                                </m:e>
                                <m:sup>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𝑥</m:t>
                              </m:r>
                              <m:r>
                                <a:rPr lang="en-US" altLang="zh-CN" sz="2200" i="1" kern="100">
                                  <a:latin typeface="Cambria Math" panose="02040503050406030204" pitchFamily="18" charset="0"/>
                                  <a:ea typeface="MS Mincho" panose="02020609040205080304" charset="-128"/>
                                  <a:cs typeface="Cambria Math" panose="02040503050406030204" pitchFamily="18" charset="0"/>
                                </a:rPr>
                                <m:t>−</m:t>
                              </m:r>
                              <m:sSup>
                                <m:sSupPr>
                                  <m:ctrlPr>
                                    <a:rPr lang="zh-CN" altLang="zh-CN" sz="22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kern="100">
                                      <a:latin typeface="Cambria Math" panose="02040503050406030204" pitchFamily="18" charset="0"/>
                                      <a:ea typeface="MS Mincho" panose="02020609040205080304" charset="-128"/>
                                      <a:cs typeface="Cambria Math" panose="02040503050406030204" pitchFamily="18" charset="0"/>
                                    </a:rPr>
                                    <m:t>𝜆</m:t>
                                  </m:r>
                                </m:e>
                                <m:sup>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𝑇</m:t>
                                  </m:r>
                                </m:sup>
                              </m:sSup>
                              <m:d>
                                <m:dPr>
                                  <m:ctrlPr>
                                    <a:rPr lang="zh-CN" altLang="zh-CN" sz="2200" i="1" kern="100">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𝐴𝑥</m:t>
                                  </m:r>
                                  <m:r>
                                    <a:rPr lang="en-US" altLang="zh-CN" sz="2200" i="1" kern="100">
                                      <a:latin typeface="Cambria Math" panose="02040503050406030204" pitchFamily="18" charset="0"/>
                                      <a:ea typeface="MS Mincho" panose="02020609040205080304" charset="-128"/>
                                      <a:cs typeface="Cambria Math" panose="02040503050406030204" pitchFamily="18" charset="0"/>
                                    </a:rPr>
                                    <m:t>−</m:t>
                                  </m:r>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𝑏</m:t>
                                  </m:r>
                                </m:e>
                              </m:d>
                            </m:e>
                          </m:d>
                        </m:e>
                      </m:func>
                    </m:oMath>
                  </m:oMathPara>
                </a14:m>
                <a:endParaRPr lang="zh-CN" altLang="zh-CN" sz="2200" kern="100" dirty="0">
                  <a:latin typeface="宋体" panose="02010600030101010101" pitchFamily="2" charset="-122"/>
                  <a:ea typeface="宋体" panose="02010600030101010101" pitchFamily="2" charset="-122"/>
                  <a:cs typeface="宋体" panose="02010600030101010101" pitchFamily="2" charset="-122"/>
                </a:endParaRPr>
              </a:p>
              <a:p>
                <a:pPr algn="just" fontAlgn="auto">
                  <a:lnSpc>
                    <a:spcPct val="150000"/>
                  </a:lnSpc>
                </a:pPr>
                <a14:m>
                  <m:oMathPara xmlns:m="http://schemas.openxmlformats.org/officeDocument/2006/math">
                    <m:oMathParaPr>
                      <m:jc m:val="centerGroup"/>
                    </m:oMathParaPr>
                    <m:oMath xmlns:m="http://schemas.openxmlformats.org/officeDocument/2006/math">
                      <m:r>
                        <a:rPr lang="en-US" altLang="zh-CN" sz="2200" i="1" kern="100">
                          <a:latin typeface="Cambria Math" panose="02040503050406030204" pitchFamily="18" charset="0"/>
                          <a:ea typeface="MS Mincho" panose="02020609040205080304" charset="-128"/>
                          <a:cs typeface="Cambria Math" panose="02040503050406030204" pitchFamily="18" charset="0"/>
                        </a:rPr>
                        <m:t>             =</m:t>
                      </m:r>
                      <m:func>
                        <m:funcPr>
                          <m:ctrlPr>
                            <a:rPr lang="zh-CN" altLang="zh-CN" sz="2200" i="1" kern="100">
                              <a:latin typeface="Cambria Math" panose="02040503050406030204" pitchFamily="18" charset="0"/>
                              <a:ea typeface="宋体" panose="02010600030101010101" pitchFamily="2" charset="-122"/>
                              <a:cs typeface="Cambria Math" panose="02040503050406030204" pitchFamily="18" charset="0"/>
                            </a:rPr>
                          </m:ctrlPr>
                        </m:funcPr>
                        <m:fName>
                          <m:limLow>
                            <m:limLowPr>
                              <m:ctrlPr>
                                <a:rPr lang="zh-CN" altLang="zh-CN" sz="2200" i="1" kern="100">
                                  <a:latin typeface="Cambria Math" panose="02040503050406030204" pitchFamily="18" charset="0"/>
                                  <a:ea typeface="宋体" panose="02010600030101010101" pitchFamily="2" charset="-122"/>
                                  <a:cs typeface="Cambria Math" panose="02040503050406030204" pitchFamily="18" charset="0"/>
                                </a:rPr>
                              </m:ctrlPr>
                            </m:limLowPr>
                            <m:e>
                              <m:r>
                                <m:rPr>
                                  <m:sty m:val="p"/>
                                </m:rPr>
                                <a:rPr lang="en-US" altLang="zh-CN" sz="2200" kern="100">
                                  <a:latin typeface="Cambria Math" panose="02040503050406030204" pitchFamily="18" charset="0"/>
                                  <a:ea typeface="宋体" panose="02010600030101010101" pitchFamily="2" charset="-122"/>
                                  <a:cs typeface="Cambria Math" panose="02040503050406030204" pitchFamily="18" charset="0"/>
                                </a:rPr>
                                <m:t>inf</m:t>
                              </m:r>
                            </m:e>
                            <m:lim>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𝑥</m:t>
                              </m:r>
                            </m:lim>
                          </m:limLow>
                        </m:fName>
                        <m:e>
                          <m:r>
                            <a:rPr lang="en-US" altLang="zh-CN" sz="2200" i="1" kern="100">
                              <a:latin typeface="Cambria Math" panose="02040503050406030204" pitchFamily="18" charset="0"/>
                              <a:ea typeface="MS Mincho" panose="02020609040205080304" charset="-128"/>
                              <a:cs typeface="Cambria Math" panose="02040503050406030204" pitchFamily="18" charset="0"/>
                            </a:rPr>
                            <m:t>[</m:t>
                          </m:r>
                          <m:sSup>
                            <m:sSupPr>
                              <m:ctrlPr>
                                <a:rPr lang="zh-CN" altLang="zh-CN" sz="2200" i="1" kern="100">
                                  <a:latin typeface="Cambria Math" panose="02040503050406030204" pitchFamily="18" charset="0"/>
                                  <a:ea typeface="宋体" panose="02010600030101010101" pitchFamily="2" charset="-122"/>
                                  <a:cs typeface="Cambria Math" panose="02040503050406030204" pitchFamily="18" charset="0"/>
                                </a:rPr>
                              </m:ctrlPr>
                            </m:sSupPr>
                            <m:e>
                              <m:d>
                                <m:dPr>
                                  <m:ctrlPr>
                                    <a:rPr lang="zh-CN" altLang="zh-CN" sz="2200" i="1" kern="100">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𝑐</m:t>
                                  </m:r>
                                  <m:r>
                                    <a:rPr lang="en-US" altLang="zh-CN" sz="2200" i="1" kern="100">
                                      <a:latin typeface="Cambria Math" panose="02040503050406030204" pitchFamily="18" charset="0"/>
                                      <a:ea typeface="MS Mincho" panose="02020609040205080304" charset="-128"/>
                                      <a:cs typeface="Cambria Math" panose="02040503050406030204" pitchFamily="18" charset="0"/>
                                    </a:rPr>
                                    <m:t>−</m:t>
                                  </m:r>
                                  <m:sSup>
                                    <m:sSupPr>
                                      <m:ctrlPr>
                                        <a:rPr lang="zh-CN" altLang="zh-CN" sz="22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𝐴</m:t>
                                      </m:r>
                                    </m:e>
                                    <m:sup>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200" i="1" kern="100">
                                      <a:latin typeface="Cambria Math" panose="02040503050406030204" pitchFamily="18" charset="0"/>
                                      <a:ea typeface="MS Mincho" panose="02020609040205080304" charset="-128"/>
                                      <a:cs typeface="Cambria Math" panose="02040503050406030204" pitchFamily="18" charset="0"/>
                                    </a:rPr>
                                    <m:t>𝜆</m:t>
                                  </m:r>
                                </m:e>
                              </m:d>
                            </m:e>
                            <m:sup>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𝑥</m:t>
                          </m:r>
                          <m:r>
                            <a:rPr lang="en-US" altLang="zh-CN" sz="2200" i="1" kern="100">
                              <a:latin typeface="Cambria Math" panose="02040503050406030204" pitchFamily="18" charset="0"/>
                              <a:ea typeface="MS Mincho" panose="02020609040205080304" charset="-128"/>
                              <a:cs typeface="Cambria Math" panose="02040503050406030204" pitchFamily="18" charset="0"/>
                            </a:rPr>
                            <m:t>+</m:t>
                          </m:r>
                          <m:sSup>
                            <m:sSupPr>
                              <m:ctrlPr>
                                <a:rPr lang="zh-CN" altLang="zh-CN" sz="22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𝑏</m:t>
                              </m:r>
                            </m:e>
                            <m:sup>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200" i="1" kern="100">
                              <a:latin typeface="Cambria Math" panose="02040503050406030204" pitchFamily="18" charset="0"/>
                              <a:ea typeface="MS Mincho" panose="02020609040205080304" charset="-128"/>
                              <a:cs typeface="Cambria Math" panose="02040503050406030204" pitchFamily="18" charset="0"/>
                            </a:rPr>
                            <m:t>𝜆</m:t>
                          </m:r>
                          <m:r>
                            <a:rPr lang="en-US" altLang="zh-CN" sz="2200" i="1" kern="100">
                              <a:latin typeface="Cambria Math" panose="02040503050406030204" pitchFamily="18" charset="0"/>
                              <a:ea typeface="MS Mincho" panose="02020609040205080304" charset="-128"/>
                              <a:cs typeface="Cambria Math" panose="02040503050406030204" pitchFamily="18" charset="0"/>
                            </a:rPr>
                            <m:t>)]</m:t>
                          </m:r>
                        </m:e>
                      </m:func>
                    </m:oMath>
                  </m:oMathPara>
                </a14:m>
                <a:endParaRPr lang="en-US" altLang="zh-CN" sz="2200" kern="100" dirty="0">
                  <a:latin typeface="宋体" panose="02010600030101010101" pitchFamily="2" charset="-122"/>
                  <a:ea typeface="宋体" panose="02010600030101010101" pitchFamily="2" charset="-122"/>
                  <a:cs typeface="宋体" panose="02010600030101010101" pitchFamily="2" charset="-122"/>
                </a:endParaRPr>
              </a:p>
              <a:p>
                <a:pPr algn="just" fontAlgn="auto">
                  <a:lnSpc>
                    <a:spcPct val="150000"/>
                  </a:lnSpc>
                </a:pPr>
                <a:r>
                  <a:rPr lang="en-US" altLang="zh-CN" sz="2200" kern="100" dirty="0">
                    <a:latin typeface="宋体" panose="02010600030101010101" pitchFamily="2" charset="-122"/>
                    <a:ea typeface="宋体" panose="02010600030101010101" pitchFamily="2" charset="-122"/>
                    <a:cs typeface="宋体" panose="02010600030101010101" pitchFamily="2" charset="-122"/>
                  </a:rPr>
                  <a:t> </a:t>
                </a:r>
                <a14:m>
                  <m:oMath xmlns:m="http://schemas.openxmlformats.org/officeDocument/2006/math">
                    <m:r>
                      <a:rPr lang="en-US" altLang="zh-CN" sz="2200" b="0" i="0" kern="100" smtClean="0">
                        <a:latin typeface="Cambria Math" panose="02040503050406030204" pitchFamily="18" charset="0"/>
                        <a:ea typeface="MS Mincho" panose="02020609040205080304" charset="-128"/>
                        <a:cs typeface="Cambria Math" panose="02040503050406030204" pitchFamily="18" charset="0"/>
                      </a:rPr>
                      <m:t>                                                </m:t>
                    </m:r>
                    <m:r>
                      <a:rPr lang="en-US" altLang="zh-CN" sz="2200" i="1" kern="100">
                        <a:latin typeface="Cambria Math" panose="02040503050406030204" pitchFamily="18" charset="0"/>
                        <a:ea typeface="MS Mincho" panose="02020609040205080304" charset="-128"/>
                        <a:cs typeface="Cambria Math" panose="02040503050406030204" pitchFamily="18" charset="0"/>
                      </a:rPr>
                      <m:t>=</m:t>
                    </m:r>
                    <m:d>
                      <m:dPr>
                        <m:begChr m:val="{"/>
                        <m:endChr m:val=""/>
                        <m:ctrlPr>
                          <a:rPr lang="zh-CN" altLang="zh-CN" sz="2200" i="1" kern="100">
                            <a:latin typeface="Cambria Math" panose="02040503050406030204" pitchFamily="18" charset="0"/>
                            <a:ea typeface="宋体" panose="02010600030101010101" pitchFamily="2" charset="-122"/>
                            <a:cs typeface="Cambria Math" panose="02040503050406030204" pitchFamily="18" charset="0"/>
                          </a:rPr>
                        </m:ctrlPr>
                      </m:dPr>
                      <m:e>
                        <m:m>
                          <m:mPr>
                            <m:mcs>
                              <m:mc>
                                <m:mcPr>
                                  <m:count m:val="2"/>
                                  <m:mcJc m:val="center"/>
                                </m:mcPr>
                              </m:mc>
                            </m:mcs>
                            <m:ctrlPr>
                              <a:rPr lang="zh-CN" altLang="zh-CN" sz="2200" i="1" kern="100">
                                <a:latin typeface="Cambria Math" panose="02040503050406030204" pitchFamily="18" charset="0"/>
                                <a:ea typeface="宋体" panose="02010600030101010101" pitchFamily="2" charset="-122"/>
                                <a:cs typeface="Cambria Math" panose="02040503050406030204" pitchFamily="18" charset="0"/>
                              </a:rPr>
                            </m:ctrlPr>
                          </m:mPr>
                          <m:mr>
                            <m:e>
                              <m:r>
                                <a:rPr lang="en-US" altLang="zh-CN" sz="2200" i="1" kern="100">
                                  <a:latin typeface="Cambria Math" panose="02040503050406030204" pitchFamily="18" charset="0"/>
                                  <a:ea typeface="MS Mincho" panose="02020609040205080304" charset="-128"/>
                                  <a:cs typeface="Cambria Math" panose="02040503050406030204" pitchFamily="18" charset="0"/>
                                </a:rPr>
                                <m:t>−∞</m:t>
                              </m:r>
                            </m:e>
                            <m:e>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𝑐</m:t>
                              </m:r>
                              <m:r>
                                <a:rPr lang="en-US" altLang="zh-CN" sz="2200" i="1" kern="100">
                                  <a:latin typeface="Cambria Math" panose="02040503050406030204" pitchFamily="18" charset="0"/>
                                  <a:ea typeface="MS Mincho" panose="02020609040205080304" charset="-128"/>
                                  <a:cs typeface="Cambria Math" panose="02040503050406030204" pitchFamily="18" charset="0"/>
                                </a:rPr>
                                <m:t>−</m:t>
                              </m:r>
                              <m:sSup>
                                <m:sSupPr>
                                  <m:ctrlPr>
                                    <a:rPr lang="zh-CN" altLang="zh-CN" sz="22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𝐴</m:t>
                                  </m:r>
                                </m:e>
                                <m:sup>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200" i="1" kern="100">
                                  <a:latin typeface="Cambria Math" panose="02040503050406030204" pitchFamily="18" charset="0"/>
                                  <a:ea typeface="MS Mincho" panose="02020609040205080304" charset="-128"/>
                                  <a:cs typeface="Cambria Math" panose="02040503050406030204" pitchFamily="18" charset="0"/>
                                </a:rPr>
                                <m:t>𝜆</m:t>
                              </m:r>
                              <m:r>
                                <a:rPr lang="en-US" altLang="zh-CN" sz="2200" i="1" kern="100">
                                  <a:latin typeface="Cambria Math" panose="02040503050406030204" pitchFamily="18" charset="0"/>
                                  <a:ea typeface="MS Mincho" panose="02020609040205080304" charset="-128"/>
                                  <a:cs typeface="Cambria Math" panose="02040503050406030204" pitchFamily="18" charset="0"/>
                                </a:rPr>
                                <m:t>≠0</m:t>
                              </m:r>
                            </m:e>
                          </m:mr>
                          <m:mr>
                            <m:e>
                              <m:sSup>
                                <m:sSupPr>
                                  <m:ctrlPr>
                                    <a:rPr lang="zh-CN" altLang="zh-CN" sz="22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𝑏</m:t>
                                  </m:r>
                                </m:e>
                                <m:sup>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200" i="1" kern="100">
                                  <a:latin typeface="Cambria Math" panose="02040503050406030204" pitchFamily="18" charset="0"/>
                                  <a:ea typeface="MS Mincho" panose="02020609040205080304" charset="-128"/>
                                  <a:cs typeface="Cambria Math" panose="02040503050406030204" pitchFamily="18" charset="0"/>
                                </a:rPr>
                                <m:t>𝜆</m:t>
                              </m:r>
                            </m:e>
                            <m:e>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𝑐</m:t>
                              </m:r>
                              <m:r>
                                <a:rPr lang="en-US" altLang="zh-CN" sz="2200" i="1" kern="100">
                                  <a:latin typeface="Cambria Math" panose="02040503050406030204" pitchFamily="18" charset="0"/>
                                  <a:ea typeface="MS Mincho" panose="02020609040205080304" charset="-128"/>
                                  <a:cs typeface="Cambria Math" panose="02040503050406030204" pitchFamily="18" charset="0"/>
                                </a:rPr>
                                <m:t>−</m:t>
                              </m:r>
                              <m:sSup>
                                <m:sSupPr>
                                  <m:ctrlPr>
                                    <a:rPr lang="zh-CN" altLang="zh-CN" sz="22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𝐴</m:t>
                                  </m:r>
                                </m:e>
                                <m:sup>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200" i="1" kern="100">
                                  <a:latin typeface="Cambria Math" panose="02040503050406030204" pitchFamily="18" charset="0"/>
                                  <a:ea typeface="MS Mincho" panose="02020609040205080304" charset="-128"/>
                                  <a:cs typeface="Cambria Math" panose="02040503050406030204" pitchFamily="18" charset="0"/>
                                </a:rPr>
                                <m:t>𝜆</m:t>
                              </m:r>
                              <m:r>
                                <a:rPr lang="en-US" altLang="zh-CN" sz="2200" i="1" kern="100">
                                  <a:latin typeface="Cambria Math" panose="02040503050406030204" pitchFamily="18" charset="0"/>
                                  <a:ea typeface="MS Mincho" panose="02020609040205080304" charset="-128"/>
                                  <a:cs typeface="Cambria Math" panose="02040503050406030204" pitchFamily="18" charset="0"/>
                                </a:rPr>
                                <m:t>=0</m:t>
                              </m:r>
                            </m:e>
                          </m:mr>
                        </m:m>
                      </m:e>
                    </m:d>
                  </m:oMath>
                </a14:m>
                <a:endParaRPr lang="en-US" altLang="zh-CN" sz="2200" kern="100" dirty="0">
                  <a:latin typeface="宋体" panose="02010600030101010101" pitchFamily="2" charset="-122"/>
                  <a:ea typeface="宋体" panose="02010600030101010101" pitchFamily="2" charset="-122"/>
                  <a:cs typeface="宋体" panose="02010600030101010101" pitchFamily="2" charset="-122"/>
                </a:endParaRPr>
              </a:p>
              <a:p>
                <a:pPr algn="just" fontAlgn="auto">
                  <a:lnSpc>
                    <a:spcPct val="150000"/>
                  </a:lnSpc>
                </a:pPr>
                <a:r>
                  <a:rPr lang="zh-CN" altLang="en-US" sz="2200" kern="0" dirty="0">
                    <a:latin typeface="宋体" panose="02010600030101010101" pitchFamily="2" charset="-122"/>
                    <a:ea typeface="宋体" panose="02010600030101010101" pitchFamily="2" charset="-122"/>
                    <a:cs typeface="宋体" panose="02010600030101010101" pitchFamily="2" charset="-122"/>
                  </a:rPr>
                  <a:t>因此，可以写出对偶问题</a:t>
                </a:r>
                <a:endParaRPr lang="en-US" altLang="zh-CN" sz="2200" i="1" kern="100" dirty="0">
                  <a:latin typeface="宋体" panose="02010600030101010101" pitchFamily="2" charset="-122"/>
                  <a:ea typeface="宋体" panose="02010600030101010101" pitchFamily="2" charset="-122"/>
                  <a:cs typeface="宋体" panose="02010600030101010101" pitchFamily="2" charset="-122"/>
                </a:endParaRPr>
              </a:p>
              <a:p>
                <a:pPr algn="just" fontAlgn="auto">
                  <a:lnSpc>
                    <a:spcPct val="150000"/>
                  </a:lnSpc>
                </a:pPr>
                <a14:m>
                  <m:oMathPara xmlns:m="http://schemas.openxmlformats.org/officeDocument/2006/math">
                    <m:oMathParaPr>
                      <m:jc m:val="centerGroup"/>
                    </m:oMathParaPr>
                    <m:oMath xmlns:m="http://schemas.openxmlformats.org/officeDocument/2006/math">
                      <m:m>
                        <m:mPr>
                          <m:mcs>
                            <m:mc>
                              <m:mcPr>
                                <m:count m:val="1"/>
                                <m:mcJc m:val="center"/>
                              </m:mcPr>
                            </m:mc>
                          </m:mcs>
                          <m:ctrlPr>
                            <a:rPr lang="zh-CN" altLang="zh-CN" sz="2200" i="1" kern="100">
                              <a:latin typeface="Cambria Math" panose="02040503050406030204" pitchFamily="18" charset="0"/>
                              <a:ea typeface="宋体" panose="02010600030101010101" pitchFamily="2" charset="-122"/>
                              <a:cs typeface="Cambria Math" panose="02040503050406030204" pitchFamily="18" charset="0"/>
                            </a:rPr>
                          </m:ctrlPr>
                        </m:mPr>
                        <m:mr>
                          <m:e>
                            <m:func>
                              <m:funcPr>
                                <m:ctrlPr>
                                  <a:rPr lang="zh-CN" altLang="zh-CN" sz="2200" i="1" kern="100">
                                    <a:latin typeface="Cambria Math" panose="02040503050406030204" pitchFamily="18" charset="0"/>
                                    <a:ea typeface="宋体" panose="02010600030101010101" pitchFamily="2" charset="-122"/>
                                    <a:cs typeface="Cambria Math" panose="02040503050406030204" pitchFamily="18" charset="0"/>
                                  </a:rPr>
                                </m:ctrlPr>
                              </m:funcPr>
                              <m:fName>
                                <m:r>
                                  <m:rPr>
                                    <m:sty m:val="p"/>
                                  </m:rPr>
                                  <a:rPr lang="en-US" altLang="zh-CN" sz="2200" kern="100">
                                    <a:latin typeface="Cambria Math" panose="02040503050406030204" pitchFamily="18" charset="0"/>
                                    <a:ea typeface="宋体" panose="02010600030101010101" pitchFamily="2" charset="-122"/>
                                    <a:cs typeface="Cambria Math" panose="02040503050406030204" pitchFamily="18" charset="0"/>
                                  </a:rPr>
                                  <m:t>m</m:t>
                                </m:r>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𝑎𝑥</m:t>
                                </m:r>
                              </m:fName>
                              <m:e>
                                <m:sSup>
                                  <m:sSupPr>
                                    <m:ctrlPr>
                                      <a:rPr lang="zh-CN" altLang="zh-CN" sz="22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𝑏</m:t>
                                    </m:r>
                                  </m:e>
                                  <m:sup>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200" i="1" kern="100">
                                    <a:latin typeface="Cambria Math" panose="02040503050406030204" pitchFamily="18" charset="0"/>
                                    <a:ea typeface="MS Mincho" panose="02020609040205080304" charset="-128"/>
                                    <a:cs typeface="Cambria Math" panose="02040503050406030204" pitchFamily="18" charset="0"/>
                                  </a:rPr>
                                  <m:t>𝜆</m:t>
                                </m:r>
                              </m:e>
                            </m:func>
                          </m:e>
                        </m:mr>
                        <m:mr>
                          <m:e>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𝑠</m:t>
                            </m:r>
                            <m:r>
                              <a:rPr lang="en-US" altLang="zh-CN" sz="2200" i="1" kern="100">
                                <a:latin typeface="Cambria Math" panose="02040503050406030204" pitchFamily="18" charset="0"/>
                                <a:ea typeface="MS Mincho" panose="02020609040205080304" charset="-128"/>
                                <a:cs typeface="Cambria Math" panose="02040503050406030204" pitchFamily="18" charset="0"/>
                              </a:rPr>
                              <m:t>.</m:t>
                            </m:r>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𝑡</m:t>
                            </m:r>
                            <m:r>
                              <a:rPr lang="en-US" altLang="zh-CN" sz="2200" i="1" kern="100">
                                <a:latin typeface="Cambria Math" panose="02040503050406030204" pitchFamily="18" charset="0"/>
                                <a:ea typeface="MS Mincho" panose="02020609040205080304" charset="-128"/>
                                <a:cs typeface="Cambria Math" panose="02040503050406030204" pitchFamily="18" charset="0"/>
                              </a:rPr>
                              <m:t>. </m:t>
                            </m:r>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𝑐</m:t>
                            </m:r>
                            <m:r>
                              <a:rPr lang="en-US" altLang="zh-CN" sz="2200" i="1" kern="100">
                                <a:latin typeface="Cambria Math" panose="02040503050406030204" pitchFamily="18" charset="0"/>
                                <a:ea typeface="MS Mincho" panose="02020609040205080304" charset="-128"/>
                                <a:cs typeface="Cambria Math" panose="02040503050406030204" pitchFamily="18" charset="0"/>
                              </a:rPr>
                              <m:t>−</m:t>
                            </m:r>
                            <m:sSup>
                              <m:sSupPr>
                                <m:ctrlPr>
                                  <a:rPr lang="zh-CN" altLang="zh-CN" sz="22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𝐴</m:t>
                                </m:r>
                              </m:e>
                              <m:sup>
                                <m:r>
                                  <a:rPr lang="en-US" altLang="zh-CN" sz="2200" i="1" kern="100">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200" i="1" kern="100">
                                <a:latin typeface="Cambria Math" panose="02040503050406030204" pitchFamily="18" charset="0"/>
                                <a:ea typeface="MS Mincho" panose="02020609040205080304" charset="-128"/>
                                <a:cs typeface="Cambria Math" panose="02040503050406030204" pitchFamily="18" charset="0"/>
                              </a:rPr>
                              <m:t>𝜆</m:t>
                            </m:r>
                            <m:r>
                              <a:rPr lang="en-US" altLang="zh-CN" sz="2200" i="1" kern="100">
                                <a:latin typeface="Cambria Math" panose="02040503050406030204" pitchFamily="18" charset="0"/>
                                <a:ea typeface="MS Mincho" panose="02020609040205080304" charset="-128"/>
                                <a:cs typeface="Cambria Math" panose="02040503050406030204" pitchFamily="18" charset="0"/>
                              </a:rPr>
                              <m:t>=0,</m:t>
                            </m:r>
                            <m:r>
                              <a:rPr lang="en-US" altLang="zh-CN" sz="2200" i="1" kern="100">
                                <a:latin typeface="Cambria Math" panose="02040503050406030204" pitchFamily="18" charset="0"/>
                                <a:ea typeface="MS Mincho" panose="02020609040205080304" charset="-128"/>
                                <a:cs typeface="Cambria Math" panose="02040503050406030204" pitchFamily="18" charset="0"/>
                              </a:rPr>
                              <m:t>𝜆</m:t>
                            </m:r>
                            <m:r>
                              <a:rPr lang="en-US" altLang="zh-CN" sz="2200" i="1" kern="100">
                                <a:latin typeface="Cambria Math" panose="02040503050406030204" pitchFamily="18" charset="0"/>
                                <a:ea typeface="MS Mincho" panose="02020609040205080304" charset="-128"/>
                                <a:cs typeface="Cambria Math" panose="02040503050406030204" pitchFamily="18" charset="0"/>
                              </a:rPr>
                              <m:t>≥0</m:t>
                            </m:r>
                          </m:e>
                        </m:mr>
                      </m:m>
                    </m:oMath>
                  </m:oMathPara>
                </a14:m>
                <a:endParaRPr lang="zh-CN" altLang="zh-CN" sz="2200" kern="100" dirty="0">
                  <a:latin typeface="宋体" panose="02010600030101010101" pitchFamily="2" charset="-122"/>
                  <a:ea typeface="宋体" panose="02010600030101010101" pitchFamily="2" charset="-122"/>
                  <a:cs typeface="宋体" panose="02010600030101010101" pitchFamily="2" charset="-122"/>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195436" y="434430"/>
                <a:ext cx="8753128" cy="5989140"/>
              </a:xfrm>
              <a:prstGeom prst="rect">
                <a:avLst/>
              </a:prstGeom>
              <a:blipFill>
                <a:blip r:embed="rId2"/>
                <a:stretch>
                  <a:fillRect l="-905"/>
                </a:stretch>
              </a:blipFill>
            </p:spPr>
            <p:txBody>
              <a:bodyPr/>
              <a:lstStyle/>
              <a:p>
                <a:r>
                  <a:rPr lang="zh-CN" alt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p:cNvSpPr txBox="1"/>
              <p:nvPr/>
            </p:nvSpPr>
            <p:spPr>
              <a:xfrm>
                <a:off x="0" y="404664"/>
                <a:ext cx="8856984" cy="5252335"/>
              </a:xfrm>
              <a:prstGeom prst="rect">
                <a:avLst/>
              </a:prstGeom>
              <a:noFill/>
            </p:spPr>
            <p:txBody>
              <a:bodyPr wrap="square">
                <a:spAutoFit/>
              </a:bodyPr>
              <a:lstStyle/>
              <a:p>
                <a:pPr algn="just" fontAlgn="auto">
                  <a:lnSpc>
                    <a:spcPct val="150000"/>
                  </a:lnSpc>
                </a:pPr>
                <a:r>
                  <a:rPr lang="zh-CN" altLang="en-US" sz="2400" kern="0" dirty="0">
                    <a:latin typeface="宋体" panose="02010600030101010101" pitchFamily="2" charset="-122"/>
                    <a:ea typeface="宋体" panose="02010600030101010101" pitchFamily="2" charset="-122"/>
                    <a:cs typeface="宋体" panose="02010600030101010101" pitchFamily="2" charset="-122"/>
                  </a:rPr>
                  <a:t>   注意到拉格朗日函数</a:t>
                </a:r>
                <a:endParaRPr lang="zh-CN" altLang="zh-CN" sz="2400" kern="100" dirty="0">
                  <a:latin typeface="宋体" panose="02010600030101010101" pitchFamily="2" charset="-122"/>
                  <a:ea typeface="宋体" panose="02010600030101010101" pitchFamily="2" charset="-122"/>
                  <a:cs typeface="宋体" panose="02010600030101010101" pitchFamily="2" charset="-122"/>
                </a:endParaRPr>
              </a:p>
              <a:p>
                <a:pPr algn="just" fontAlgn="auto">
                  <a:lnSpc>
                    <a:spcPct val="150000"/>
                  </a:lnSpc>
                </a:pPr>
                <a14:m>
                  <m:oMathPara xmlns:m="http://schemas.openxmlformats.org/officeDocument/2006/math">
                    <m:oMathParaPr>
                      <m:jc m:val="centerGroup"/>
                    </m:oMathParaPr>
                    <m:oMath xmlns:m="http://schemas.openxmlformats.org/officeDocument/2006/math">
                      <m:r>
                        <a:rPr lang="en-US" altLang="zh-CN" sz="2400" i="1" kern="100">
                          <a:latin typeface="Cambria Math" panose="02040503050406030204" pitchFamily="18" charset="0"/>
                          <a:ea typeface="MS Mincho" panose="02020609040205080304" charset="-128"/>
                          <a:cs typeface="Cambria Math" panose="02040503050406030204" pitchFamily="18" charset="0"/>
                        </a:rPr>
                        <m:t>ℒ</m:t>
                      </m:r>
                      <m:d>
                        <m:d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MS Mincho" panose="02020609040205080304" charset="-128"/>
                              <a:cs typeface="Cambria Math" panose="02040503050406030204" pitchFamily="18" charset="0"/>
                            </a:rPr>
                            <m:t>𝜆</m:t>
                          </m:r>
                        </m:e>
                      </m:d>
                      <m:r>
                        <a:rPr lang="en-US" altLang="zh-CN" sz="2400" i="1" kern="100">
                          <a:latin typeface="Cambria Math" panose="02040503050406030204" pitchFamily="18" charset="0"/>
                          <a:ea typeface="MS Mincho" panose="02020609040205080304" charset="-128"/>
                          <a:cs typeface="Cambria Math" panose="02040503050406030204" pitchFamily="18" charset="0"/>
                        </a:rPr>
                        <m:t>=</m:t>
                      </m:r>
                      <m:sSup>
                        <m:sSup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𝑐</m:t>
                          </m:r>
                        </m:e>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sSup>
                        <m:sSup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MS Mincho" panose="02020609040205080304" charset="-128"/>
                              <a:cs typeface="Cambria Math" panose="02040503050406030204" pitchFamily="18" charset="0"/>
                            </a:rPr>
                            <m:t>𝜆</m:t>
                          </m:r>
                        </m:e>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𝑇</m:t>
                          </m:r>
                        </m:sup>
                      </m:sSup>
                      <m:d>
                        <m:d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𝐴𝑥</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𝑏</m:t>
                          </m:r>
                        </m:e>
                      </m:d>
                    </m:oMath>
                  </m:oMathPara>
                </a14:m>
                <a:endParaRPr lang="en-US" altLang="zh-CN" sz="2400" kern="100" dirty="0">
                  <a:latin typeface="宋体" panose="02010600030101010101" pitchFamily="2" charset="-122"/>
                  <a:ea typeface="宋体" panose="02010600030101010101" pitchFamily="2" charset="-122"/>
                  <a:cs typeface="宋体" panose="02010600030101010101" pitchFamily="2" charset="-122"/>
                </a:endParaRPr>
              </a:p>
              <a:p>
                <a:pPr algn="just" fontAlgn="auto">
                  <a:lnSpc>
                    <a:spcPct val="150000"/>
                  </a:lnSpc>
                </a:pPr>
                <a:r>
                  <a:rPr lang="zh-CN" altLang="en-US" sz="2400" kern="100" dirty="0">
                    <a:latin typeface="宋体" panose="02010600030101010101" pitchFamily="2" charset="-122"/>
                    <a:ea typeface="宋体" panose="02010600030101010101" pitchFamily="2" charset="-122"/>
                    <a:cs typeface="宋体" panose="02010600030101010101" pitchFamily="2" charset="-122"/>
                  </a:rPr>
                  <a:t>关于</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oMath>
                </a14:m>
                <a:r>
                  <a:rPr lang="zh-CN" altLang="en-US" sz="2400" kern="100" dirty="0">
                    <a:latin typeface="宋体" panose="02010600030101010101" pitchFamily="2" charset="-122"/>
                    <a:ea typeface="宋体" panose="02010600030101010101" pitchFamily="2" charset="-122"/>
                    <a:cs typeface="宋体" panose="02010600030101010101" pitchFamily="2" charset="-122"/>
                  </a:rPr>
                  <a:t>是线性的，对</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oMath>
                </a14:m>
                <a:r>
                  <a:rPr lang="zh-CN" altLang="en-US" sz="2400" kern="100" dirty="0">
                    <a:latin typeface="宋体" panose="02010600030101010101" pitchFamily="2" charset="-122"/>
                    <a:ea typeface="宋体" panose="02010600030101010101" pitchFamily="2" charset="-122"/>
                    <a:cs typeface="宋体" panose="02010600030101010101" pitchFamily="2" charset="-122"/>
                  </a:rPr>
                  <a:t>极小化时需要讨论</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oMath>
                </a14:m>
                <a:r>
                  <a:rPr lang="zh-CN" altLang="en-US" sz="2400" kern="100" dirty="0">
                    <a:latin typeface="宋体" panose="02010600030101010101" pitchFamily="2" charset="-122"/>
                    <a:ea typeface="宋体" panose="02010600030101010101" pitchFamily="2" charset="-122"/>
                    <a:cs typeface="宋体" panose="02010600030101010101" pitchFamily="2" charset="-122"/>
                  </a:rPr>
                  <a:t>的系数</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𝑐</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sSup>
                      <m:sSup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𝐴</m:t>
                        </m:r>
                      </m:e>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400" i="1" kern="100">
                        <a:latin typeface="Cambria Math" panose="02040503050406030204" pitchFamily="18" charset="0"/>
                        <a:ea typeface="MS Mincho" panose="02020609040205080304" charset="-128"/>
                        <a:cs typeface="Cambria Math" panose="02040503050406030204" pitchFamily="18" charset="0"/>
                      </a:rPr>
                      <m:t>𝜆</m:t>
                    </m:r>
                  </m:oMath>
                </a14:m>
                <a:r>
                  <a:rPr lang="zh-CN" altLang="en-US" sz="2400" kern="100" dirty="0">
                    <a:latin typeface="宋体" panose="02010600030101010101" pitchFamily="2" charset="-122"/>
                    <a:ea typeface="宋体" panose="02010600030101010101" pitchFamily="2" charset="-122"/>
                    <a:cs typeface="宋体" panose="02010600030101010101" pitchFamily="2" charset="-122"/>
                  </a:rPr>
                  <a:t>是否为零。对于</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𝑐</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sSup>
                      <m:sSup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𝐴</m:t>
                        </m:r>
                      </m:e>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400" i="1" kern="100">
                        <a:latin typeface="Cambria Math" panose="02040503050406030204" pitchFamily="18" charset="0"/>
                        <a:ea typeface="MS Mincho" panose="02020609040205080304" charset="-128"/>
                        <a:cs typeface="Cambria Math" panose="02040503050406030204" pitchFamily="18" charset="0"/>
                      </a:rPr>
                      <m:t>𝜆</m:t>
                    </m:r>
                  </m:oMath>
                </a14:m>
                <a:r>
                  <a:rPr lang="zh-CN" altLang="en-US" sz="2400" kern="100" dirty="0">
                    <a:latin typeface="宋体" panose="02010600030101010101" pitchFamily="2" charset="-122"/>
                    <a:ea typeface="宋体" panose="02010600030101010101" pitchFamily="2" charset="-122"/>
                    <a:cs typeface="宋体" panose="02010600030101010101" pitchFamily="2" charset="-122"/>
                  </a:rPr>
                  <a:t>不为零的情形，</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𝑞</m:t>
                    </m:r>
                    <m:d>
                      <m:d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kern="100">
                            <a:latin typeface="Cambria Math" panose="02040503050406030204" pitchFamily="18" charset="0"/>
                            <a:ea typeface="MS Mincho" panose="02020609040205080304" charset="-128"/>
                            <a:cs typeface="Cambria Math" panose="02040503050406030204" pitchFamily="18" charset="0"/>
                          </a:rPr>
                          <m:t>𝜆</m:t>
                        </m:r>
                      </m:e>
                    </m:d>
                  </m:oMath>
                </a14:m>
                <a:r>
                  <a:rPr lang="en-US" altLang="zh-CN" sz="2400" kern="100" dirty="0">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r>
                      <a:rPr lang="en-US" altLang="zh-CN" sz="2400" i="1" kern="100">
                        <a:latin typeface="Cambria Math" panose="02040503050406030204" pitchFamily="18" charset="0"/>
                        <a:ea typeface="MS Mincho" panose="02020609040205080304" charset="-128"/>
                        <a:cs typeface="Cambria Math" panose="02040503050406030204" pitchFamily="18" charset="0"/>
                      </a:rPr>
                      <m:t>−∞</m:t>
                    </m:r>
                  </m:oMath>
                </a14:m>
                <a:r>
                  <a:rPr lang="zh-CN" altLang="en-US" sz="2400" kern="100" dirty="0">
                    <a:latin typeface="宋体" panose="02010600030101010101" pitchFamily="2" charset="-122"/>
                    <a:ea typeface="宋体" panose="02010600030101010101" pitchFamily="2" charset="-122"/>
                    <a:cs typeface="宋体" panose="02010600030101010101" pitchFamily="2" charset="-122"/>
                  </a:rPr>
                  <a:t>，在极大化</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𝑞</m:t>
                    </m:r>
                    <m:d>
                      <m:d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kern="100">
                            <a:latin typeface="Cambria Math" panose="02040503050406030204" pitchFamily="18" charset="0"/>
                            <a:ea typeface="MS Mincho" panose="02020609040205080304" charset="-128"/>
                            <a:cs typeface="Cambria Math" panose="02040503050406030204" pitchFamily="18" charset="0"/>
                          </a:rPr>
                          <m:t>𝜆</m:t>
                        </m:r>
                      </m:e>
                    </m:d>
                  </m:oMath>
                </a14:m>
                <a:r>
                  <a:rPr lang="zh-CN" altLang="en-US" sz="2400" kern="100" dirty="0">
                    <a:latin typeface="宋体" panose="02010600030101010101" pitchFamily="2" charset="-122"/>
                    <a:ea typeface="宋体" panose="02010600030101010101" pitchFamily="2" charset="-122"/>
                    <a:cs typeface="宋体" panose="02010600030101010101" pitchFamily="2" charset="-122"/>
                  </a:rPr>
                  <a:t>时不起作用，所以，在写对偶问题时，只需要考虑</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𝑐</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sSup>
                      <m:sSup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𝐴</m:t>
                        </m:r>
                      </m:e>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400" i="1" kern="100">
                        <a:latin typeface="Cambria Math" panose="02040503050406030204" pitchFamily="18" charset="0"/>
                        <a:ea typeface="MS Mincho" panose="02020609040205080304" charset="-128"/>
                        <a:cs typeface="Cambria Math" panose="02040503050406030204" pitchFamily="18" charset="0"/>
                      </a:rPr>
                      <m:t>𝜆</m:t>
                    </m:r>
                  </m:oMath>
                </a14:m>
                <a:r>
                  <a:rPr lang="zh-CN" altLang="en-US" sz="2400" kern="100" dirty="0">
                    <a:latin typeface="宋体" panose="02010600030101010101" pitchFamily="2" charset="-122"/>
                    <a:ea typeface="宋体" panose="02010600030101010101" pitchFamily="2" charset="-122"/>
                    <a:cs typeface="宋体" panose="02010600030101010101" pitchFamily="2" charset="-122"/>
                  </a:rPr>
                  <a:t>等于零的情形。</a:t>
                </a:r>
                <a:endParaRPr lang="zh-CN" altLang="zh-CN" sz="2400" kern="100" dirty="0">
                  <a:latin typeface="宋体" panose="02010600030101010101" pitchFamily="2" charset="-122"/>
                  <a:ea typeface="宋体" panose="02010600030101010101" pitchFamily="2" charset="-122"/>
                  <a:cs typeface="宋体" panose="02010600030101010101" pitchFamily="2" charset="-122"/>
                </a:endParaRPr>
              </a:p>
              <a:p>
                <a:pPr algn="just" fontAlgn="auto">
                  <a:lnSpc>
                    <a:spcPct val="150000"/>
                  </a:lnSpc>
                </a:pPr>
                <a:r>
                  <a:rPr lang="en-US" altLang="zh-CN" sz="2400" kern="100" dirty="0">
                    <a:latin typeface="宋体" panose="02010600030101010101" pitchFamily="2" charset="-122"/>
                    <a:ea typeface="宋体" panose="02010600030101010101" pitchFamily="2" charset="-122"/>
                    <a:cs typeface="宋体" panose="02010600030101010101" pitchFamily="2" charset="-122"/>
                  </a:rPr>
                  <a:t>	</a:t>
                </a:r>
                <a:r>
                  <a:rPr lang="zh-CN" altLang="en-US" sz="2400" kern="100" dirty="0">
                    <a:latin typeface="宋体" panose="02010600030101010101" pitchFamily="2" charset="-122"/>
                    <a:ea typeface="宋体" panose="02010600030101010101" pitchFamily="2" charset="-122"/>
                    <a:cs typeface="宋体" panose="02010600030101010101" pitchFamily="2" charset="-122"/>
                  </a:rPr>
                  <a:t>另一方面，</a:t>
                </a:r>
                <a14:m>
                  <m:oMath xmlns:m="http://schemas.openxmlformats.org/officeDocument/2006/math">
                    <m:f>
                      <m:f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fPr>
                      <m:num>
                        <m:r>
                          <a:rPr lang="zh-CN" altLang="en-US"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MS Mincho" panose="02020609040205080304" charset="-128"/>
                            <a:cs typeface="Cambria Math" panose="02040503050406030204" pitchFamily="18" charset="0"/>
                          </a:rPr>
                          <m:t>ℒ</m:t>
                        </m:r>
                      </m:num>
                      <m:den>
                        <m:r>
                          <a:rPr lang="zh-CN" altLang="en-US"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den>
                    </m:f>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𝑐</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sSup>
                      <m:sSup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𝐴</m:t>
                        </m:r>
                      </m:e>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400" i="1" kern="100">
                        <a:latin typeface="Cambria Math" panose="02040503050406030204" pitchFamily="18" charset="0"/>
                        <a:ea typeface="MS Mincho" panose="02020609040205080304" charset="-128"/>
                        <a:cs typeface="Cambria Math" panose="02040503050406030204" pitchFamily="18" charset="0"/>
                      </a:rPr>
                      <m:t>𝜆</m:t>
                    </m:r>
                    <m:r>
                      <a:rPr lang="zh-CN" altLang="en-US" sz="2400" i="1" kern="100">
                        <a:latin typeface="Cambria Math" panose="02040503050406030204" pitchFamily="18" charset="0"/>
                        <a:ea typeface="MS Mincho" panose="02020609040205080304" charset="-128"/>
                        <a:cs typeface="Cambria Math" panose="02040503050406030204" pitchFamily="18" charset="0"/>
                      </a:rPr>
                      <m:t>中</m:t>
                    </m:r>
                  </m:oMath>
                </a14:m>
                <a:r>
                  <a:rPr lang="zh-CN" altLang="en-US" sz="2400" kern="100" dirty="0">
                    <a:latin typeface="宋体" panose="02010600030101010101" pitchFamily="2" charset="-122"/>
                    <a:ea typeface="宋体" panose="02010600030101010101" pitchFamily="2" charset="-122"/>
                    <a:cs typeface="宋体" panose="02010600030101010101" pitchFamily="2" charset="-122"/>
                  </a:rPr>
                  <a:t>没有</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oMath>
                </a14:m>
                <a:r>
                  <a:rPr lang="zh-CN" altLang="en-US" sz="2400" kern="100" dirty="0">
                    <a:latin typeface="宋体" panose="02010600030101010101" pitchFamily="2" charset="-122"/>
                    <a:ea typeface="宋体" panose="02010600030101010101" pitchFamily="2" charset="-122"/>
                    <a:cs typeface="宋体" panose="02010600030101010101" pitchFamily="2" charset="-122"/>
                  </a:rPr>
                  <a:t>，说明</a:t>
                </a:r>
                <a14:m>
                  <m:oMath xmlns:m="http://schemas.openxmlformats.org/officeDocument/2006/math">
                    <m:r>
                      <a:rPr lang="en-US" altLang="zh-CN" sz="2400" i="1" kern="100">
                        <a:latin typeface="Cambria Math" panose="02040503050406030204" pitchFamily="18" charset="0"/>
                        <a:ea typeface="MS Mincho" panose="02020609040205080304" charset="-128"/>
                        <a:cs typeface="Cambria Math" panose="02040503050406030204" pitchFamily="18" charset="0"/>
                      </a:rPr>
                      <m:t>ℒ</m:t>
                    </m:r>
                  </m:oMath>
                </a14:m>
                <a:r>
                  <a:rPr lang="zh-CN" altLang="en-US" sz="2400" kern="100" dirty="0">
                    <a:latin typeface="宋体" panose="02010600030101010101" pitchFamily="2" charset="-122"/>
                    <a:ea typeface="宋体" panose="02010600030101010101" pitchFamily="2" charset="-122"/>
                    <a:cs typeface="宋体" panose="02010600030101010101" pitchFamily="2" charset="-122"/>
                  </a:rPr>
                  <a:t>关于</a:t>
                </a:r>
                <a14:m>
                  <m:oMath xmlns:m="http://schemas.openxmlformats.org/officeDocument/2006/math">
                    <m:r>
                      <a:rPr lang="en-US" altLang="zh-CN" sz="2400" i="1" kern="100" dirty="0">
                        <a:latin typeface="Cambria Math" panose="02040503050406030204" pitchFamily="18" charset="0"/>
                        <a:ea typeface="宋体" panose="02010600030101010101" pitchFamily="2" charset="-122"/>
                        <a:cs typeface="Cambria Math" panose="02040503050406030204" pitchFamily="18" charset="0"/>
                      </a:rPr>
                      <m:t>𝑥</m:t>
                    </m:r>
                    <m:r>
                      <a:rPr lang="zh-CN" altLang="en-US" sz="2400" i="1" kern="100" dirty="0">
                        <a:latin typeface="Cambria Math" panose="02040503050406030204" pitchFamily="18" charset="0"/>
                        <a:ea typeface="MS Mincho" panose="02020609040205080304" charset="-128"/>
                        <a:cs typeface="Cambria Math" panose="02040503050406030204" pitchFamily="18" charset="0"/>
                      </a:rPr>
                      <m:t>是</m:t>
                    </m:r>
                  </m:oMath>
                </a14:m>
                <a:r>
                  <a:rPr lang="zh-CN" altLang="en-US" sz="2400" kern="100" dirty="0">
                    <a:latin typeface="宋体" panose="02010600030101010101" pitchFamily="2" charset="-122"/>
                    <a:ea typeface="宋体" panose="02010600030101010101" pitchFamily="2" charset="-122"/>
                    <a:cs typeface="宋体" panose="02010600030101010101" pitchFamily="2" charset="-122"/>
                  </a:rPr>
                  <a:t>线性函数。</a:t>
                </a:r>
                <a:endParaRPr lang="en-US" altLang="zh-CN" sz="2400" kern="100" dirty="0">
                  <a:latin typeface="宋体" panose="02010600030101010101" pitchFamily="2" charset="-122"/>
                  <a:ea typeface="宋体" panose="02010600030101010101" pitchFamily="2" charset="-122"/>
                  <a:cs typeface="宋体" panose="02010600030101010101" pitchFamily="2" charset="-122"/>
                </a:endParaRPr>
              </a:p>
              <a:p>
                <a:pPr algn="just" fontAlgn="auto">
                  <a:lnSpc>
                    <a:spcPct val="150000"/>
                  </a:lnSpc>
                </a:pPr>
                <a:r>
                  <a:rPr lang="en-US" altLang="zh-CN" sz="2400" kern="0" dirty="0">
                    <a:latin typeface="宋体" panose="02010600030101010101" pitchFamily="2" charset="-122"/>
                    <a:ea typeface="宋体" panose="02010600030101010101" pitchFamily="2" charset="-122"/>
                    <a:cs typeface="宋体" panose="02010600030101010101" pitchFamily="2" charset="-122"/>
                  </a:rPr>
                  <a:t>	</a:t>
                </a:r>
                <a:r>
                  <a:rPr lang="zh-CN" altLang="en-US" sz="2400" kern="0" dirty="0">
                    <a:latin typeface="宋体" panose="02010600030101010101" pitchFamily="2" charset="-122"/>
                    <a:ea typeface="宋体" panose="02010600030101010101" pitchFamily="2" charset="-122"/>
                    <a:cs typeface="宋体" panose="02010600030101010101" pitchFamily="2" charset="-122"/>
                  </a:rPr>
                  <a:t>所以，利用偏导数来写对偶时，当遇到对某个自变量求偏导时，自变量消失，即意味着拉格朗日函数关于这个自变量是线性函数，对偶问题中要加一个等式约束。</a:t>
                </a:r>
                <a:endParaRPr lang="zh-CN" altLang="zh-CN" sz="2400" kern="100" dirty="0">
                  <a:latin typeface="宋体" panose="02010600030101010101" pitchFamily="2" charset="-122"/>
                  <a:ea typeface="宋体" panose="02010600030101010101" pitchFamily="2" charset="-122"/>
                  <a:cs typeface="宋体" panose="02010600030101010101" pitchFamily="2" charset="-122"/>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0" y="404664"/>
                <a:ext cx="8856984" cy="5252335"/>
              </a:xfrm>
              <a:prstGeom prst="rect">
                <a:avLst/>
              </a:prstGeom>
              <a:blipFill>
                <a:blip r:embed="rId2"/>
                <a:stretch>
                  <a:fillRect l="-1032" r="-4474" b="-1624"/>
                </a:stretch>
              </a:blipFill>
            </p:spPr>
            <p:txBody>
              <a:bodyPr/>
              <a:lstStyle/>
              <a:p>
                <a:r>
                  <a:rPr lang="zh-CN" alt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p:cNvSpPr txBox="1"/>
              <p:nvPr/>
            </p:nvSpPr>
            <p:spPr>
              <a:xfrm>
                <a:off x="1007604" y="1268760"/>
                <a:ext cx="6004560" cy="1902509"/>
              </a:xfrm>
              <a:prstGeom prst="rect">
                <a:avLst/>
              </a:prstGeom>
              <a:noFill/>
            </p:spPr>
            <p:txBody>
              <a:bodyPr wrap="square" rtlCol="0">
                <a:spAutoFit/>
              </a:bodyPr>
              <a:lstStyle/>
              <a:p>
                <a:r>
                  <a:rPr lang="zh-CN" altLang="en-US" sz="2400" b="1" kern="0" dirty="0">
                    <a:solidFill>
                      <a:srgbClr val="0070C0"/>
                    </a:solidFill>
                    <a:latin typeface="ItcKabel-Bold"/>
                    <a:ea typeface="等线" panose="02010600030101010101" pitchFamily="2" charset="-122"/>
                    <a:cs typeface="ItcKabel-Bold"/>
                  </a:rPr>
                  <a:t>例</a:t>
                </a:r>
                <a:r>
                  <a:rPr lang="en-US" altLang="zh-CN" sz="2400" b="1" kern="0" dirty="0">
                    <a:solidFill>
                      <a:srgbClr val="0070C0"/>
                    </a:solidFill>
                    <a:latin typeface="ItcKabel-Bold"/>
                    <a:ea typeface="等线" panose="02010600030101010101" pitchFamily="2" charset="-122"/>
                    <a:cs typeface="ItcKabel-Bold"/>
                  </a:rPr>
                  <a:t>3 </a:t>
                </a:r>
                <a:r>
                  <a:rPr lang="zh-CN" altLang="en-US" sz="2400" dirty="0">
                    <a:latin typeface="宋体" panose="02010600030101010101" pitchFamily="2" charset="-122"/>
                    <a:ea typeface="宋体" panose="02010600030101010101" pitchFamily="2" charset="-122"/>
                  </a:rPr>
                  <a:t>求下列问题的对偶问题</a:t>
                </a:r>
              </a:p>
              <a:p>
                <a:pPr/>
                <a14:m>
                  <m:oMathPara xmlns:m="http://schemas.openxmlformats.org/officeDocument/2006/math">
                    <m:oMathParaPr>
                      <m:jc m:val="centerGroup"/>
                    </m:oMathParaPr>
                    <m:oMath xmlns:m="http://schemas.openxmlformats.org/officeDocument/2006/math">
                      <m:func>
                        <m:func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funcPr>
                        <m:fName>
                          <m:limLow>
                            <m:limLow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limLowPr>
                            <m:e>
                              <m:r>
                                <m:rPr>
                                  <m:sty m:val="p"/>
                                </m:rPr>
                                <a:rPr lang="en-US" altLang="zh-CN" sz="2400" kern="100">
                                  <a:latin typeface="Cambria Math" panose="02040503050406030204" pitchFamily="18" charset="0"/>
                                  <a:ea typeface="宋体" panose="02010600030101010101" pitchFamily="2" charset="-122"/>
                                  <a:cs typeface="Cambria Math" panose="02040503050406030204" pitchFamily="18" charset="0"/>
                                </a:rPr>
                                <m:t>min</m:t>
                              </m:r>
                            </m:e>
                            <m:lim>
                              <m:r>
                                <a:rPr kumimoji="1" lang="en-US" altLang="zh-CN" sz="2400" i="1">
                                  <a:latin typeface="Cambria Math" panose="02040503050406030204" pitchFamily="18" charset="0"/>
                                  <a:cs typeface="Cambria Math" panose="02040503050406030204" pitchFamily="18" charset="0"/>
                                </a:rPr>
                                <m:t>𝜔</m:t>
                              </m:r>
                              <m:r>
                                <a:rPr kumimoji="1" lang="en-US" altLang="zh-CN" sz="2400" i="1">
                                  <a:latin typeface="Cambria Math" panose="02040503050406030204" pitchFamily="18" charset="0"/>
                                  <a:cs typeface="Cambria Math" panose="02040503050406030204" pitchFamily="18" charset="0"/>
                                </a:rPr>
                                <m:t>,</m:t>
                              </m:r>
                              <m:r>
                                <a:rPr kumimoji="1" lang="en-US" altLang="zh-CN" sz="2400" i="1">
                                  <a:latin typeface="Cambria Math" panose="02040503050406030204" pitchFamily="18" charset="0"/>
                                  <a:cs typeface="Cambria Math" panose="02040503050406030204" pitchFamily="18" charset="0"/>
                                </a:rPr>
                                <m:t>𝑏</m:t>
                              </m:r>
                            </m:lim>
                          </m:limLow>
                        </m:fName>
                        <m:e>
                          <m:f>
                            <m:f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fPr>
                            <m:num>
                              <m:r>
                                <a:rPr lang="en-US" altLang="zh-CN" sz="2400" i="1" kern="100">
                                  <a:latin typeface="Cambria Math" panose="02040503050406030204" pitchFamily="18" charset="0"/>
                                  <a:ea typeface="宋体" panose="02010600030101010101" pitchFamily="2" charset="-122"/>
                                  <a:cs typeface="Cambria Math" panose="02040503050406030204" pitchFamily="18" charset="0"/>
                                </a:rPr>
                                <m:t>1</m:t>
                              </m:r>
                            </m:num>
                            <m:den>
                              <m:r>
                                <a:rPr lang="en-US" altLang="zh-CN" sz="2400" i="1" kern="100">
                                  <a:latin typeface="Cambria Math" panose="02040503050406030204" pitchFamily="18" charset="0"/>
                                  <a:ea typeface="宋体" panose="02010600030101010101" pitchFamily="2" charset="-122"/>
                                  <a:cs typeface="Cambria Math" panose="02040503050406030204" pitchFamily="18" charset="0"/>
                                </a:rPr>
                                <m:t>2</m:t>
                              </m:r>
                            </m:den>
                          </m:f>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d>
                                <m:dPr>
                                  <m:begChr m:val="‖"/>
                                  <m:endChr m:val="‖"/>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𝜔</m:t>
                                  </m:r>
                                </m:e>
                              </m:d>
                            </m:e>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2</m:t>
                              </m:r>
                            </m:sup>
                          </m:sSup>
                        </m:e>
                      </m:func>
                    </m:oMath>
                  </m:oMathPara>
                </a14:m>
                <a:endParaRPr lang="en-US" altLang="zh-CN" sz="2400" i="1" kern="100" dirty="0">
                  <a:latin typeface="Cambria Math" panose="02040503050406030204" pitchFamily="18" charset="0"/>
                  <a:ea typeface="宋体" panose="02010600030101010101" pitchFamily="2" charset="-122"/>
                  <a:cs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kumimoji="1" lang="en-US" altLang="zh-CN" sz="2400" i="1">
                          <a:latin typeface="Cambria Math" panose="02040503050406030204" pitchFamily="18" charset="0"/>
                          <a:cs typeface="Cambria Math" panose="02040503050406030204" pitchFamily="18" charset="0"/>
                        </a:rPr>
                        <m:t>𝑠</m:t>
                      </m:r>
                      <m:r>
                        <a:rPr kumimoji="1" lang="en-US" altLang="zh-CN" sz="2400" i="1">
                          <a:latin typeface="Cambria Math" panose="02040503050406030204" pitchFamily="18" charset="0"/>
                          <a:ea typeface="MS Mincho" panose="02020609040205080304" charset="-128"/>
                          <a:cs typeface="Cambria Math" panose="02040503050406030204" pitchFamily="18" charset="0"/>
                        </a:rPr>
                        <m:t>.</m:t>
                      </m:r>
                      <m:r>
                        <a:rPr kumimoji="1" lang="en-US" altLang="zh-CN" sz="2400" i="1">
                          <a:latin typeface="Cambria Math" panose="02040503050406030204" pitchFamily="18" charset="0"/>
                          <a:cs typeface="Cambria Math" panose="02040503050406030204" pitchFamily="18" charset="0"/>
                        </a:rPr>
                        <m:t>𝑡</m:t>
                      </m:r>
                      <m:r>
                        <a:rPr kumimoji="1" lang="en-US" altLang="zh-CN" sz="2400" i="1">
                          <a:latin typeface="Cambria Math" panose="02040503050406030204" pitchFamily="18" charset="0"/>
                          <a:ea typeface="MS Mincho" panose="02020609040205080304" charset="-128"/>
                          <a:cs typeface="Cambria Math" panose="02040503050406030204" pitchFamily="18" charset="0"/>
                        </a:rPr>
                        <m:t>.   </m:t>
                      </m:r>
                      <m:sSub>
                        <m:sSubPr>
                          <m:ctrlPr>
                            <a:rPr kumimoji="1" lang="en-US" altLang="zh-CN" sz="2400" i="1">
                              <a:latin typeface="Cambria Math" panose="02040503050406030204" pitchFamily="18" charset="0"/>
                              <a:cs typeface="Cambria Math" panose="02040503050406030204" pitchFamily="18" charset="0"/>
                            </a:rPr>
                          </m:ctrlPr>
                        </m:sSubPr>
                        <m:e>
                          <m:r>
                            <a:rPr kumimoji="1" lang="en-US" altLang="zh-CN" sz="2400" i="1">
                              <a:latin typeface="Cambria Math" panose="02040503050406030204" pitchFamily="18" charset="0"/>
                              <a:cs typeface="Cambria Math" panose="02040503050406030204" pitchFamily="18" charset="0"/>
                            </a:rPr>
                            <m:t>𝑦</m:t>
                          </m:r>
                        </m:e>
                        <m:sub>
                          <m:r>
                            <a:rPr kumimoji="1" lang="en-US" altLang="zh-CN" sz="2400" i="1">
                              <a:latin typeface="Cambria Math" panose="02040503050406030204" pitchFamily="18" charset="0"/>
                              <a:cs typeface="Cambria Math" panose="02040503050406030204" pitchFamily="18" charset="0"/>
                            </a:rPr>
                            <m:t>𝑖</m:t>
                          </m:r>
                        </m:sub>
                      </m:sSub>
                      <m:r>
                        <a:rPr kumimoji="1" lang="en-US" altLang="zh-CN" sz="2400" i="1">
                          <a:latin typeface="Cambria Math" panose="02040503050406030204" pitchFamily="18" charset="0"/>
                          <a:cs typeface="Cambria Math" panose="02040503050406030204" pitchFamily="18" charset="0"/>
                        </a:rPr>
                        <m:t>((</m:t>
                      </m:r>
                      <m:r>
                        <a:rPr kumimoji="1" lang="en-US" altLang="zh-CN" sz="2400" i="1">
                          <a:latin typeface="Cambria Math" panose="02040503050406030204" pitchFamily="18" charset="0"/>
                          <a:cs typeface="Cambria Math" panose="02040503050406030204" pitchFamily="18" charset="0"/>
                        </a:rPr>
                        <m:t>𝜔</m:t>
                      </m:r>
                      <m:r>
                        <a:rPr kumimoji="1" lang="en-US" altLang="zh-CN" sz="2400" i="1">
                          <a:latin typeface="Cambria Math" panose="02040503050406030204" pitchFamily="18" charset="0"/>
                          <a:cs typeface="Cambria Math" panose="02040503050406030204" pitchFamily="18" charset="0"/>
                        </a:rPr>
                        <m:t>∙</m:t>
                      </m:r>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𝑎</m:t>
                          </m:r>
                        </m:e>
                        <m:sub>
                          <m:r>
                            <a:rPr lang="en-US" altLang="zh-CN" sz="2400" i="1">
                              <a:latin typeface="Cambria Math" panose="02040503050406030204" pitchFamily="18" charset="0"/>
                              <a:ea typeface="MS Mincho" panose="02020609040205080304" charset="-128"/>
                              <a:cs typeface="Cambria Math" panose="02040503050406030204" pitchFamily="18" charset="0"/>
                            </a:rPr>
                            <m:t>𝑖</m:t>
                          </m:r>
                        </m:sub>
                      </m:sSub>
                      <m:r>
                        <a:rPr kumimoji="1" lang="en-US" altLang="zh-CN" sz="2400" i="1">
                          <a:latin typeface="Cambria Math" panose="02040503050406030204" pitchFamily="18" charset="0"/>
                          <a:cs typeface="Cambria Math" panose="02040503050406030204" pitchFamily="18" charset="0"/>
                        </a:rPr>
                        <m:t>)+</m:t>
                      </m:r>
                      <m:r>
                        <a:rPr kumimoji="1" lang="en-US" altLang="zh-CN" sz="2400" i="1">
                          <a:latin typeface="Cambria Math" panose="02040503050406030204" pitchFamily="18" charset="0"/>
                          <a:cs typeface="Cambria Math" panose="02040503050406030204" pitchFamily="18" charset="0"/>
                        </a:rPr>
                        <m:t>𝑏</m:t>
                      </m:r>
                      <m:r>
                        <a:rPr kumimoji="1" lang="en-US" altLang="zh-CN" sz="2400" i="1">
                          <a:latin typeface="Cambria Math" panose="02040503050406030204" pitchFamily="18" charset="0"/>
                          <a:cs typeface="Cambria Math" panose="02040503050406030204" pitchFamily="18" charset="0"/>
                        </a:rPr>
                        <m:t>)≥1,</m:t>
                      </m:r>
                      <m:r>
                        <a:rPr kumimoji="1" lang="en-US" altLang="zh-CN" sz="2400" i="1">
                          <a:latin typeface="Cambria Math" panose="02040503050406030204" pitchFamily="18" charset="0"/>
                          <a:cs typeface="Cambria Math" panose="02040503050406030204" pitchFamily="18" charset="0"/>
                        </a:rPr>
                        <m:t>𝑖</m:t>
                      </m:r>
                      <m:r>
                        <a:rPr kumimoji="1" lang="en-US" altLang="zh-CN" sz="2400" i="1">
                          <a:latin typeface="Cambria Math" panose="02040503050406030204" pitchFamily="18" charset="0"/>
                          <a:cs typeface="Cambria Math" panose="02040503050406030204" pitchFamily="18" charset="0"/>
                        </a:rPr>
                        <m:t>=1,...,</m:t>
                      </m:r>
                      <m:r>
                        <a:rPr kumimoji="1" lang="en-US" altLang="zh-CN" sz="2400" i="1">
                          <a:latin typeface="Cambria Math" panose="02040503050406030204" pitchFamily="18" charset="0"/>
                          <a:cs typeface="Cambria Math" panose="02040503050406030204" pitchFamily="18" charset="0"/>
                        </a:rPr>
                        <m:t>𝑙</m:t>
                      </m:r>
                      <m:r>
                        <a:rPr kumimoji="1" lang="en-US" altLang="zh-CN" sz="2400" i="1">
                          <a:latin typeface="Cambria Math" panose="02040503050406030204" pitchFamily="18" charset="0"/>
                          <a:cs typeface="Cambria Math" panose="02040503050406030204" pitchFamily="18" charset="0"/>
                        </a:rPr>
                        <m:t>.</m:t>
                      </m:r>
                    </m:oMath>
                  </m:oMathPara>
                </a14:m>
                <a:endParaRPr kumimoji="1" lang="en-US" altLang="zh-CN" sz="2400" i="1" dirty="0">
                  <a:latin typeface="Cambria Math" panose="02040503050406030204" pitchFamily="18" charset="0"/>
                  <a:cs typeface="Cambria Math" panose="02040503050406030204" pitchFamily="18" charset="0"/>
                </a:endParaRPr>
              </a:p>
              <a:p>
                <a:endParaRPr lang="zh-CN" altLang="en-US" sz="2400" dirty="0">
                  <a:latin typeface="宋体" panose="02010600030101010101" pitchFamily="2" charset="-122"/>
                  <a:ea typeface="宋体" panose="02010600030101010101" pitchFamily="2"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1007604" y="1268760"/>
                <a:ext cx="6004560" cy="1902509"/>
              </a:xfrm>
              <a:prstGeom prst="rect">
                <a:avLst/>
              </a:prstGeom>
              <a:blipFill>
                <a:blip r:embed="rId2"/>
                <a:stretch>
                  <a:fillRect l="-1523" t="-3846"/>
                </a:stretch>
              </a:blipFill>
            </p:spPr>
            <p:txBody>
              <a:bodyPr/>
              <a:lstStyle/>
              <a:p>
                <a:r>
                  <a:rPr lang="zh-CN" altLang="en-US">
                    <a:noFill/>
                  </a:rPr>
                  <a:t> </a:t>
                </a:r>
              </a:p>
            </p:txBody>
          </p:sp>
        </mc:Fallback>
      </mc:AlternateContent>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p:cNvSpPr txBox="1"/>
              <p:nvPr/>
            </p:nvSpPr>
            <p:spPr>
              <a:xfrm>
                <a:off x="611560" y="476672"/>
                <a:ext cx="7920880" cy="7161576"/>
              </a:xfrm>
              <a:prstGeom prst="rect">
                <a:avLst/>
              </a:prstGeom>
              <a:noFill/>
            </p:spPr>
            <p:txBody>
              <a:bodyPr wrap="square" rtlCol="0">
                <a:spAutoFit/>
              </a:bodyPr>
              <a:lstStyle/>
              <a:p>
                <a:pPr fontAlgn="auto">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引入拉格朗日函数</a:t>
                </a:r>
              </a:p>
              <a:p>
                <a:pPr algn="ctr" fontAlgn="auto">
                  <a:lnSpc>
                    <a:spcPct val="150000"/>
                  </a:lnSpc>
                </a:pPr>
                <a14:m>
                  <m:oMath xmlns:m="http://schemas.openxmlformats.org/officeDocument/2006/math">
                    <m:r>
                      <a:rPr lang="en-US" altLang="zh-CN" sz="2400" i="1" dirty="0">
                        <a:latin typeface="Cambria Math" panose="02040503050406030204" pitchFamily="18" charset="0"/>
                        <a:ea typeface="宋体" panose="02010600030101010101" pitchFamily="2" charset="-122"/>
                        <a:cs typeface="Cambria Math" panose="02040503050406030204" pitchFamily="18" charset="0"/>
                      </a:rPr>
                      <m:t>ℒ</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𝜔</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𝑏</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𝛼</m:t>
                    </m:r>
                    <m:r>
                      <a:rPr lang="en-US" altLang="zh-CN" sz="2400" i="1">
                        <a:latin typeface="Cambria Math" panose="02040503050406030204" pitchFamily="18" charset="0"/>
                        <a:ea typeface="MS Mincho" panose="02020609040205080304" charset="-128"/>
                        <a:cs typeface="Cambria Math" panose="02040503050406030204" pitchFamily="18" charset="0"/>
                      </a:rPr>
                      <m:t>)=</m:t>
                    </m:r>
                    <m:f>
                      <m:f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fPr>
                      <m:num>
                        <m:r>
                          <a:rPr lang="en-US" altLang="zh-CN" sz="2400" i="1" kern="100">
                            <a:latin typeface="Cambria Math" panose="02040503050406030204" pitchFamily="18" charset="0"/>
                            <a:ea typeface="宋体" panose="02010600030101010101" pitchFamily="2" charset="-122"/>
                            <a:cs typeface="Cambria Math" panose="02040503050406030204" pitchFamily="18" charset="0"/>
                          </a:rPr>
                          <m:t>1</m:t>
                        </m:r>
                      </m:num>
                      <m:den>
                        <m:r>
                          <a:rPr lang="en-US" altLang="zh-CN" sz="2400" i="1" kern="100">
                            <a:latin typeface="Cambria Math" panose="02040503050406030204" pitchFamily="18" charset="0"/>
                            <a:ea typeface="宋体" panose="02010600030101010101" pitchFamily="2" charset="-122"/>
                            <a:cs typeface="Cambria Math" panose="02040503050406030204" pitchFamily="18" charset="0"/>
                          </a:rPr>
                          <m:t>2</m:t>
                        </m:r>
                      </m:den>
                    </m:f>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d>
                          <m:dPr>
                            <m:begChr m:val="‖"/>
                            <m:endChr m:val="‖"/>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𝜔</m:t>
                            </m:r>
                          </m:e>
                        </m:d>
                      </m:e>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2</m:t>
                        </m:r>
                      </m:sup>
                    </m:sSup>
                    <m:r>
                      <a:rPr lang="en-US" altLang="zh-CN" sz="2400" i="1">
                        <a:latin typeface="Cambria Math" panose="02040503050406030204" pitchFamily="18" charset="0"/>
                        <a:ea typeface="MS Mincho" panose="02020609040205080304" charset="-128"/>
                        <a:cs typeface="Cambria Math" panose="02040503050406030204" pitchFamily="18" charset="0"/>
                      </a:rPr>
                      <m:t>+</m:t>
                    </m:r>
                    <m:nary>
                      <m:naryPr>
                        <m:chr m:val="∑"/>
                        <m:limLoc m:val="undOvr"/>
                        <m:ctrlPr>
                          <a:rPr lang="en-US" altLang="zh-CN" sz="2400" i="1">
                            <a:latin typeface="Cambria Math" panose="02040503050406030204" pitchFamily="18" charset="0"/>
                            <a:ea typeface="MS Mincho" panose="02020609040205080304" charset="-128"/>
                            <a:cs typeface="Cambria Math" panose="02040503050406030204" pitchFamily="18" charset="0"/>
                          </a:rPr>
                        </m:ctrlPr>
                      </m:naryPr>
                      <m:sub>
                        <m:r>
                          <a:rPr lang="en-US" altLang="zh-CN" sz="2400" i="1">
                            <a:latin typeface="Cambria Math" panose="02040503050406030204" pitchFamily="18" charset="0"/>
                            <a:ea typeface="MS Mincho" panose="02020609040205080304" charset="-128"/>
                            <a:cs typeface="Cambria Math" panose="02040503050406030204" pitchFamily="18" charset="0"/>
                          </a:rPr>
                          <m:t>𝑖</m:t>
                        </m:r>
                        <m:r>
                          <a:rPr lang="en-US" altLang="zh-CN" sz="2400" i="1">
                            <a:latin typeface="Cambria Math" panose="02040503050406030204" pitchFamily="18" charset="0"/>
                            <a:ea typeface="MS Mincho" panose="02020609040205080304" charset="-128"/>
                            <a:cs typeface="Cambria Math" panose="02040503050406030204" pitchFamily="18" charset="0"/>
                          </a:rPr>
                          <m:t>=1</m:t>
                        </m:r>
                      </m:sub>
                      <m:sup>
                        <m:r>
                          <a:rPr lang="en-US" altLang="zh-CN" sz="2400" i="1">
                            <a:latin typeface="Cambria Math" panose="02040503050406030204" pitchFamily="18" charset="0"/>
                            <a:ea typeface="MS Mincho" panose="02020609040205080304" charset="-128"/>
                            <a:cs typeface="Cambria Math" panose="02040503050406030204" pitchFamily="18" charset="0"/>
                          </a:rPr>
                          <m:t>𝑙</m:t>
                        </m:r>
                      </m:sup>
                      <m:e>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𝛼</m:t>
                            </m:r>
                          </m:e>
                          <m:sub>
                            <m:r>
                              <a:rPr lang="en-US" altLang="zh-CN" sz="2400" i="1">
                                <a:latin typeface="Cambria Math" panose="02040503050406030204" pitchFamily="18" charset="0"/>
                                <a:ea typeface="MS Mincho" panose="02020609040205080304" charset="-128"/>
                                <a:cs typeface="Cambria Math" panose="02040503050406030204" pitchFamily="18" charset="0"/>
                              </a:rPr>
                              <m:t>𝑖</m:t>
                            </m:r>
                          </m:sub>
                        </m:sSub>
                        <m:r>
                          <a:rPr lang="en-US" altLang="zh-CN" sz="2400" i="1">
                            <a:latin typeface="Cambria Math" panose="02040503050406030204" pitchFamily="18" charset="0"/>
                            <a:ea typeface="MS Mincho" panose="02020609040205080304" charset="-128"/>
                            <a:cs typeface="Cambria Math" panose="02040503050406030204" pitchFamily="18" charset="0"/>
                          </a:rPr>
                          <m:t>(1−</m:t>
                        </m:r>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𝑦</m:t>
                            </m:r>
                          </m:e>
                          <m:sub>
                            <m:r>
                              <a:rPr lang="en-US" altLang="zh-CN" sz="2400" i="1">
                                <a:latin typeface="Cambria Math" panose="02040503050406030204" pitchFamily="18" charset="0"/>
                                <a:ea typeface="MS Mincho" panose="02020609040205080304" charset="-128"/>
                                <a:cs typeface="Cambria Math" panose="02040503050406030204" pitchFamily="18" charset="0"/>
                              </a:rPr>
                              <m:t>𝑖</m:t>
                            </m:r>
                          </m:sub>
                        </m:sSub>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𝜔</m:t>
                        </m:r>
                        <m:r>
                          <a:rPr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𝑎</m:t>
                            </m:r>
                          </m:e>
                          <m:sub>
                            <m:r>
                              <a:rPr lang="en-US" altLang="zh-CN" sz="2400" i="1">
                                <a:latin typeface="Cambria Math" panose="02040503050406030204" pitchFamily="18" charset="0"/>
                                <a:ea typeface="MS Mincho" panose="02020609040205080304" charset="-128"/>
                                <a:cs typeface="Cambria Math" panose="02040503050406030204" pitchFamily="18" charset="0"/>
                              </a:rPr>
                              <m:t>𝑖</m:t>
                            </m:r>
                          </m:sub>
                        </m:sSub>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𝑏</m:t>
                        </m:r>
                        <m:r>
                          <a:rPr lang="en-US" altLang="zh-CN" sz="2400" i="1">
                            <a:latin typeface="Cambria Math" panose="02040503050406030204" pitchFamily="18" charset="0"/>
                            <a:ea typeface="MS Mincho" panose="02020609040205080304" charset="-128"/>
                            <a:cs typeface="Cambria Math" panose="02040503050406030204" pitchFamily="18" charset="0"/>
                          </a:rPr>
                          <m:t>))</m:t>
                        </m:r>
                      </m:e>
                    </m:nary>
                  </m:oMath>
                </a14:m>
                <a:r>
                  <a:rPr lang="zh-CN" altLang="en-US" sz="2400" dirty="0">
                    <a:latin typeface="宋体" panose="02010600030101010101" pitchFamily="2" charset="-122"/>
                    <a:ea typeface="宋体" panose="02010600030101010101" pitchFamily="2" charset="-122"/>
                    <a:cs typeface="宋体" panose="02010600030101010101" pitchFamily="2" charset="-122"/>
                  </a:rPr>
                  <a:t>,</a:t>
                </a:r>
              </a:p>
              <a:p>
                <a:pPr fontAlgn="auto">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其中</a:t>
                </a:r>
                <a14:m>
                  <m:oMath xmlns:m="http://schemas.openxmlformats.org/officeDocument/2006/math">
                    <m:r>
                      <a:rPr lang="en-US" altLang="zh-CN" sz="2400" i="1">
                        <a:latin typeface="Cambria Math" panose="02040503050406030204" pitchFamily="18" charset="0"/>
                        <a:ea typeface="MS Mincho" panose="02020609040205080304" charset="-128"/>
                        <a:cs typeface="Cambria Math" panose="02040503050406030204" pitchFamily="18" charset="0"/>
                      </a:rPr>
                      <m:t>𝛼</m:t>
                    </m:r>
                    <m:r>
                      <a:rPr lang="en-US" altLang="zh-CN" sz="2400" i="1">
                        <a:latin typeface="Cambria Math" panose="02040503050406030204" pitchFamily="18" charset="0"/>
                        <a:ea typeface="MS Mincho" panose="02020609040205080304" charset="-128"/>
                        <a:cs typeface="Cambria Math" panose="02040503050406030204" pitchFamily="18" charset="0"/>
                      </a:rPr>
                      <m:t>=</m:t>
                    </m:r>
                    <m:sSup>
                      <m:sSupPr>
                        <m:ctrlPr>
                          <a:rPr lang="en-US" altLang="zh-CN" sz="2400" i="1">
                            <a:latin typeface="Cambria Math" panose="02040503050406030204" pitchFamily="18" charset="0"/>
                            <a:ea typeface="MS Mincho" panose="02020609040205080304" charset="-128"/>
                            <a:cs typeface="Cambria Math" panose="02040503050406030204" pitchFamily="18" charset="0"/>
                          </a:rPr>
                        </m:ctrlPr>
                      </m:sSupPr>
                      <m:e>
                        <m:r>
                          <a:rPr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𝛼</m:t>
                            </m:r>
                          </m:e>
                          <m:sub>
                            <m:r>
                              <a:rPr lang="en-US" altLang="zh-CN" sz="2400" i="1">
                                <a:latin typeface="Cambria Math" panose="02040503050406030204" pitchFamily="18" charset="0"/>
                                <a:ea typeface="MS Mincho" panose="02020609040205080304" charset="-128"/>
                                <a:cs typeface="Cambria Math" panose="02040503050406030204" pitchFamily="18" charset="0"/>
                              </a:rPr>
                              <m:t>1</m:t>
                            </m:r>
                          </m:sub>
                        </m:sSub>
                        <m:r>
                          <a:rPr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𝛼</m:t>
                            </m:r>
                          </m:e>
                          <m:sub>
                            <m:r>
                              <a:rPr lang="en-US" altLang="zh-CN" sz="2400" i="1">
                                <a:latin typeface="Cambria Math" panose="02040503050406030204" pitchFamily="18" charset="0"/>
                                <a:ea typeface="MS Mincho" panose="02020609040205080304" charset="-128"/>
                                <a:cs typeface="Cambria Math" panose="02040503050406030204" pitchFamily="18" charset="0"/>
                              </a:rPr>
                              <m:t>𝑙</m:t>
                            </m:r>
                          </m:sub>
                        </m:sSub>
                        <m:r>
                          <a:rPr lang="en-US" altLang="zh-CN" sz="2400" i="1">
                            <a:latin typeface="Cambria Math" panose="02040503050406030204" pitchFamily="18" charset="0"/>
                            <a:ea typeface="MS Mincho" panose="02020609040205080304" charset="-128"/>
                            <a:cs typeface="Cambria Math" panose="02040503050406030204" pitchFamily="18" charset="0"/>
                          </a:rPr>
                          <m:t>)</m:t>
                        </m:r>
                      </m:e>
                      <m:sup>
                        <m:r>
                          <a:rPr lang="en-US" altLang="zh-CN" sz="2400" i="1">
                            <a:latin typeface="Cambria Math" panose="02040503050406030204" pitchFamily="18" charset="0"/>
                            <a:ea typeface="MS Mincho" panose="02020609040205080304" charset="-128"/>
                            <a:cs typeface="Cambria Math" panose="02040503050406030204" pitchFamily="18" charset="0"/>
                          </a:rPr>
                          <m:t>𝑇</m:t>
                        </m:r>
                      </m:sup>
                    </m:sSup>
                    <m:r>
                      <a:rPr lang="en-US" altLang="zh-CN" sz="2400" i="1">
                        <a:latin typeface="Cambria Math" panose="02040503050406030204" pitchFamily="18" charset="0"/>
                        <a:ea typeface="MS Mincho" panose="02020609040205080304" charset="-128"/>
                        <a:cs typeface="Cambria Math" panose="02040503050406030204" pitchFamily="18" charset="0"/>
                      </a:rPr>
                      <m:t>∈</m:t>
                    </m:r>
                    <m:sSup>
                      <m:sSupPr>
                        <m:ctrlPr>
                          <a:rPr lang="en-US" altLang="zh-CN" sz="2400" i="1">
                            <a:latin typeface="Cambria Math" panose="02040503050406030204" pitchFamily="18" charset="0"/>
                            <a:ea typeface="MS Mincho" panose="02020609040205080304" charset="-128"/>
                            <a:cs typeface="Cambria Math" panose="02040503050406030204" pitchFamily="18" charset="0"/>
                          </a:rPr>
                        </m:ctrlPr>
                      </m:sSupPr>
                      <m:e>
                        <m:r>
                          <a:rPr lang="en-US" altLang="zh-CN" sz="2400" i="1">
                            <a:latin typeface="Cambria Math" panose="02040503050406030204" pitchFamily="18" charset="0"/>
                            <a:ea typeface="MS Mincho" panose="02020609040205080304" charset="-128"/>
                            <a:cs typeface="Cambria Math" panose="02040503050406030204" pitchFamily="18" charset="0"/>
                          </a:rPr>
                          <m:t>𝑅</m:t>
                        </m:r>
                      </m:e>
                      <m:sup>
                        <m:r>
                          <a:rPr lang="en-US" altLang="zh-CN" sz="2400" i="1">
                            <a:latin typeface="Cambria Math" panose="02040503050406030204" pitchFamily="18" charset="0"/>
                            <a:ea typeface="MS Mincho" panose="02020609040205080304" charset="-128"/>
                            <a:cs typeface="Cambria Math" panose="02040503050406030204" pitchFamily="18" charset="0"/>
                          </a:rPr>
                          <m:t>𝑙</m:t>
                        </m:r>
                      </m:sup>
                    </m:sSup>
                  </m:oMath>
                </a14:m>
                <a:r>
                  <a:rPr lang="zh-CN" altLang="en-US" sz="2400" dirty="0">
                    <a:latin typeface="宋体" panose="02010600030101010101" pitchFamily="2" charset="-122"/>
                    <a:ea typeface="宋体" panose="02010600030101010101" pitchFamily="2" charset="-122"/>
                    <a:cs typeface="宋体" panose="02010600030101010101" pitchFamily="2" charset="-122"/>
                  </a:rPr>
                  <a:t>非负为拉格朗日乘子。根据对偶的定义，通过对原问题中各变量的偏导置零可得</a:t>
                </a:r>
              </a:p>
              <a:p>
                <a:pPr fontAlgn="auto">
                  <a:lnSpc>
                    <a:spcPct val="150000"/>
                  </a:lnSpc>
                </a:pPr>
                <a14:m>
                  <m:oMathPara xmlns:m="http://schemas.openxmlformats.org/officeDocument/2006/math">
                    <m:oMathParaPr>
                      <m:jc m:val="centerGroup"/>
                    </m:oMathParaPr>
                    <m:oMath xmlns:m="http://schemas.openxmlformats.org/officeDocument/2006/math">
                      <m:f>
                        <m:f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fPr>
                        <m:num>
                          <m:r>
                            <a:rPr lang="zh-CN" altLang="en-US"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dirty="0">
                              <a:latin typeface="Cambria Math" panose="02040503050406030204" pitchFamily="18" charset="0"/>
                              <a:ea typeface="宋体" panose="02010600030101010101" pitchFamily="2" charset="-122"/>
                              <a:cs typeface="Cambria Math" panose="02040503050406030204" pitchFamily="18" charset="0"/>
                            </a:rPr>
                            <m:t>ℒ</m:t>
                          </m:r>
                        </m:num>
                        <m:den>
                          <m:r>
                            <a:rPr lang="zh-CN" altLang="en-US"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MS Mincho" panose="02020609040205080304" charset="-128"/>
                              <a:cs typeface="Cambria Math" panose="02040503050406030204" pitchFamily="18" charset="0"/>
                            </a:rPr>
                            <m:t>𝜔</m:t>
                          </m:r>
                        </m:den>
                      </m:f>
                      <m:r>
                        <a:rPr lang="en-US" altLang="zh-CN" sz="2400" i="1" kern="100">
                          <a:latin typeface="Cambria Math" panose="02040503050406030204" pitchFamily="18" charset="0"/>
                          <a:ea typeface="宋体" panose="02010600030101010101" pitchFamily="2" charset="-122"/>
                          <a:cs typeface="Cambria Math" panose="02040503050406030204" pitchFamily="18" charset="0"/>
                        </a:rPr>
                        <m:t>=0   →   </m:t>
                      </m:r>
                      <m:r>
                        <a:rPr lang="en-US" altLang="zh-CN" sz="2400" i="1">
                          <a:latin typeface="Cambria Math" panose="02040503050406030204" pitchFamily="18" charset="0"/>
                          <a:ea typeface="MS Mincho" panose="02020609040205080304" charset="-128"/>
                          <a:cs typeface="Cambria Math" panose="02040503050406030204" pitchFamily="18" charset="0"/>
                        </a:rPr>
                        <m:t>𝜔</m:t>
                      </m:r>
                      <m:r>
                        <a:rPr lang="en-US" altLang="zh-CN" sz="2400" i="1">
                          <a:latin typeface="Cambria Math" panose="02040503050406030204" pitchFamily="18" charset="0"/>
                          <a:ea typeface="MS Mincho" panose="02020609040205080304" charset="-128"/>
                          <a:cs typeface="Cambria Math" panose="02040503050406030204" pitchFamily="18" charset="0"/>
                        </a:rPr>
                        <m:t>=</m:t>
                      </m:r>
                      <m:nary>
                        <m:naryPr>
                          <m:chr m:val="∑"/>
                          <m:limLoc m:val="undOvr"/>
                          <m:ctrlPr>
                            <a:rPr lang="en-US" altLang="zh-CN" sz="2400" i="1">
                              <a:latin typeface="Cambria Math" panose="02040503050406030204" pitchFamily="18" charset="0"/>
                              <a:ea typeface="MS Mincho" panose="02020609040205080304" charset="-128"/>
                              <a:cs typeface="Cambria Math" panose="02040503050406030204" pitchFamily="18" charset="0"/>
                            </a:rPr>
                          </m:ctrlPr>
                        </m:naryPr>
                        <m:sub>
                          <m:r>
                            <a:rPr lang="en-US" altLang="zh-CN" sz="2400" i="1">
                              <a:latin typeface="Cambria Math" panose="02040503050406030204" pitchFamily="18" charset="0"/>
                              <a:ea typeface="MS Mincho" panose="02020609040205080304" charset="-128"/>
                              <a:cs typeface="Cambria Math" panose="02040503050406030204" pitchFamily="18" charset="0"/>
                            </a:rPr>
                            <m:t>𝑖</m:t>
                          </m:r>
                          <m:r>
                            <a:rPr lang="en-US" altLang="zh-CN" sz="2400" i="1">
                              <a:latin typeface="Cambria Math" panose="02040503050406030204" pitchFamily="18" charset="0"/>
                              <a:ea typeface="MS Mincho" panose="02020609040205080304" charset="-128"/>
                              <a:cs typeface="Cambria Math" panose="02040503050406030204" pitchFamily="18" charset="0"/>
                            </a:rPr>
                            <m:t>=1</m:t>
                          </m:r>
                        </m:sub>
                        <m:sup>
                          <m:r>
                            <a:rPr lang="en-US" altLang="zh-CN" sz="2400" i="1">
                              <a:latin typeface="Cambria Math" panose="02040503050406030204" pitchFamily="18" charset="0"/>
                              <a:ea typeface="MS Mincho" panose="02020609040205080304" charset="-128"/>
                              <a:cs typeface="Cambria Math" panose="02040503050406030204" pitchFamily="18" charset="0"/>
                            </a:rPr>
                            <m:t>𝑙</m:t>
                          </m:r>
                        </m:sup>
                        <m:e>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𝛼</m:t>
                              </m:r>
                            </m:e>
                            <m:sub>
                              <m:r>
                                <a:rPr lang="en-US" altLang="zh-CN" sz="2400" i="1">
                                  <a:latin typeface="Cambria Math" panose="02040503050406030204" pitchFamily="18" charset="0"/>
                                  <a:ea typeface="MS Mincho" panose="02020609040205080304" charset="-128"/>
                                  <a:cs typeface="Cambria Math" panose="02040503050406030204" pitchFamily="18" charset="0"/>
                                </a:rPr>
                                <m:t>𝑖</m:t>
                              </m:r>
                            </m:sub>
                          </m:sSub>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𝑦</m:t>
                              </m:r>
                            </m:e>
                            <m:sub>
                              <m:r>
                                <a:rPr lang="en-US" altLang="zh-CN" sz="2400" i="1">
                                  <a:latin typeface="Cambria Math" panose="02040503050406030204" pitchFamily="18" charset="0"/>
                                  <a:ea typeface="MS Mincho" panose="02020609040205080304" charset="-128"/>
                                  <a:cs typeface="Cambria Math" panose="02040503050406030204" pitchFamily="18" charset="0"/>
                                </a:rPr>
                                <m:t>𝑖</m:t>
                              </m:r>
                            </m:sub>
                          </m:sSub>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𝑎</m:t>
                              </m:r>
                            </m:e>
                            <m:sub>
                              <m:r>
                                <a:rPr lang="en-US" altLang="zh-CN" sz="2400" i="1">
                                  <a:latin typeface="Cambria Math" panose="02040503050406030204" pitchFamily="18" charset="0"/>
                                  <a:ea typeface="MS Mincho" panose="02020609040205080304" charset="-128"/>
                                  <a:cs typeface="Cambria Math" panose="02040503050406030204" pitchFamily="18" charset="0"/>
                                </a:rPr>
                                <m:t>𝑖</m:t>
                              </m:r>
                            </m:sub>
                          </m:sSub>
                        </m:e>
                      </m:nary>
                      <m:r>
                        <a:rPr lang="en-US" altLang="zh-CN" sz="2400" i="1">
                          <a:latin typeface="Cambria Math" panose="02040503050406030204" pitchFamily="18" charset="0"/>
                          <a:ea typeface="MS Mincho" panose="02020609040205080304" charset="-128"/>
                          <a:cs typeface="Cambria Math" panose="02040503050406030204" pitchFamily="18" charset="0"/>
                        </a:rPr>
                        <m:t>,</m:t>
                      </m:r>
                    </m:oMath>
                  </m:oMathPara>
                </a14:m>
                <a:endParaRPr lang="en-US" altLang="zh-CN" sz="2400" i="1" dirty="0">
                  <a:latin typeface="Cambria Math" panose="02040503050406030204" pitchFamily="18" charset="0"/>
                  <a:ea typeface="MS Mincho" panose="02020609040205080304" charset="-128"/>
                  <a:cs typeface="Cambria Math" panose="02040503050406030204" pitchFamily="18" charset="0"/>
                </a:endParaRPr>
              </a:p>
              <a:p>
                <a:pPr fontAlgn="auto">
                  <a:lnSpc>
                    <a:spcPct val="150000"/>
                  </a:lnSpc>
                </a:pPr>
                <a14:m>
                  <m:oMathPara xmlns:m="http://schemas.openxmlformats.org/officeDocument/2006/math">
                    <m:oMathParaPr>
                      <m:jc m:val="centerGroup"/>
                    </m:oMathParaPr>
                    <m:oMath xmlns:m="http://schemas.openxmlformats.org/officeDocument/2006/math">
                      <m:f>
                        <m:f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fPr>
                        <m:num>
                          <m:r>
                            <a:rPr lang="zh-CN" altLang="en-US"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dirty="0">
                              <a:latin typeface="Cambria Math" panose="02040503050406030204" pitchFamily="18" charset="0"/>
                              <a:ea typeface="宋体" panose="02010600030101010101" pitchFamily="2" charset="-122"/>
                              <a:cs typeface="Cambria Math" panose="02040503050406030204" pitchFamily="18" charset="0"/>
                            </a:rPr>
                            <m:t>ℒ</m:t>
                          </m:r>
                        </m:num>
                        <m:den>
                          <m:r>
                            <a:rPr lang="zh-CN" altLang="en-US"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MS Mincho" panose="02020609040205080304" charset="-128"/>
                              <a:cs typeface="Cambria Math" panose="02040503050406030204" pitchFamily="18" charset="0"/>
                            </a:rPr>
                            <m:t>𝑏</m:t>
                          </m:r>
                        </m:den>
                      </m:f>
                      <m:r>
                        <a:rPr lang="en-US" altLang="zh-CN" sz="2400" i="1" kern="100">
                          <a:latin typeface="Cambria Math" panose="02040503050406030204" pitchFamily="18" charset="0"/>
                          <a:ea typeface="宋体" panose="02010600030101010101" pitchFamily="2" charset="-122"/>
                          <a:cs typeface="Cambria Math" panose="02040503050406030204" pitchFamily="18" charset="0"/>
                        </a:rPr>
                        <m:t>=0   →   </m:t>
                      </m:r>
                      <m:nary>
                        <m:naryPr>
                          <m:chr m:val="∑"/>
                          <m:limLoc m:val="undOvr"/>
                          <m:ctrlPr>
                            <a:rPr lang="en-US" altLang="zh-CN" sz="2400" i="1">
                              <a:latin typeface="Cambria Math" panose="02040503050406030204" pitchFamily="18" charset="0"/>
                              <a:ea typeface="MS Mincho" panose="02020609040205080304" charset="-128"/>
                              <a:cs typeface="Cambria Math" panose="02040503050406030204" pitchFamily="18" charset="0"/>
                            </a:rPr>
                          </m:ctrlPr>
                        </m:naryPr>
                        <m:sub>
                          <m:r>
                            <a:rPr lang="en-US" altLang="zh-CN" sz="2400" i="1">
                              <a:latin typeface="Cambria Math" panose="02040503050406030204" pitchFamily="18" charset="0"/>
                              <a:ea typeface="MS Mincho" panose="02020609040205080304" charset="-128"/>
                              <a:cs typeface="Cambria Math" panose="02040503050406030204" pitchFamily="18" charset="0"/>
                            </a:rPr>
                            <m:t>𝑖</m:t>
                          </m:r>
                          <m:r>
                            <a:rPr lang="en-US" altLang="zh-CN" sz="2400" i="1">
                              <a:latin typeface="Cambria Math" panose="02040503050406030204" pitchFamily="18" charset="0"/>
                              <a:ea typeface="MS Mincho" panose="02020609040205080304" charset="-128"/>
                              <a:cs typeface="Cambria Math" panose="02040503050406030204" pitchFamily="18" charset="0"/>
                            </a:rPr>
                            <m:t>=1</m:t>
                          </m:r>
                        </m:sub>
                        <m:sup>
                          <m:r>
                            <a:rPr lang="en-US" altLang="zh-CN" sz="2400" i="1">
                              <a:latin typeface="Cambria Math" panose="02040503050406030204" pitchFamily="18" charset="0"/>
                              <a:ea typeface="MS Mincho" panose="02020609040205080304" charset="-128"/>
                              <a:cs typeface="Cambria Math" panose="02040503050406030204" pitchFamily="18" charset="0"/>
                            </a:rPr>
                            <m:t>𝑙</m:t>
                          </m:r>
                        </m:sup>
                        <m:e>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𝛼</m:t>
                              </m:r>
                            </m:e>
                            <m:sub>
                              <m:r>
                                <a:rPr lang="en-US" altLang="zh-CN" sz="2400" i="1">
                                  <a:latin typeface="Cambria Math" panose="02040503050406030204" pitchFamily="18" charset="0"/>
                                  <a:ea typeface="MS Mincho" panose="02020609040205080304" charset="-128"/>
                                  <a:cs typeface="Cambria Math" panose="02040503050406030204" pitchFamily="18" charset="0"/>
                                </a:rPr>
                                <m:t>𝑖</m:t>
                              </m:r>
                            </m:sub>
                          </m:sSub>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𝑦</m:t>
                              </m:r>
                            </m:e>
                            <m:sub>
                              <m:r>
                                <a:rPr lang="en-US" altLang="zh-CN" sz="2400" i="1">
                                  <a:latin typeface="Cambria Math" panose="02040503050406030204" pitchFamily="18" charset="0"/>
                                  <a:ea typeface="MS Mincho" panose="02020609040205080304" charset="-128"/>
                                  <a:cs typeface="Cambria Math" panose="02040503050406030204" pitchFamily="18" charset="0"/>
                                </a:rPr>
                                <m:t>𝑖</m:t>
                              </m:r>
                            </m:sub>
                          </m:sSub>
                          <m:r>
                            <a:rPr lang="en-US" altLang="zh-CN" sz="2400" i="1">
                              <a:latin typeface="Cambria Math" panose="02040503050406030204" pitchFamily="18" charset="0"/>
                              <a:ea typeface="MS Mincho" panose="02020609040205080304" charset="-128"/>
                              <a:cs typeface="Cambria Math" panose="02040503050406030204" pitchFamily="18" charset="0"/>
                            </a:rPr>
                            <m:t>=0</m:t>
                          </m:r>
                        </m:e>
                      </m:nary>
                      <m:r>
                        <a:rPr lang="en-US" altLang="zh-CN" sz="2400" i="1">
                          <a:latin typeface="Cambria Math" panose="02040503050406030204" pitchFamily="18" charset="0"/>
                          <a:ea typeface="MS Mincho" panose="02020609040205080304" charset="-128"/>
                          <a:cs typeface="Cambria Math" panose="02040503050406030204" pitchFamily="18" charset="0"/>
                        </a:rPr>
                        <m:t>,</m:t>
                      </m:r>
                    </m:oMath>
                  </m:oMathPara>
                </a14:m>
                <a:endParaRPr lang="en-US" altLang="zh-CN" sz="2400" i="1" dirty="0">
                  <a:latin typeface="Cambria Math" panose="02040503050406030204" pitchFamily="18" charset="0"/>
                  <a:ea typeface="MS Mincho" panose="02020609040205080304" charset="-128"/>
                  <a:cs typeface="Cambria Math" panose="02040503050406030204" pitchFamily="18" charset="0"/>
                </a:endParaRPr>
              </a:p>
              <a:p>
                <a:pPr fontAlgn="auto">
                  <a:lnSpc>
                    <a:spcPct val="150000"/>
                  </a:lnSpc>
                </a:pPr>
                <a:endParaRPr lang="en-US" altLang="zh-CN" sz="2400" i="1" dirty="0">
                  <a:latin typeface="Cambria Math" panose="02040503050406030204" pitchFamily="18" charset="0"/>
                  <a:ea typeface="MS Mincho" panose="02020609040205080304" charset="-128"/>
                  <a:cs typeface="Cambria Math" panose="02040503050406030204" pitchFamily="18" charset="0"/>
                </a:endParaRPr>
              </a:p>
              <a:p>
                <a:pPr fontAlgn="auto">
                  <a:lnSpc>
                    <a:spcPct val="150000"/>
                  </a:lnSpc>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r>
                  <a:rPr lang="zh-CN" altLang="en-US" sz="2400" dirty="0"/>
                  <a:t>   </a:t>
                </a:r>
              </a:p>
            </p:txBody>
          </p:sp>
        </mc:Choice>
        <mc:Fallback xmlns="">
          <p:sp>
            <p:nvSpPr>
              <p:cNvPr id="2" name="文本框 1"/>
              <p:cNvSpPr txBox="1">
                <a:spLocks noRot="1" noChangeAspect="1" noMove="1" noResize="1" noEditPoints="1" noAdjustHandles="1" noChangeArrowheads="1" noChangeShapeType="1" noTextEdit="1"/>
              </p:cNvSpPr>
              <p:nvPr/>
            </p:nvSpPr>
            <p:spPr>
              <a:xfrm>
                <a:off x="611560" y="476672"/>
                <a:ext cx="7920880" cy="7161576"/>
              </a:xfrm>
              <a:prstGeom prst="rect">
                <a:avLst/>
              </a:prstGeom>
              <a:blipFill>
                <a:blip r:embed="rId2"/>
                <a:stretch>
                  <a:fillRect l="-1154"/>
                </a:stretch>
              </a:blipFill>
            </p:spPr>
            <p:txBody>
              <a:bodyPr/>
              <a:lstStyle/>
              <a:p>
                <a:r>
                  <a:rPr lang="zh-CN" altLang="en-US">
                    <a:noFill/>
                  </a:rPr>
                  <a:t> </a:t>
                </a:r>
              </a:p>
            </p:txBody>
          </p:sp>
        </mc:Fallback>
      </mc:AlternateContent>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p:cNvSpPr txBox="1"/>
              <p:nvPr/>
            </p:nvSpPr>
            <p:spPr>
              <a:xfrm>
                <a:off x="899592" y="1124744"/>
                <a:ext cx="7041589" cy="3716787"/>
              </a:xfrm>
              <a:prstGeom prst="rect">
                <a:avLst/>
              </a:prstGeom>
              <a:noFill/>
            </p:spPr>
            <p:txBody>
              <a:bodyPr wrap="square" rtlCol="0">
                <a:spAutoFit/>
              </a:bodyPr>
              <a:lstStyle/>
              <a:p>
                <a:pPr fontAlgn="auto">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带入拉格朗日函数化为原问题的拉格朗日对偶问题</a:t>
                </a:r>
              </a:p>
              <a:p>
                <a:pPr fontAlgn="auto">
                  <a:lnSpc>
                    <a:spcPct val="150000"/>
                  </a:lnSpc>
                </a:pPr>
                <a14:m>
                  <m:oMathPara xmlns:m="http://schemas.openxmlformats.org/officeDocument/2006/math">
                    <m:oMathParaPr>
                      <m:jc m:val="centerGroup"/>
                    </m:oMathParaPr>
                    <m:oMath xmlns:m="http://schemas.openxmlformats.org/officeDocument/2006/math">
                      <m:func>
                        <m:funcPr>
                          <m:ctrlPr>
                            <a:rPr lang="en-US" altLang="zh-CN" sz="2400" i="1">
                              <a:latin typeface="Cambria Math" panose="02040503050406030204" pitchFamily="18" charset="0"/>
                              <a:ea typeface="MS Mincho" panose="02020609040205080304" charset="-128"/>
                              <a:cs typeface="Cambria Math" panose="02040503050406030204" pitchFamily="18" charset="0"/>
                            </a:rPr>
                          </m:ctrlPr>
                        </m:funcPr>
                        <m:fName>
                          <m:limLow>
                            <m:limLowPr>
                              <m:ctrlPr>
                                <a:rPr lang="en-US" altLang="zh-CN" sz="2400" i="1">
                                  <a:latin typeface="Cambria Math" panose="02040503050406030204" pitchFamily="18" charset="0"/>
                                  <a:ea typeface="MS Mincho" panose="02020609040205080304" charset="-128"/>
                                  <a:cs typeface="Cambria Math" panose="02040503050406030204" pitchFamily="18" charset="0"/>
                                </a:rPr>
                              </m:ctrlPr>
                            </m:limLowPr>
                            <m:e>
                              <m:r>
                                <m:rPr>
                                  <m:sty m:val="p"/>
                                </m:rPr>
                                <a:rPr lang="en-US" altLang="zh-CN" sz="2400">
                                  <a:latin typeface="Cambria Math" panose="02040503050406030204" pitchFamily="18" charset="0"/>
                                  <a:ea typeface="MS Mincho" panose="02020609040205080304" charset="-128"/>
                                  <a:cs typeface="Cambria Math" panose="02040503050406030204" pitchFamily="18" charset="0"/>
                                </a:rPr>
                                <m:t>max</m:t>
                              </m:r>
                            </m:e>
                            <m:lim>
                              <m:r>
                                <a:rPr lang="en-US" altLang="zh-CN" sz="2400" i="1">
                                  <a:latin typeface="Cambria Math" panose="02040503050406030204" pitchFamily="18" charset="0"/>
                                  <a:ea typeface="MS Mincho" panose="02020609040205080304" charset="-128"/>
                                  <a:cs typeface="Cambria Math" panose="02040503050406030204" pitchFamily="18" charset="0"/>
                                </a:rPr>
                                <m:t>𝛼</m:t>
                              </m:r>
                            </m:lim>
                          </m:limLow>
                        </m:fName>
                        <m:e>
                          <m:r>
                            <a:rPr lang="en-US" altLang="zh-CN" sz="2400" i="1">
                              <a:latin typeface="Cambria Math" panose="02040503050406030204" pitchFamily="18" charset="0"/>
                              <a:ea typeface="MS Mincho" panose="02020609040205080304" charset="-128"/>
                              <a:cs typeface="Cambria Math" panose="02040503050406030204" pitchFamily="18" charset="0"/>
                            </a:rPr>
                            <m:t>−</m:t>
                          </m:r>
                          <m:f>
                            <m:fPr>
                              <m:ctrlPr>
                                <a:rPr lang="en-US" altLang="zh-CN" sz="2400" i="1">
                                  <a:latin typeface="Cambria Math" panose="02040503050406030204" pitchFamily="18" charset="0"/>
                                  <a:ea typeface="MS Mincho" panose="02020609040205080304" charset="-128"/>
                                  <a:cs typeface="Cambria Math" panose="02040503050406030204" pitchFamily="18" charset="0"/>
                                </a:rPr>
                              </m:ctrlPr>
                            </m:fPr>
                            <m:num>
                              <m:r>
                                <a:rPr lang="en-US" altLang="zh-CN" sz="2400" i="1">
                                  <a:latin typeface="Cambria Math" panose="02040503050406030204" pitchFamily="18" charset="0"/>
                                  <a:ea typeface="MS Mincho" panose="02020609040205080304" charset="-128"/>
                                  <a:cs typeface="Cambria Math" panose="02040503050406030204" pitchFamily="18" charset="0"/>
                                </a:rPr>
                                <m:t>1</m:t>
                              </m:r>
                            </m:num>
                            <m:den>
                              <m:r>
                                <a:rPr lang="en-US" altLang="zh-CN" sz="2400" i="1">
                                  <a:latin typeface="Cambria Math" panose="02040503050406030204" pitchFamily="18" charset="0"/>
                                  <a:ea typeface="MS Mincho" panose="02020609040205080304" charset="-128"/>
                                  <a:cs typeface="Cambria Math" panose="02040503050406030204" pitchFamily="18" charset="0"/>
                                </a:rPr>
                                <m:t>2</m:t>
                              </m:r>
                            </m:den>
                          </m:f>
                          <m:nary>
                            <m:naryPr>
                              <m:chr m:val="∑"/>
                              <m:limLoc m:val="undOvr"/>
                              <m:ctrlPr>
                                <a:rPr lang="en-US" altLang="zh-CN" sz="2400" i="1">
                                  <a:latin typeface="Cambria Math" panose="02040503050406030204" pitchFamily="18" charset="0"/>
                                  <a:ea typeface="MS Mincho" panose="02020609040205080304" charset="-128"/>
                                  <a:cs typeface="Cambria Math" panose="02040503050406030204" pitchFamily="18" charset="0"/>
                                </a:rPr>
                              </m:ctrlPr>
                            </m:naryPr>
                            <m:sub>
                              <m:r>
                                <a:rPr lang="en-US" altLang="zh-CN" sz="2400" i="1">
                                  <a:latin typeface="Cambria Math" panose="02040503050406030204" pitchFamily="18" charset="0"/>
                                  <a:ea typeface="MS Mincho" panose="02020609040205080304" charset="-128"/>
                                  <a:cs typeface="Cambria Math" panose="02040503050406030204" pitchFamily="18" charset="0"/>
                                </a:rPr>
                                <m:t>𝑖</m:t>
                              </m:r>
                              <m:r>
                                <a:rPr lang="en-US" altLang="zh-CN" sz="2400" i="1">
                                  <a:latin typeface="Cambria Math" panose="02040503050406030204" pitchFamily="18" charset="0"/>
                                  <a:ea typeface="MS Mincho" panose="02020609040205080304" charset="-128"/>
                                  <a:cs typeface="Cambria Math" panose="02040503050406030204" pitchFamily="18" charset="0"/>
                                </a:rPr>
                                <m:t>=1</m:t>
                              </m:r>
                            </m:sub>
                            <m:sup>
                              <m:r>
                                <a:rPr lang="en-US" altLang="zh-CN" sz="2400" i="1">
                                  <a:latin typeface="Cambria Math" panose="02040503050406030204" pitchFamily="18" charset="0"/>
                                  <a:ea typeface="MS Mincho" panose="02020609040205080304" charset="-128"/>
                                  <a:cs typeface="Cambria Math" panose="02040503050406030204" pitchFamily="18" charset="0"/>
                                </a:rPr>
                                <m:t>𝑙</m:t>
                              </m:r>
                            </m:sup>
                            <m:e>
                              <m:nary>
                                <m:naryPr>
                                  <m:chr m:val="∑"/>
                                  <m:limLoc m:val="undOvr"/>
                                  <m:ctrlPr>
                                    <a:rPr lang="en-US" altLang="zh-CN" sz="2400" i="1">
                                      <a:latin typeface="Cambria Math" panose="02040503050406030204" pitchFamily="18" charset="0"/>
                                      <a:ea typeface="MS Mincho" panose="02020609040205080304" charset="-128"/>
                                      <a:cs typeface="Cambria Math" panose="02040503050406030204" pitchFamily="18" charset="0"/>
                                    </a:rPr>
                                  </m:ctrlPr>
                                </m:naryPr>
                                <m:sub>
                                  <m:r>
                                    <a:rPr lang="en-US" altLang="zh-CN" sz="2400" i="1">
                                      <a:latin typeface="Cambria Math" panose="02040503050406030204" pitchFamily="18" charset="0"/>
                                      <a:ea typeface="MS Mincho" panose="02020609040205080304" charset="-128"/>
                                      <a:cs typeface="Cambria Math" panose="02040503050406030204" pitchFamily="18" charset="0"/>
                                    </a:rPr>
                                    <m:t>𝑗</m:t>
                                  </m:r>
                                  <m:r>
                                    <a:rPr lang="en-US" altLang="zh-CN" sz="2400" i="1">
                                      <a:latin typeface="Cambria Math" panose="02040503050406030204" pitchFamily="18" charset="0"/>
                                      <a:ea typeface="MS Mincho" panose="02020609040205080304" charset="-128"/>
                                      <a:cs typeface="Cambria Math" panose="02040503050406030204" pitchFamily="18" charset="0"/>
                                    </a:rPr>
                                    <m:t>=1</m:t>
                                  </m:r>
                                </m:sub>
                                <m:sup>
                                  <m:r>
                                    <a:rPr lang="en-US" altLang="zh-CN" sz="2400" i="1">
                                      <a:latin typeface="Cambria Math" panose="02040503050406030204" pitchFamily="18" charset="0"/>
                                      <a:ea typeface="MS Mincho" panose="02020609040205080304" charset="-128"/>
                                      <a:cs typeface="Cambria Math" panose="02040503050406030204" pitchFamily="18" charset="0"/>
                                    </a:rPr>
                                    <m:t>𝑙</m:t>
                                  </m:r>
                                </m:sup>
                                <m:e>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𝑦</m:t>
                                      </m:r>
                                    </m:e>
                                    <m:sub>
                                      <m:r>
                                        <a:rPr lang="en-US" altLang="zh-CN" sz="2400" i="1">
                                          <a:latin typeface="Cambria Math" panose="02040503050406030204" pitchFamily="18" charset="0"/>
                                          <a:ea typeface="MS Mincho" panose="02020609040205080304" charset="-128"/>
                                          <a:cs typeface="Cambria Math" panose="02040503050406030204" pitchFamily="18" charset="0"/>
                                        </a:rPr>
                                        <m:t>𝑖</m:t>
                                      </m:r>
                                    </m:sub>
                                  </m:sSub>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𝑦</m:t>
                                      </m:r>
                                    </m:e>
                                    <m:sub>
                                      <m:r>
                                        <a:rPr lang="en-US" altLang="zh-CN" sz="2400" i="1">
                                          <a:latin typeface="Cambria Math" panose="02040503050406030204" pitchFamily="18" charset="0"/>
                                          <a:ea typeface="MS Mincho" panose="02020609040205080304" charset="-128"/>
                                          <a:cs typeface="Cambria Math" panose="02040503050406030204" pitchFamily="18" charset="0"/>
                                        </a:rPr>
                                        <m:t>𝑗</m:t>
                                      </m:r>
                                    </m:sub>
                                  </m:sSub>
                                </m:e>
                              </m:nary>
                            </m:e>
                          </m:nary>
                        </m:e>
                      </m:func>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𝛼</m:t>
                          </m:r>
                        </m:e>
                        <m:sub>
                          <m:r>
                            <a:rPr lang="en-US" altLang="zh-CN" sz="2400" i="1">
                              <a:latin typeface="Cambria Math" panose="02040503050406030204" pitchFamily="18" charset="0"/>
                              <a:ea typeface="MS Mincho" panose="02020609040205080304" charset="-128"/>
                              <a:cs typeface="Cambria Math" panose="02040503050406030204" pitchFamily="18" charset="0"/>
                            </a:rPr>
                            <m:t>𝑖</m:t>
                          </m:r>
                        </m:sub>
                      </m:sSub>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𝛼</m:t>
                          </m:r>
                        </m:e>
                        <m:sub>
                          <m:r>
                            <a:rPr lang="en-US" altLang="zh-CN" sz="2400" i="1">
                              <a:latin typeface="Cambria Math" panose="02040503050406030204" pitchFamily="18" charset="0"/>
                              <a:ea typeface="MS Mincho" panose="02020609040205080304" charset="-128"/>
                              <a:cs typeface="Cambria Math" panose="02040503050406030204" pitchFamily="18" charset="0"/>
                            </a:rPr>
                            <m:t>𝑗</m:t>
                          </m:r>
                        </m:sub>
                      </m:sSub>
                      <m:r>
                        <a:rPr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𝑎</m:t>
                          </m:r>
                        </m:e>
                        <m:sub>
                          <m:r>
                            <a:rPr lang="en-US" altLang="zh-CN" sz="2400" i="1">
                              <a:latin typeface="Cambria Math" panose="02040503050406030204" pitchFamily="18" charset="0"/>
                              <a:ea typeface="MS Mincho" panose="02020609040205080304" charset="-128"/>
                              <a:cs typeface="Cambria Math" panose="02040503050406030204" pitchFamily="18" charset="0"/>
                            </a:rPr>
                            <m:t>𝑖</m:t>
                          </m:r>
                        </m:sub>
                      </m:sSub>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𝑎</m:t>
                          </m:r>
                        </m:e>
                        <m:sub>
                          <m:r>
                            <a:rPr lang="en-US" altLang="zh-CN" sz="2400" i="1">
                              <a:latin typeface="Cambria Math" panose="02040503050406030204" pitchFamily="18" charset="0"/>
                              <a:ea typeface="MS Mincho" panose="02020609040205080304" charset="-128"/>
                              <a:cs typeface="Cambria Math" panose="02040503050406030204" pitchFamily="18" charset="0"/>
                            </a:rPr>
                            <m:t>𝑗</m:t>
                          </m:r>
                        </m:sub>
                      </m:sSub>
                      <m:r>
                        <a:rPr lang="en-US" altLang="zh-CN" sz="2400" i="1">
                          <a:latin typeface="Cambria Math" panose="02040503050406030204" pitchFamily="18" charset="0"/>
                          <a:ea typeface="MS Mincho" panose="02020609040205080304" charset="-128"/>
                          <a:cs typeface="Cambria Math" panose="02040503050406030204" pitchFamily="18" charset="0"/>
                        </a:rPr>
                        <m:t>)+</m:t>
                      </m:r>
                      <m:nary>
                        <m:naryPr>
                          <m:chr m:val="∑"/>
                          <m:limLoc m:val="undOvr"/>
                          <m:ctrlPr>
                            <a:rPr lang="en-US" altLang="zh-CN" sz="2400" i="1">
                              <a:latin typeface="Cambria Math" panose="02040503050406030204" pitchFamily="18" charset="0"/>
                              <a:ea typeface="MS Mincho" panose="02020609040205080304" charset="-128"/>
                              <a:cs typeface="Cambria Math" panose="02040503050406030204" pitchFamily="18" charset="0"/>
                            </a:rPr>
                          </m:ctrlPr>
                        </m:naryPr>
                        <m:sub>
                          <m:r>
                            <a:rPr lang="en-US" altLang="zh-CN" sz="2400" i="1">
                              <a:latin typeface="Cambria Math" panose="02040503050406030204" pitchFamily="18" charset="0"/>
                              <a:ea typeface="MS Mincho" panose="02020609040205080304" charset="-128"/>
                              <a:cs typeface="Cambria Math" panose="02040503050406030204" pitchFamily="18" charset="0"/>
                            </a:rPr>
                            <m:t>𝑖</m:t>
                          </m:r>
                          <m:r>
                            <a:rPr lang="en-US" altLang="zh-CN" sz="2400" i="1">
                              <a:latin typeface="Cambria Math" panose="02040503050406030204" pitchFamily="18" charset="0"/>
                              <a:ea typeface="MS Mincho" panose="02020609040205080304" charset="-128"/>
                              <a:cs typeface="Cambria Math" panose="02040503050406030204" pitchFamily="18" charset="0"/>
                            </a:rPr>
                            <m:t>=1</m:t>
                          </m:r>
                        </m:sub>
                        <m:sup>
                          <m:r>
                            <a:rPr lang="en-US" altLang="zh-CN" sz="2400" i="1">
                              <a:latin typeface="Cambria Math" panose="02040503050406030204" pitchFamily="18" charset="0"/>
                              <a:ea typeface="MS Mincho" panose="02020609040205080304" charset="-128"/>
                              <a:cs typeface="Cambria Math" panose="02040503050406030204" pitchFamily="18" charset="0"/>
                            </a:rPr>
                            <m:t>𝑙</m:t>
                          </m:r>
                        </m:sup>
                        <m:e>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𝛼</m:t>
                              </m:r>
                            </m:e>
                            <m:sub>
                              <m:r>
                                <a:rPr lang="en-US" altLang="zh-CN" sz="2400" i="1">
                                  <a:latin typeface="Cambria Math" panose="02040503050406030204" pitchFamily="18" charset="0"/>
                                  <a:ea typeface="MS Mincho" panose="02020609040205080304" charset="-128"/>
                                  <a:cs typeface="Cambria Math" panose="02040503050406030204" pitchFamily="18" charset="0"/>
                                </a:rPr>
                                <m:t>𝑖</m:t>
                              </m:r>
                            </m:sub>
                          </m:sSub>
                        </m:e>
                      </m:nary>
                    </m:oMath>
                  </m:oMathPara>
                </a14:m>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fontAlgn="auto">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	</a:t>
                </a:r>
                <a:r>
                  <a:rPr lang="en-US" altLang="zh-CN" sz="2400" dirty="0">
                    <a:latin typeface="宋体" panose="02010600030101010101" pitchFamily="2" charset="-122"/>
                    <a:ea typeface="宋体" panose="02010600030101010101" pitchFamily="2" charset="-122"/>
                    <a:cs typeface="宋体" panose="02010600030101010101" pitchFamily="2" charset="-122"/>
                  </a:rPr>
                  <a:t>               </a:t>
                </a:r>
                <a14:m>
                  <m:oMath xmlns:m="http://schemas.openxmlformats.org/officeDocument/2006/math">
                    <m:r>
                      <a:rPr lang="en-US" altLang="zh-CN" sz="2400">
                        <a:latin typeface="Cambria Math" panose="02040503050406030204" pitchFamily="18" charset="0"/>
                        <a:ea typeface="宋体" panose="02010600030101010101" pitchFamily="2" charset="-122"/>
                        <a:cs typeface="Cambria Math" panose="02040503050406030204" pitchFamily="18" charset="0"/>
                      </a:rPr>
                      <m:t>𝑠</m:t>
                    </m:r>
                    <m:r>
                      <a:rPr lang="en-US" altLang="zh-CN" sz="2400">
                        <a:latin typeface="Cambria Math" panose="02040503050406030204" pitchFamily="18" charset="0"/>
                        <a:ea typeface="宋体" panose="02010600030101010101" pitchFamily="2" charset="-122"/>
                        <a:cs typeface="Cambria Math" panose="02040503050406030204" pitchFamily="18" charset="0"/>
                      </a:rPr>
                      <m:t>.</m:t>
                    </m:r>
                    <m:r>
                      <m:rPr>
                        <m:sty m:val="p"/>
                      </m:rPr>
                      <a:rPr lang="en-US" altLang="zh-CN" sz="2400">
                        <a:latin typeface="Cambria Math" panose="02040503050406030204" pitchFamily="18" charset="0"/>
                        <a:ea typeface="宋体" panose="02010600030101010101" pitchFamily="2" charset="-122"/>
                        <a:cs typeface="Cambria Math" panose="02040503050406030204" pitchFamily="18" charset="0"/>
                      </a:rPr>
                      <m:t>t</m:t>
                    </m:r>
                    <m:r>
                      <a:rPr lang="en-US" altLang="zh-CN" sz="2400">
                        <a:latin typeface="Cambria Math" panose="02040503050406030204" pitchFamily="18" charset="0"/>
                        <a:ea typeface="宋体" panose="02010600030101010101" pitchFamily="2" charset="-122"/>
                        <a:cs typeface="Cambria Math" panose="02040503050406030204" pitchFamily="18" charset="0"/>
                      </a:rPr>
                      <m:t>.  </m:t>
                    </m:r>
                    <m:d>
                      <m:dPr>
                        <m:begChr m:val="{"/>
                        <m:endChr m:val=""/>
                        <m:ctrlPr>
                          <a:rPr lang="zh-CN" altLang="en-US" sz="2400" i="1">
                            <a:latin typeface="Cambria Math" panose="02040503050406030204" pitchFamily="18" charset="0"/>
                            <a:ea typeface="宋体" panose="02010600030101010101" pitchFamily="2" charset="-122"/>
                            <a:cs typeface="Cambria Math" panose="02040503050406030204" pitchFamily="18" charset="0"/>
                          </a:rPr>
                        </m:ctrlPr>
                      </m:dPr>
                      <m:e>
                        <m:eqArr>
                          <m:eqArrPr>
                            <m:ctrlPr>
                              <a:rPr lang="zh-CN" altLang="en-US" sz="2400" i="1">
                                <a:latin typeface="Cambria Math" panose="02040503050406030204" pitchFamily="18" charset="0"/>
                                <a:ea typeface="宋体" panose="02010600030101010101" pitchFamily="2" charset="-122"/>
                                <a:cs typeface="Cambria Math" panose="02040503050406030204" pitchFamily="18" charset="0"/>
                              </a:rPr>
                            </m:ctrlPr>
                          </m:eqArrPr>
                          <m:e>
                            <m:nary>
                              <m:naryPr>
                                <m:chr m:val="∑"/>
                                <m:limLoc m:val="undOvr"/>
                                <m:ctrlPr>
                                  <a:rPr lang="en-US" altLang="zh-CN" sz="2400" i="1">
                                    <a:latin typeface="Cambria Math" panose="02040503050406030204" pitchFamily="18" charset="0"/>
                                    <a:ea typeface="MS Mincho" panose="02020609040205080304" charset="-128"/>
                                    <a:cs typeface="Cambria Math" panose="02040503050406030204" pitchFamily="18" charset="0"/>
                                  </a:rPr>
                                </m:ctrlPr>
                              </m:naryPr>
                              <m:sub>
                                <m:r>
                                  <a:rPr lang="en-US" altLang="zh-CN" sz="2400" i="1">
                                    <a:latin typeface="Cambria Math" panose="02040503050406030204" pitchFamily="18" charset="0"/>
                                    <a:ea typeface="MS Mincho" panose="02020609040205080304" charset="-128"/>
                                    <a:cs typeface="Cambria Math" panose="02040503050406030204" pitchFamily="18" charset="0"/>
                                  </a:rPr>
                                  <m:t>𝑖</m:t>
                                </m:r>
                                <m:r>
                                  <a:rPr lang="en-US" altLang="zh-CN" sz="2400" i="1">
                                    <a:latin typeface="Cambria Math" panose="02040503050406030204" pitchFamily="18" charset="0"/>
                                    <a:ea typeface="MS Mincho" panose="02020609040205080304" charset="-128"/>
                                    <a:cs typeface="Cambria Math" panose="02040503050406030204" pitchFamily="18" charset="0"/>
                                  </a:rPr>
                                  <m:t>=1</m:t>
                                </m:r>
                              </m:sub>
                              <m:sup>
                                <m:r>
                                  <a:rPr lang="en-US" altLang="zh-CN" sz="2400" i="1">
                                    <a:latin typeface="Cambria Math" panose="02040503050406030204" pitchFamily="18" charset="0"/>
                                    <a:ea typeface="MS Mincho" panose="02020609040205080304" charset="-128"/>
                                    <a:cs typeface="Cambria Math" panose="02040503050406030204" pitchFamily="18" charset="0"/>
                                  </a:rPr>
                                  <m:t>𝑙</m:t>
                                </m:r>
                              </m:sup>
                              <m:e>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𝑦</m:t>
                                        </m:r>
                                      </m:e>
                                      <m:sub>
                                        <m:r>
                                          <a:rPr lang="en-US" altLang="zh-CN" sz="2400" i="1">
                                            <a:latin typeface="Cambria Math" panose="02040503050406030204" pitchFamily="18" charset="0"/>
                                            <a:ea typeface="MS Mincho" panose="02020609040205080304" charset="-128"/>
                                            <a:cs typeface="Cambria Math" panose="02040503050406030204" pitchFamily="18" charset="0"/>
                                          </a:rPr>
                                          <m:t>𝑖</m:t>
                                        </m:r>
                                      </m:sub>
                                    </m:sSub>
                                    <m:r>
                                      <a:rPr lang="en-US" altLang="zh-CN" sz="2400" i="1">
                                        <a:latin typeface="Cambria Math" panose="02040503050406030204" pitchFamily="18" charset="0"/>
                                        <a:ea typeface="MS Mincho" panose="02020609040205080304" charset="-128"/>
                                        <a:cs typeface="Cambria Math" panose="02040503050406030204" pitchFamily="18" charset="0"/>
                                      </a:rPr>
                                      <m:t>𝛼</m:t>
                                    </m:r>
                                  </m:e>
                                  <m:sub>
                                    <m:r>
                                      <a:rPr lang="en-US" altLang="zh-CN" sz="2400" i="1">
                                        <a:latin typeface="Cambria Math" panose="02040503050406030204" pitchFamily="18" charset="0"/>
                                        <a:ea typeface="MS Mincho" panose="02020609040205080304" charset="-128"/>
                                        <a:cs typeface="Cambria Math" panose="02040503050406030204" pitchFamily="18" charset="0"/>
                                      </a:rPr>
                                      <m:t>𝑖</m:t>
                                    </m:r>
                                  </m:sub>
                                </m:sSub>
                                <m:r>
                                  <a:rPr lang="en-US" altLang="zh-CN" sz="2400" i="1">
                                    <a:latin typeface="Cambria Math" panose="02040503050406030204" pitchFamily="18" charset="0"/>
                                    <a:ea typeface="MS Mincho" panose="02020609040205080304" charset="-128"/>
                                    <a:cs typeface="Cambria Math" panose="02040503050406030204" pitchFamily="18" charset="0"/>
                                  </a:rPr>
                                  <m:t>=0</m:t>
                                </m:r>
                              </m:e>
                            </m:nary>
                          </m:e>
                          <m:e>
                            <m:sSub>
                              <m:sSubPr>
                                <m:ctrlPr>
                                  <a:rPr lang="en-US" altLang="zh-CN" sz="2400" i="1">
                                    <a:latin typeface="Cambria Math" panose="02040503050406030204" pitchFamily="18" charset="0"/>
                                    <a:ea typeface="MS Mincho" panose="02020609040205080304" charset="-128"/>
                                    <a:cs typeface="Cambria Math" panose="02040503050406030204" pitchFamily="18" charset="0"/>
                                  </a:rPr>
                                </m:ctrlPr>
                              </m:sSubPr>
                              <m:e>
                                <m:r>
                                  <a:rPr lang="en-US" altLang="zh-CN" sz="2400" i="1">
                                    <a:latin typeface="Cambria Math" panose="02040503050406030204" pitchFamily="18" charset="0"/>
                                    <a:ea typeface="MS Mincho" panose="02020609040205080304" charset="-128"/>
                                    <a:cs typeface="Cambria Math" panose="02040503050406030204" pitchFamily="18" charset="0"/>
                                  </a:rPr>
                                  <m:t>𝛼</m:t>
                                </m:r>
                              </m:e>
                              <m:sub>
                                <m:r>
                                  <a:rPr lang="en-US" altLang="zh-CN" sz="2400" i="1">
                                    <a:latin typeface="Cambria Math" panose="02040503050406030204" pitchFamily="18" charset="0"/>
                                    <a:ea typeface="MS Mincho" panose="02020609040205080304" charset="-128"/>
                                    <a:cs typeface="Cambria Math" panose="02040503050406030204" pitchFamily="18" charset="0"/>
                                  </a:rPr>
                                  <m:t>𝑖</m:t>
                                </m:r>
                              </m:sub>
                            </m:sSub>
                            <m:r>
                              <a:rPr lang="en-US" altLang="zh-CN" sz="2400" i="1">
                                <a:latin typeface="Cambria Math" panose="02040503050406030204" pitchFamily="18" charset="0"/>
                                <a:ea typeface="MS Mincho" panose="02020609040205080304" charset="-128"/>
                                <a:cs typeface="Cambria Math" panose="02040503050406030204" pitchFamily="18" charset="0"/>
                              </a:rPr>
                              <m:t>≥0,</m:t>
                            </m:r>
                            <m:r>
                              <a:rPr lang="en-US" altLang="zh-CN" sz="2400" i="1">
                                <a:latin typeface="Cambria Math" panose="02040503050406030204" pitchFamily="18" charset="0"/>
                                <a:ea typeface="MS Mincho" panose="02020609040205080304" charset="-128"/>
                                <a:cs typeface="Cambria Math" panose="02040503050406030204" pitchFamily="18" charset="0"/>
                              </a:rPr>
                              <m:t>𝑖</m:t>
                            </m:r>
                            <m:r>
                              <a:rPr lang="en-US" altLang="zh-CN" sz="2400" i="1">
                                <a:latin typeface="Cambria Math" panose="02040503050406030204" pitchFamily="18" charset="0"/>
                                <a:ea typeface="MS Mincho" panose="02020609040205080304" charset="-128"/>
                                <a:cs typeface="Cambria Math" panose="02040503050406030204" pitchFamily="18" charset="0"/>
                              </a:rPr>
                              <m:t>=1,...,</m:t>
                            </m:r>
                            <m:r>
                              <a:rPr lang="en-US" altLang="zh-CN" sz="2400" i="1">
                                <a:latin typeface="Cambria Math" panose="02040503050406030204" pitchFamily="18" charset="0"/>
                                <a:ea typeface="MS Mincho" panose="02020609040205080304" charset="-128"/>
                                <a:cs typeface="Cambria Math" panose="02040503050406030204" pitchFamily="18" charset="0"/>
                              </a:rPr>
                              <m:t>𝑙</m:t>
                            </m:r>
                            <m:r>
                              <a:rPr lang="en-US" altLang="zh-CN" sz="2400" i="1">
                                <a:latin typeface="Cambria Math" panose="02040503050406030204" pitchFamily="18" charset="0"/>
                                <a:ea typeface="MS Mincho" panose="02020609040205080304" charset="-128"/>
                                <a:cs typeface="Cambria Math" panose="02040503050406030204" pitchFamily="18" charset="0"/>
                              </a:rPr>
                              <m:t>.</m:t>
                            </m:r>
                          </m:e>
                        </m:eqArr>
                      </m:e>
                    </m:d>
                  </m:oMath>
                </a14:m>
                <a:r>
                  <a:rPr lang="zh-CN" altLang="en-US" sz="2400" dirty="0">
                    <a:latin typeface="宋体" panose="02010600030101010101" pitchFamily="2" charset="-122"/>
                    <a:ea typeface="宋体" panose="02010600030101010101" pitchFamily="2" charset="-122"/>
                    <a:cs typeface="宋体" panose="02010600030101010101" pitchFamily="2" charset="-122"/>
                  </a:rPr>
                  <a:t>   </a:t>
                </a:r>
              </a:p>
            </p:txBody>
          </p:sp>
        </mc:Choice>
        <mc:Fallback xmlns="">
          <p:sp>
            <p:nvSpPr>
              <p:cNvPr id="2" name="文本框 1"/>
              <p:cNvSpPr txBox="1">
                <a:spLocks noRot="1" noChangeAspect="1" noMove="1" noResize="1" noEditPoints="1" noAdjustHandles="1" noChangeArrowheads="1" noChangeShapeType="1" noTextEdit="1"/>
              </p:cNvSpPr>
              <p:nvPr/>
            </p:nvSpPr>
            <p:spPr>
              <a:xfrm>
                <a:off x="899592" y="1124744"/>
                <a:ext cx="7041589" cy="3716787"/>
              </a:xfrm>
              <a:prstGeom prst="rect">
                <a:avLst/>
              </a:prstGeom>
              <a:blipFill>
                <a:blip r:embed="rId2"/>
                <a:stretch>
                  <a:fillRect l="-1385"/>
                </a:stretch>
              </a:blipFill>
            </p:spPr>
            <p:txBody>
              <a:bodyPr/>
              <a:lstStyle/>
              <a:p>
                <a:r>
                  <a:rPr lang="zh-CN" altLang="en-US">
                    <a:noFill/>
                  </a:rPr>
                  <a:t> </a:t>
                </a:r>
              </a:p>
            </p:txBody>
          </p:sp>
        </mc:Fallback>
      </mc:AlternateContent>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186283" y="1590347"/>
            <a:ext cx="1674186" cy="461665"/>
          </a:xfrm>
          <a:prstGeom prst="rect">
            <a:avLst/>
          </a:prstGeom>
          <a:noFill/>
        </p:spPr>
        <p:txBody>
          <a:bodyPr wrap="square" rtlCol="0">
            <a:spAutoFit/>
          </a:bodyPr>
          <a:lstStyle/>
          <a:p>
            <a:r>
              <a:rPr lang="zh-CN" altLang="en-US" sz="2400" b="1" dirty="0"/>
              <a:t>原问题</a:t>
            </a:r>
          </a:p>
        </p:txBody>
      </p:sp>
      <p:sp>
        <p:nvSpPr>
          <p:cNvPr id="5" name="文本框 4"/>
          <p:cNvSpPr txBox="1"/>
          <p:nvPr/>
        </p:nvSpPr>
        <p:spPr>
          <a:xfrm>
            <a:off x="1186283" y="3232792"/>
            <a:ext cx="1674186" cy="461665"/>
          </a:xfrm>
          <a:prstGeom prst="rect">
            <a:avLst/>
          </a:prstGeom>
          <a:noFill/>
        </p:spPr>
        <p:txBody>
          <a:bodyPr wrap="square" rtlCol="0">
            <a:spAutoFit/>
          </a:bodyPr>
          <a:lstStyle/>
          <a:p>
            <a:r>
              <a:rPr lang="zh-CN" altLang="en-US" sz="2400" b="1" dirty="0"/>
              <a:t>对偶问题</a:t>
            </a:r>
          </a:p>
        </p:txBody>
      </p:sp>
      <p:sp>
        <p:nvSpPr>
          <p:cNvPr id="2" name="Rectangle 2"/>
          <p:cNvSpPr>
            <a:spLocks noChangeArrowheads="1"/>
          </p:cNvSpPr>
          <p:nvPr/>
        </p:nvSpPr>
        <p:spPr bwMode="auto">
          <a:xfrm>
            <a:off x="2860469" y="1526811"/>
            <a:ext cx="138564"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2400"/>
          </a:p>
        </p:txBody>
      </p:sp>
      <p:sp>
        <p:nvSpPr>
          <p:cNvPr id="9" name="Rectangle 4"/>
          <p:cNvSpPr>
            <a:spLocks noChangeArrowheads="1"/>
          </p:cNvSpPr>
          <p:nvPr/>
        </p:nvSpPr>
        <p:spPr bwMode="auto">
          <a:xfrm>
            <a:off x="1" y="637960"/>
            <a:ext cx="138564"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2400"/>
          </a:p>
        </p:txBody>
      </p:sp>
      <mc:AlternateContent xmlns:mc="http://schemas.openxmlformats.org/markup-compatibility/2006" xmlns:a14="http://schemas.microsoft.com/office/drawing/2010/main">
        <mc:Choice Requires="a14">
          <p:sp>
            <p:nvSpPr>
              <p:cNvPr id="11" name="文本框 10"/>
              <p:cNvSpPr txBox="1"/>
              <p:nvPr/>
            </p:nvSpPr>
            <p:spPr>
              <a:xfrm>
                <a:off x="2854608" y="3239851"/>
                <a:ext cx="1640257" cy="52475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altLang="zh-CN" sz="2400" i="1">
                              <a:latin typeface="Cambria Math" panose="02040503050406030204" pitchFamily="18" charset="0"/>
                            </a:rPr>
                          </m:ctrlPr>
                        </m:funcPr>
                        <m:fName>
                          <m:limLow>
                            <m:limLowPr>
                              <m:ctrlPr>
                                <a:rPr lang="en-US" altLang="zh-CN" sz="2400" i="1">
                                  <a:latin typeface="Cambria Math" panose="02040503050406030204" pitchFamily="18" charset="0"/>
                                </a:rPr>
                              </m:ctrlPr>
                            </m:limLowPr>
                            <m:e>
                              <m:r>
                                <m:rPr>
                                  <m:sty m:val="p"/>
                                </m:rPr>
                                <a:rPr lang="en-US" altLang="zh-CN" sz="2400">
                                  <a:latin typeface="Cambria Math" panose="02040503050406030204" pitchFamily="18" charset="0"/>
                                </a:rPr>
                                <m:t>max</m:t>
                              </m:r>
                            </m:e>
                            <m:lim>
                              <m:r>
                                <a:rPr lang="zh-CN" altLang="en-US" sz="2400" i="1">
                                  <a:latin typeface="Cambria Math" panose="02040503050406030204" pitchFamily="18" charset="0"/>
                                </a:rPr>
                                <m:t>𝛾</m:t>
                              </m:r>
                              <m:r>
                                <a:rPr lang="zh-CN" altLang="en-US" sz="2400" i="1">
                                  <a:latin typeface="Cambria Math" panose="02040503050406030204" pitchFamily="18" charset="0"/>
                                </a:rPr>
                                <m:t>≥0</m:t>
                              </m:r>
                            </m:lim>
                          </m:limLow>
                        </m:fName>
                        <m:e>
                          <m:r>
                            <a:rPr lang="en-US" altLang="zh-CN" sz="2400" i="1">
                              <a:latin typeface="Cambria Math" panose="02040503050406030204" pitchFamily="18" charset="0"/>
                            </a:rPr>
                            <m:t>𝑞</m:t>
                          </m:r>
                          <m:r>
                            <a:rPr lang="en-US" altLang="zh-CN" sz="2400" i="1">
                              <a:latin typeface="Cambria Math" panose="02040503050406030204" pitchFamily="18" charset="0"/>
                            </a:rPr>
                            <m:t>(</m:t>
                          </m:r>
                          <m:r>
                            <a:rPr lang="zh-CN" altLang="en-US" sz="2400" i="1">
                              <a:latin typeface="Cambria Math" panose="02040503050406030204" pitchFamily="18" charset="0"/>
                            </a:rPr>
                            <m:t>𝛾</m:t>
                          </m:r>
                          <m:r>
                            <a:rPr lang="en-US" altLang="zh-CN" sz="2400" i="1">
                              <a:latin typeface="Cambria Math" panose="02040503050406030204" pitchFamily="18" charset="0"/>
                            </a:rPr>
                            <m:t>,</m:t>
                          </m:r>
                          <m:r>
                            <a:rPr lang="zh-CN" altLang="en-US" sz="2400" i="1">
                              <a:latin typeface="Cambria Math" panose="02040503050406030204" pitchFamily="18" charset="0"/>
                            </a:rPr>
                            <m:t>𝜆</m:t>
                          </m:r>
                          <m:r>
                            <a:rPr lang="en-US" altLang="zh-CN" sz="2400" i="1">
                              <a:latin typeface="Cambria Math" panose="02040503050406030204" pitchFamily="18" charset="0"/>
                            </a:rPr>
                            <m:t>)</m:t>
                          </m:r>
                        </m:e>
                      </m:func>
                    </m:oMath>
                  </m:oMathPara>
                </a14:m>
                <a:endParaRPr lang="zh-CN" altLang="en-US" sz="2400" dirty="0">
                  <a:latin typeface="宋体" panose="02010600030101010101" pitchFamily="2" charset="-122"/>
                  <a:ea typeface="宋体" panose="02010600030101010101" pitchFamily="2" charset="-122"/>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2854608" y="3239851"/>
                <a:ext cx="1640257" cy="524759"/>
              </a:xfrm>
              <a:prstGeom prst="rect">
                <a:avLst/>
              </a:prstGeom>
              <a:blipFill>
                <a:blip r:embed="rId2"/>
                <a:stretch>
                  <a:fillRect r="-3717" b="-13793"/>
                </a:stretch>
              </a:blipFill>
            </p:spPr>
            <p:txBody>
              <a:bodyPr/>
              <a:lstStyle/>
              <a:p>
                <a:r>
                  <a:rPr lang="zh-CN" altLang="en-US">
                    <a:noFill/>
                  </a:rPr>
                  <a:t> </a:t>
                </a:r>
              </a:p>
            </p:txBody>
          </p:sp>
        </mc:Fallback>
      </mc:AlternateContent>
      <p:sp>
        <p:nvSpPr>
          <p:cNvPr id="12" name="文本框 11"/>
          <p:cNvSpPr txBox="1"/>
          <p:nvPr/>
        </p:nvSpPr>
        <p:spPr>
          <a:xfrm>
            <a:off x="263357" y="626418"/>
            <a:ext cx="6822758" cy="461665"/>
          </a:xfrm>
          <a:prstGeom prst="rect">
            <a:avLst/>
          </a:prstGeom>
          <a:noFill/>
        </p:spPr>
        <p:txBody>
          <a:bodyPr wrap="square" rtlCol="0">
            <a:spAutoFit/>
          </a:bodyPr>
          <a:lstStyle/>
          <a:p>
            <a:r>
              <a:rPr lang="zh-CN" altLang="en-US" sz="2400" b="1" dirty="0">
                <a:latin typeface="黑体" panose="02010609060101010101" pitchFamily="49" charset="-122"/>
                <a:ea typeface="黑体" panose="02010609060101010101" pitchFamily="49" charset="-122"/>
              </a:rPr>
              <a:t>二、既有不等式又有等式约束的情形</a:t>
            </a:r>
          </a:p>
        </p:txBody>
      </p:sp>
      <mc:AlternateContent xmlns:mc="http://schemas.openxmlformats.org/markup-compatibility/2006" xmlns:a14="http://schemas.microsoft.com/office/drawing/2010/main">
        <mc:Choice Requires="a14">
          <p:sp>
            <p:nvSpPr>
              <p:cNvPr id="8" name="文本框 7"/>
              <p:cNvSpPr txBox="1"/>
              <p:nvPr/>
            </p:nvSpPr>
            <p:spPr>
              <a:xfrm>
                <a:off x="2681764" y="1593056"/>
                <a:ext cx="3181350" cy="12832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mPr>
                        <m:mr>
                          <m:e>
                            <m:func>
                              <m:func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funcPr>
                              <m:fName>
                                <m:r>
                                  <m:rPr>
                                    <m:sty m:val="p"/>
                                  </m:rPr>
                                  <a:rPr lang="en-US" altLang="zh-CN" sz="2400" kern="100">
                                    <a:latin typeface="Cambria Math" panose="02040503050406030204" pitchFamily="18" charset="0"/>
                                    <a:ea typeface="宋体" panose="02010600030101010101" pitchFamily="2" charset="-122"/>
                                    <a:cs typeface="Cambria Math" panose="02040503050406030204" pitchFamily="18" charset="0"/>
                                  </a:rPr>
                                  <m:t>min</m:t>
                                </m:r>
                              </m:fName>
                              <m:e>
                                <m:r>
                                  <a:rPr lang="en-US" sz="2400" i="1" kern="100">
                                    <a:latin typeface="Cambria Math" panose="02040503050406030204" pitchFamily="18" charset="0"/>
                                    <a:ea typeface="宋体" panose="02010600030101010101" pitchFamily="2" charset="-122"/>
                                    <a:cs typeface="Cambria Math" panose="02040503050406030204" pitchFamily="18" charset="0"/>
                                  </a:rPr>
                                  <m:t>𝑓</m:t>
                                </m:r>
                                <m:r>
                                  <a:rPr lang="en-US" sz="2400" i="1" kern="100">
                                    <a:latin typeface="Cambria Math" panose="02040503050406030204" pitchFamily="18" charset="0"/>
                                    <a:ea typeface="宋体" panose="02010600030101010101" pitchFamily="2" charset="-122"/>
                                    <a:cs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m:t>
                                </m:r>
                              </m:e>
                            </m:func>
                          </m:e>
                        </m:mr>
                        <m:mr>
                          <m:e>
                            <m:f>
                              <m:fPr>
                                <m:type m:val="noBar"/>
                                <m:ctrlPr>
                                  <a:rPr lang="en-US" altLang="zh-CN" sz="2400" i="1" kern="100">
                                    <a:latin typeface="Cambria Math" panose="02040503050406030204" pitchFamily="18" charset="0"/>
                                    <a:ea typeface="MS Mincho" panose="02020609040205080304" charset="-128"/>
                                    <a:cs typeface="Cambria Math" panose="02040503050406030204" pitchFamily="18" charset="0"/>
                                  </a:rPr>
                                </m:ctrlPr>
                              </m:fPr>
                              <m:num>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𝑠</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𝑡</m:t>
                                </m:r>
                                <m:r>
                                  <a:rPr lang="en-US" altLang="zh-CN" sz="2400" i="1" kern="100">
                                    <a:latin typeface="Cambria Math" panose="02040503050406030204" pitchFamily="18" charset="0"/>
                                    <a:ea typeface="MS Mincho" panose="02020609040205080304" charset="-128"/>
                                    <a:cs typeface="Cambria Math" panose="02040503050406030204" pitchFamily="18" charset="0"/>
                                  </a:rPr>
                                  <m:t>. </m:t>
                                </m:r>
                                <m:sSub>
                                  <m:sSub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h</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𝑖</m:t>
                                    </m:r>
                                  </m:sub>
                                </m:sSub>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MS Mincho" panose="02020609040205080304" charset="-128"/>
                                    <a:cs typeface="Cambria Math" panose="02040503050406030204" pitchFamily="18" charset="0"/>
                                  </a:rPr>
                                  <m:t>𝑥</m:t>
                                </m:r>
                                <m:r>
                                  <a:rPr lang="en-US" altLang="zh-CN" sz="2400" i="1" kern="100">
                                    <a:latin typeface="Cambria Math" panose="02040503050406030204" pitchFamily="18" charset="0"/>
                                    <a:ea typeface="MS Mincho" panose="02020609040205080304" charset="-128"/>
                                    <a:cs typeface="Cambria Math" panose="02040503050406030204" pitchFamily="18" charset="0"/>
                                  </a:rPr>
                                  <m:t>)=0(</m:t>
                                </m:r>
                                <m:r>
                                  <a:rPr lang="en-US" altLang="zh-CN" sz="2400" i="1" kern="100">
                                    <a:latin typeface="Cambria Math" panose="02040503050406030204" pitchFamily="18" charset="0"/>
                                    <a:ea typeface="MS Mincho" panose="02020609040205080304" charset="-128"/>
                                    <a:cs typeface="Cambria Math" panose="02040503050406030204" pitchFamily="18" charset="0"/>
                                  </a:rPr>
                                  <m:t>𝑖</m:t>
                                </m:r>
                                <m:r>
                                  <a:rPr lang="en-US" altLang="zh-CN" sz="2400" i="1" kern="100">
                                    <a:latin typeface="Cambria Math" panose="02040503050406030204" pitchFamily="18" charset="0"/>
                                    <a:ea typeface="MS Mincho" panose="02020609040205080304" charset="-128"/>
                                    <a:cs typeface="Cambria Math" panose="02040503050406030204" pitchFamily="18" charset="0"/>
                                  </a:rPr>
                                  <m:t>=1,2,...</m:t>
                                </m:r>
                                <m:r>
                                  <a:rPr lang="en-US" altLang="zh-CN" sz="2400" i="1" kern="100">
                                    <a:latin typeface="Cambria Math" panose="02040503050406030204" pitchFamily="18" charset="0"/>
                                    <a:ea typeface="MS Mincho" panose="02020609040205080304" charset="-128"/>
                                    <a:cs typeface="Cambria Math" panose="02040503050406030204" pitchFamily="18" charset="0"/>
                                  </a:rPr>
                                  <m:t>𝑚</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num>
                              <m:den>
                                <m:sSub>
                                  <m:sSub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𝑗</m:t>
                                    </m:r>
                                  </m:sub>
                                </m:sSub>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MS Mincho" panose="02020609040205080304" charset="-128"/>
                                    <a:cs typeface="Cambria Math" panose="02040503050406030204" pitchFamily="18" charset="0"/>
                                  </a:rPr>
                                  <m:t>𝑥</m:t>
                                </m:r>
                                <m:r>
                                  <a:rPr lang="en-US" altLang="zh-CN" sz="2400" i="1" kern="100">
                                    <a:latin typeface="Cambria Math" panose="02040503050406030204" pitchFamily="18" charset="0"/>
                                    <a:ea typeface="MS Mincho" panose="02020609040205080304" charset="-128"/>
                                    <a:cs typeface="Cambria Math" panose="02040503050406030204" pitchFamily="18" charset="0"/>
                                  </a:rPr>
                                  <m:t>)≥0(</m:t>
                                </m:r>
                                <m:r>
                                  <a:rPr lang="en-US" altLang="zh-CN" sz="2400" i="1" kern="100">
                                    <a:latin typeface="Cambria Math" panose="02040503050406030204" pitchFamily="18" charset="0"/>
                                    <a:ea typeface="MS Mincho" panose="02020609040205080304" charset="-128"/>
                                    <a:cs typeface="Cambria Math" panose="02040503050406030204" pitchFamily="18" charset="0"/>
                                  </a:rPr>
                                  <m:t>𝑗</m:t>
                                </m:r>
                                <m:r>
                                  <a:rPr lang="en-US" altLang="zh-CN" sz="2400" i="1" kern="100">
                                    <a:latin typeface="Cambria Math" panose="02040503050406030204" pitchFamily="18" charset="0"/>
                                    <a:ea typeface="MS Mincho" panose="02020609040205080304" charset="-128"/>
                                    <a:cs typeface="Cambria Math" panose="02040503050406030204" pitchFamily="18" charset="0"/>
                                  </a:rPr>
                                  <m:t>=1,2,...</m:t>
                                </m:r>
                                <m:r>
                                  <a:rPr lang="en-US" altLang="zh-CN" sz="2400" i="1" kern="100">
                                    <a:latin typeface="Cambria Math" panose="02040503050406030204" pitchFamily="18" charset="0"/>
                                    <a:ea typeface="MS Mincho" panose="02020609040205080304" charset="-128"/>
                                    <a:cs typeface="Cambria Math" panose="02040503050406030204" pitchFamily="18" charset="0"/>
                                  </a:rPr>
                                  <m:t>𝑙</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den>
                            </m:f>
                          </m:e>
                        </m:mr>
                      </m:m>
                    </m:oMath>
                  </m:oMathPara>
                </a14:m>
                <a:endParaRPr lang="zh-CN" altLang="en-US" sz="2400"/>
              </a:p>
            </p:txBody>
          </p:sp>
        </mc:Choice>
        <mc:Fallback xmlns="">
          <p:sp>
            <p:nvSpPr>
              <p:cNvPr id="8" name="文本框 7"/>
              <p:cNvSpPr txBox="1">
                <a:spLocks noRot="1" noChangeAspect="1" noMove="1" noResize="1" noEditPoints="1" noAdjustHandles="1" noChangeArrowheads="1" noChangeShapeType="1" noTextEdit="1"/>
              </p:cNvSpPr>
              <p:nvPr/>
            </p:nvSpPr>
            <p:spPr>
              <a:xfrm>
                <a:off x="2681764" y="1593056"/>
                <a:ext cx="3181350" cy="1283236"/>
              </a:xfrm>
              <a:prstGeom prst="rect">
                <a:avLst/>
              </a:prstGeom>
              <a:blipFill>
                <a:blip r:embed="rId3"/>
                <a:stretch>
                  <a:fillRect r="-160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1186283" y="4151122"/>
                <a:ext cx="6985014" cy="118006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400" i="1" kern="100">
                          <a:latin typeface="Cambria Math" panose="02040503050406030204" pitchFamily="18" charset="0"/>
                          <a:ea typeface="MS Mincho" panose="02020609040205080304" charset="-128"/>
                          <a:cs typeface="Cambria Math" panose="02040503050406030204" pitchFamily="18" charset="0"/>
                        </a:rPr>
                        <m:t>𝑞</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zh-CN" altLang="en-US" sz="2400" i="1">
                          <a:latin typeface="Cambria Math" panose="02040503050406030204" pitchFamily="18" charset="0"/>
                        </a:rPr>
                        <m:t>𝛾</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MS Mincho" panose="02020609040205080304" charset="-128"/>
                          <a:cs typeface="Cambria Math" panose="02040503050406030204" pitchFamily="18" charset="0"/>
                        </a:rPr>
                        <m:t>𝜆</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func>
                        <m:funcPr>
                          <m:ctrlPr>
                            <a:rPr lang="en-US" altLang="zh-CN" sz="2400" i="1" kern="100">
                              <a:latin typeface="Cambria Math" panose="02040503050406030204" pitchFamily="18" charset="0"/>
                              <a:ea typeface="MS Mincho" panose="02020609040205080304" charset="-128"/>
                              <a:cs typeface="Cambria Math" panose="02040503050406030204" pitchFamily="18" charset="0"/>
                            </a:rPr>
                          </m:ctrlPr>
                        </m:funcPr>
                        <m:fName>
                          <m:limLow>
                            <m:limLowPr>
                              <m:ctrlPr>
                                <a:rPr lang="en-US" altLang="zh-CN" sz="2400" i="1" kern="100">
                                  <a:latin typeface="Cambria Math" panose="02040503050406030204" pitchFamily="18" charset="0"/>
                                  <a:ea typeface="MS Mincho" panose="02020609040205080304" charset="-128"/>
                                  <a:cs typeface="Cambria Math" panose="02040503050406030204" pitchFamily="18" charset="0"/>
                                </a:rPr>
                              </m:ctrlPr>
                            </m:limLowPr>
                            <m:e>
                              <m:r>
                                <m:rPr>
                                  <m:sty m:val="p"/>
                                </m:rPr>
                                <a:rPr lang="en-US" altLang="zh-CN" sz="2400" kern="100">
                                  <a:latin typeface="Cambria Math" panose="02040503050406030204" pitchFamily="18" charset="0"/>
                                  <a:ea typeface="MS Mincho" panose="02020609040205080304" charset="-128"/>
                                  <a:cs typeface="Cambria Math" panose="02040503050406030204" pitchFamily="18" charset="0"/>
                                </a:rPr>
                                <m:t>inf</m:t>
                              </m:r>
                            </m:e>
                            <m:lim>
                              <m:r>
                                <a:rPr lang="en-US" altLang="zh-CN" sz="2400" i="1" kern="100">
                                  <a:latin typeface="Cambria Math" panose="02040503050406030204" pitchFamily="18" charset="0"/>
                                  <a:ea typeface="MS Mincho" panose="02020609040205080304" charset="-128"/>
                                  <a:cs typeface="Cambria Math" panose="02040503050406030204" pitchFamily="18" charset="0"/>
                                </a:rPr>
                                <m:t>𝑥</m:t>
                              </m:r>
                            </m:lim>
                          </m:limLow>
                        </m:fName>
                        <m:e>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MS Mincho" panose="02020609040205080304" charset="-128"/>
                              <a:cs typeface="Cambria Math" panose="02040503050406030204" pitchFamily="18" charset="0"/>
                            </a:rPr>
                            <m:t>𝑓</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MS Mincho" panose="02020609040205080304" charset="-128"/>
                              <a:cs typeface="Cambria Math" panose="02040503050406030204" pitchFamily="18" charset="0"/>
                            </a:rPr>
                            <m:t>𝑥</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nary>
                            <m:naryPr>
                              <m:chr m:val="∑"/>
                              <m:limLoc m:val="undOvr"/>
                              <m:ctrlPr>
                                <a:rPr lang="en-US" altLang="zh-CN" sz="2400" i="1" kern="100">
                                  <a:latin typeface="Cambria Math" panose="02040503050406030204" pitchFamily="18" charset="0"/>
                                  <a:ea typeface="MS Mincho" panose="02020609040205080304" charset="-128"/>
                                  <a:cs typeface="Cambria Math" panose="02040503050406030204" pitchFamily="18" charset="0"/>
                                </a:rPr>
                              </m:ctrlPr>
                            </m:naryPr>
                            <m:sub>
                              <m:r>
                                <a:rPr lang="en-US" altLang="zh-CN" sz="2400" i="1" kern="100">
                                  <a:latin typeface="Cambria Math" panose="02040503050406030204" pitchFamily="18" charset="0"/>
                                  <a:ea typeface="MS Mincho" panose="02020609040205080304" charset="-128"/>
                                  <a:cs typeface="Cambria Math" panose="02040503050406030204" pitchFamily="18" charset="0"/>
                                </a:rPr>
                                <m:t>𝑗</m:t>
                              </m:r>
                              <m:r>
                                <a:rPr lang="en-US" altLang="zh-CN" sz="2400" i="1" kern="100">
                                  <a:latin typeface="Cambria Math" panose="02040503050406030204" pitchFamily="18" charset="0"/>
                                  <a:ea typeface="MS Mincho" panose="02020609040205080304" charset="-128"/>
                                  <a:cs typeface="Cambria Math" panose="02040503050406030204" pitchFamily="18" charset="0"/>
                                </a:rPr>
                                <m:t>=1</m:t>
                              </m:r>
                            </m:sub>
                            <m:sup>
                              <m:r>
                                <a:rPr lang="en-US" altLang="zh-CN" sz="2400" i="1" kern="100">
                                  <a:latin typeface="Cambria Math" panose="02040503050406030204" pitchFamily="18" charset="0"/>
                                  <a:ea typeface="MS Mincho" panose="02020609040205080304" charset="-128"/>
                                  <a:cs typeface="Cambria Math" panose="02040503050406030204" pitchFamily="18" charset="0"/>
                                </a:rPr>
                                <m:t>𝑙</m:t>
                              </m:r>
                            </m:sup>
                            <m:e>
                              <m:sSub>
                                <m:sSub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𝛾</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𝑗</m:t>
                                  </m:r>
                                </m:sub>
                              </m:sSub>
                              <m:sSub>
                                <m:sSub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𝑗</m:t>
                                  </m:r>
                                </m:sub>
                              </m:s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m:t>
                              </m:r>
                            </m:e>
                          </m:nary>
                          <m:r>
                            <a:rPr lang="en-US" altLang="zh-CN" sz="2400" i="1" kern="100">
                              <a:latin typeface="Cambria Math" panose="02040503050406030204" pitchFamily="18" charset="0"/>
                              <a:ea typeface="MS Mincho" panose="02020609040205080304" charset="-128"/>
                              <a:cs typeface="Cambria Math" panose="02040503050406030204" pitchFamily="18" charset="0"/>
                            </a:rPr>
                            <m:t>−</m:t>
                          </m:r>
                          <m:nary>
                            <m:naryPr>
                              <m:chr m:val="∑"/>
                              <m:limLoc m:val="undOvr"/>
                              <m:ctrlPr>
                                <a:rPr lang="en-US" altLang="zh-CN" sz="2400" i="1" kern="100">
                                  <a:latin typeface="Cambria Math" panose="02040503050406030204" pitchFamily="18" charset="0"/>
                                  <a:ea typeface="MS Mincho" panose="02020609040205080304" charset="-128"/>
                                  <a:cs typeface="Cambria Math" panose="02040503050406030204" pitchFamily="18" charset="0"/>
                                </a:rPr>
                              </m:ctrlPr>
                            </m:naryPr>
                            <m:sub>
                              <m:r>
                                <a:rPr lang="en-US" altLang="zh-CN" sz="2400" i="1" kern="100">
                                  <a:latin typeface="Cambria Math" panose="02040503050406030204" pitchFamily="18" charset="0"/>
                                  <a:ea typeface="MS Mincho" panose="02020609040205080304" charset="-128"/>
                                  <a:cs typeface="Cambria Math" panose="02040503050406030204" pitchFamily="18" charset="0"/>
                                </a:rPr>
                                <m:t>𝑖</m:t>
                              </m:r>
                              <m:r>
                                <a:rPr lang="en-US" altLang="zh-CN" sz="2400" i="1" kern="100">
                                  <a:latin typeface="Cambria Math" panose="02040503050406030204" pitchFamily="18" charset="0"/>
                                  <a:ea typeface="MS Mincho" panose="02020609040205080304" charset="-128"/>
                                  <a:cs typeface="Cambria Math" panose="02040503050406030204" pitchFamily="18" charset="0"/>
                                </a:rPr>
                                <m:t>=1</m:t>
                              </m:r>
                            </m:sub>
                            <m:sup>
                              <m:r>
                                <a:rPr lang="en-US" altLang="zh-CN" sz="2400" i="1" kern="100">
                                  <a:latin typeface="Cambria Math" panose="02040503050406030204" pitchFamily="18" charset="0"/>
                                  <a:ea typeface="MS Mincho" panose="02020609040205080304" charset="-128"/>
                                  <a:cs typeface="Cambria Math" panose="02040503050406030204" pitchFamily="18" charset="0"/>
                                </a:rPr>
                                <m:t>𝑚</m:t>
                              </m:r>
                            </m:sup>
                            <m:e>
                              <m:sSub>
                                <m:sSub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𝜆</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𝑖</m:t>
                                  </m:r>
                                </m:sub>
                              </m:sSub>
                              <m:sSub>
                                <m:sSub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h</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𝑖</m:t>
                                  </m:r>
                                </m:sub>
                              </m:s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m:t>
                              </m:r>
                            </m:e>
                          </m:nary>
                          <m:r>
                            <a:rPr lang="en-US" altLang="zh-CN" sz="2400" i="1" kern="100">
                              <a:latin typeface="Cambria Math" panose="02040503050406030204" pitchFamily="18" charset="0"/>
                              <a:ea typeface="MS Mincho" panose="02020609040205080304" charset="-128"/>
                              <a:cs typeface="Cambria Math" panose="02040503050406030204" pitchFamily="18" charset="0"/>
                            </a:rPr>
                            <m:t>}</m:t>
                          </m:r>
                        </m:e>
                      </m:func>
                    </m:oMath>
                  </m:oMathPara>
                </a14:m>
                <a:endParaRPr lang="zh-CN" altLang="en-US" sz="2400" dirty="0"/>
              </a:p>
            </p:txBody>
          </p:sp>
        </mc:Choice>
        <mc:Fallback xmlns="">
          <p:sp>
            <p:nvSpPr>
              <p:cNvPr id="13" name="文本框 12"/>
              <p:cNvSpPr txBox="1">
                <a:spLocks noRot="1" noChangeAspect="1" noMove="1" noResize="1" noEditPoints="1" noAdjustHandles="1" noChangeArrowheads="1" noChangeShapeType="1" noTextEdit="1"/>
              </p:cNvSpPr>
              <p:nvPr/>
            </p:nvSpPr>
            <p:spPr>
              <a:xfrm>
                <a:off x="1186283" y="4151122"/>
                <a:ext cx="6985014" cy="1180067"/>
              </a:xfrm>
              <a:prstGeom prst="rect">
                <a:avLst/>
              </a:prstGeom>
              <a:blipFill>
                <a:blip r:embed="rId4"/>
                <a:stretch>
                  <a:fillRect/>
                </a:stretch>
              </a:blipFill>
            </p:spPr>
            <p:txBody>
              <a:bodyPr/>
              <a:lstStyle/>
              <a:p>
                <a:r>
                  <a:rPr lang="zh-CN" altLang="en-US">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67544" y="1268760"/>
            <a:ext cx="5154105" cy="461665"/>
          </a:xfrm>
          <a:prstGeom prst="rect">
            <a:avLst/>
          </a:prstGeom>
          <a:noFill/>
        </p:spPr>
        <p:txBody>
          <a:bodyPr wrap="square">
            <a:spAutoFit/>
          </a:bodyPr>
          <a:lstStyle/>
          <a:p>
            <a:pPr algn="just">
              <a:spcBef>
                <a:spcPts val="450"/>
              </a:spcBef>
              <a:spcAft>
                <a:spcPts val="450"/>
              </a:spcAft>
            </a:pPr>
            <a:r>
              <a:rPr lang="zh-CN" altLang="en-US" sz="2400" kern="100" dirty="0">
                <a:latin typeface="Times New Roman" panose="02020603050405020304" pitchFamily="18" charset="0"/>
                <a:ea typeface="黑体" panose="02010609060101010101" pitchFamily="49" charset="-122"/>
              </a:rPr>
              <a:t>三、小结</a:t>
            </a:r>
            <a:endParaRPr lang="zh-CN" altLang="zh-CN" sz="2400" kern="100" dirty="0">
              <a:latin typeface="Times New Roman" panose="02020603050405020304" pitchFamily="18" charset="0"/>
              <a:ea typeface="宋体" panose="02010600030101010101" pitchFamily="2" charset="-122"/>
            </a:endParaRPr>
          </a:p>
        </p:txBody>
      </p:sp>
      <p:sp>
        <p:nvSpPr>
          <p:cNvPr id="2" name="文本框 1">
            <a:extLst>
              <a:ext uri="{FF2B5EF4-FFF2-40B4-BE49-F238E27FC236}">
                <a16:creationId xmlns:a16="http://schemas.microsoft.com/office/drawing/2014/main" id="{2E6A5E94-BC7E-14A8-B2B1-9F06E57048FE}"/>
              </a:ext>
            </a:extLst>
          </p:cNvPr>
          <p:cNvSpPr txBox="1"/>
          <p:nvPr/>
        </p:nvSpPr>
        <p:spPr>
          <a:xfrm>
            <a:off x="791580" y="1808820"/>
            <a:ext cx="7830870" cy="2440348"/>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zh-CN" altLang="zh-CN" sz="2100" dirty="0">
                <a:latin typeface="宋体" panose="02010600030101010101" pitchFamily="2" charset="-122"/>
                <a:ea typeface="宋体" panose="02010600030101010101" pitchFamily="2" charset="-122"/>
              </a:rPr>
              <a:t>线性规划的</a:t>
            </a:r>
            <a:r>
              <a:rPr lang="zh-CN" altLang="en-US" sz="2100" dirty="0">
                <a:latin typeface="宋体" panose="02010600030101010101" pitchFamily="2" charset="-122"/>
                <a:ea typeface="宋体" panose="02010600030101010101" pitchFamily="2" charset="-122"/>
              </a:rPr>
              <a:t>对偶问题的对偶是原问题。</a:t>
            </a:r>
            <a:endParaRPr lang="en-US" altLang="zh-CN" sz="2100" dirty="0">
              <a:latin typeface="宋体" panose="02010600030101010101" pitchFamily="2" charset="-122"/>
              <a:ea typeface="宋体" panose="02010600030101010101" pitchFamily="2" charset="-122"/>
            </a:endParaRPr>
          </a:p>
          <a:p>
            <a:pPr marL="342900" indent="-342900" algn="just">
              <a:lnSpc>
                <a:spcPct val="150000"/>
              </a:lnSpc>
              <a:buFont typeface="Wingdings" panose="05000000000000000000" pitchFamily="2" charset="2"/>
              <a:buChar char="Ø"/>
            </a:pPr>
            <a:r>
              <a:rPr lang="zh-CN" altLang="en-US" sz="2100" dirty="0">
                <a:solidFill>
                  <a:srgbClr val="121212"/>
                </a:solidFill>
                <a:latin typeface="宋体" panose="02010600030101010101" pitchFamily="2" charset="-122"/>
                <a:ea typeface="宋体" panose="02010600030101010101" pitchFamily="2" charset="-122"/>
              </a:rPr>
              <a:t>无论原始问题是否是凸的，对偶问题都是凸优化问题。</a:t>
            </a:r>
            <a:endParaRPr lang="en-US" altLang="zh-CN" sz="2100" dirty="0">
              <a:solidFill>
                <a:srgbClr val="121212"/>
              </a:solidFill>
              <a:latin typeface="宋体" panose="02010600030101010101" pitchFamily="2" charset="-122"/>
              <a:ea typeface="宋体" panose="02010600030101010101" pitchFamily="2" charset="-122"/>
            </a:endParaRPr>
          </a:p>
          <a:p>
            <a:pPr marL="342900" indent="-342900" algn="just">
              <a:lnSpc>
                <a:spcPct val="150000"/>
              </a:lnSpc>
              <a:buFont typeface="Wingdings" panose="05000000000000000000" pitchFamily="2" charset="2"/>
              <a:buChar char="Ø"/>
            </a:pPr>
            <a:r>
              <a:rPr lang="zh-CN" altLang="en-US" sz="2100" dirty="0">
                <a:solidFill>
                  <a:srgbClr val="121212"/>
                </a:solidFill>
                <a:latin typeface="宋体" panose="02010600030101010101" pitchFamily="2" charset="-122"/>
                <a:ea typeface="宋体" panose="02010600030101010101" pitchFamily="2" charset="-122"/>
              </a:rPr>
              <a:t>对于一个约束优化问题，找到其对偶问题，当弱对偶成立时，可以得到原问题的一个下界。而如果强对偶成立，则可以直接求解对偶问题来解决原问题。</a:t>
            </a:r>
            <a:endParaRPr lang="zh-CN" altLang="zh-CN" sz="2100" kern="100" dirty="0">
              <a:latin typeface="宋体" panose="02010600030101010101" pitchFamily="2" charset="-122"/>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14133" y="2564904"/>
            <a:ext cx="3651962" cy="600164"/>
          </a:xfrm>
          <a:prstGeom prst="rect">
            <a:avLst/>
          </a:prstGeom>
        </p:spPr>
        <p:txBody>
          <a:bodyPr wrap="none">
            <a:spAutoFit/>
          </a:bodyPr>
          <a:lstStyle/>
          <a:p>
            <a:pPr algn="ctr"/>
            <a:r>
              <a:rPr lang="en-US" altLang="zh-CN" sz="3300" b="1" dirty="0"/>
              <a:t>   9.1 </a:t>
            </a:r>
            <a:r>
              <a:rPr lang="zh-CN" altLang="en-US" sz="3300" b="1" dirty="0"/>
              <a:t>二阶充分条件</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p:cNvSpPr txBox="1"/>
              <p:nvPr/>
            </p:nvSpPr>
            <p:spPr>
              <a:xfrm>
                <a:off x="305780" y="404664"/>
                <a:ext cx="8532440" cy="5806077"/>
              </a:xfrm>
              <a:prstGeom prst="rect">
                <a:avLst/>
              </a:prstGeom>
              <a:noFill/>
            </p:spPr>
            <p:txBody>
              <a:bodyPr wrap="square" rtlCol="0">
                <a:spAutoFit/>
              </a:bodyPr>
              <a:lstStyle/>
              <a:p>
                <a:pPr algn="just" fontAlgn="auto">
                  <a:lnSpc>
                    <a:spcPct val="150000"/>
                  </a:lnSpc>
                </a:pPr>
                <a:r>
                  <a:rPr lang="zh-CN" altLang="en-US" sz="2400" b="1" dirty="0">
                    <a:solidFill>
                      <a:schemeClr val="accent1"/>
                    </a:solidFill>
                    <a:latin typeface="宋体" panose="02010600030101010101" pitchFamily="2" charset="-122"/>
                    <a:ea typeface="宋体" panose="02010600030101010101" pitchFamily="2" charset="-122"/>
                    <a:cs typeface="宋体" panose="02010600030101010101" pitchFamily="2" charset="-122"/>
                  </a:rPr>
                  <a:t>定义</a:t>
                </a:r>
                <a:r>
                  <a:rPr lang="en-US" altLang="zh-CN" sz="2400" b="1" dirty="0">
                    <a:solidFill>
                      <a:schemeClr val="accent1"/>
                    </a:solidFill>
                    <a:latin typeface="宋体" panose="02010600030101010101" pitchFamily="2" charset="-122"/>
                    <a:ea typeface="宋体" panose="02010600030101010101" pitchFamily="2" charset="-122"/>
                    <a:cs typeface="宋体" panose="02010600030101010101" pitchFamily="2" charset="-122"/>
                  </a:rPr>
                  <a:t>1</a:t>
                </a:r>
                <a:r>
                  <a:rPr lang="zh-CN" altLang="en-US" sz="2400" dirty="0">
                    <a:latin typeface="宋体" panose="02010600030101010101" pitchFamily="2" charset="-122"/>
                    <a:ea typeface="宋体" panose="02010600030101010101" pitchFamily="2" charset="-122"/>
                    <a:cs typeface="宋体" panose="02010600030101010101" pitchFamily="2" charset="-122"/>
                  </a:rPr>
                  <a:t>（起约束作用）</a:t>
                </a:r>
              </a:p>
              <a:p>
                <a:pPr algn="just" fontAlgn="auto">
                  <a:lnSpc>
                    <a:spcPct val="150000"/>
                  </a:lnSpc>
                </a:pPr>
                <a:r>
                  <a:rPr lang="en-US" altLang="zh-CN" sz="2400" dirty="0">
                    <a:latin typeface="宋体" panose="02010600030101010101" pitchFamily="2" charset="-122"/>
                    <a:ea typeface="宋体" panose="02010600030101010101" pitchFamily="2" charset="-122"/>
                    <a:cs typeface="宋体" panose="02010600030101010101" pitchFamily="2" charset="-122"/>
                  </a:rPr>
                  <a:t>	</a:t>
                </a:r>
                <a:r>
                  <a:rPr lang="zh-CN" altLang="en-US" sz="2400" dirty="0">
                    <a:latin typeface="宋体" panose="02010600030101010101" pitchFamily="2" charset="-122"/>
                    <a:ea typeface="宋体" panose="02010600030101010101" pitchFamily="2" charset="-122"/>
                    <a:cs typeface="宋体" panose="02010600030101010101" pitchFamily="2" charset="-122"/>
                  </a:rPr>
                  <a:t>设非线性规划问题的可行域为</a:t>
                </a:r>
              </a:p>
              <a:p>
                <a:pPr algn="just" fontAlgn="auto">
                  <a:lnSpc>
                    <a:spcPct val="150000"/>
                  </a:lnSpc>
                </a:pPr>
                <a14:m>
                  <m:oMathPara xmlns:m="http://schemas.openxmlformats.org/officeDocument/2006/math">
                    <m:oMathParaPr>
                      <m:jc m:val="centerGroup"/>
                    </m:oMathParaPr>
                    <m:oMath xmlns:m="http://schemas.openxmlformats.org/officeDocument/2006/math">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𝐻</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𝑅</m:t>
                          </m:r>
                        </m:e>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𝑛</m:t>
                          </m:r>
                        </m:sup>
                      </m:s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h</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𝑖</m:t>
                          </m:r>
                        </m:sub>
                      </m:s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)=0,</m:t>
                      </m:r>
                      <m:sSub>
                        <m:sSub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𝑗</m:t>
                          </m:r>
                        </m:sub>
                      </m:s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)≥0,</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𝑖</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=1,2,...,</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𝑚</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=1,2,...,</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𝑙</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m:t>
                      </m:r>
                    </m:oMath>
                  </m:oMathPara>
                </a14:m>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algn="just" fontAlgn="auto">
                  <a:lnSpc>
                    <a:spcPct val="150000"/>
                  </a:lnSpc>
                </a:pPr>
                <a14:m>
                  <m:oMath xmlns:m="http://schemas.openxmlformats.org/officeDocument/2006/math">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(1)</m:t>
                        </m:r>
                      </m:sup>
                    </m:s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𝐻</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,考虑某一个不等式约束</a:t>
                </a:r>
                <a14:m>
                  <m:oMath xmlns:m="http://schemas.openxmlformats.org/officeDocument/2006/math">
                    <m:sSub>
                      <m:sSub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𝑗</m:t>
                        </m:r>
                      </m:sub>
                    </m:s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)≥0</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(1)</m:t>
                        </m:r>
                      </m:sup>
                    </m:sSup>
                  </m:oMath>
                </a14:m>
                <a:r>
                  <a:rPr lang="zh-CN" altLang="en-US" sz="2400" dirty="0">
                    <a:latin typeface="宋体" panose="02010600030101010101" pitchFamily="2" charset="-122"/>
                    <a:ea typeface="宋体" panose="02010600030101010101" pitchFamily="2" charset="-122"/>
                    <a:cs typeface="宋体" panose="02010600030101010101" pitchFamily="2" charset="-122"/>
                  </a:rPr>
                  <a:t>满足它有两种可能：</a:t>
                </a:r>
                <a:endParaRPr lang="en-US" altLang="zh-CN" sz="2400" dirty="0">
                  <a:latin typeface="宋体" panose="02010600030101010101" pitchFamily="2" charset="-122"/>
                  <a:ea typeface="宋体" panose="02010600030101010101" pitchFamily="2" charset="-122"/>
                  <a:cs typeface="宋体" panose="02010600030101010101" pitchFamily="2" charset="-122"/>
                </a:endParaRPr>
              </a:p>
              <a:p>
                <a:pPr algn="just" fontAlgn="auto">
                  <a:lnSpc>
                    <a:spcPct val="150000"/>
                  </a:lnSpc>
                </a:pPr>
                <a:r>
                  <a:rPr lang="en-US" altLang="zh-CN" sz="2400" dirty="0">
                    <a:latin typeface="宋体" panose="02010600030101010101" pitchFamily="2" charset="-122"/>
                    <a:ea typeface="宋体" panose="02010600030101010101" pitchFamily="2" charset="-122"/>
                    <a:cs typeface="宋体" panose="02010600030101010101" pitchFamily="2" charset="-122"/>
                  </a:rPr>
                  <a:t>	</a:t>
                </a:r>
                <a:r>
                  <a:rPr lang="zh-CN" altLang="en-US" sz="2400" dirty="0">
                    <a:latin typeface="宋体" panose="02010600030101010101" pitchFamily="2" charset="-122"/>
                    <a:ea typeface="宋体" panose="02010600030101010101" pitchFamily="2" charset="-122"/>
                    <a:cs typeface="宋体" panose="02010600030101010101" pitchFamily="2" charset="-122"/>
                  </a:rPr>
                  <a:t>其一是</a:t>
                </a:r>
                <a14:m>
                  <m:oMath xmlns:m="http://schemas.openxmlformats.org/officeDocument/2006/math">
                    <m:sSub>
                      <m:sSub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𝑗</m:t>
                        </m:r>
                      </m:sub>
                    </m:s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(1)</m:t>
                        </m:r>
                      </m:sup>
                    </m:s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)&gt;0</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，这时，</a:t>
                </a:r>
                <a14:m>
                  <m:oMath xmlns:m="http://schemas.openxmlformats.org/officeDocument/2006/math">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(1)</m:t>
                        </m:r>
                      </m:sup>
                    </m:sSup>
                  </m:oMath>
                </a14:m>
                <a:r>
                  <a:rPr lang="zh-CN" altLang="en-US" sz="2400" dirty="0">
                    <a:latin typeface="宋体" panose="02010600030101010101" pitchFamily="2" charset="-122"/>
                    <a:ea typeface="宋体" panose="02010600030101010101" pitchFamily="2" charset="-122"/>
                    <a:cs typeface="宋体" panose="02010600030101010101" pitchFamily="2" charset="-122"/>
                  </a:rPr>
                  <a:t>不是处于由这一约束条件</a:t>
                </a:r>
                <a14:m>
                  <m:oMath xmlns:m="http://schemas.openxmlformats.org/officeDocument/2006/math">
                    <m:sSub>
                      <m:sSub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𝑗</m:t>
                        </m:r>
                      </m:sub>
                    </m:s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)≥0</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形成的可行域的边界上，因此当点不论沿什么方向稍微离开</a:t>
                </a:r>
                <a14:m>
                  <m:oMath xmlns:m="http://schemas.openxmlformats.org/officeDocument/2006/math">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(1)</m:t>
                        </m:r>
                      </m:sup>
                    </m:sSup>
                  </m:oMath>
                </a14:m>
                <a:r>
                  <a:rPr lang="zh-CN" altLang="en-US" sz="2400" dirty="0">
                    <a:latin typeface="宋体" panose="02010600030101010101" pitchFamily="2" charset="-122"/>
                    <a:ea typeface="宋体" panose="02010600030101010101" pitchFamily="2" charset="-122"/>
                    <a:cs typeface="宋体" panose="02010600030101010101" pitchFamily="2" charset="-122"/>
                  </a:rPr>
                  <a:t>时，都不会违背这一约束条件，这样的约束就称</a:t>
                </a:r>
                <a14:m>
                  <m:oMath xmlns:m="http://schemas.openxmlformats.org/officeDocument/2006/math">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(1)</m:t>
                        </m:r>
                      </m:sup>
                    </m:sSup>
                  </m:oMath>
                </a14:m>
                <a:r>
                  <a:rPr lang="zh-CN" altLang="en-US" sz="2400" dirty="0">
                    <a:latin typeface="宋体" panose="02010600030101010101" pitchFamily="2" charset="-122"/>
                    <a:ea typeface="宋体" panose="02010600030101010101" pitchFamily="2" charset="-122"/>
                    <a:cs typeface="宋体" panose="02010600030101010101" pitchFamily="2" charset="-122"/>
                  </a:rPr>
                  <a:t>为点的不起作用约束，即它对</a:t>
                </a:r>
                <a14:m>
                  <m:oMath xmlns:m="http://schemas.openxmlformats.org/officeDocument/2006/math">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(1)</m:t>
                        </m:r>
                      </m:sup>
                    </m:sSup>
                  </m:oMath>
                </a14:m>
                <a:r>
                  <a:rPr lang="zh-CN" altLang="en-US" sz="2400" dirty="0">
                    <a:latin typeface="宋体" panose="02010600030101010101" pitchFamily="2" charset="-122"/>
                    <a:ea typeface="宋体" panose="02010600030101010101" pitchFamily="2" charset="-122"/>
                    <a:cs typeface="宋体" panose="02010600030101010101" pitchFamily="2" charset="-122"/>
                  </a:rPr>
                  <a:t>的微小扰动不起限制作用；</a:t>
                </a:r>
                <a:r>
                  <a:rPr lang="zh-CN" altLang="en-US" sz="2400" dirty="0">
                    <a:solidFill>
                      <a:srgbClr val="FF0000"/>
                    </a:solidFill>
                    <a:latin typeface="宋体" panose="02010600030101010101" pitchFamily="2" charset="-122"/>
                    <a:ea typeface="宋体" panose="02010600030101010101" pitchFamily="2" charset="-122"/>
                    <a:cs typeface="宋体" panose="02010600030101010101" pitchFamily="2" charset="-122"/>
                  </a:rPr>
                  <a:t>注意，不起作用约束并不是无效约束！</a:t>
                </a:r>
              </a:p>
            </p:txBody>
          </p:sp>
        </mc:Choice>
        <mc:Fallback xmlns="">
          <p:sp>
            <p:nvSpPr>
              <p:cNvPr id="3" name="文本框 2"/>
              <p:cNvSpPr txBox="1">
                <a:spLocks noRot="1" noChangeAspect="1" noMove="1" noResize="1" noEditPoints="1" noAdjustHandles="1" noChangeArrowheads="1" noChangeShapeType="1" noTextEdit="1"/>
              </p:cNvSpPr>
              <p:nvPr/>
            </p:nvSpPr>
            <p:spPr>
              <a:xfrm>
                <a:off x="305780" y="404664"/>
                <a:ext cx="8532440" cy="5806077"/>
              </a:xfrm>
              <a:prstGeom prst="rect">
                <a:avLst/>
              </a:prstGeom>
              <a:blipFill>
                <a:blip r:embed="rId2"/>
                <a:stretch>
                  <a:fillRect l="-1071" r="-1143" b="-1364"/>
                </a:stretch>
              </a:blipFill>
            </p:spPr>
            <p:txBody>
              <a:bodyPr/>
              <a:lstStyle/>
              <a:p>
                <a:r>
                  <a:rPr lang="zh-CN" altLang="en-US">
                    <a:noFill/>
                  </a:rPr>
                  <a:t> </a:t>
                </a:r>
              </a:p>
            </p:txBody>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p:cNvSpPr txBox="1"/>
              <p:nvPr/>
            </p:nvSpPr>
            <p:spPr>
              <a:xfrm>
                <a:off x="467544" y="620688"/>
                <a:ext cx="8352928" cy="4608826"/>
              </a:xfrm>
              <a:prstGeom prst="rect">
                <a:avLst/>
              </a:prstGeom>
              <a:noFill/>
            </p:spPr>
            <p:txBody>
              <a:bodyPr wrap="square" rtlCol="0">
                <a:spAutoFit/>
              </a:bodyPr>
              <a:lstStyle/>
              <a:p>
                <a:pPr algn="just" fontAlgn="auto">
                  <a:lnSpc>
                    <a:spcPct val="150000"/>
                  </a:lnSpc>
                </a:pPr>
                <a:r>
                  <a:rPr lang="en-US" altLang="zh-CN" sz="2400" dirty="0">
                    <a:latin typeface="宋体" panose="02010600030101010101" pitchFamily="2" charset="-122"/>
                    <a:ea typeface="宋体" panose="02010600030101010101" pitchFamily="2" charset="-122"/>
                    <a:cs typeface="宋体" panose="02010600030101010101" pitchFamily="2" charset="-122"/>
                  </a:rPr>
                  <a:t>	</a:t>
                </a:r>
                <a:r>
                  <a:rPr lang="zh-CN" altLang="en-US" sz="2400" dirty="0">
                    <a:latin typeface="宋体" panose="02010600030101010101" pitchFamily="2" charset="-122"/>
                    <a:ea typeface="宋体" panose="02010600030101010101" pitchFamily="2" charset="-122"/>
                    <a:cs typeface="宋体" panose="02010600030101010101" pitchFamily="2" charset="-122"/>
                  </a:rPr>
                  <a:t>其二是</a:t>
                </a:r>
                <a14:m>
                  <m:oMath xmlns:m="http://schemas.openxmlformats.org/officeDocument/2006/math">
                    <m:sSub>
                      <m:sSub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𝑗</m:t>
                        </m:r>
                      </m:sub>
                    </m:sSub>
                    <m:r>
                      <a:rPr lang="en-US" altLang="zh-CN" sz="2400" i="1" kern="100">
                        <a:latin typeface="Cambria Math" panose="02040503050406030204" pitchFamily="18" charset="0"/>
                        <a:ea typeface="MS Mincho" panose="02020609040205080304" charset="-128"/>
                        <a:cs typeface="Cambria Math" panose="02040503050406030204" pitchFamily="18" charset="0"/>
                      </a:rPr>
                      <m:t>(</m:t>
                    </m:r>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kern="100">
                            <a:latin typeface="Cambria Math" panose="02040503050406030204" pitchFamily="18" charset="0"/>
                            <a:ea typeface="MS Mincho" panose="02020609040205080304" charset="-128"/>
                            <a:cs typeface="Cambria Math" panose="02040503050406030204" pitchFamily="18" charset="0"/>
                          </a:rPr>
                          <m:t>(1)</m:t>
                        </m:r>
                      </m:sup>
                    </m:sSup>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0</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，这时</a:t>
                </a:r>
                <a14:m>
                  <m:oMath xmlns:m="http://schemas.openxmlformats.org/officeDocument/2006/math">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kern="100">
                            <a:latin typeface="Cambria Math" panose="02040503050406030204" pitchFamily="18" charset="0"/>
                            <a:ea typeface="MS Mincho" panose="02020609040205080304" charset="-128"/>
                            <a:cs typeface="Cambria Math" panose="02040503050406030204" pitchFamily="18" charset="0"/>
                          </a:rPr>
                          <m:t>(1)</m:t>
                        </m:r>
                      </m:sup>
                    </m:sSup>
                  </m:oMath>
                </a14:m>
                <a:r>
                  <a:rPr lang="zh-CN" altLang="en-US" sz="2400" dirty="0">
                    <a:latin typeface="宋体" panose="02010600030101010101" pitchFamily="2" charset="-122"/>
                    <a:ea typeface="宋体" panose="02010600030101010101" pitchFamily="2" charset="-122"/>
                    <a:cs typeface="宋体" panose="02010600030101010101" pitchFamily="2" charset="-122"/>
                  </a:rPr>
                  <a:t>处于由这一约束条件</a:t>
                </a:r>
                <a14:m>
                  <m:oMath xmlns:m="http://schemas.openxmlformats.org/officeDocument/2006/math">
                    <m:sSub>
                      <m:sSub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𝑗</m:t>
                        </m:r>
                      </m:sub>
                    </m:s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)≥0</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形成的可行域的边界上，它对</a:t>
                </a:r>
                <a14:m>
                  <m:oMath xmlns:m="http://schemas.openxmlformats.org/officeDocument/2006/math">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kern="100">
                            <a:latin typeface="Cambria Math" panose="02040503050406030204" pitchFamily="18" charset="0"/>
                            <a:ea typeface="MS Mincho" panose="02020609040205080304" charset="-128"/>
                            <a:cs typeface="Cambria Math" panose="02040503050406030204" pitchFamily="18" charset="0"/>
                          </a:rPr>
                          <m:t>(1)</m:t>
                        </m:r>
                      </m:sup>
                    </m:sSup>
                  </m:oMath>
                </a14:m>
                <a:r>
                  <a:rPr lang="zh-CN" altLang="en-US" sz="2400" dirty="0">
                    <a:latin typeface="宋体" panose="02010600030101010101" pitchFamily="2" charset="-122"/>
                    <a:ea typeface="宋体" panose="02010600030101010101" pitchFamily="2" charset="-122"/>
                    <a:cs typeface="宋体" panose="02010600030101010101" pitchFamily="2" charset="-122"/>
                  </a:rPr>
                  <a:t>点的扰动起到了某种限制作用，即当点沿某些方向稍微离开时，仍能满足约束条件，而当点沿另一些方向离开</a:t>
                </a:r>
                <a14:m>
                  <m:oMath xmlns:m="http://schemas.openxmlformats.org/officeDocument/2006/math">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kern="100">
                            <a:latin typeface="Cambria Math" panose="02040503050406030204" pitchFamily="18" charset="0"/>
                            <a:ea typeface="MS Mincho" panose="02020609040205080304" charset="-128"/>
                            <a:cs typeface="Cambria Math" panose="02040503050406030204" pitchFamily="18" charset="0"/>
                          </a:rPr>
                          <m:t>(1)</m:t>
                        </m:r>
                      </m:sup>
                    </m:sSup>
                  </m:oMath>
                </a14:m>
                <a:r>
                  <a:rPr lang="zh-CN" altLang="en-US" sz="2400" dirty="0">
                    <a:latin typeface="宋体" panose="02010600030101010101" pitchFamily="2" charset="-122"/>
                    <a:ea typeface="宋体" panose="02010600030101010101" pitchFamily="2" charset="-122"/>
                    <a:cs typeface="宋体" panose="02010600030101010101" pitchFamily="2" charset="-122"/>
                  </a:rPr>
                  <a:t>时，不论步长多么小，都将违背该约束条件。这样的约束称为</a:t>
                </a:r>
                <a14:m>
                  <m:oMath xmlns:m="http://schemas.openxmlformats.org/officeDocument/2006/math">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kern="100">
                            <a:latin typeface="Cambria Math" panose="02040503050406030204" pitchFamily="18" charset="0"/>
                            <a:ea typeface="MS Mincho" panose="02020609040205080304" charset="-128"/>
                            <a:cs typeface="Cambria Math" panose="02040503050406030204" pitchFamily="18" charset="0"/>
                          </a:rPr>
                          <m:t>(1)</m:t>
                        </m:r>
                      </m:sup>
                    </m:sSup>
                  </m:oMath>
                </a14:m>
                <a:r>
                  <a:rPr lang="zh-CN" altLang="en-US" sz="2400" dirty="0">
                    <a:latin typeface="宋体" panose="02010600030101010101" pitchFamily="2" charset="-122"/>
                    <a:ea typeface="宋体" panose="02010600030101010101" pitchFamily="2" charset="-122"/>
                    <a:cs typeface="宋体" panose="02010600030101010101" pitchFamily="2" charset="-122"/>
                  </a:rPr>
                  <a:t>点的起作用约束。显然，等式约束对所有可行点来说都是起作用约束。</a:t>
                </a:r>
                <a:endParaRPr lang="en-US" altLang="zh-CN" sz="2400" dirty="0">
                  <a:latin typeface="宋体" panose="02010600030101010101" pitchFamily="2" charset="-122"/>
                  <a:ea typeface="宋体" panose="02010600030101010101" pitchFamily="2" charset="-122"/>
                  <a:cs typeface="宋体" panose="02010600030101010101" pitchFamily="2" charset="-122"/>
                </a:endParaRPr>
              </a:p>
              <a:p>
                <a:pPr algn="just" fontAlgn="auto">
                  <a:lnSpc>
                    <a:spcPct val="150000"/>
                  </a:lnSpc>
                </a:pPr>
                <a:r>
                  <a:rPr lang="en-US" altLang="zh-CN" sz="2400" dirty="0">
                    <a:solidFill>
                      <a:srgbClr val="FF0000"/>
                    </a:solidFill>
                    <a:latin typeface="宋体" panose="02010600030101010101" pitchFamily="2" charset="-122"/>
                    <a:ea typeface="宋体" panose="02010600030101010101" pitchFamily="2" charset="-122"/>
                    <a:cs typeface="宋体" panose="02010600030101010101" pitchFamily="2" charset="-122"/>
                  </a:rPr>
                  <a:t>	</a:t>
                </a:r>
                <a:r>
                  <a:rPr lang="zh-CN" altLang="en-US" sz="2400" dirty="0">
                    <a:solidFill>
                      <a:srgbClr val="FF0000"/>
                    </a:solidFill>
                    <a:latin typeface="宋体" panose="02010600030101010101" pitchFamily="2" charset="-122"/>
                    <a:ea typeface="宋体" panose="02010600030101010101" pitchFamily="2" charset="-122"/>
                    <a:cs typeface="宋体" panose="02010600030101010101" pitchFamily="2" charset="-122"/>
                  </a:rPr>
                  <a:t>特别地，对于只含不等式约束的非线性规划问题，严格内点（即不在可行域边界上的点）不存在起作用的约束。</a:t>
                </a:r>
              </a:p>
            </p:txBody>
          </p:sp>
        </mc:Choice>
        <mc:Fallback xmlns="">
          <p:sp>
            <p:nvSpPr>
              <p:cNvPr id="3" name="文本框 2"/>
              <p:cNvSpPr txBox="1">
                <a:spLocks noRot="1" noChangeAspect="1" noMove="1" noResize="1" noEditPoints="1" noAdjustHandles="1" noChangeArrowheads="1" noChangeShapeType="1" noTextEdit="1"/>
              </p:cNvSpPr>
              <p:nvPr/>
            </p:nvSpPr>
            <p:spPr>
              <a:xfrm>
                <a:off x="467544" y="620688"/>
                <a:ext cx="8352928" cy="4608826"/>
              </a:xfrm>
              <a:prstGeom prst="rect">
                <a:avLst/>
              </a:prstGeom>
              <a:blipFill>
                <a:blip r:embed="rId2"/>
                <a:stretch>
                  <a:fillRect l="-1168" r="-1095" b="-1984"/>
                </a:stretch>
              </a:blipFill>
            </p:spPr>
            <p:txBody>
              <a:bodyPr/>
              <a:lstStyle/>
              <a:p>
                <a:r>
                  <a:rPr lang="zh-CN" altLang="en-US">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p:cNvSpPr txBox="1"/>
              <p:nvPr/>
            </p:nvSpPr>
            <p:spPr>
              <a:xfrm>
                <a:off x="467544" y="358191"/>
                <a:ext cx="8208912" cy="6141618"/>
              </a:xfrm>
              <a:prstGeom prst="rect">
                <a:avLst/>
              </a:prstGeom>
              <a:noFill/>
            </p:spPr>
            <p:txBody>
              <a:bodyPr wrap="square" rtlCol="0">
                <a:spAutoFit/>
              </a:bodyPr>
              <a:lstStyle/>
              <a:p>
                <a:pPr algn="just">
                  <a:lnSpc>
                    <a:spcPct val="12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	</a:t>
                </a:r>
                <a:r>
                  <a:rPr lang="zh-CN" altLang="en-US" sz="2400" b="1" dirty="0">
                    <a:solidFill>
                      <a:schemeClr val="accent1"/>
                    </a:solidFill>
                    <a:latin typeface="宋体" panose="02010600030101010101" pitchFamily="2" charset="-122"/>
                    <a:ea typeface="宋体" panose="02010600030101010101" pitchFamily="2" charset="-122"/>
                    <a:cs typeface="宋体" panose="02010600030101010101" pitchFamily="2" charset="-122"/>
                  </a:rPr>
                  <a:t>定理</a:t>
                </a:r>
                <a:r>
                  <a:rPr lang="zh-CN" altLang="en-US" sz="2400" dirty="0">
                    <a:latin typeface="宋体" panose="02010600030101010101" pitchFamily="2" charset="-122"/>
                    <a:ea typeface="宋体" panose="02010600030101010101" pitchFamily="2" charset="-122"/>
                    <a:cs typeface="宋体" panose="02010600030101010101" pitchFamily="2" charset="-122"/>
                  </a:rPr>
                  <a:t> 对优化问题（*）而言，若目标</a:t>
                </a:r>
                <a14:m>
                  <m:oMath xmlns:m="http://schemas.openxmlformats.org/officeDocument/2006/math">
                    <m:r>
                      <a:rPr lang="zh-CN" altLang="en-US" sz="2400" i="1" kern="100" dirty="0">
                        <a:latin typeface="Cambria Math" panose="02040503050406030204" pitchFamily="18" charset="0"/>
                        <a:ea typeface="宋体" panose="02010600030101010101" pitchFamily="2" charset="-122"/>
                        <a:cs typeface="Cambria Math" panose="02040503050406030204" pitchFamily="18" charset="0"/>
                      </a:rPr>
                      <m:t>函数</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𝑓</m:t>
                    </m:r>
                    <m:d>
                      <m:d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d>
                  </m:oMath>
                </a14:m>
                <a:r>
                  <a:rPr lang="zh-CN" altLang="en-US" sz="2400" dirty="0">
                    <a:latin typeface="宋体" panose="02010600030101010101" pitchFamily="2" charset="-122"/>
                    <a:ea typeface="宋体" panose="02010600030101010101" pitchFamily="2" charset="-122"/>
                    <a:cs typeface="宋体" panose="02010600030101010101" pitchFamily="2" charset="-122"/>
                  </a:rPr>
                  <a:t>、约束</a:t>
                </a:r>
                <a14:m>
                  <m:oMath xmlns:m="http://schemas.openxmlformats.org/officeDocument/2006/math">
                    <m:r>
                      <a:rPr lang="zh-CN" altLang="en-US" sz="2400" i="1" kern="100" dirty="0">
                        <a:latin typeface="Cambria Math" panose="02040503050406030204" pitchFamily="18" charset="0"/>
                        <a:ea typeface="宋体" panose="02010600030101010101" pitchFamily="2" charset="-122"/>
                        <a:cs typeface="Cambria Math" panose="02040503050406030204" pitchFamily="18" charset="0"/>
                      </a:rPr>
                      <m:t>函数</m:t>
                    </m:r>
                    <m:sSub>
                      <m:sSub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𝑗</m:t>
                        </m:r>
                      </m:sub>
                    </m:sSub>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(i=1,2,...l)、</a:t>
                </a:r>
                <a14:m>
                  <m:oMath xmlns:m="http://schemas.openxmlformats.org/officeDocument/2006/math">
                    <m:sSub>
                      <m:sSub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h</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𝑖</m:t>
                        </m:r>
                      </m:sub>
                    </m:sSub>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(i=1,2,...m)二次连续可微，</a:t>
                </a:r>
                <a14:m>
                  <m:oMath xmlns:m="http://schemas.openxmlformats.org/officeDocument/2006/math">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m:t>
                        </m:r>
                      </m:sup>
                    </m:sSup>
                  </m:oMath>
                </a14:m>
                <a:r>
                  <a:rPr lang="zh-CN" altLang="en-US" sz="2400" dirty="0">
                    <a:latin typeface="宋体" panose="02010600030101010101" pitchFamily="2" charset="-122"/>
                    <a:ea typeface="宋体" panose="02010600030101010101" pitchFamily="2" charset="-122"/>
                    <a:cs typeface="宋体" panose="02010600030101010101" pitchFamily="2" charset="-122"/>
                  </a:rPr>
                  <a:t>是可行点，又存在向量</a:t>
                </a:r>
                <a14:m>
                  <m:oMath xmlns:m="http://schemas.openxmlformats.org/officeDocument/2006/math">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MS Mincho" panose="02020609040205080304" charset="-128"/>
                            <a:cs typeface="Cambria Math" panose="02040503050406030204" pitchFamily="18" charset="0"/>
                          </a:rPr>
                          <m:t>𝜆</m:t>
                        </m:r>
                      </m:e>
                      <m:sup>
                        <m:r>
                          <a:rPr lang="en-US" altLang="zh-CN" sz="2400" i="1" kern="100">
                            <a:latin typeface="Cambria Math" panose="02040503050406030204" pitchFamily="18" charset="0"/>
                            <a:ea typeface="MS Mincho" panose="02020609040205080304" charset="-128"/>
                            <a:cs typeface="Cambria Math" panose="02040503050406030204" pitchFamily="18" charset="0"/>
                          </a:rPr>
                          <m:t>∗</m:t>
                        </m:r>
                      </m:sup>
                    </m:sSup>
                    <m:r>
                      <a:rPr lang="en-US" altLang="zh-CN" sz="2400" i="1" kern="100">
                        <a:latin typeface="Cambria Math" panose="02040503050406030204" pitchFamily="18" charset="0"/>
                        <a:ea typeface="MS Mincho" panose="02020609040205080304" charset="-128"/>
                        <a:cs typeface="Cambria Math" panose="02040503050406030204" pitchFamily="18" charset="0"/>
                      </a:rPr>
                      <m:t>=(</m:t>
                    </m:r>
                    <m:sSubSup>
                      <m:sSub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kern="100">
                            <a:latin typeface="Cambria Math" panose="02040503050406030204" pitchFamily="18" charset="0"/>
                            <a:ea typeface="MS Mincho" panose="02020609040205080304" charset="-128"/>
                            <a:cs typeface="Cambria Math" panose="02040503050406030204" pitchFamily="18" charset="0"/>
                          </a:rPr>
                          <m:t>𝜆</m:t>
                        </m:r>
                      </m:e>
                      <m:sub>
                        <m:r>
                          <a:rPr lang="en-US" altLang="zh-CN" sz="2400" i="1" kern="100">
                            <a:latin typeface="Cambria Math" panose="02040503050406030204" pitchFamily="18" charset="0"/>
                            <a:ea typeface="MS Mincho" panose="02020609040205080304" charset="-128"/>
                            <a:cs typeface="Cambria Math" panose="02040503050406030204" pitchFamily="18" charset="0"/>
                          </a:rPr>
                          <m:t>1</m:t>
                        </m:r>
                      </m:sub>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m:t>
                        </m:r>
                      </m:sup>
                    </m:sSubSup>
                    <m:r>
                      <a:rPr lang="en-US" altLang="zh-CN" sz="2400" i="1" kern="100">
                        <a:latin typeface="Cambria Math" panose="02040503050406030204" pitchFamily="18" charset="0"/>
                        <a:ea typeface="MS Mincho" panose="02020609040205080304" charset="-128"/>
                        <a:cs typeface="Cambria Math" panose="02040503050406030204" pitchFamily="18" charset="0"/>
                      </a:rPr>
                      <m:t>,</m:t>
                    </m:r>
                    <m:sSubSup>
                      <m:sSub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kern="100">
                            <a:latin typeface="Cambria Math" panose="02040503050406030204" pitchFamily="18" charset="0"/>
                            <a:ea typeface="MS Mincho" panose="02020609040205080304" charset="-128"/>
                            <a:cs typeface="Cambria Math" panose="02040503050406030204" pitchFamily="18" charset="0"/>
                          </a:rPr>
                          <m:t>𝜆</m:t>
                        </m:r>
                      </m:e>
                      <m:sub>
                        <m:r>
                          <a:rPr lang="en-US" altLang="zh-CN" sz="2400" i="1" kern="100">
                            <a:latin typeface="Cambria Math" panose="02040503050406030204" pitchFamily="18" charset="0"/>
                            <a:ea typeface="MS Mincho" panose="02020609040205080304" charset="-128"/>
                            <a:cs typeface="Cambria Math" panose="02040503050406030204" pitchFamily="18" charset="0"/>
                          </a:rPr>
                          <m:t>2</m:t>
                        </m:r>
                      </m:sub>
                      <m:sup>
                        <m:r>
                          <a:rPr lang="en-US" altLang="zh-CN" sz="2400" i="1" kern="100">
                            <a:latin typeface="Cambria Math" panose="02040503050406030204" pitchFamily="18" charset="0"/>
                            <a:ea typeface="MS Mincho" panose="02020609040205080304" charset="-128"/>
                            <a:cs typeface="Cambria Math" panose="02040503050406030204" pitchFamily="18" charset="0"/>
                          </a:rPr>
                          <m:t>∗</m:t>
                        </m:r>
                      </m:sup>
                    </m:sSubSup>
                    <m:r>
                      <a:rPr lang="en-US" altLang="zh-CN" sz="2400" i="1" kern="100">
                        <a:latin typeface="Cambria Math" panose="02040503050406030204" pitchFamily="18" charset="0"/>
                        <a:ea typeface="MS Mincho" panose="02020609040205080304" charset="-128"/>
                        <a:cs typeface="Cambria Math" panose="02040503050406030204" pitchFamily="18" charset="0"/>
                      </a:rPr>
                      <m:t>,...,</m:t>
                    </m:r>
                    <m:sSubSup>
                      <m:sSub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kern="100">
                            <a:latin typeface="Cambria Math" panose="02040503050406030204" pitchFamily="18" charset="0"/>
                            <a:ea typeface="MS Mincho" panose="02020609040205080304" charset="-128"/>
                            <a:cs typeface="Cambria Math" panose="02040503050406030204" pitchFamily="18" charset="0"/>
                          </a:rPr>
                          <m:t>𝜆</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𝑚</m:t>
                        </m:r>
                      </m:sub>
                      <m:sup>
                        <m:r>
                          <a:rPr lang="en-US" altLang="zh-CN" sz="2400" i="1" kern="100">
                            <a:latin typeface="Cambria Math" panose="02040503050406030204" pitchFamily="18" charset="0"/>
                            <a:ea typeface="MS Mincho" panose="02020609040205080304" charset="-128"/>
                            <a:cs typeface="Cambria Math" panose="02040503050406030204" pitchFamily="18" charset="0"/>
                          </a:rPr>
                          <m:t>∗</m:t>
                        </m:r>
                      </m:sup>
                    </m:sSubSup>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MS Mincho" panose="02020609040205080304" charset="-128"/>
                            <a:cs typeface="Cambria Math" panose="02040503050406030204" pitchFamily="18" charset="0"/>
                          </a:rPr>
                          <m:t>)</m:t>
                        </m:r>
                      </m:e>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𝑇</m:t>
                        </m:r>
                      </m:sup>
                    </m:sSup>
                  </m:oMath>
                </a14:m>
                <a:r>
                  <a:rPr lang="zh-CN" altLang="en-US" sz="2400" dirty="0">
                    <a:latin typeface="宋体" panose="02010600030101010101" pitchFamily="2" charset="-122"/>
                    <a:ea typeface="宋体" panose="02010600030101010101" pitchFamily="2" charset="-122"/>
                    <a:cs typeface="宋体" panose="02010600030101010101" pitchFamily="2" charset="-122"/>
                  </a:rPr>
                  <a:t>和</a:t>
                </a:r>
                <a14:m>
                  <m:oMath xmlns:m="http://schemas.openxmlformats.org/officeDocument/2006/math">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MS Mincho" panose="02020609040205080304" charset="-128"/>
                            <a:cs typeface="Cambria Math" panose="02040503050406030204" pitchFamily="18" charset="0"/>
                          </a:rPr>
                          <m:t>𝛾</m:t>
                        </m:r>
                      </m:e>
                      <m:sup>
                        <m:r>
                          <a:rPr lang="en-US" altLang="zh-CN" sz="2400" i="1" kern="100">
                            <a:latin typeface="Cambria Math" panose="02040503050406030204" pitchFamily="18" charset="0"/>
                            <a:ea typeface="MS Mincho" panose="02020609040205080304" charset="-128"/>
                            <a:cs typeface="Cambria Math" panose="02040503050406030204" pitchFamily="18" charset="0"/>
                          </a:rPr>
                          <m:t>∗</m:t>
                        </m:r>
                      </m:sup>
                    </m:sSup>
                    <m:r>
                      <a:rPr lang="en-US" altLang="zh-CN" sz="2400" i="1" kern="100">
                        <a:latin typeface="Cambria Math" panose="02040503050406030204" pitchFamily="18" charset="0"/>
                        <a:ea typeface="MS Mincho" panose="02020609040205080304" charset="-128"/>
                        <a:cs typeface="Cambria Math" panose="02040503050406030204" pitchFamily="18" charset="0"/>
                      </a:rPr>
                      <m:t>=(</m:t>
                    </m:r>
                    <m:sSubSup>
                      <m:sSub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kern="100">
                            <a:latin typeface="Cambria Math" panose="02040503050406030204" pitchFamily="18" charset="0"/>
                            <a:ea typeface="MS Mincho" panose="02020609040205080304" charset="-128"/>
                            <a:cs typeface="Cambria Math" panose="02040503050406030204" pitchFamily="18" charset="0"/>
                          </a:rPr>
                          <m:t>𝛾</m:t>
                        </m:r>
                      </m:e>
                      <m:sub>
                        <m:r>
                          <a:rPr lang="en-US" altLang="zh-CN" sz="2400" i="1" kern="100">
                            <a:latin typeface="Cambria Math" panose="02040503050406030204" pitchFamily="18" charset="0"/>
                            <a:ea typeface="MS Mincho" panose="02020609040205080304" charset="-128"/>
                            <a:cs typeface="Cambria Math" panose="02040503050406030204" pitchFamily="18" charset="0"/>
                          </a:rPr>
                          <m:t>1</m:t>
                        </m:r>
                      </m:sub>
                      <m:sup>
                        <m:r>
                          <a:rPr lang="en-US" altLang="zh-CN" sz="2400" i="1" kern="100">
                            <a:latin typeface="Cambria Math" panose="02040503050406030204" pitchFamily="18" charset="0"/>
                            <a:ea typeface="MS Mincho" panose="02020609040205080304" charset="-128"/>
                            <a:cs typeface="Cambria Math" panose="02040503050406030204" pitchFamily="18" charset="0"/>
                          </a:rPr>
                          <m:t>∗</m:t>
                        </m:r>
                      </m:sup>
                    </m:sSubSup>
                    <m:r>
                      <a:rPr lang="en-US" altLang="zh-CN" sz="2400" i="1" kern="100">
                        <a:latin typeface="Cambria Math" panose="02040503050406030204" pitchFamily="18" charset="0"/>
                        <a:ea typeface="MS Mincho" panose="02020609040205080304" charset="-128"/>
                        <a:cs typeface="Cambria Math" panose="02040503050406030204" pitchFamily="18" charset="0"/>
                      </a:rPr>
                      <m:t>,</m:t>
                    </m:r>
                    <m:sSubSup>
                      <m:sSub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kern="100">
                            <a:latin typeface="Cambria Math" panose="02040503050406030204" pitchFamily="18" charset="0"/>
                            <a:ea typeface="MS Mincho" panose="02020609040205080304" charset="-128"/>
                            <a:cs typeface="Cambria Math" panose="02040503050406030204" pitchFamily="18" charset="0"/>
                          </a:rPr>
                          <m:t>𝛾</m:t>
                        </m:r>
                      </m:e>
                      <m:sub>
                        <m:r>
                          <a:rPr lang="en-US" altLang="zh-CN" sz="2400" i="1" kern="100">
                            <a:latin typeface="Cambria Math" panose="02040503050406030204" pitchFamily="18" charset="0"/>
                            <a:ea typeface="MS Mincho" panose="02020609040205080304" charset="-128"/>
                            <a:cs typeface="Cambria Math" panose="02040503050406030204" pitchFamily="18" charset="0"/>
                          </a:rPr>
                          <m:t>2</m:t>
                        </m:r>
                      </m:sub>
                      <m:sup>
                        <m:r>
                          <a:rPr lang="en-US" altLang="zh-CN" sz="2400" i="1" kern="100">
                            <a:latin typeface="Cambria Math" panose="02040503050406030204" pitchFamily="18" charset="0"/>
                            <a:ea typeface="MS Mincho" panose="02020609040205080304" charset="-128"/>
                            <a:cs typeface="Cambria Math" panose="02040503050406030204" pitchFamily="18" charset="0"/>
                          </a:rPr>
                          <m:t>∗</m:t>
                        </m:r>
                      </m:sup>
                    </m:sSubSup>
                    <m:r>
                      <a:rPr lang="en-US" altLang="zh-CN" sz="2400" i="1" kern="100">
                        <a:latin typeface="Cambria Math" panose="02040503050406030204" pitchFamily="18" charset="0"/>
                        <a:ea typeface="MS Mincho" panose="02020609040205080304" charset="-128"/>
                        <a:cs typeface="Cambria Math" panose="02040503050406030204" pitchFamily="18" charset="0"/>
                      </a:rPr>
                      <m:t>,...,</m:t>
                    </m:r>
                    <m:sSubSup>
                      <m:sSub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kern="100">
                            <a:latin typeface="Cambria Math" panose="02040503050406030204" pitchFamily="18" charset="0"/>
                            <a:ea typeface="MS Mincho" panose="02020609040205080304" charset="-128"/>
                            <a:cs typeface="Cambria Math" panose="02040503050406030204" pitchFamily="18" charset="0"/>
                          </a:rPr>
                          <m:t>𝛾</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𝑚</m:t>
                        </m:r>
                      </m:sub>
                      <m:sup>
                        <m:r>
                          <a:rPr lang="en-US" altLang="zh-CN" sz="2400" i="1" kern="100">
                            <a:latin typeface="Cambria Math" panose="02040503050406030204" pitchFamily="18" charset="0"/>
                            <a:ea typeface="MS Mincho" panose="02020609040205080304" charset="-128"/>
                            <a:cs typeface="Cambria Math" panose="02040503050406030204" pitchFamily="18" charset="0"/>
                          </a:rPr>
                          <m:t>∗</m:t>
                        </m:r>
                      </m:sup>
                    </m:sSubSup>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MS Mincho" panose="02020609040205080304" charset="-128"/>
                            <a:cs typeface="Cambria Math" panose="02040503050406030204" pitchFamily="18" charset="0"/>
                          </a:rPr>
                          <m:t>)</m:t>
                        </m:r>
                      </m:e>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𝑇</m:t>
                        </m:r>
                      </m:sup>
                    </m:sSup>
                  </m:oMath>
                </a14:m>
                <a:r>
                  <a:rPr lang="zh-CN" altLang="en-US" sz="2400" dirty="0">
                    <a:latin typeface="宋体" panose="02010600030101010101" pitchFamily="2" charset="-122"/>
                    <a:ea typeface="宋体" panose="02010600030101010101" pitchFamily="2" charset="-122"/>
                    <a:cs typeface="宋体" panose="02010600030101010101" pitchFamily="2" charset="-122"/>
                  </a:rPr>
                  <a:t>使KKT条件成立，且对满足下述三条件</a:t>
                </a:r>
              </a:p>
              <a:p>
                <a:pPr algn="just">
                  <a:lnSpc>
                    <a:spcPct val="120000"/>
                  </a:lnSpc>
                </a:pPr>
                <a14:m>
                  <m:oMathPara xmlns:m="http://schemas.openxmlformats.org/officeDocument/2006/math">
                    <m:oMathParaPr>
                      <m:jc m:val="centerGroup"/>
                    </m:oMathParaPr>
                    <m:oMath xmlns:m="http://schemas.openxmlformats.org/officeDocument/2006/math">
                      <m:d>
                        <m:dPr>
                          <m:begChr m:val="{"/>
                          <m:endChr m:val=""/>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dPr>
                        <m:e>
                          <m:eqArr>
                            <m:eqArr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eqArrPr>
                            <m:e>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𝑧</m:t>
                                  </m:r>
                                </m:e>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sSub>
                                <m:sSub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𝑗</m:t>
                                  </m:r>
                                </m:sub>
                              </m:sSub>
                              <m:r>
                                <a:rPr lang="en-US" altLang="zh-CN" sz="2400" i="1" kern="100">
                                  <a:latin typeface="Cambria Math" panose="02040503050406030204" pitchFamily="18" charset="0"/>
                                  <a:ea typeface="MS Mincho" panose="02020609040205080304" charset="-128"/>
                                  <a:cs typeface="Cambria Math" panose="02040503050406030204" pitchFamily="18" charset="0"/>
                                </a:rPr>
                                <m:t>(</m:t>
                              </m:r>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kern="100">
                                      <a:latin typeface="Cambria Math" panose="02040503050406030204" pitchFamily="18" charset="0"/>
                                      <a:ea typeface="MS Mincho" panose="02020609040205080304" charset="-128"/>
                                      <a:cs typeface="Cambria Math" panose="02040503050406030204" pitchFamily="18" charset="0"/>
                                    </a:rPr>
                                    <m:t>∗</m:t>
                                  </m:r>
                                </m:sup>
                              </m:sSup>
                              <m:r>
                                <a:rPr lang="en-US" altLang="zh-CN" sz="2400" i="1" kern="100">
                                  <a:latin typeface="Cambria Math" panose="02040503050406030204" pitchFamily="18" charset="0"/>
                                  <a:ea typeface="MS Mincho" panose="02020609040205080304" charset="-128"/>
                                  <a:cs typeface="Cambria Math" panose="02040503050406030204" pitchFamily="18" charset="0"/>
                                </a:rPr>
                                <m:t>)=0   </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𝐼</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kern="100">
                                      <a:latin typeface="Cambria Math" panose="02040503050406030204" pitchFamily="18" charset="0"/>
                                      <a:ea typeface="MS Mincho" panose="02020609040205080304" charset="-128"/>
                                      <a:cs typeface="Cambria Math" panose="02040503050406030204" pitchFamily="18" charset="0"/>
                                    </a:rPr>
                                    <m:t>∗</m:t>
                                  </m:r>
                                </m:sup>
                              </m:sSup>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zh-CN" altLang="en-US" sz="2400">
                                  <a:latin typeface="Cambria Math" panose="02040503050406030204" pitchFamily="18" charset="0"/>
                                  <a:ea typeface="宋体" panose="02010600030101010101" pitchFamily="2" charset="-122"/>
                                  <a:cs typeface="Cambria Math" panose="02040503050406030204" pitchFamily="18" charset="0"/>
                                  <a:sym typeface="+mn-ea"/>
                                </a:rPr>
                                <m:t>且</m:t>
                              </m:r>
                              <m:sSubSup>
                                <m:sSub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kern="100">
                                      <a:latin typeface="Cambria Math" panose="02040503050406030204" pitchFamily="18" charset="0"/>
                                      <a:ea typeface="MS Mincho" panose="02020609040205080304" charset="-128"/>
                                      <a:cs typeface="Cambria Math" panose="02040503050406030204" pitchFamily="18" charset="0"/>
                                    </a:rPr>
                                    <m:t>𝛾</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𝑗</m:t>
                                  </m:r>
                                </m:sub>
                                <m:sup>
                                  <m:r>
                                    <a:rPr lang="en-US" altLang="zh-CN" sz="2400" i="1" kern="100">
                                      <a:latin typeface="Cambria Math" panose="02040503050406030204" pitchFamily="18" charset="0"/>
                                      <a:ea typeface="MS Mincho" panose="02020609040205080304" charset="-128"/>
                                      <a:cs typeface="Cambria Math" panose="02040503050406030204" pitchFamily="18" charset="0"/>
                                    </a:rPr>
                                    <m:t>∗</m:t>
                                  </m:r>
                                </m:sup>
                              </m:sSubSup>
                              <m:r>
                                <a:rPr lang="en-US" altLang="zh-CN" sz="2400" i="1" kern="100">
                                  <a:latin typeface="Cambria Math" panose="02040503050406030204" pitchFamily="18" charset="0"/>
                                  <a:ea typeface="MS Mincho" panose="02020609040205080304" charset="-128"/>
                                  <a:cs typeface="Cambria Math" panose="02040503050406030204" pitchFamily="18" charset="0"/>
                                </a:rPr>
                                <m:t>&gt;0</m:t>
                              </m:r>
                            </m:e>
                            <m:e>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𝑧</m:t>
                                  </m:r>
                                </m:e>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sSub>
                                <m:sSub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𝑗</m:t>
                                  </m:r>
                                </m:sub>
                              </m:sSub>
                              <m:r>
                                <a:rPr lang="en-US" altLang="zh-CN" sz="2400" i="1" kern="100">
                                  <a:latin typeface="Cambria Math" panose="02040503050406030204" pitchFamily="18" charset="0"/>
                                  <a:ea typeface="MS Mincho" panose="02020609040205080304" charset="-128"/>
                                  <a:cs typeface="Cambria Math" panose="02040503050406030204" pitchFamily="18" charset="0"/>
                                </a:rPr>
                                <m:t>(</m:t>
                              </m:r>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kern="100">
                                      <a:latin typeface="Cambria Math" panose="02040503050406030204" pitchFamily="18" charset="0"/>
                                      <a:ea typeface="MS Mincho" panose="02020609040205080304" charset="-128"/>
                                      <a:cs typeface="Cambria Math" panose="02040503050406030204" pitchFamily="18" charset="0"/>
                                    </a:rPr>
                                    <m:t>∗</m:t>
                                  </m:r>
                                </m:sup>
                              </m:sSup>
                              <m:r>
                                <a:rPr lang="en-US" altLang="zh-CN" sz="2400" i="1" kern="100">
                                  <a:latin typeface="Cambria Math" panose="02040503050406030204" pitchFamily="18" charset="0"/>
                                  <a:ea typeface="MS Mincho" panose="02020609040205080304" charset="-128"/>
                                  <a:cs typeface="Cambria Math" panose="02040503050406030204" pitchFamily="18" charset="0"/>
                                </a:rPr>
                                <m:t>)≥0   </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𝐼</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kern="100">
                                      <a:latin typeface="Cambria Math" panose="02040503050406030204" pitchFamily="18" charset="0"/>
                                      <a:ea typeface="MS Mincho" panose="02020609040205080304" charset="-128"/>
                                      <a:cs typeface="Cambria Math" panose="02040503050406030204" pitchFamily="18" charset="0"/>
                                    </a:rPr>
                                    <m:t>∗</m:t>
                                  </m:r>
                                </m:sup>
                              </m:sSup>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zh-CN" altLang="en-US" sz="2400">
                                  <a:latin typeface="Cambria Math" panose="02040503050406030204" pitchFamily="18" charset="0"/>
                                  <a:ea typeface="MS Mincho" panose="02020609040205080304" charset="-128"/>
                                  <a:cs typeface="Cambria Math" panose="02040503050406030204" pitchFamily="18" charset="0"/>
                                  <a:sym typeface="+mn-ea"/>
                                </a:rPr>
                                <m:t>且</m:t>
                              </m:r>
                              <m:sSubSup>
                                <m:sSub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kern="100">
                                      <a:latin typeface="Cambria Math" panose="02040503050406030204" pitchFamily="18" charset="0"/>
                                      <a:ea typeface="MS Mincho" panose="02020609040205080304" charset="-128"/>
                                      <a:cs typeface="Cambria Math" panose="02040503050406030204" pitchFamily="18" charset="0"/>
                                    </a:rPr>
                                    <m:t>𝛾</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𝑗</m:t>
                                  </m:r>
                                </m:sub>
                                <m:sup>
                                  <m:r>
                                    <a:rPr lang="en-US" altLang="zh-CN" sz="2400" i="1" kern="100">
                                      <a:latin typeface="Cambria Math" panose="02040503050406030204" pitchFamily="18" charset="0"/>
                                      <a:ea typeface="MS Mincho" panose="02020609040205080304" charset="-128"/>
                                      <a:cs typeface="Cambria Math" panose="02040503050406030204" pitchFamily="18" charset="0"/>
                                    </a:rPr>
                                    <m:t>∗</m:t>
                                  </m:r>
                                </m:sup>
                              </m:sSubSup>
                              <m:r>
                                <a:rPr lang="en-US" altLang="zh-CN" sz="2400" i="1" kern="100">
                                  <a:latin typeface="Cambria Math" panose="02040503050406030204" pitchFamily="18" charset="0"/>
                                  <a:ea typeface="MS Mincho" panose="02020609040205080304" charset="-128"/>
                                  <a:cs typeface="Cambria Math" panose="02040503050406030204" pitchFamily="18" charset="0"/>
                                </a:rPr>
                                <m:t>=0</m:t>
                              </m:r>
                            </m:e>
                            <m:e>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𝑧</m:t>
                                  </m:r>
                                </m:e>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sSub>
                                <m:sSub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h</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𝑖</m:t>
                                  </m:r>
                                </m:sub>
                              </m:sSub>
                              <m:d>
                                <m:d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kern="100">
                                          <a:latin typeface="Cambria Math" panose="02040503050406030204" pitchFamily="18" charset="0"/>
                                          <a:ea typeface="MS Mincho" panose="02020609040205080304" charset="-128"/>
                                          <a:cs typeface="Cambria Math" panose="02040503050406030204" pitchFamily="18" charset="0"/>
                                        </a:rPr>
                                        <m:t>∗</m:t>
                                      </m:r>
                                    </m:sup>
                                  </m:sSup>
                                </m:e>
                              </m:d>
                              <m:r>
                                <a:rPr lang="en-US" altLang="zh-CN" sz="2400" i="1" kern="100">
                                  <a:latin typeface="Cambria Math" panose="02040503050406030204" pitchFamily="18" charset="0"/>
                                  <a:ea typeface="MS Mincho" panose="02020609040205080304" charset="-128"/>
                                  <a:cs typeface="Cambria Math" panose="02040503050406030204" pitchFamily="18" charset="0"/>
                                </a:rPr>
                                <m:t>=0            </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𝑖</m:t>
                              </m:r>
                              <m:r>
                                <a:rPr lang="en-US" altLang="zh-CN" sz="2400" i="1" kern="100">
                                  <a:latin typeface="Cambria Math" panose="02040503050406030204" pitchFamily="18" charset="0"/>
                                  <a:ea typeface="MS Mincho" panose="02020609040205080304" charset="-128"/>
                                  <a:cs typeface="Cambria Math" panose="02040503050406030204" pitchFamily="18" charset="0"/>
                                </a:rPr>
                                <m:t>=1,2,…,</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𝑚</m:t>
                              </m:r>
                            </m:e>
                          </m:eqArr>
                        </m:e>
                      </m:d>
                    </m:oMath>
                  </m:oMathPara>
                </a14:m>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algn="just">
                  <a:lnSpc>
                    <a:spcPct val="12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的任意非零向量</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𝑧</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有</a:t>
                </a:r>
              </a:p>
              <a:p>
                <a:pPr algn="just">
                  <a:lnSpc>
                    <a:spcPct val="120000"/>
                  </a:lnSpc>
                </a:pPr>
                <a14:m>
                  <m:oMathPara xmlns:m="http://schemas.openxmlformats.org/officeDocument/2006/math">
                    <m:oMathParaPr>
                      <m:jc m:val="centerGroup"/>
                    </m:oMathParaPr>
                    <m:oMath xmlns:m="http://schemas.openxmlformats.org/officeDocument/2006/math">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𝑧</m:t>
                          </m:r>
                        </m:e>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400" i="1" kern="100">
                          <a:latin typeface="Cambria Math" panose="02040503050406030204" pitchFamily="18" charset="0"/>
                          <a:ea typeface="MS Mincho" panose="02020609040205080304" charset="-128"/>
                          <a:cs typeface="Cambria Math" panose="02040503050406030204" pitchFamily="18" charset="0"/>
                        </a:rPr>
                        <m:t>[</m:t>
                      </m:r>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MS Mincho" panose="02020609040205080304" charset="-128"/>
                              <a:cs typeface="Cambria Math" panose="02040503050406030204" pitchFamily="18" charset="0"/>
                            </a:rPr>
                            <m:t>𝛻</m:t>
                          </m:r>
                        </m:e>
                        <m:sup>
                          <m:r>
                            <a:rPr lang="en-US" altLang="zh-CN" sz="2400" i="1" kern="100">
                              <a:latin typeface="Cambria Math" panose="02040503050406030204" pitchFamily="18" charset="0"/>
                              <a:ea typeface="MS Mincho" panose="02020609040205080304" charset="-128"/>
                              <a:cs typeface="Cambria Math" panose="02040503050406030204" pitchFamily="18" charset="0"/>
                            </a:rPr>
                            <m:t>2</m:t>
                          </m:r>
                        </m:sup>
                      </m:s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kern="100">
                              <a:latin typeface="Cambria Math" panose="02040503050406030204" pitchFamily="18" charset="0"/>
                              <a:ea typeface="MS Mincho" panose="02020609040205080304" charset="-128"/>
                              <a:cs typeface="Cambria Math" panose="02040503050406030204" pitchFamily="18" charset="0"/>
                            </a:rPr>
                            <m:t>∗</m:t>
                          </m:r>
                        </m:sup>
                      </m:sSup>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m:t>
                      </m:r>
                      <m:nary>
                        <m:naryPr>
                          <m:chr m:val="∑"/>
                          <m:limLoc m:val="undOv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naryPr>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𝑖</m:t>
                          </m:r>
                          <m:r>
                            <a:rPr lang="en-US" altLang="zh-CN" sz="2400" i="1" kern="100">
                              <a:latin typeface="Cambria Math" panose="02040503050406030204" pitchFamily="18" charset="0"/>
                              <a:ea typeface="MS Mincho" panose="02020609040205080304" charset="-128"/>
                              <a:cs typeface="Cambria Math" panose="02040503050406030204" pitchFamily="18" charset="0"/>
                            </a:rPr>
                            <m:t>=1</m:t>
                          </m:r>
                        </m:sub>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𝑚</m:t>
                          </m:r>
                        </m:sup>
                        <m:e>
                          <m:sSubSup>
                            <m:sSub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kern="100">
                                  <a:latin typeface="Cambria Math" panose="02040503050406030204" pitchFamily="18" charset="0"/>
                                  <a:ea typeface="MS Mincho" panose="02020609040205080304" charset="-128"/>
                                  <a:cs typeface="Cambria Math" panose="02040503050406030204" pitchFamily="18" charset="0"/>
                                </a:rPr>
                                <m:t>𝜆</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𝑖</m:t>
                              </m:r>
                            </m:sub>
                            <m:sup>
                              <m:r>
                                <a:rPr lang="en-US" altLang="zh-CN" sz="2400" i="1" kern="100">
                                  <a:latin typeface="Cambria Math" panose="02040503050406030204" pitchFamily="18" charset="0"/>
                                  <a:ea typeface="MS Mincho" panose="02020609040205080304" charset="-128"/>
                                  <a:cs typeface="Cambria Math" panose="02040503050406030204" pitchFamily="18" charset="0"/>
                                </a:rPr>
                                <m:t>∗</m:t>
                              </m:r>
                            </m:sup>
                          </m:sSubSup>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MS Mincho" panose="02020609040205080304" charset="-128"/>
                                  <a:cs typeface="Cambria Math" panose="02040503050406030204" pitchFamily="18" charset="0"/>
                                </a:rPr>
                                <m:t>𝛻</m:t>
                              </m:r>
                            </m:e>
                            <m:sup>
                              <m:r>
                                <a:rPr lang="en-US" altLang="zh-CN" sz="2400" i="1" kern="100">
                                  <a:latin typeface="Cambria Math" panose="02040503050406030204" pitchFamily="18" charset="0"/>
                                  <a:ea typeface="MS Mincho" panose="02020609040205080304" charset="-128"/>
                                  <a:cs typeface="Cambria Math" panose="02040503050406030204" pitchFamily="18" charset="0"/>
                                </a:rPr>
                                <m:t>2</m:t>
                              </m:r>
                            </m:sup>
                          </m:sSup>
                          <m:sSub>
                            <m:sSub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h</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𝑖</m:t>
                              </m:r>
                            </m:sub>
                          </m:sSub>
                          <m:r>
                            <a:rPr lang="en-US" altLang="zh-CN" sz="2400" i="1" kern="100">
                              <a:latin typeface="Cambria Math" panose="02040503050406030204" pitchFamily="18" charset="0"/>
                              <a:ea typeface="MS Mincho" panose="02020609040205080304" charset="-128"/>
                              <a:cs typeface="Cambria Math" panose="02040503050406030204" pitchFamily="18" charset="0"/>
                            </a:rPr>
                            <m:t>(</m:t>
                          </m:r>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kern="100">
                                  <a:latin typeface="Cambria Math" panose="02040503050406030204" pitchFamily="18" charset="0"/>
                                  <a:ea typeface="MS Mincho" panose="02020609040205080304" charset="-128"/>
                                  <a:cs typeface="Cambria Math" panose="02040503050406030204" pitchFamily="18" charset="0"/>
                                </a:rPr>
                                <m:t>∗</m:t>
                              </m:r>
                            </m:sup>
                          </m:sSup>
                          <m:r>
                            <a:rPr lang="en-US" altLang="zh-CN" sz="2400" i="1" kern="100">
                              <a:latin typeface="Cambria Math" panose="02040503050406030204" pitchFamily="18" charset="0"/>
                              <a:ea typeface="MS Mincho" panose="02020609040205080304" charset="-128"/>
                              <a:cs typeface="Cambria Math" panose="02040503050406030204" pitchFamily="18" charset="0"/>
                            </a:rPr>
                            <m:t>)</m:t>
                          </m:r>
                        </m:e>
                      </m:nary>
                      <m:r>
                        <a:rPr lang="en-US" altLang="zh-CN" sz="2400" i="1" kern="100">
                          <a:latin typeface="Cambria Math" panose="02040503050406030204" pitchFamily="18" charset="0"/>
                          <a:ea typeface="宋体" panose="02010600030101010101" pitchFamily="2" charset="-122"/>
                          <a:cs typeface="Cambria Math" panose="02040503050406030204" pitchFamily="18" charset="0"/>
                        </a:rPr>
                        <m:t>−</m:t>
                      </m:r>
                      <m:nary>
                        <m:naryPr>
                          <m:chr m:val="∑"/>
                          <m:limLoc m:val="undOv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naryPr>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kern="100">
                              <a:latin typeface="Cambria Math" panose="02040503050406030204" pitchFamily="18" charset="0"/>
                              <a:ea typeface="MS Mincho" panose="02020609040205080304" charset="-128"/>
                              <a:cs typeface="Cambria Math" panose="02040503050406030204" pitchFamily="18" charset="0"/>
                            </a:rPr>
                            <m:t>=1</m:t>
                          </m:r>
                        </m:sub>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𝑙</m:t>
                          </m:r>
                        </m:sup>
                        <m:e>
                          <m:sSubSup>
                            <m:sSub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kern="100">
                                  <a:latin typeface="Cambria Math" panose="02040503050406030204" pitchFamily="18" charset="0"/>
                                  <a:ea typeface="MS Mincho" panose="02020609040205080304" charset="-128"/>
                                  <a:cs typeface="Cambria Math" panose="02040503050406030204" pitchFamily="18" charset="0"/>
                                </a:rPr>
                                <m:t>𝛾</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𝑗</m:t>
                              </m:r>
                            </m:sub>
                            <m:sup>
                              <m:r>
                                <a:rPr lang="en-US" altLang="zh-CN" sz="2400" i="1" kern="100">
                                  <a:latin typeface="Cambria Math" panose="02040503050406030204" pitchFamily="18" charset="0"/>
                                  <a:ea typeface="MS Mincho" panose="02020609040205080304" charset="-128"/>
                                  <a:cs typeface="Cambria Math" panose="02040503050406030204" pitchFamily="18" charset="0"/>
                                </a:rPr>
                                <m:t>∗</m:t>
                              </m:r>
                            </m:sup>
                          </m:sSubSup>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MS Mincho" panose="02020609040205080304" charset="-128"/>
                                  <a:cs typeface="Cambria Math" panose="02040503050406030204" pitchFamily="18" charset="0"/>
                                </a:rPr>
                                <m:t>𝛻</m:t>
                              </m:r>
                            </m:e>
                            <m:sup>
                              <m:r>
                                <a:rPr lang="en-US" altLang="zh-CN" sz="2400" i="1" kern="100">
                                  <a:latin typeface="Cambria Math" panose="02040503050406030204" pitchFamily="18" charset="0"/>
                                  <a:ea typeface="MS Mincho" panose="02020609040205080304" charset="-128"/>
                                  <a:cs typeface="Cambria Math" panose="02040503050406030204" pitchFamily="18" charset="0"/>
                                </a:rPr>
                                <m:t>2</m:t>
                              </m:r>
                            </m:sup>
                          </m:sSup>
                          <m:sSub>
                            <m:sSub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𝑗</m:t>
                              </m:r>
                            </m:sub>
                          </m:sSub>
                          <m:r>
                            <a:rPr lang="en-US" altLang="zh-CN" sz="2400" i="1" kern="100">
                              <a:latin typeface="Cambria Math" panose="02040503050406030204" pitchFamily="18" charset="0"/>
                              <a:ea typeface="MS Mincho" panose="02020609040205080304" charset="-128"/>
                              <a:cs typeface="Cambria Math" panose="02040503050406030204" pitchFamily="18" charset="0"/>
                            </a:rPr>
                            <m:t>(</m:t>
                          </m:r>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kern="100">
                                  <a:latin typeface="Cambria Math" panose="02040503050406030204" pitchFamily="18" charset="0"/>
                                  <a:ea typeface="MS Mincho" panose="02020609040205080304" charset="-128"/>
                                  <a:cs typeface="Cambria Math" panose="02040503050406030204" pitchFamily="18" charset="0"/>
                                </a:rPr>
                                <m:t>∗</m:t>
                              </m:r>
                            </m:sup>
                          </m:sSup>
                          <m:r>
                            <a:rPr lang="en-US" altLang="zh-CN" sz="2400" i="1" kern="100">
                              <a:latin typeface="Cambria Math" panose="02040503050406030204" pitchFamily="18" charset="0"/>
                              <a:ea typeface="MS Mincho" panose="02020609040205080304" charset="-128"/>
                              <a:cs typeface="Cambria Math" panose="02040503050406030204" pitchFamily="18" charset="0"/>
                            </a:rPr>
                            <m:t>)</m:t>
                          </m:r>
                        </m:e>
                      </m:nary>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𝑧</m:t>
                      </m:r>
                      <m:r>
                        <a:rPr lang="en-US" altLang="zh-CN" sz="2400" i="1" kern="100">
                          <a:latin typeface="Cambria Math" panose="02040503050406030204" pitchFamily="18" charset="0"/>
                          <a:ea typeface="MS Mincho" panose="02020609040205080304" charset="-128"/>
                          <a:cs typeface="Cambria Math" panose="02040503050406030204" pitchFamily="18" charset="0"/>
                        </a:rPr>
                        <m:t>&gt;0</m:t>
                      </m:r>
                    </m:oMath>
                  </m:oMathPara>
                </a14:m>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algn="just">
                  <a:lnSpc>
                    <a:spcPct val="12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成立，则</a:t>
                </a:r>
                <a14:m>
                  <m:oMath xmlns:m="http://schemas.openxmlformats.org/officeDocument/2006/math">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kern="100">
                            <a:latin typeface="Cambria Math" panose="02040503050406030204" pitchFamily="18" charset="0"/>
                            <a:ea typeface="MS Mincho" panose="02020609040205080304" charset="-128"/>
                            <a:cs typeface="Cambria Math" panose="02040503050406030204" pitchFamily="18" charset="0"/>
                          </a:rPr>
                          <m:t>∗</m:t>
                        </m:r>
                      </m:sup>
                    </m:sSup>
                  </m:oMath>
                </a14:m>
                <a:r>
                  <a:rPr lang="zh-CN" altLang="en-US" sz="2400" dirty="0">
                    <a:latin typeface="宋体" panose="02010600030101010101" pitchFamily="2" charset="-122"/>
                    <a:ea typeface="宋体" panose="02010600030101010101" pitchFamily="2" charset="-122"/>
                    <a:cs typeface="宋体" panose="02010600030101010101" pitchFamily="2" charset="-122"/>
                  </a:rPr>
                  <a:t>是问题(*)的严格局部极小点。这里</a:t>
                </a:r>
                <a14:m>
                  <m:oMath xmlns:m="http://schemas.openxmlformats.org/officeDocument/2006/math">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𝐼</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kern="100">
                            <a:latin typeface="Cambria Math" panose="02040503050406030204" pitchFamily="18" charset="0"/>
                            <a:ea typeface="MS Mincho" panose="02020609040205080304" charset="-128"/>
                            <a:cs typeface="Cambria Math" panose="02040503050406030204" pitchFamily="18" charset="0"/>
                          </a:rPr>
                          <m:t>∗</m:t>
                        </m:r>
                      </m:sup>
                    </m:sSup>
                    <m:r>
                      <a:rPr lang="en-US" altLang="zh-CN" sz="2400" i="1" kern="100">
                        <a:latin typeface="Cambria Math" panose="02040503050406030204" pitchFamily="18" charset="0"/>
                        <a:ea typeface="MS Mincho" panose="02020609040205080304" charset="-128"/>
                        <a:cs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是</a:t>
                </a:r>
                <a14:m>
                  <m:oMath xmlns:m="http://schemas.openxmlformats.org/officeDocument/2006/math">
                    <m:sSup>
                      <m:sSupPr>
                        <m:ctrlPr>
                          <a:rPr lang="en-US"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kern="100">
                            <a:latin typeface="Cambria Math" panose="02040503050406030204" pitchFamily="18" charset="0"/>
                            <a:ea typeface="MS Mincho" panose="02020609040205080304" charset="-128"/>
                            <a:cs typeface="Cambria Math" panose="02040503050406030204" pitchFamily="18" charset="0"/>
                          </a:rPr>
                          <m:t>∗</m:t>
                        </m:r>
                      </m:sup>
                    </m:sSup>
                  </m:oMath>
                </a14:m>
                <a:r>
                  <a:rPr lang="zh-CN" altLang="en-US" sz="2400" dirty="0">
                    <a:latin typeface="宋体" panose="02010600030101010101" pitchFamily="2" charset="-122"/>
                    <a:ea typeface="宋体" panose="02010600030101010101" pitchFamily="2" charset="-122"/>
                    <a:cs typeface="宋体" panose="02010600030101010101" pitchFamily="2" charset="-122"/>
                  </a:rPr>
                  <a:t>处起作用的不等式约束函数的下标集合。</a:t>
                </a:r>
              </a:p>
            </p:txBody>
          </p:sp>
        </mc:Choice>
        <mc:Fallback xmlns="">
          <p:sp>
            <p:nvSpPr>
              <p:cNvPr id="3" name="文本框 2"/>
              <p:cNvSpPr txBox="1">
                <a:spLocks noRot="1" noChangeAspect="1" noMove="1" noResize="1" noEditPoints="1" noAdjustHandles="1" noChangeArrowheads="1" noChangeShapeType="1" noTextEdit="1"/>
              </p:cNvSpPr>
              <p:nvPr/>
            </p:nvSpPr>
            <p:spPr>
              <a:xfrm>
                <a:off x="467544" y="358191"/>
                <a:ext cx="8208912" cy="6141618"/>
              </a:xfrm>
              <a:prstGeom prst="rect">
                <a:avLst/>
              </a:prstGeom>
              <a:blipFill>
                <a:blip r:embed="rId2"/>
                <a:stretch>
                  <a:fillRect l="-1189" t="-596" r="-4829" b="-1291"/>
                </a:stretch>
              </a:blipFill>
            </p:spPr>
            <p:txBody>
              <a:bodyPr/>
              <a:lstStyle/>
              <a:p>
                <a:r>
                  <a:rPr lang="zh-CN" altLang="en-US">
                    <a:noFill/>
                  </a:rPr>
                  <a:t> </a:t>
                </a:r>
              </a:p>
            </p:txBody>
          </p:sp>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323528" y="92882"/>
            <a:ext cx="8229600" cy="1143000"/>
          </a:xfrm>
        </p:spPr>
        <p:txBody>
          <a:bodyPr/>
          <a:lstStyle/>
          <a:p>
            <a:pPr algn="ctr"/>
            <a:r>
              <a:rPr lang="en-US" altLang="zh-CN" b="1" dirty="0">
                <a:latin typeface="黑体" panose="02010609060101010101" pitchFamily="2" charset="-122"/>
                <a:ea typeface="黑体" panose="02010609060101010101" pitchFamily="2" charset="-122"/>
              </a:rPr>
              <a:t>9</a:t>
            </a:r>
            <a:r>
              <a:rPr lang="zh-CN" altLang="en-US" b="1" dirty="0">
                <a:latin typeface="黑体" panose="02010609060101010101" pitchFamily="2" charset="-122"/>
                <a:ea typeface="黑体" panose="02010609060101010101" pitchFamily="2" charset="-122"/>
              </a:rPr>
              <a:t>．</a:t>
            </a:r>
            <a:r>
              <a:rPr lang="en-US" altLang="zh-CN" b="1" dirty="0">
                <a:latin typeface="黑体" panose="02010609060101010101" pitchFamily="2" charset="-122"/>
                <a:ea typeface="黑体" panose="02010609060101010101" pitchFamily="2" charset="-122"/>
              </a:rPr>
              <a:t>2 </a:t>
            </a:r>
            <a:r>
              <a:rPr lang="zh-CN" altLang="en-US" b="1" dirty="0">
                <a:latin typeface="黑体" panose="02010609060101010101" pitchFamily="2" charset="-122"/>
                <a:ea typeface="黑体" panose="02010609060101010101" pitchFamily="2" charset="-122"/>
              </a:rPr>
              <a:t>近似规划法</a:t>
            </a:r>
          </a:p>
        </p:txBody>
      </p:sp>
      <p:graphicFrame>
        <p:nvGraphicFramePr>
          <p:cNvPr id="3" name="对象 2"/>
          <p:cNvGraphicFramePr>
            <a:graphicFrameLocks noChangeAspect="1"/>
          </p:cNvGraphicFramePr>
          <p:nvPr/>
        </p:nvGraphicFramePr>
        <p:xfrm>
          <a:off x="688975" y="1258888"/>
          <a:ext cx="8062913" cy="5581650"/>
        </p:xfrm>
        <a:graphic>
          <a:graphicData uri="http://schemas.openxmlformats.org/presentationml/2006/ole">
            <mc:AlternateContent xmlns:mc="http://schemas.openxmlformats.org/markup-compatibility/2006">
              <mc:Choice xmlns:v="urn:schemas-microsoft-com:vml" Requires="v">
                <p:oleObj name="Document" r:id="rId2" imgW="5264785" imgH="3645535" progId="Word.Document.8">
                  <p:embed/>
                </p:oleObj>
              </mc:Choice>
              <mc:Fallback>
                <p:oleObj name="Document" r:id="rId2" imgW="5264785" imgH="3645535" progId="Word.Document.8">
                  <p:embed/>
                  <p:pic>
                    <p:nvPicPr>
                      <p:cNvPr id="3" name="对象 2"/>
                      <p:cNvPicPr>
                        <a:picLocks noChangeAspect="1" noChangeArrowheads="1"/>
                      </p:cNvPicPr>
                      <p:nvPr/>
                    </p:nvPicPr>
                    <p:blipFill>
                      <a:blip r:embed="rId3"/>
                      <a:srcRect/>
                      <a:stretch>
                        <a:fillRect/>
                      </a:stretch>
                    </p:blipFill>
                    <p:spPr bwMode="auto">
                      <a:xfrm>
                        <a:off x="688975" y="1258888"/>
                        <a:ext cx="8062913" cy="5581650"/>
                      </a:xfrm>
                      <a:prstGeom prst="rect">
                        <a:avLst/>
                      </a:prstGeom>
                      <a:noFill/>
                      <a:ln>
                        <a:noFill/>
                      </a:ln>
                      <a:effectLst/>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nvGraphicFramePr>
        <p:xfrm>
          <a:off x="676275" y="973138"/>
          <a:ext cx="7802563" cy="5048250"/>
        </p:xfrm>
        <a:graphic>
          <a:graphicData uri="http://schemas.openxmlformats.org/presentationml/2006/ole">
            <mc:AlternateContent xmlns:mc="http://schemas.openxmlformats.org/markup-compatibility/2006">
              <mc:Choice xmlns:v="urn:schemas-microsoft-com:vml" Requires="v">
                <p:oleObj name="Document" r:id="rId2" imgW="5264785" imgH="3406140" progId="Word.Document.8">
                  <p:embed/>
                </p:oleObj>
              </mc:Choice>
              <mc:Fallback>
                <p:oleObj name="Document" r:id="rId2" imgW="5264785" imgH="3406140" progId="Word.Document.8">
                  <p:embed/>
                  <p:pic>
                    <p:nvPicPr>
                      <p:cNvPr id="3" name="对象 2"/>
                      <p:cNvPicPr>
                        <a:picLocks noChangeAspect="1" noChangeArrowheads="1"/>
                      </p:cNvPicPr>
                      <p:nvPr/>
                    </p:nvPicPr>
                    <p:blipFill>
                      <a:blip r:embed="rId3"/>
                      <a:srcRect/>
                      <a:stretch>
                        <a:fillRect/>
                      </a:stretch>
                    </p:blipFill>
                    <p:spPr bwMode="auto">
                      <a:xfrm>
                        <a:off x="676275" y="973138"/>
                        <a:ext cx="7802563" cy="5048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marL="1117600" indent="-1117600"/>
            <a:r>
              <a:rPr lang="en-US" altLang="zh-CN" sz="3600" b="1" dirty="0"/>
              <a:t> </a:t>
            </a:r>
            <a:r>
              <a:rPr lang="zh-CN" altLang="en-US" sz="3600" b="1" dirty="0"/>
              <a:t>近似规划法的算法步骤</a:t>
            </a:r>
          </a:p>
        </p:txBody>
      </p:sp>
      <p:graphicFrame>
        <p:nvGraphicFramePr>
          <p:cNvPr id="50179" name="Object 3"/>
          <p:cNvGraphicFramePr>
            <a:graphicFrameLocks noGrp="1" noChangeAspect="1"/>
          </p:cNvGraphicFramePr>
          <p:nvPr>
            <p:ph idx="1"/>
          </p:nvPr>
        </p:nvGraphicFramePr>
        <p:xfrm>
          <a:off x="249238" y="1412875"/>
          <a:ext cx="8550275" cy="5129213"/>
        </p:xfrm>
        <a:graphic>
          <a:graphicData uri="http://schemas.openxmlformats.org/presentationml/2006/ole">
            <mc:AlternateContent xmlns:mc="http://schemas.openxmlformats.org/markup-compatibility/2006">
              <mc:Choice xmlns:v="urn:schemas-microsoft-com:vml" Requires="v">
                <p:oleObj name="Document" r:id="rId2" imgW="5283200" imgH="3165475" progId="Word.Document.8">
                  <p:embed/>
                </p:oleObj>
              </mc:Choice>
              <mc:Fallback>
                <p:oleObj name="Document" r:id="rId2" imgW="5283200" imgH="3165475" progId="Word.Document.8">
                  <p:embed/>
                  <p:pic>
                    <p:nvPicPr>
                      <p:cNvPr id="50179" name="Object 3"/>
                      <p:cNvPicPr>
                        <a:picLocks noChangeAspect="1" noChangeArrowheads="1"/>
                      </p:cNvPicPr>
                      <p:nvPr/>
                    </p:nvPicPr>
                    <p:blipFill>
                      <a:blip r:embed="rId3"/>
                      <a:srcRect/>
                      <a:stretch>
                        <a:fillRect/>
                      </a:stretch>
                    </p:blipFill>
                    <p:spPr bwMode="auto">
                      <a:xfrm>
                        <a:off x="249238" y="1412875"/>
                        <a:ext cx="8550275" cy="5129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227" name="Object 3"/>
          <p:cNvGraphicFramePr>
            <a:graphicFrameLocks noGrp="1" noChangeAspect="1"/>
          </p:cNvGraphicFramePr>
          <p:nvPr>
            <p:ph/>
          </p:nvPr>
        </p:nvGraphicFramePr>
        <p:xfrm>
          <a:off x="544513" y="981075"/>
          <a:ext cx="8269287" cy="3816350"/>
        </p:xfrm>
        <a:graphic>
          <a:graphicData uri="http://schemas.openxmlformats.org/presentationml/2006/ole">
            <mc:AlternateContent xmlns:mc="http://schemas.openxmlformats.org/markup-compatibility/2006">
              <mc:Choice xmlns:v="urn:schemas-microsoft-com:vml" Requires="v">
                <p:oleObj name="Document" r:id="rId2" imgW="5283200" imgH="2435225" progId="Word.Document.8">
                  <p:embed/>
                </p:oleObj>
              </mc:Choice>
              <mc:Fallback>
                <p:oleObj name="Document" r:id="rId2" imgW="5283200" imgH="2435225" progId="Word.Document.8">
                  <p:embed/>
                  <p:pic>
                    <p:nvPicPr>
                      <p:cNvPr id="52227" name="Object 3"/>
                      <p:cNvPicPr>
                        <a:picLocks noChangeAspect="1" noChangeArrowheads="1"/>
                      </p:cNvPicPr>
                      <p:nvPr/>
                    </p:nvPicPr>
                    <p:blipFill>
                      <a:blip r:embed="rId3"/>
                      <a:srcRect/>
                      <a:stretch>
                        <a:fillRect/>
                      </a:stretch>
                    </p:blipFill>
                    <p:spPr bwMode="auto">
                      <a:xfrm>
                        <a:off x="544513" y="981075"/>
                        <a:ext cx="8269287" cy="3816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E947CAFE-DAD1-C7D1-A82F-CC62E1C52ECB}"/>
              </a:ext>
            </a:extLst>
          </p:cNvPr>
          <p:cNvPicPr>
            <a:picLocks noChangeAspect="1"/>
          </p:cNvPicPr>
          <p:nvPr/>
        </p:nvPicPr>
        <p:blipFill>
          <a:blip r:embed="rId2"/>
          <a:stretch>
            <a:fillRect/>
          </a:stretch>
        </p:blipFill>
        <p:spPr>
          <a:xfrm>
            <a:off x="7369" y="1124744"/>
            <a:ext cx="9144000" cy="3574978"/>
          </a:xfrm>
          <a:prstGeom prst="rect">
            <a:avLst/>
          </a:prstGeom>
        </p:spPr>
      </p:pic>
    </p:spTree>
    <p:extLst>
      <p:ext uri="{BB962C8B-B14F-4D97-AF65-F5344CB8AC3E}">
        <p14:creationId xmlns:p14="http://schemas.microsoft.com/office/powerpoint/2010/main" val="24501358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zRiZTljODZjNDMwNjU0MGFkZWEwZmE5ZmUxYjNmMzM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736</TotalTime>
  <Words>1781</Words>
  <Application>Microsoft Office PowerPoint</Application>
  <PresentationFormat>全屏显示(4:3)</PresentationFormat>
  <Paragraphs>141</Paragraphs>
  <Slides>38</Slides>
  <Notes>0</Notes>
  <HiddenSlides>4</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38</vt:i4>
      </vt:variant>
    </vt:vector>
  </HeadingPairs>
  <TitlesOfParts>
    <vt:vector size="50" baseType="lpstr">
      <vt:lpstr>ItcKabel-Bold</vt:lpstr>
      <vt:lpstr>等线</vt:lpstr>
      <vt:lpstr>黑体</vt:lpstr>
      <vt:lpstr>宋体</vt:lpstr>
      <vt:lpstr>Arial</vt:lpstr>
      <vt:lpstr>Calibri</vt:lpstr>
      <vt:lpstr>Calibri Light</vt:lpstr>
      <vt:lpstr>Cambria Math</vt:lpstr>
      <vt:lpstr>Times New Roman</vt:lpstr>
      <vt:lpstr>Wingdings</vt:lpstr>
      <vt:lpstr>Office 主题​​</vt:lpstr>
      <vt:lpstr>Document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9．2 近似规划法</vt:lpstr>
      <vt:lpstr>PowerPoint 演示文稿</vt:lpstr>
      <vt:lpstr> 近似规划法的算法步骤</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第9章  约束问题最优化方法</dc:title>
  <dc:creator>zl</dc:creator>
  <cp:lastModifiedBy>Wei Zhang</cp:lastModifiedBy>
  <cp:revision>145</cp:revision>
  <cp:lastPrinted>2024-11-19T09:05:15Z</cp:lastPrinted>
  <dcterms:created xsi:type="dcterms:W3CDTF">2013-11-29T01:58:00Z</dcterms:created>
  <dcterms:modified xsi:type="dcterms:W3CDTF">2025-10-27T14:17:25Z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2052-11.1.0.11691</vt:lpwstr>
  </property>
  <property fmtid="{D5CDD505-2E9C-101B-9397-08002B2CF9AE}" pid="3" name="ICV">
    <vt:lpwstr>E7D392E5971141A3AECDE3B92E8B35B7</vt:lpwstr>
  </property>
</Properties>
</file>