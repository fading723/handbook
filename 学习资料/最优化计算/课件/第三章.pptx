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71" r:id="rId3"/>
    <p:sldId id="257" r:id="rId4"/>
    <p:sldId id="258" r:id="rId5"/>
    <p:sldId id="330" r:id="rId6"/>
    <p:sldId id="472" r:id="rId7"/>
    <p:sldId id="260" r:id="rId8"/>
    <p:sldId id="336" r:id="rId9"/>
    <p:sldId id="337" r:id="rId10"/>
    <p:sldId id="338" r:id="rId11"/>
    <p:sldId id="473" r:id="rId12"/>
    <p:sldId id="343" r:id="rId13"/>
    <p:sldId id="341" r:id="rId14"/>
    <p:sldId id="263" r:id="rId15"/>
    <p:sldId id="265" r:id="rId16"/>
    <p:sldId id="322" r:id="rId17"/>
    <p:sldId id="323" r:id="rId18"/>
    <p:sldId id="324" r:id="rId19"/>
    <p:sldId id="286" r:id="rId20"/>
    <p:sldId id="325" r:id="rId21"/>
    <p:sldId id="469" r:id="rId22"/>
    <p:sldId id="476" r:id="rId23"/>
    <p:sldId id="282" r:id="rId24"/>
    <p:sldId id="326" r:id="rId25"/>
    <p:sldId id="268" r:id="rId26"/>
    <p:sldId id="269" r:id="rId27"/>
    <p:sldId id="270" r:id="rId28"/>
    <p:sldId id="470" r:id="rId29"/>
    <p:sldId id="479" r:id="rId30"/>
    <p:sldId id="481" r:id="rId31"/>
    <p:sldId id="319" r:id="rId32"/>
    <p:sldId id="320" r:id="rId33"/>
    <p:sldId id="339" r:id="rId34"/>
    <p:sldId id="340" r:id="rId35"/>
    <p:sldId id="321" r:id="rId36"/>
    <p:sldId id="333" r:id="rId37"/>
    <p:sldId id="334" r:id="rId38"/>
    <p:sldId id="482" r:id="rId39"/>
    <p:sldId id="335" r:id="rId40"/>
    <p:sldId id="271" r:id="rId41"/>
    <p:sldId id="316" r:id="rId42"/>
    <p:sldId id="477" r:id="rId43"/>
    <p:sldId id="273" r:id="rId44"/>
    <p:sldId id="332" r:id="rId45"/>
    <p:sldId id="274" r:id="rId46"/>
    <p:sldId id="275" r:id="rId47"/>
    <p:sldId id="276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370BE841-42FC-4A07-BF3F-BC54274A804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4D6D6-58A8-4AD4-816F-730C82CA4F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3FB50-89D6-4CBA-9896-FC4743470F0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0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.png"/><Relationship Id="rId3" Type="http://schemas.openxmlformats.org/officeDocument/2006/relationships/image" Target="../media/image15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8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8.png"/><Relationship Id="rId10" Type="http://schemas.openxmlformats.org/officeDocument/2006/relationships/image" Target="../media/image4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8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4" Type="http://schemas.openxmlformats.org/officeDocument/2006/relationships/slideLayout" Target="../slideLayouts/slideLayout2.xml"/><Relationship Id="rId13" Type="http://schemas.openxmlformats.org/officeDocument/2006/relationships/audio" Target="../media/audio1.wav"/><Relationship Id="rId12" Type="http://schemas.openxmlformats.org/officeDocument/2006/relationships/image" Target="../media/image38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58.png"/><Relationship Id="rId7" Type="http://schemas.openxmlformats.org/officeDocument/2006/relationships/image" Target="../media/image57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audio" Target="../media/audio2.wav"/><Relationship Id="rId7" Type="http://schemas.openxmlformats.org/officeDocument/2006/relationships/image" Target="../media/image64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93.png"/><Relationship Id="rId3" Type="http://schemas.openxmlformats.org/officeDocument/2006/relationships/image" Target="../media/image89.png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928673" y="300038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第三章 线性规划的对偶理论</a:t>
            </a:r>
            <a:endParaRPr lang="zh-CN" altLang="en-US" b="1" dirty="0"/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861880" y="2922820"/>
            <a:ext cx="10468240" cy="3722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endParaRPr lang="en-US" altLang="zh-CN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宋体" panose="02010600030101010101" pitchFamily="2" charset="-122"/>
              </a:rPr>
              <a:t>对偶理论深刻揭示了原问题与对偶问题之间的内在联系，在线性规划的理论研究和算法设计中起着重要的作用．例如，成功的线性规划原始</a:t>
            </a:r>
            <a:r>
              <a:rPr lang="en-US" altLang="zh-CN" b="1" dirty="0">
                <a:latin typeface="宋体" panose="02010600030101010101" pitchFamily="2" charset="-122"/>
              </a:rPr>
              <a:t>-</a:t>
            </a:r>
            <a:r>
              <a:rPr lang="zh-CN" altLang="en-US" b="1" dirty="0">
                <a:latin typeface="宋体" panose="02010600030101010101" pitchFamily="2" charset="-122"/>
              </a:rPr>
              <a:t>对偶内点算法就是基于互补松弛定理而提出来的．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5840" y="1874838"/>
            <a:ext cx="10340024" cy="94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b="1" dirty="0"/>
              <a:t>      </a:t>
            </a:r>
            <a:r>
              <a:rPr lang="zh-CN" altLang="en-US" sz="24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任意线性规划问题都伴随着另一个与之有密切联系的线性规划问题，我们将其中的一个称为原问题，另一个就称为对偶问题．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96928"/>
            <a:ext cx="7772400" cy="1470025"/>
          </a:xfrm>
        </p:spPr>
        <p:txBody>
          <a:bodyPr anchor="ctr">
            <a:normAutofit/>
          </a:bodyPr>
          <a:lstStyle/>
          <a:p>
            <a:pPr marL="342900" indent="-342900"/>
            <a:r>
              <a:rPr lang="zh-CN" altLang="en-US" sz="4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对偶问题</a:t>
            </a:r>
            <a:endParaRPr lang="zh-CN" altLang="en-US" sz="44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5493" y="389452"/>
            <a:ext cx="5152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一、对偶问题的提出</a:t>
            </a:r>
            <a:endParaRPr lang="zh-CN" altLang="en-US" sz="28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951493" y="3209020"/>
                <a:ext cx="7240507" cy="5007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zh-CN" sz="2400" b="1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解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：设每日生产木门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扇，木窗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扇，建立数学模型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493" y="3209020"/>
                <a:ext cx="7240507" cy="500715"/>
              </a:xfrm>
              <a:prstGeom prst="rect">
                <a:avLst/>
              </a:prstGeom>
              <a:blipFill rotWithShape="1">
                <a:blip r:embed="rId1"/>
                <a:stretch>
                  <a:fillRect l="-5" t="-7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452029" y="5874843"/>
                <a:ext cx="59084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求得最优解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15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20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1440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029" y="5874843"/>
                <a:ext cx="5908431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9" t="-99" r="5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204188" y="1220607"/>
            <a:ext cx="10839633" cy="1822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9875" indent="267970" algn="just">
              <a:lnSpc>
                <a:spcPct val="120000"/>
              </a:lnSpc>
              <a:tabLst>
                <a:tab pos="269875" algn="l"/>
                <a:tab pos="266700" algn="l"/>
              </a:tabLst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某家具厂木器车间生产木门与木窗两种产品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加工木门收入为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56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元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扇，加工木窗收入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30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元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扇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生产一扇木门需要木工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小时、油漆工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小时；生产一扇木窗需要木工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小时、油漆工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小时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该车间每日可用木工总工时为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120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小时，油漆工总工时为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小时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试问车间应如何安排生产才能使每日收入最大？</a:t>
            </a:r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850342" y="3776459"/>
                <a:ext cx="6114422" cy="1902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m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𝑎𝑥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𝑤</m:t>
                      </m:r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56</m:t>
                      </m:r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30</m:t>
                      </m:r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24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d>
                      <m:dPr>
                        <m:begChr m:val="{"/>
                        <m:endChr m:val="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4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120</m:t>
                            </m:r>
                          </m:e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5</m:t>
                            </m:r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≥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≥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>
                    <a:effectLst/>
                  </a:rPr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342" y="3776459"/>
                <a:ext cx="6114422" cy="1902380"/>
              </a:xfrm>
              <a:prstGeom prst="rect">
                <a:avLst/>
              </a:prstGeom>
              <a:blipFill rotWithShape="1">
                <a:blip r:embed="rId3"/>
                <a:stretch>
                  <a:fillRect l="-3" t="-6" r="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458423" y="3662194"/>
            <a:ext cx="4223243" cy="1976438"/>
            <a:chOff x="1550377" y="3946585"/>
            <a:chExt cx="4223243" cy="1976438"/>
          </a:xfrm>
        </p:grpSpPr>
        <p:sp>
          <p:nvSpPr>
            <p:cNvPr id="4" name="Rectangle 5"/>
            <p:cNvSpPr>
              <a:spLocks noChangeArrowheads="1"/>
            </p:cNvSpPr>
            <p:nvPr/>
          </p:nvSpPr>
          <p:spPr bwMode="auto">
            <a:xfrm>
              <a:off x="4422531" y="5527735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3584331" y="5527735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30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2822331" y="5527735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56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1603131" y="5527735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收入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4513385" y="4941701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50</a:t>
              </a: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小时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3591658" y="4927661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2836984" y="4941701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1550377" y="4941701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油漆工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4513389" y="4500275"/>
              <a:ext cx="1260231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120</a:t>
              </a: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小时</a:t>
              </a:r>
              <a:r>
                <a:rPr lang="zh-CN" altLang="en-US" sz="2000" dirty="0">
                  <a:latin typeface="宋体" panose="02010600030101010101" pitchFamily="2" charset="-122"/>
                </a:rPr>
                <a:t> 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3602434" y="4445078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2839917" y="4442750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4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1603131" y="4431056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4422531" y="3946585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宋体" panose="02010600030101010101" pitchFamily="2" charset="-122"/>
                </a:rPr>
                <a:t>限制</a:t>
              </a:r>
              <a:r>
                <a:rPr lang="zh-CN" altLang="en-US" sz="2000">
                  <a:latin typeface="宋体" panose="02010600030101010101" pitchFamily="2" charset="-122"/>
                </a:rPr>
                <a:t> </a:t>
              </a: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3584331" y="3946585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木窗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2822331" y="3946585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木门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1603131" y="3946585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603131" y="3946585"/>
              <a:ext cx="388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603131" y="4341872"/>
              <a:ext cx="3886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1603131" y="5527735"/>
              <a:ext cx="3886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1603131" y="5923022"/>
              <a:ext cx="388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dirty="0"/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>
              <a:off x="2822331" y="3946585"/>
              <a:ext cx="0" cy="1976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4422531" y="3946585"/>
              <a:ext cx="0" cy="1976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752601" y="-37631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28600" y="-357846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9033883" y="2016464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8195683" y="2016464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30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7433683" y="2016464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56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214483" y="2016464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收入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9124737" y="1430430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50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8203010" y="1416390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7448336" y="1430430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6229136" y="1415950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油漆工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9124740" y="989004"/>
            <a:ext cx="1260231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120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r>
              <a:rPr lang="zh-CN" altLang="en-US" sz="2000" dirty="0">
                <a:latin typeface="宋体" panose="02010600030101010101" pitchFamily="2" charset="-122"/>
              </a:rPr>
              <a:t> 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8213786" y="933807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7451269" y="931479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6214483" y="919785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9033883" y="435314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限制</a:t>
            </a:r>
            <a:r>
              <a:rPr lang="zh-CN" altLang="en-US" sz="2000">
                <a:latin typeface="宋体" panose="02010600030101010101" pitchFamily="2" charset="-122"/>
              </a:rPr>
              <a:t> 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17" name="Rectangle 22"/>
          <p:cNvSpPr>
            <a:spLocks noChangeArrowheads="1"/>
          </p:cNvSpPr>
          <p:nvPr/>
        </p:nvSpPr>
        <p:spPr bwMode="auto">
          <a:xfrm>
            <a:off x="8195683" y="435314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木窗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7433683" y="435314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木门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6214483" y="435314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20" name="Line 25"/>
          <p:cNvSpPr>
            <a:spLocks noChangeShapeType="1"/>
          </p:cNvSpPr>
          <p:nvPr/>
        </p:nvSpPr>
        <p:spPr bwMode="auto">
          <a:xfrm>
            <a:off x="6214483" y="435314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26"/>
          <p:cNvSpPr>
            <a:spLocks noChangeShapeType="1"/>
          </p:cNvSpPr>
          <p:nvPr/>
        </p:nvSpPr>
        <p:spPr bwMode="auto">
          <a:xfrm>
            <a:off x="6214483" y="830601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27"/>
          <p:cNvSpPr>
            <a:spLocks noChangeShapeType="1"/>
          </p:cNvSpPr>
          <p:nvPr/>
        </p:nvSpPr>
        <p:spPr bwMode="auto">
          <a:xfrm>
            <a:off x="6214483" y="2016464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28"/>
          <p:cNvSpPr>
            <a:spLocks noChangeShapeType="1"/>
          </p:cNvSpPr>
          <p:nvPr/>
        </p:nvSpPr>
        <p:spPr bwMode="auto">
          <a:xfrm>
            <a:off x="6214483" y="2411751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dirty="0"/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7433683" y="435314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30"/>
          <p:cNvSpPr>
            <a:spLocks noChangeShapeType="1"/>
          </p:cNvSpPr>
          <p:nvPr/>
        </p:nvSpPr>
        <p:spPr bwMode="auto">
          <a:xfrm>
            <a:off x="9033883" y="435314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18764" y="360394"/>
            <a:ext cx="4996130" cy="5351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20000"/>
              </a:lnSpc>
            </a:pP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现在从另一角度来考虑该车间的生产问题。</a:t>
            </a:r>
            <a:endParaRPr lang="en-US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假若有一位个体经营者，手中有一批木器家具生产订单．他想利用该木器车间的木工和油漆工来加工完成他的订单，就要事先考虑付给该车间每个工时的价格．他可以建立一个数学模型来研究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zh-CN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如何订价，才能既使木器车间觉得有利可图从而愿意替他加工这批订单、又使自己所付的工时费用总数最少．</a:t>
            </a:r>
            <a:endParaRPr lang="zh-CN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6214483" y="3002165"/>
                <a:ext cx="499612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20000"/>
                  </a:lnSpc>
                </a:pPr>
                <a:r>
                  <a:rPr lang="en-US" altLang="zh-CN" sz="2400" kern="100" dirty="0">
                    <a:solidFill>
                      <a:schemeClr val="tx1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为付给木工每个工时的价格，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为付给油漆工每个工时的价格，则该个体经营者的目标函数为每日所付工时总费用最小：</a:t>
                </a:r>
                <a:endParaRPr lang="zh-CN" altLang="zh-CN" sz="2400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120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50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zh-CN" altLang="zh-CN" sz="2400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483" y="3002165"/>
                <a:ext cx="4996128" cy="2308324"/>
              </a:xfrm>
              <a:prstGeom prst="rect">
                <a:avLst/>
              </a:prstGeom>
              <a:blipFill rotWithShape="1">
                <a:blip r:embed="rId6"/>
                <a:stretch>
                  <a:fillRect l="-7" t="-23" r="-299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752601" y="-37631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2" name="Rectangle 5"/>
          <p:cNvSpPr>
            <a:spLocks noChangeArrowheads="1"/>
          </p:cNvSpPr>
          <p:nvPr/>
        </p:nvSpPr>
        <p:spPr bwMode="auto">
          <a:xfrm>
            <a:off x="9316912" y="1861343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3" name="Rectangle 6"/>
          <p:cNvSpPr>
            <a:spLocks noChangeArrowheads="1"/>
          </p:cNvSpPr>
          <p:nvPr/>
        </p:nvSpPr>
        <p:spPr bwMode="auto">
          <a:xfrm>
            <a:off x="8478712" y="1861343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30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4" name="Rectangle 7"/>
          <p:cNvSpPr>
            <a:spLocks noChangeArrowheads="1"/>
          </p:cNvSpPr>
          <p:nvPr/>
        </p:nvSpPr>
        <p:spPr bwMode="auto">
          <a:xfrm>
            <a:off x="7716712" y="1861343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56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5" name="Rectangle 8"/>
          <p:cNvSpPr>
            <a:spLocks noChangeArrowheads="1"/>
          </p:cNvSpPr>
          <p:nvPr/>
        </p:nvSpPr>
        <p:spPr bwMode="auto">
          <a:xfrm>
            <a:off x="6497512" y="1861343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收入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60" name="Rectangle 13"/>
          <p:cNvSpPr>
            <a:spLocks noChangeArrowheads="1"/>
          </p:cNvSpPr>
          <p:nvPr/>
        </p:nvSpPr>
        <p:spPr bwMode="auto">
          <a:xfrm>
            <a:off x="9407766" y="1275309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50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61" name="Rectangle 14"/>
          <p:cNvSpPr>
            <a:spLocks noChangeArrowheads="1"/>
          </p:cNvSpPr>
          <p:nvPr/>
        </p:nvSpPr>
        <p:spPr bwMode="auto">
          <a:xfrm>
            <a:off x="8486039" y="1261269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2" name="Rectangle 15"/>
          <p:cNvSpPr>
            <a:spLocks noChangeArrowheads="1"/>
          </p:cNvSpPr>
          <p:nvPr/>
        </p:nvSpPr>
        <p:spPr bwMode="auto">
          <a:xfrm>
            <a:off x="7731365" y="1275309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3" name="Rectangle 16"/>
          <p:cNvSpPr>
            <a:spLocks noChangeArrowheads="1"/>
          </p:cNvSpPr>
          <p:nvPr/>
        </p:nvSpPr>
        <p:spPr bwMode="auto">
          <a:xfrm>
            <a:off x="6512165" y="1260829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油漆工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64" name="Rectangle 17"/>
          <p:cNvSpPr>
            <a:spLocks noChangeArrowheads="1"/>
          </p:cNvSpPr>
          <p:nvPr/>
        </p:nvSpPr>
        <p:spPr bwMode="auto">
          <a:xfrm>
            <a:off x="9407770" y="833883"/>
            <a:ext cx="1260231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120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r>
              <a:rPr lang="zh-CN" altLang="en-US" sz="2000" dirty="0">
                <a:latin typeface="宋体" panose="02010600030101010101" pitchFamily="2" charset="-122"/>
              </a:rPr>
              <a:t> 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65" name="Rectangle 18"/>
          <p:cNvSpPr>
            <a:spLocks noChangeArrowheads="1"/>
          </p:cNvSpPr>
          <p:nvPr/>
        </p:nvSpPr>
        <p:spPr bwMode="auto">
          <a:xfrm>
            <a:off x="8496815" y="778686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6" name="Rectangle 19"/>
          <p:cNvSpPr>
            <a:spLocks noChangeArrowheads="1"/>
          </p:cNvSpPr>
          <p:nvPr/>
        </p:nvSpPr>
        <p:spPr bwMode="auto">
          <a:xfrm>
            <a:off x="7734298" y="776358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7" name="Rectangle 20"/>
          <p:cNvSpPr>
            <a:spLocks noChangeArrowheads="1"/>
          </p:cNvSpPr>
          <p:nvPr/>
        </p:nvSpPr>
        <p:spPr bwMode="auto">
          <a:xfrm>
            <a:off x="6497512" y="764664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68" name="Rectangle 21"/>
          <p:cNvSpPr>
            <a:spLocks noChangeArrowheads="1"/>
          </p:cNvSpPr>
          <p:nvPr/>
        </p:nvSpPr>
        <p:spPr bwMode="auto">
          <a:xfrm>
            <a:off x="9316912" y="280193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限制</a:t>
            </a:r>
            <a:r>
              <a:rPr lang="zh-CN" altLang="en-US" sz="2000">
                <a:latin typeface="宋体" panose="02010600030101010101" pitchFamily="2" charset="-122"/>
              </a:rPr>
              <a:t> 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69" name="Rectangle 22"/>
          <p:cNvSpPr>
            <a:spLocks noChangeArrowheads="1"/>
          </p:cNvSpPr>
          <p:nvPr/>
        </p:nvSpPr>
        <p:spPr bwMode="auto">
          <a:xfrm>
            <a:off x="8478712" y="280193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木窗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0" name="Rectangle 23"/>
          <p:cNvSpPr>
            <a:spLocks noChangeArrowheads="1"/>
          </p:cNvSpPr>
          <p:nvPr/>
        </p:nvSpPr>
        <p:spPr bwMode="auto">
          <a:xfrm>
            <a:off x="7716712" y="280193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木门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6497512" y="280193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72" name="Line 25"/>
          <p:cNvSpPr>
            <a:spLocks noChangeShapeType="1"/>
          </p:cNvSpPr>
          <p:nvPr/>
        </p:nvSpPr>
        <p:spPr bwMode="auto">
          <a:xfrm>
            <a:off x="6497512" y="280193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" name="Line 26"/>
          <p:cNvSpPr>
            <a:spLocks noChangeShapeType="1"/>
          </p:cNvSpPr>
          <p:nvPr/>
        </p:nvSpPr>
        <p:spPr bwMode="auto">
          <a:xfrm>
            <a:off x="6497512" y="675480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4" name="Line 27"/>
          <p:cNvSpPr>
            <a:spLocks noChangeShapeType="1"/>
          </p:cNvSpPr>
          <p:nvPr/>
        </p:nvSpPr>
        <p:spPr bwMode="auto">
          <a:xfrm>
            <a:off x="6497512" y="1861343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" name="Line 28"/>
          <p:cNvSpPr>
            <a:spLocks noChangeShapeType="1"/>
          </p:cNvSpPr>
          <p:nvPr/>
        </p:nvSpPr>
        <p:spPr bwMode="auto">
          <a:xfrm>
            <a:off x="6497512" y="2256630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dirty="0"/>
          </a:p>
        </p:txBody>
      </p:sp>
      <p:sp>
        <p:nvSpPr>
          <p:cNvPr id="76" name="Line 29"/>
          <p:cNvSpPr>
            <a:spLocks noChangeShapeType="1"/>
          </p:cNvSpPr>
          <p:nvPr/>
        </p:nvSpPr>
        <p:spPr bwMode="auto">
          <a:xfrm>
            <a:off x="7716712" y="280193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" name="Line 30"/>
          <p:cNvSpPr>
            <a:spLocks noChangeShapeType="1"/>
          </p:cNvSpPr>
          <p:nvPr/>
        </p:nvSpPr>
        <p:spPr bwMode="auto">
          <a:xfrm>
            <a:off x="9316912" y="280193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359437" y="539101"/>
                <a:ext cx="5398054" cy="2262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266700" algn="just">
                  <a:lnSpc>
                    <a:spcPct val="120000"/>
                  </a:lnSpc>
                  <a:defRPr sz="2400" kern="10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dirty="0"/>
                  <a:t> </a:t>
                </a:r>
                <a:r>
                  <a:rPr lang="zh-CN" altLang="zh-CN" dirty="0"/>
                  <a:t>但该个体经营者所付的价格不能太低，至少不能低于该车间生产木门、木窗时所得到的收入，否则该车间觉得无利可图就不会替他加工这批订单．即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/>
                  <a:t>的取值应满足如下约束条件：</a:t>
                </a:r>
                <a:endParaRPr lang="zh-CN" altLang="zh-CN" dirty="0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37" y="539101"/>
                <a:ext cx="5398054" cy="2262992"/>
              </a:xfrm>
              <a:prstGeom prst="rect">
                <a:avLst/>
              </a:prstGeom>
              <a:blipFill rotWithShape="1">
                <a:blip r:embed="rId6"/>
                <a:stretch>
                  <a:fillRect l="-1" t="-27" r="11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/>
          <p:cNvSpPr txBox="1"/>
          <p:nvPr/>
        </p:nvSpPr>
        <p:spPr>
          <a:xfrm>
            <a:off x="6095999" y="2944001"/>
            <a:ext cx="50809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故，该个体经营者的数学模型应为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6047643" y="5837986"/>
                <a:ext cx="55293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求得最优解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24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1440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643" y="5837986"/>
                <a:ext cx="5529313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10" t="-93" r="-53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5"/>
              <p:cNvSpPr txBox="1"/>
              <p:nvPr/>
            </p:nvSpPr>
            <p:spPr>
              <a:xfrm>
                <a:off x="-412080" y="3863056"/>
                <a:ext cx="6099348" cy="1271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56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2080" y="3863056"/>
                <a:ext cx="6099348" cy="1271438"/>
              </a:xfrm>
              <a:prstGeom prst="rect">
                <a:avLst/>
              </a:prstGeom>
              <a:blipFill rotWithShape="1">
                <a:blip r:embed="rId8"/>
                <a:stretch>
                  <a:fillRect l="10" t="-28" r="3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2"/>
              <p:cNvSpPr txBox="1"/>
              <p:nvPr/>
            </p:nvSpPr>
            <p:spPr>
              <a:xfrm>
                <a:off x="5391726" y="3788000"/>
                <a:ext cx="6097772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/>
                      </m:func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120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50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56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726" y="3788000"/>
                <a:ext cx="6097772" cy="1640770"/>
              </a:xfrm>
              <a:prstGeom prst="rect">
                <a:avLst/>
              </a:prstGeom>
              <a:blipFill rotWithShape="1">
                <a:blip r:embed="rId9"/>
                <a:stretch>
                  <a:fillRect l="-9" t="-14" r="7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9980" y="394369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56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30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80" y="394369"/>
                <a:ext cx="6134986" cy="1640770"/>
              </a:xfrm>
              <a:prstGeom prst="rect">
                <a:avLst/>
              </a:prstGeom>
              <a:blipFill rotWithShape="1">
                <a:blip r:embed="rId1"/>
                <a:stretch>
                  <a:fillRect l="-1" t="-2" r="5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334886" y="394369"/>
                <a:ext cx="6097772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120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56</m:t>
                              </m:r>
                            </m:e>
                            <m:e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886" y="394369"/>
                <a:ext cx="6097772" cy="1640770"/>
              </a:xfrm>
              <a:prstGeom prst="rect">
                <a:avLst/>
              </a:prstGeom>
              <a:blipFill rotWithShape="1">
                <a:blip r:embed="rId2"/>
                <a:stretch>
                  <a:fillRect l="-4" t="-2" r="2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49980" y="2409508"/>
                <a:ext cx="11443545" cy="4054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我们将这两个线性规划模型称为一对互为对偶的线性规划模型，它们使用了相同的数据，只是这些数据在模型中所处的位置不同，表达的含义也不同。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若将前者称为原问题，则后者就是其对偶问题。可以看出：原问题的价值系数在对偶问题中成为约束条件的右端项，而对偶问题的价值系数成为原问题约束条件的右端项；原问题中第一</a:t>
                </a:r>
                <a:r>
                  <a:rPr lang="en-US" sz="2400" dirty="0">
                    <a:effectLst/>
                    <a:latin typeface="宋体" panose="02010600030101010101" pitchFamily="2" charset="-122"/>
                    <a:ea typeface="Times New Roman" panose="02020603050405020304" pitchFamily="18" charset="0"/>
                  </a:rPr>
                  <a:t>(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二</a:t>
                </a:r>
                <a:r>
                  <a:rPr lang="en-US" sz="2400" dirty="0">
                    <a:effectLst/>
                    <a:latin typeface="宋体" panose="02010600030101010101" pitchFamily="2" charset="-122"/>
                    <a:ea typeface="Times New Roman" panose="02020603050405020304" pitchFamily="18" charset="0"/>
                  </a:rPr>
                  <a:t>)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个不等式的变量系数，在对偶问题中成为决策变量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的系数列向量</a:t>
                </a:r>
                <a:r>
                  <a:rPr lang="en-US" sz="2400" dirty="0">
                    <a:effectLst/>
                    <a:latin typeface="宋体" panose="02010600030101010101" pitchFamily="2" charset="-122"/>
                    <a:ea typeface="Times New Roman" panose="02020603050405020304" pitchFamily="18" charset="0"/>
                  </a:rPr>
                  <a:t>,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而对偶问题第一</a:t>
                </a:r>
                <a:r>
                  <a:rPr lang="en-US" sz="2400" dirty="0">
                    <a:effectLst/>
                    <a:latin typeface="宋体" panose="02010600030101010101" pitchFamily="2" charset="-122"/>
                    <a:ea typeface="Times New Roman" panose="02020603050405020304" pitchFamily="18" charset="0"/>
                  </a:rPr>
                  <a:t>(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二</a:t>
                </a:r>
                <a:r>
                  <a:rPr lang="en-US" sz="2400" dirty="0">
                    <a:effectLst/>
                    <a:latin typeface="宋体" panose="02010600030101010101" pitchFamily="2" charset="-122"/>
                    <a:ea typeface="Times New Roman" panose="02020603050405020304" pitchFamily="18" charset="0"/>
                  </a:rPr>
                  <a:t>)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个不等式的变量系数</a:t>
                </a:r>
                <a:r>
                  <a:rPr lang="en-US" sz="2400" dirty="0">
                    <a:effectLst/>
                    <a:latin typeface="宋体" panose="02010600030101010101" pitchFamily="2" charset="-122"/>
                    <a:ea typeface="Times New Roman" panose="02020603050405020304" pitchFamily="18" charset="0"/>
                  </a:rPr>
                  <a:t>,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在原问题中成为变量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的系数列向量。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80" y="2409508"/>
                <a:ext cx="11443545" cy="4054123"/>
              </a:xfrm>
              <a:prstGeom prst="rect">
                <a:avLst/>
              </a:prstGeom>
              <a:blipFill rotWithShape="1">
                <a:blip r:embed="rId3"/>
                <a:stretch>
                  <a:fillRect l="-1" t="-8" r="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8990" y="848224"/>
            <a:ext cx="10404629" cy="3360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       </a:t>
            </a:r>
            <a:r>
              <a:rPr lang="zh-CN" altLang="en-US" sz="2400" b="1" dirty="0">
                <a:solidFill>
                  <a:srgbClr val="0070C0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影子价格（</a:t>
            </a:r>
            <a:r>
              <a:rPr lang="en-US" altLang="zh-CN" sz="2400" b="1" dirty="0">
                <a:solidFill>
                  <a:srgbClr val="0070C0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shadow price</a:t>
            </a:r>
            <a:r>
              <a:rPr lang="zh-CN" altLang="en-US" sz="2400" b="1" dirty="0">
                <a:solidFill>
                  <a:srgbClr val="0070C0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）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的概念是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20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世纪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30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年代末至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20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世纪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40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年代初由荷兰数理经济学、计量经济学创造人之一詹恩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·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丁伯根和前苏联数学家、经济学家、诺贝尔经济学奖金获得者康托罗维奇分别提出来的。它最初来自于求解一个目标最大化的线性规划问题。当某种资源每增加一个单位，目标增加一定的单位，不同的资源有不同的边际贡献，这种资源的边际贡献就定义为该资源的影子价格。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/>
          <p:cNvGrpSpPr/>
          <p:nvPr/>
        </p:nvGrpSpPr>
        <p:grpSpPr>
          <a:xfrm>
            <a:off x="6497512" y="280193"/>
            <a:ext cx="4170489" cy="1976438"/>
            <a:chOff x="6497512" y="280193"/>
            <a:chExt cx="4170489" cy="1976438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9316912" y="1861343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8478712" y="1861343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30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7716712" y="1861343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56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6497512" y="1861343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收入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9407766" y="1275309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50</a:t>
              </a: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小时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8486039" y="1261269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7731365" y="1275309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6512165" y="1260829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油漆工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9407770" y="833883"/>
              <a:ext cx="1260231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121</a:t>
              </a:r>
              <a:r>
                <a:rPr lang="zh-CN" altLang="en-US" sz="2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小时 </a:t>
              </a:r>
              <a:endPara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8496815" y="778686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7734298" y="776358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4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6497512" y="764664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9316912" y="280193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宋体" panose="02010600030101010101" pitchFamily="2" charset="-122"/>
                </a:rPr>
                <a:t>限制</a:t>
              </a:r>
              <a:r>
                <a:rPr lang="zh-CN" altLang="en-US" sz="2000">
                  <a:latin typeface="宋体" panose="02010600030101010101" pitchFamily="2" charset="-122"/>
                </a:rPr>
                <a:t> </a:t>
              </a: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8478712" y="280193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木窗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7716712" y="280193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木门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6497512" y="280193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6497512" y="280193"/>
              <a:ext cx="388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6497512" y="675480"/>
              <a:ext cx="3886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6497512" y="1861343"/>
              <a:ext cx="3886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6497512" y="2256630"/>
              <a:ext cx="388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dirty="0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7716712" y="280193"/>
              <a:ext cx="0" cy="1976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9316912" y="280193"/>
              <a:ext cx="0" cy="1976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1374179" y="2570164"/>
                <a:ext cx="7743188" cy="505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设每日生产木门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扇，木窗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扇，</a:t>
                </a:r>
                <a:r>
                  <a:rPr lang="zh-CN" altLang="en-US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分别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建立数学模型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179" y="2570164"/>
                <a:ext cx="7743188" cy="505779"/>
              </a:xfrm>
              <a:prstGeom prst="rect">
                <a:avLst/>
              </a:prstGeom>
              <a:blipFill rotWithShape="1">
                <a:blip r:embed="rId6"/>
                <a:stretch>
                  <a:fillRect l="-1" t="-6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/>
              <p:cNvSpPr txBox="1"/>
              <p:nvPr/>
            </p:nvSpPr>
            <p:spPr>
              <a:xfrm>
                <a:off x="1556003" y="5246672"/>
                <a:ext cx="590843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求得最优解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15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20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altLang="zh-CN" sz="2400" i="1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1440</m:t>
                    </m:r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7" name="文本框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6003" y="5246672"/>
                <a:ext cx="5908431" cy="830997"/>
              </a:xfrm>
              <a:prstGeom prst="rect">
                <a:avLst/>
              </a:prstGeom>
              <a:blipFill rotWithShape="1">
                <a:blip r:embed="rId7"/>
                <a:stretch>
                  <a:fillRect l="-4" t="-36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/>
              <p:cNvSpPr txBox="1"/>
              <p:nvPr/>
            </p:nvSpPr>
            <p:spPr>
              <a:xfrm>
                <a:off x="6296756" y="5219434"/>
                <a:ext cx="428771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求得最优解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14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21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altLang="zh-CN" sz="2400" i="1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1442</m:t>
                    </m:r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" name="文本框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756" y="5219434"/>
                <a:ext cx="4287712" cy="830997"/>
              </a:xfrm>
              <a:prstGeom prst="rect">
                <a:avLst/>
              </a:prstGeom>
              <a:blipFill rotWithShape="1">
                <a:blip r:embed="rId8"/>
                <a:stretch>
                  <a:fillRect l="-2" t="-44" r="7" b="-375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975601" y="334979"/>
            <a:ext cx="4170489" cy="1976438"/>
            <a:chOff x="6497512" y="280193"/>
            <a:chExt cx="4170489" cy="1976438"/>
          </a:xfrm>
        </p:grpSpPr>
        <p:sp>
          <p:nvSpPr>
            <p:cNvPr id="4" name="Rectangle 5"/>
            <p:cNvSpPr>
              <a:spLocks noChangeArrowheads="1"/>
            </p:cNvSpPr>
            <p:nvPr/>
          </p:nvSpPr>
          <p:spPr bwMode="auto">
            <a:xfrm>
              <a:off x="9316912" y="1861343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8478712" y="1861343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30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7716712" y="1861343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56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6497512" y="1861343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收入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9407766" y="1275309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50</a:t>
              </a: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小时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8486039" y="1261269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" name="Rectangle 15"/>
            <p:cNvSpPr>
              <a:spLocks noChangeArrowheads="1"/>
            </p:cNvSpPr>
            <p:nvPr/>
          </p:nvSpPr>
          <p:spPr bwMode="auto">
            <a:xfrm>
              <a:off x="7731365" y="1275309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" name="Rectangle 16"/>
            <p:cNvSpPr>
              <a:spLocks noChangeArrowheads="1"/>
            </p:cNvSpPr>
            <p:nvPr/>
          </p:nvSpPr>
          <p:spPr bwMode="auto">
            <a:xfrm>
              <a:off x="6512165" y="1260829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油漆工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61" name="Rectangle 17"/>
            <p:cNvSpPr>
              <a:spLocks noChangeArrowheads="1"/>
            </p:cNvSpPr>
            <p:nvPr/>
          </p:nvSpPr>
          <p:spPr bwMode="auto">
            <a:xfrm>
              <a:off x="9407770" y="833883"/>
              <a:ext cx="1260231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120</a:t>
              </a:r>
              <a:r>
                <a:rPr lang="zh-CN" altLang="en-US" sz="2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小时 </a:t>
              </a:r>
              <a:endPara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2" name="Rectangle 18"/>
            <p:cNvSpPr>
              <a:spLocks noChangeArrowheads="1"/>
            </p:cNvSpPr>
            <p:nvPr/>
          </p:nvSpPr>
          <p:spPr bwMode="auto">
            <a:xfrm>
              <a:off x="8496815" y="778686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3" name="Rectangle 19"/>
            <p:cNvSpPr>
              <a:spLocks noChangeArrowheads="1"/>
            </p:cNvSpPr>
            <p:nvPr/>
          </p:nvSpPr>
          <p:spPr bwMode="auto">
            <a:xfrm>
              <a:off x="7734298" y="776358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4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4" name="Rectangle 20"/>
            <p:cNvSpPr>
              <a:spLocks noChangeArrowheads="1"/>
            </p:cNvSpPr>
            <p:nvPr/>
          </p:nvSpPr>
          <p:spPr bwMode="auto">
            <a:xfrm>
              <a:off x="6497512" y="764664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65" name="Rectangle 21"/>
            <p:cNvSpPr>
              <a:spLocks noChangeArrowheads="1"/>
            </p:cNvSpPr>
            <p:nvPr/>
          </p:nvSpPr>
          <p:spPr bwMode="auto">
            <a:xfrm>
              <a:off x="9316912" y="280193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宋体" panose="02010600030101010101" pitchFamily="2" charset="-122"/>
                </a:rPr>
                <a:t>限制</a:t>
              </a:r>
              <a:r>
                <a:rPr lang="zh-CN" altLang="en-US" sz="2000">
                  <a:latin typeface="宋体" panose="02010600030101010101" pitchFamily="2" charset="-122"/>
                </a:rPr>
                <a:t> </a:t>
              </a: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66" name="Rectangle 22"/>
            <p:cNvSpPr>
              <a:spLocks noChangeArrowheads="1"/>
            </p:cNvSpPr>
            <p:nvPr/>
          </p:nvSpPr>
          <p:spPr bwMode="auto">
            <a:xfrm>
              <a:off x="8478712" y="280193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木窗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7" name="Rectangle 23"/>
            <p:cNvSpPr>
              <a:spLocks noChangeArrowheads="1"/>
            </p:cNvSpPr>
            <p:nvPr/>
          </p:nvSpPr>
          <p:spPr bwMode="auto">
            <a:xfrm>
              <a:off x="7716712" y="280193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木门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8" name="Rectangle 24"/>
            <p:cNvSpPr>
              <a:spLocks noChangeArrowheads="1"/>
            </p:cNvSpPr>
            <p:nvPr/>
          </p:nvSpPr>
          <p:spPr bwMode="auto">
            <a:xfrm>
              <a:off x="6497512" y="280193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69" name="Line 25"/>
            <p:cNvSpPr>
              <a:spLocks noChangeShapeType="1"/>
            </p:cNvSpPr>
            <p:nvPr/>
          </p:nvSpPr>
          <p:spPr bwMode="auto">
            <a:xfrm>
              <a:off x="6497512" y="280193"/>
              <a:ext cx="388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" name="Line 26"/>
            <p:cNvSpPr>
              <a:spLocks noChangeShapeType="1"/>
            </p:cNvSpPr>
            <p:nvPr/>
          </p:nvSpPr>
          <p:spPr bwMode="auto">
            <a:xfrm>
              <a:off x="6497512" y="675480"/>
              <a:ext cx="3886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" name="Line 27"/>
            <p:cNvSpPr>
              <a:spLocks noChangeShapeType="1"/>
            </p:cNvSpPr>
            <p:nvPr/>
          </p:nvSpPr>
          <p:spPr bwMode="auto">
            <a:xfrm>
              <a:off x="6497512" y="1861343"/>
              <a:ext cx="3886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" name="Line 28"/>
            <p:cNvSpPr>
              <a:spLocks noChangeShapeType="1"/>
            </p:cNvSpPr>
            <p:nvPr/>
          </p:nvSpPr>
          <p:spPr bwMode="auto">
            <a:xfrm>
              <a:off x="6497512" y="2256630"/>
              <a:ext cx="388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dirty="0"/>
            </a:p>
          </p:txBody>
        </p:sp>
        <p:sp>
          <p:nvSpPr>
            <p:cNvPr id="73" name="Line 29"/>
            <p:cNvSpPr>
              <a:spLocks noChangeShapeType="1"/>
            </p:cNvSpPr>
            <p:nvPr/>
          </p:nvSpPr>
          <p:spPr bwMode="auto">
            <a:xfrm>
              <a:off x="7716712" y="280193"/>
              <a:ext cx="0" cy="1976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Line 30"/>
            <p:cNvSpPr>
              <a:spLocks noChangeShapeType="1"/>
            </p:cNvSpPr>
            <p:nvPr/>
          </p:nvSpPr>
          <p:spPr bwMode="auto">
            <a:xfrm>
              <a:off x="9316912" y="280193"/>
              <a:ext cx="0" cy="1976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7" name="文本框 76"/>
          <p:cNvSpPr txBox="1"/>
          <p:nvPr/>
        </p:nvSpPr>
        <p:spPr>
          <a:xfrm>
            <a:off x="1374179" y="6282454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结论：木工资源的影子价格为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2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62526" y="3285628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56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30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26" y="3285628"/>
                <a:ext cx="6134986" cy="1640770"/>
              </a:xfrm>
              <a:prstGeom prst="rect">
                <a:avLst/>
              </a:prstGeom>
              <a:blipFill rotWithShape="1">
                <a:blip r:embed="rId9"/>
                <a:stretch>
                  <a:fillRect l="-9" t="-8" r="3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5030219" y="3290866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56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30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219" y="3290866"/>
                <a:ext cx="6134986" cy="1640770"/>
              </a:xfrm>
              <a:prstGeom prst="rect">
                <a:avLst/>
              </a:prstGeom>
              <a:blipFill rotWithShape="1">
                <a:blip r:embed="rId10"/>
                <a:stretch>
                  <a:fillRect l="-6" t="-18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7" grpId="0"/>
      <p:bldP spid="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9316912" y="1861343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8478712" y="1861343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30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7716712" y="1861343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56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497512" y="1861343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收入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9407766" y="1275309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rgbClr val="C00000"/>
                </a:solidFill>
                <a:latin typeface="宋体" panose="02010600030101010101" pitchFamily="2" charset="-122"/>
              </a:rPr>
              <a:t>51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rPr>
              <a:t>小时</a:t>
            </a:r>
            <a:endParaRPr lang="zh-CN" altLang="en-US" sz="2000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8486039" y="1261269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7731365" y="1275309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512165" y="1260829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油漆工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9407770" y="833883"/>
            <a:ext cx="1260231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120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r>
              <a:rPr lang="zh-CN" altLang="en-US" sz="2000" dirty="0">
                <a:latin typeface="宋体" panose="02010600030101010101" pitchFamily="2" charset="-122"/>
              </a:rPr>
              <a:t> 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8496815" y="778686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7734298" y="776358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6497512" y="764664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9316912" y="280193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限制</a:t>
            </a:r>
            <a:r>
              <a:rPr lang="zh-CN" altLang="en-US" sz="2000">
                <a:latin typeface="宋体" panose="02010600030101010101" pitchFamily="2" charset="-122"/>
              </a:rPr>
              <a:t> 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8478712" y="280193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木窗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7716712" y="280193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木门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6497512" y="280193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6497512" y="280193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>
            <a:off x="6497512" y="675480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6497512" y="1861343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6497512" y="2256630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dirty="0"/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>
            <a:off x="7716712" y="280193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>
            <a:off x="9316912" y="280193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1858086" y="2536310"/>
                <a:ext cx="7933984" cy="505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设每日生产木门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扇，木窗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扇，</a:t>
                </a:r>
                <a:r>
                  <a:rPr lang="zh-CN" altLang="en-US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分别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建立数学模型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086" y="2536310"/>
                <a:ext cx="7933984" cy="505779"/>
              </a:xfrm>
              <a:prstGeom prst="rect">
                <a:avLst/>
              </a:prstGeom>
              <a:blipFill rotWithShape="1">
                <a:blip r:embed="rId6"/>
                <a:stretch>
                  <a:fillRect l="-1" t="-24" r="5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4787399" y="1969782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36" name="Rectangle 6"/>
          <p:cNvSpPr>
            <a:spLocks noChangeArrowheads="1"/>
          </p:cNvSpPr>
          <p:nvPr/>
        </p:nvSpPr>
        <p:spPr bwMode="auto">
          <a:xfrm>
            <a:off x="3949199" y="1969782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30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7" name="Rectangle 7"/>
          <p:cNvSpPr>
            <a:spLocks noChangeArrowheads="1"/>
          </p:cNvSpPr>
          <p:nvPr/>
        </p:nvSpPr>
        <p:spPr bwMode="auto">
          <a:xfrm>
            <a:off x="3187199" y="1969782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56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8" name="Rectangle 8"/>
          <p:cNvSpPr>
            <a:spLocks noChangeArrowheads="1"/>
          </p:cNvSpPr>
          <p:nvPr/>
        </p:nvSpPr>
        <p:spPr bwMode="auto">
          <a:xfrm>
            <a:off x="1967999" y="1969782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收入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39" name="Rectangle 13"/>
          <p:cNvSpPr>
            <a:spLocks noChangeArrowheads="1"/>
          </p:cNvSpPr>
          <p:nvPr/>
        </p:nvSpPr>
        <p:spPr bwMode="auto">
          <a:xfrm>
            <a:off x="4878253" y="1383748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rgbClr val="C00000"/>
                </a:solidFill>
                <a:latin typeface="宋体" panose="02010600030101010101" pitchFamily="2" charset="-122"/>
              </a:rPr>
              <a:t>50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rPr>
              <a:t>小时</a:t>
            </a:r>
            <a:endParaRPr lang="zh-CN" altLang="en-US" sz="2000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3956526" y="1369708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1" name="Rectangle 15"/>
          <p:cNvSpPr>
            <a:spLocks noChangeArrowheads="1"/>
          </p:cNvSpPr>
          <p:nvPr/>
        </p:nvSpPr>
        <p:spPr bwMode="auto">
          <a:xfrm>
            <a:off x="3201852" y="1383748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2" name="Rectangle 16"/>
          <p:cNvSpPr>
            <a:spLocks noChangeArrowheads="1"/>
          </p:cNvSpPr>
          <p:nvPr/>
        </p:nvSpPr>
        <p:spPr bwMode="auto">
          <a:xfrm>
            <a:off x="1982652" y="1369268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油漆工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43" name="Rectangle 17"/>
          <p:cNvSpPr>
            <a:spLocks noChangeArrowheads="1"/>
          </p:cNvSpPr>
          <p:nvPr/>
        </p:nvSpPr>
        <p:spPr bwMode="auto">
          <a:xfrm>
            <a:off x="4878257" y="942322"/>
            <a:ext cx="1260231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120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r>
              <a:rPr lang="zh-CN" altLang="en-US" sz="2000" dirty="0">
                <a:latin typeface="宋体" panose="02010600030101010101" pitchFamily="2" charset="-122"/>
              </a:rPr>
              <a:t> 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44" name="Rectangle 18"/>
          <p:cNvSpPr>
            <a:spLocks noChangeArrowheads="1"/>
          </p:cNvSpPr>
          <p:nvPr/>
        </p:nvSpPr>
        <p:spPr bwMode="auto">
          <a:xfrm>
            <a:off x="3967302" y="887125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5" name="Rectangle 19"/>
          <p:cNvSpPr>
            <a:spLocks noChangeArrowheads="1"/>
          </p:cNvSpPr>
          <p:nvPr/>
        </p:nvSpPr>
        <p:spPr bwMode="auto">
          <a:xfrm>
            <a:off x="3204785" y="884797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6" name="Rectangle 20"/>
          <p:cNvSpPr>
            <a:spLocks noChangeArrowheads="1"/>
          </p:cNvSpPr>
          <p:nvPr/>
        </p:nvSpPr>
        <p:spPr bwMode="auto">
          <a:xfrm>
            <a:off x="1967999" y="873103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47" name="Rectangle 21"/>
          <p:cNvSpPr>
            <a:spLocks noChangeArrowheads="1"/>
          </p:cNvSpPr>
          <p:nvPr/>
        </p:nvSpPr>
        <p:spPr bwMode="auto">
          <a:xfrm>
            <a:off x="4787399" y="388632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限制</a:t>
            </a:r>
            <a:r>
              <a:rPr lang="zh-CN" altLang="en-US" sz="2000">
                <a:latin typeface="宋体" panose="02010600030101010101" pitchFamily="2" charset="-122"/>
              </a:rPr>
              <a:t> 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48" name="Rectangle 22"/>
          <p:cNvSpPr>
            <a:spLocks noChangeArrowheads="1"/>
          </p:cNvSpPr>
          <p:nvPr/>
        </p:nvSpPr>
        <p:spPr bwMode="auto">
          <a:xfrm>
            <a:off x="3949199" y="388632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木窗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9" name="Rectangle 23"/>
          <p:cNvSpPr>
            <a:spLocks noChangeArrowheads="1"/>
          </p:cNvSpPr>
          <p:nvPr/>
        </p:nvSpPr>
        <p:spPr bwMode="auto">
          <a:xfrm>
            <a:off x="3187199" y="388632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木门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0" name="Rectangle 24"/>
          <p:cNvSpPr>
            <a:spLocks noChangeArrowheads="1"/>
          </p:cNvSpPr>
          <p:nvPr/>
        </p:nvSpPr>
        <p:spPr bwMode="auto">
          <a:xfrm>
            <a:off x="1967999" y="388632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1" name="Line 25"/>
          <p:cNvSpPr>
            <a:spLocks noChangeShapeType="1"/>
          </p:cNvSpPr>
          <p:nvPr/>
        </p:nvSpPr>
        <p:spPr bwMode="auto">
          <a:xfrm>
            <a:off x="1967999" y="388632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" name="Line 26"/>
          <p:cNvSpPr>
            <a:spLocks noChangeShapeType="1"/>
          </p:cNvSpPr>
          <p:nvPr/>
        </p:nvSpPr>
        <p:spPr bwMode="auto">
          <a:xfrm>
            <a:off x="1967999" y="783919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Line 27"/>
          <p:cNvSpPr>
            <a:spLocks noChangeShapeType="1"/>
          </p:cNvSpPr>
          <p:nvPr/>
        </p:nvSpPr>
        <p:spPr bwMode="auto">
          <a:xfrm>
            <a:off x="1967999" y="1969782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>
            <a:off x="1967999" y="2365069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dirty="0"/>
          </a:p>
        </p:txBody>
      </p:sp>
      <p:sp>
        <p:nvSpPr>
          <p:cNvPr id="55" name="Line 29"/>
          <p:cNvSpPr>
            <a:spLocks noChangeShapeType="1"/>
          </p:cNvSpPr>
          <p:nvPr/>
        </p:nvSpPr>
        <p:spPr bwMode="auto">
          <a:xfrm>
            <a:off x="3187199" y="388632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Line 30"/>
          <p:cNvSpPr>
            <a:spLocks noChangeShapeType="1"/>
          </p:cNvSpPr>
          <p:nvPr/>
        </p:nvSpPr>
        <p:spPr bwMode="auto">
          <a:xfrm>
            <a:off x="4787399" y="388632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/>
              <p:cNvSpPr txBox="1"/>
              <p:nvPr/>
            </p:nvSpPr>
            <p:spPr>
              <a:xfrm>
                <a:off x="1808282" y="5243420"/>
                <a:ext cx="590843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求得最优解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15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20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altLang="zh-CN" sz="2400" i="1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1440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7" name="文本框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282" y="5243420"/>
                <a:ext cx="5908431" cy="830997"/>
              </a:xfrm>
              <a:prstGeom prst="rect">
                <a:avLst/>
              </a:prstGeom>
              <a:blipFill rotWithShape="1">
                <a:blip r:embed="rId7"/>
                <a:stretch>
                  <a:fillRect l="-7" t="-27" r="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/>
              <p:cNvSpPr txBox="1"/>
              <p:nvPr/>
            </p:nvSpPr>
            <p:spPr>
              <a:xfrm>
                <a:off x="6296756" y="5219434"/>
                <a:ext cx="428771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求得最优解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16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18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altLang="zh-CN" sz="2400" i="1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1464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" name="文本框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756" y="5219434"/>
                <a:ext cx="4287712" cy="830997"/>
              </a:xfrm>
              <a:prstGeom prst="rect">
                <a:avLst/>
              </a:prstGeom>
              <a:blipFill rotWithShape="1">
                <a:blip r:embed="rId8"/>
                <a:stretch>
                  <a:fillRect l="-2" t="-44" r="7" b="-375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1715237" y="62385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结论：油漆工资源的影子价格为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24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896359" y="3230193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56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30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59" y="3230193"/>
                <a:ext cx="6134986" cy="1640770"/>
              </a:xfrm>
              <a:prstGeom prst="rect">
                <a:avLst/>
              </a:prstGeom>
              <a:blipFill rotWithShape="1">
                <a:blip r:embed="rId9"/>
                <a:stretch>
                  <a:fillRect l="-6" t="-36" r="10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508372" y="3249633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56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30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372" y="3249633"/>
                <a:ext cx="6134986" cy="1640770"/>
              </a:xfrm>
              <a:prstGeom prst="rect">
                <a:avLst/>
              </a:prstGeom>
              <a:blipFill rotWithShape="1">
                <a:blip r:embed="rId10"/>
                <a:stretch>
                  <a:fillRect l="-6" t="-21" r="10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7" grpId="0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0887" y="3429001"/>
            <a:ext cx="4442349" cy="299724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492" y="281032"/>
            <a:ext cx="4248150" cy="30289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92" y="3429000"/>
            <a:ext cx="4562475" cy="32575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169" y="144256"/>
            <a:ext cx="4060007" cy="28622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25604" y="449946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综上，对于这个目标最大化的线性规划问题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25603" y="3083089"/>
            <a:ext cx="9181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它的两种资源的影子价格分别为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2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和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24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，恰巧是其对偶问题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200436" y="5889386"/>
                <a:ext cx="69936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en-US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24</m:t>
                    </m:r>
                  </m:oMath>
                </a14:m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436" y="5889386"/>
                <a:ext cx="6993653" cy="461665"/>
              </a:xfrm>
              <a:prstGeom prst="rect">
                <a:avLst/>
              </a:prstGeom>
              <a:blipFill rotWithShape="1">
                <a:blip r:embed="rId1"/>
                <a:stretch>
                  <a:fillRect l="-4" t="-86" r="1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15652" y="3896685"/>
                <a:ext cx="6097772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120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2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56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652" y="3896685"/>
                <a:ext cx="6097772" cy="1640770"/>
              </a:xfrm>
              <a:prstGeom prst="rect">
                <a:avLst/>
              </a:prstGeom>
              <a:blipFill rotWithShape="1">
                <a:blip r:embed="rId2"/>
                <a:stretch>
                  <a:fillRect l="-6" t="-20" r="4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878438" y="1158598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56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30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438" y="1158598"/>
                <a:ext cx="6134986" cy="1640770"/>
              </a:xfrm>
              <a:prstGeom prst="rect">
                <a:avLst/>
              </a:prstGeom>
              <a:blipFill rotWithShape="1">
                <a:blip r:embed="rId3"/>
                <a:stretch>
                  <a:fillRect l="-10" t="-22" r="4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322024"/>
            <a:ext cx="9144000" cy="393622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192" y="92710"/>
            <a:ext cx="3910321" cy="202143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68558" y="279929"/>
            <a:ext cx="5152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二、对称形式的对偶关系</a:t>
            </a:r>
            <a:endParaRPr lang="zh-CN" altLang="en-US" sz="28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74187" y="1427293"/>
            <a:ext cx="2250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原问题：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74187" y="3555023"/>
            <a:ext cx="2591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对偶问题：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143565" y="541539"/>
            <a:ext cx="0" cy="551303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586791" y="743985"/>
            <a:ext cx="2178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例如：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861434" y="2014195"/>
                <a:ext cx="6099348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34" y="2014195"/>
                <a:ext cx="6099348" cy="1285480"/>
              </a:xfrm>
              <a:prstGeom prst="rect">
                <a:avLst/>
              </a:prstGeom>
              <a:blipFill rotWithShape="1">
                <a:blip r:embed="rId1"/>
                <a:stretch>
                  <a:fillRect l="-6" t="-47" r="9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52826" y="4510721"/>
                <a:ext cx="6099348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26" y="4510721"/>
                <a:ext cx="6099348" cy="1285480"/>
              </a:xfrm>
              <a:prstGeom prst="rect">
                <a:avLst/>
              </a:prstGeom>
              <a:blipFill rotWithShape="1">
                <a:blip r:embed="rId2"/>
                <a:stretch>
                  <a:fillRect l="-5" t="-25" r="8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170334" y="1526894"/>
                <a:ext cx="6097772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120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50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56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34" y="1526894"/>
                <a:ext cx="6097772" cy="1640770"/>
              </a:xfrm>
              <a:prstGeom prst="rect">
                <a:avLst/>
              </a:prstGeom>
              <a:blipFill rotWithShape="1">
                <a:blip r:embed="rId3"/>
                <a:stretch>
                  <a:fillRect l="-1" t="-22" r="9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6170334" y="4169973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56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30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34" y="4169973"/>
                <a:ext cx="6134986" cy="1640770"/>
              </a:xfrm>
              <a:prstGeom prst="rect">
                <a:avLst/>
              </a:prstGeom>
              <a:blipFill rotWithShape="1">
                <a:blip r:embed="rId4"/>
                <a:stretch>
                  <a:fillRect l="-1" t="-34" r="5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745723" y="536575"/>
            <a:ext cx="10209321" cy="536098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400" dirty="0"/>
              <a:t>　　 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至于其他形式的线性规划问题，首先将原问题化成对称形式的原问题，再依照对称形式的对偶关系的定义写出对偶问题。根据这一原则，可以证明：</a:t>
            </a:r>
            <a:r>
              <a:rPr lang="zh-CN" altLang="en-US" sz="2400" b="1" u="sng" dirty="0">
                <a:solidFill>
                  <a:srgbClr val="FF3300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原问题与对偶问题是互为对偶的。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-26622" y="2399655"/>
                <a:ext cx="6099348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622" y="2399655"/>
                <a:ext cx="6099348" cy="1285480"/>
              </a:xfrm>
              <a:prstGeom prst="rect">
                <a:avLst/>
              </a:prstGeom>
              <a:blipFill rotWithShape="1">
                <a:blip r:embed="rId1"/>
                <a:stretch>
                  <a:fillRect l="10" t="-49" r="4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274262" y="2285623"/>
                <a:ext cx="6099348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nor/>
                            </m:rPr>
                            <a:rPr lang="en-US" altLang="zh-CN" sz="240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262" y="2285623"/>
                <a:ext cx="6099348" cy="1285480"/>
              </a:xfrm>
              <a:prstGeom prst="rect">
                <a:avLst/>
              </a:prstGeom>
              <a:blipFill rotWithShape="1">
                <a:blip r:embed="rId2"/>
                <a:stretch>
                  <a:fillRect l="-8" t="-20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-65706" y="4361487"/>
                <a:ext cx="6177516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sz="2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706" y="4361487"/>
                <a:ext cx="6177516" cy="1285480"/>
              </a:xfrm>
              <a:prstGeom prst="rect">
                <a:avLst/>
              </a:prstGeom>
              <a:blipFill rotWithShape="1">
                <a:blip r:embed="rId3"/>
                <a:stretch>
                  <a:fillRect l="5" t="-24" r="9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4348716" y="4965944"/>
            <a:ext cx="340242" cy="1944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236713" y="4486596"/>
                <a:ext cx="6099348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713" y="4486596"/>
                <a:ext cx="6099348" cy="1285480"/>
              </a:xfrm>
              <a:prstGeom prst="rect">
                <a:avLst/>
              </a:prstGeom>
              <a:blipFill rotWithShape="1">
                <a:blip r:embed="rId4"/>
                <a:stretch>
                  <a:fillRect l="-2" t="-25" r="5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8810839" y="4663866"/>
                <a:ext cx="1348511" cy="49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0" dirty="0"/>
                  <a:t>令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839" y="4663866"/>
                <a:ext cx="1348511" cy="496546"/>
              </a:xfrm>
              <a:prstGeom prst="rect">
                <a:avLst/>
              </a:prstGeom>
              <a:blipFill rotWithShape="1">
                <a:blip r:embed="rId5"/>
                <a:stretch>
                  <a:fillRect l="-16" t="-86" r="-1602" b="-10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Arrow 11"/>
          <p:cNvSpPr/>
          <p:nvPr/>
        </p:nvSpPr>
        <p:spPr>
          <a:xfrm rot="5400000">
            <a:off x="2824007" y="3898962"/>
            <a:ext cx="398089" cy="192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11"/>
          <p:cNvSpPr/>
          <p:nvPr/>
        </p:nvSpPr>
        <p:spPr>
          <a:xfrm>
            <a:off x="7965459" y="5032102"/>
            <a:ext cx="340242" cy="1944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11"/>
          <p:cNvSpPr/>
          <p:nvPr/>
        </p:nvSpPr>
        <p:spPr>
          <a:xfrm rot="16200000">
            <a:off x="9251049" y="3938412"/>
            <a:ext cx="340242" cy="1944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6189226" y="307970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/>
                    <a:gridCol w="2543453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altLang="zh-CN" sz="2400" i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𝐴𝑥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altLang="zh-CN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6189226" y="307970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/>
                    <a:gridCol w="2543453"/>
                  </a:tblGrid>
                  <a:tr h="11690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1" grpId="0"/>
      <p:bldP spid="12" grpId="0" animBg="1"/>
      <p:bldP spid="13" grpId="0"/>
      <p:bldP spid="14" grpId="0"/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121162" y="2401025"/>
            <a:ext cx="34290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197" name="矩形 6"/>
          <p:cNvSpPr>
            <a:spLocks noChangeArrowheads="1"/>
          </p:cNvSpPr>
          <p:nvPr/>
        </p:nvSpPr>
        <p:spPr bwMode="auto">
          <a:xfrm>
            <a:off x="768558" y="1373373"/>
            <a:ext cx="457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</a:rPr>
              <a:t>  </a:t>
            </a:r>
            <a:r>
              <a:rPr lang="en-US" altLang="zh-CN" sz="2800" b="1" dirty="0">
                <a:latin typeface="宋体" panose="02010600030101010101" pitchFamily="2" charset="-122"/>
              </a:rPr>
              <a:t>1、</a:t>
            </a:r>
            <a:r>
              <a:rPr lang="zh-CN" altLang="en-US" sz="2800" b="1" dirty="0">
                <a:latin typeface="宋体" panose="02010600030101010101" pitchFamily="2" charset="-122"/>
              </a:rPr>
              <a:t>典型情况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8558" y="279929"/>
            <a:ext cx="5152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写对偶</a:t>
            </a:r>
            <a:endParaRPr lang="zh-CN" altLang="en-US" sz="28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-596908" y="2435812"/>
                <a:ext cx="6517758" cy="2126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6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8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6908" y="2435812"/>
                <a:ext cx="6517758" cy="2126480"/>
              </a:xfrm>
              <a:prstGeom prst="rect">
                <a:avLst/>
              </a:prstGeom>
              <a:blipFill rotWithShape="1">
                <a:blip r:embed="rId6"/>
                <a:stretch>
                  <a:fillRect t="-28" r="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932425" y="2401025"/>
                <a:ext cx="6815468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425" y="2401025"/>
                <a:ext cx="6815468" cy="1640770"/>
              </a:xfrm>
              <a:prstGeom prst="rect">
                <a:avLst/>
              </a:prstGeom>
              <a:blipFill rotWithShape="1">
                <a:blip r:embed="rId7"/>
                <a:stretch>
                  <a:fillRect l="-7" t="-5" r="8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6942336" y="100325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/>
                    <a:gridCol w="2543453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altLang="zh-CN" sz="2400" i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𝐴𝑥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altLang="zh-CN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6942336" y="100325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/>
                    <a:gridCol w="2543453"/>
                  </a:tblGrid>
                  <a:tr h="11690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idx="1"/>
          </p:nvPr>
        </p:nvSpPr>
        <p:spPr>
          <a:xfrm>
            <a:off x="1285592" y="1092498"/>
            <a:ext cx="8534400" cy="20574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SimSong" panose="02020300000000000000" pitchFamily="18" charset="-122"/>
                <a:ea typeface="SimSong" panose="02020300000000000000" pitchFamily="18" charset="-122"/>
              </a:rPr>
              <a:t> 例：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9231" name="Rectangle 9"/>
          <p:cNvSpPr>
            <a:spLocks noChangeArrowheads="1"/>
          </p:cNvSpPr>
          <p:nvPr/>
        </p:nvSpPr>
        <p:spPr bwMode="auto">
          <a:xfrm>
            <a:off x="1590392" y="3226098"/>
            <a:ext cx="39624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228" name="Rectangle 11"/>
          <p:cNvSpPr>
            <a:spLocks noChangeArrowheads="1"/>
          </p:cNvSpPr>
          <p:nvPr/>
        </p:nvSpPr>
        <p:spPr bwMode="auto">
          <a:xfrm>
            <a:off x="6086192" y="3226098"/>
            <a:ext cx="34290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SzTx/>
              <a:buFontTx/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</p:txBody>
      </p:sp>
      <p:grpSp>
        <p:nvGrpSpPr>
          <p:cNvPr id="20502" name="Group 22"/>
          <p:cNvGrpSpPr/>
          <p:nvPr/>
        </p:nvGrpSpPr>
        <p:grpSpPr bwMode="auto">
          <a:xfrm>
            <a:off x="2809592" y="1702098"/>
            <a:ext cx="6629400" cy="914400"/>
            <a:chOff x="1152" y="864"/>
            <a:chExt cx="4176" cy="576"/>
          </a:xfrm>
        </p:grpSpPr>
        <p:sp>
          <p:nvSpPr>
            <p:cNvPr id="9225" name="Line 4"/>
            <p:cNvSpPr>
              <a:spLocks noChangeShapeType="1"/>
            </p:cNvSpPr>
            <p:nvPr/>
          </p:nvSpPr>
          <p:spPr bwMode="auto">
            <a:xfrm>
              <a:off x="2736" y="1104"/>
              <a:ext cx="81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6" name="Rectangle 5"/>
            <p:cNvSpPr>
              <a:spLocks noChangeArrowheads="1"/>
            </p:cNvSpPr>
            <p:nvPr/>
          </p:nvSpPr>
          <p:spPr bwMode="auto">
            <a:xfrm>
              <a:off x="3552" y="864"/>
              <a:ext cx="1776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sp>
          <p:nvSpPr>
            <p:cNvPr id="9227" name="Rectangle 21"/>
            <p:cNvSpPr>
              <a:spLocks noChangeArrowheads="1"/>
            </p:cNvSpPr>
            <p:nvPr/>
          </p:nvSpPr>
          <p:spPr bwMode="auto">
            <a:xfrm>
              <a:off x="1152" y="960"/>
              <a:ext cx="1584" cy="2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285592" y="4579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2、含等式的情况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61765" y="1415113"/>
                <a:ext cx="6517758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65" y="1415113"/>
                <a:ext cx="6517758" cy="1640770"/>
              </a:xfrm>
              <a:prstGeom prst="rect">
                <a:avLst/>
              </a:prstGeom>
              <a:blipFill rotWithShape="1">
                <a:blip r:embed="rId6"/>
                <a:stretch>
                  <a:fillRect l="-2" t="-20" r="4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131034" y="1625898"/>
                <a:ext cx="651775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≤−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034" y="1625898"/>
                <a:ext cx="6517758" cy="830997"/>
              </a:xfrm>
              <a:prstGeom prst="rect">
                <a:avLst/>
              </a:prstGeom>
              <a:blipFill rotWithShape="1">
                <a:blip r:embed="rId7"/>
                <a:stretch>
                  <a:fillRect l="-4" t="-36" r="5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788962" y="3226098"/>
                <a:ext cx="6365802" cy="2767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对偶：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′+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br>
                  <a:rPr lang="en-US" sz="2400" dirty="0">
                    <a:effectLst/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zh-CN" altLang="en-US" sz="2400" b="0" i="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          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d>
                      <m:dPr>
                        <m:begChr m:val="{"/>
                        <m:endChr m:val="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′−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′′+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≥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′−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′′+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≥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′−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′′+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5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≥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4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′′</m:t>
                                    </m:r>
                                  </m:sup>
                                </m:sSubSup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>
                    <a:effectLst/>
                  </a:rPr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62" y="3226098"/>
                <a:ext cx="6365802" cy="2767168"/>
              </a:xfrm>
              <a:prstGeom prst="rect">
                <a:avLst/>
              </a:prstGeom>
              <a:blipFill rotWithShape="1">
                <a:blip r:embed="rId8"/>
                <a:stretch>
                  <a:fillRect l="-5" t="-11" r="3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552792" y="3192499"/>
                <a:ext cx="6517758" cy="2834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′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′′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，则：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无约束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792" y="3192499"/>
                <a:ext cx="6517758" cy="2834366"/>
              </a:xfrm>
              <a:prstGeom prst="rect">
                <a:avLst/>
              </a:prstGeom>
              <a:blipFill rotWithShape="1">
                <a:blip r:embed="rId9"/>
                <a:stretch>
                  <a:fillRect l="-5" t="-12" r="7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1227211" y="6074075"/>
                <a:ext cx="9489362" cy="576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一般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地</a:t>
                </a:r>
                <a:r>
                  <a:rPr lang="zh-CN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，原问题第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</m:oMath>
                </a14:m>
                <a:r>
                  <a:rPr lang="zh-CN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个约束取等式，对偶问题第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</m:oMath>
                </a14:m>
                <a:r>
                  <a:rPr lang="zh-CN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个变量无约束。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211" y="6074075"/>
                <a:ext cx="9489362" cy="576248"/>
              </a:xfrm>
              <a:prstGeom prst="rect">
                <a:avLst/>
              </a:prstGeom>
              <a:blipFill rotWithShape="1">
                <a:blip r:embed="rId10"/>
                <a:stretch>
                  <a:fillRect l="-4" t="-52" r="3" b="-3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6979523" y="74346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/>
                    <a:gridCol w="2543453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altLang="zh-CN" sz="2400" i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𝐴𝑥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altLang="zh-CN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6979523" y="74346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/>
                    <a:gridCol w="2543453"/>
                  </a:tblGrid>
                  <a:tr h="11690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idx="1"/>
          </p:nvPr>
        </p:nvSpPr>
        <p:spPr>
          <a:xfrm>
            <a:off x="1752600" y="1535723"/>
            <a:ext cx="8534400" cy="1981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SimSong" panose="02020300000000000000" pitchFamily="18" charset="-122"/>
                <a:ea typeface="SimSong" panose="02020300000000000000" pitchFamily="18" charset="-122"/>
              </a:rPr>
              <a:t>例：</a:t>
            </a:r>
            <a:endParaRPr lang="en-US" altLang="zh-CN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p:grpSp>
        <p:nvGrpSpPr>
          <p:cNvPr id="21519" name="Group 15"/>
          <p:cNvGrpSpPr/>
          <p:nvPr/>
        </p:nvGrpSpPr>
        <p:grpSpPr bwMode="auto">
          <a:xfrm>
            <a:off x="3498112" y="2271486"/>
            <a:ext cx="3505200" cy="381000"/>
            <a:chOff x="1152" y="960"/>
            <a:chExt cx="2208" cy="240"/>
          </a:xfrm>
        </p:grpSpPr>
        <p:sp>
          <p:nvSpPr>
            <p:cNvPr id="10249" name="Line 6"/>
            <p:cNvSpPr>
              <a:spLocks noChangeShapeType="1"/>
            </p:cNvSpPr>
            <p:nvPr/>
          </p:nvSpPr>
          <p:spPr bwMode="auto">
            <a:xfrm>
              <a:off x="2832" y="105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50" name="Rectangle 14"/>
            <p:cNvSpPr>
              <a:spLocks noChangeArrowheads="1"/>
            </p:cNvSpPr>
            <p:nvPr/>
          </p:nvSpPr>
          <p:spPr bwMode="auto">
            <a:xfrm>
              <a:off x="1152" y="960"/>
              <a:ext cx="1680" cy="240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447800" y="61685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3、含“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≥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”的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max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189961" y="1832101"/>
                <a:ext cx="6517758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61" y="1832101"/>
                <a:ext cx="6517758" cy="1640770"/>
              </a:xfrm>
              <a:prstGeom prst="rect">
                <a:avLst/>
              </a:prstGeom>
              <a:blipFill rotWithShape="1">
                <a:blip r:embed="rId6"/>
                <a:stretch>
                  <a:fillRect l="-9" t="-8" r="1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399568" y="2190821"/>
                <a:ext cx="65177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0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568" y="2190821"/>
                <a:ext cx="6517758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3" t="-15" r="4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004973" y="3669323"/>
                <a:ext cx="6517758" cy="2841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对偶：</a:t>
                </a:r>
                <a:endParaRPr lang="en-US" sz="24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′+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′+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′+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′+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′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973" y="3669323"/>
                <a:ext cx="6517758" cy="2841291"/>
              </a:xfrm>
              <a:prstGeom prst="rect">
                <a:avLst/>
              </a:prstGeom>
              <a:blipFill rotWithShape="1">
                <a:blip r:embed="rId8"/>
                <a:stretch>
                  <a:fillRect l="-6" t="-10" r="8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584212" y="3669323"/>
                <a:ext cx="4811232" cy="2834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=−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′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，则：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212" y="3669323"/>
                <a:ext cx="4811232" cy="2834366"/>
              </a:xfrm>
              <a:prstGeom prst="rect">
                <a:avLst/>
              </a:prstGeom>
              <a:blipFill rotWithShape="1">
                <a:blip r:embed="rId9"/>
                <a:stretch>
                  <a:fillRect l="-11" t="-10" r="8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6979523" y="74346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/>
                    <a:gridCol w="2543453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altLang="zh-CN" sz="2400" i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𝐴𝑥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altLang="zh-CN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6979523" y="74346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/>
                    <a:gridCol w="2543453"/>
                  </a:tblGrid>
                  <a:tr h="11690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811040" y="934015"/>
            <a:ext cx="8610600" cy="5334000"/>
          </a:xfrm>
        </p:spPr>
        <p:txBody>
          <a:bodyPr/>
          <a:lstStyle/>
          <a:p>
            <a:pPr eaLnBrk="1" hangingPunct="1"/>
            <a:endParaRPr lang="zh-CN" altLang="en-US" sz="2400" dirty="0"/>
          </a:p>
          <a:p>
            <a:pPr eaLnBrk="1" hangingPunct="1"/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301" name="Text Box 5"/>
              <p:cNvSpPr txBox="1">
                <a:spLocks noChangeArrowheads="1"/>
              </p:cNvSpPr>
              <p:nvPr/>
            </p:nvSpPr>
            <p:spPr bwMode="auto">
              <a:xfrm>
                <a:off x="1039640" y="1391216"/>
                <a:ext cx="8229600" cy="1015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spcBef>
                    <a:spcPct val="20000"/>
                  </a:spcBef>
                  <a:buSzPct val="90000"/>
                  <a:buBlip>
                    <a:blip r:embed="rId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2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3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SzTx/>
                  <a:buFontTx/>
                  <a:buNone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一般:</a:t>
                </a:r>
                <a:endParaRPr lang="zh-CN" altLang="en-US" sz="24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个约束取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“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”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个变量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0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；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530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40" y="1391216"/>
                <a:ext cx="8229600" cy="1015663"/>
              </a:xfrm>
              <a:prstGeom prst="rect">
                <a:avLst/>
              </a:prstGeom>
              <a:blipFill rotWithShape="1">
                <a:blip r:embed="rId6"/>
                <a:stretch>
                  <a:fillRect l="-2" t="-56" r="2" b="2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303" name="Text Box 7"/>
              <p:cNvSpPr txBox="1">
                <a:spLocks noChangeArrowheads="1"/>
              </p:cNvSpPr>
              <p:nvPr/>
            </p:nvSpPr>
            <p:spPr bwMode="auto">
              <a:xfrm>
                <a:off x="1039640" y="2381815"/>
                <a:ext cx="83820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2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3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②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个约束取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“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”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个变量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0；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5303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40" y="2381815"/>
                <a:ext cx="8382000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2" t="-122" r="2" b="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304" name="Text Box 8"/>
              <p:cNvSpPr txBox="1">
                <a:spLocks noChangeArrowheads="1"/>
              </p:cNvSpPr>
              <p:nvPr/>
            </p:nvSpPr>
            <p:spPr bwMode="auto">
              <a:xfrm>
                <a:off x="1039640" y="2828600"/>
                <a:ext cx="81534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2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3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None/>
                </a:pPr>
                <a:r>
                  <a:rPr lang="en-US" altLang="zh-CN" sz="2400" dirty="0">
                    <a:latin typeface="宋体" panose="02010600030101010101" pitchFamily="2" charset="-122"/>
                  </a:rPr>
                  <a:t>③ </a:t>
                </a:r>
                <a:r>
                  <a:rPr lang="zh-CN" altLang="en-US" sz="2400" dirty="0">
                    <a:latin typeface="宋体" panose="02010600030101010101" pitchFamily="2" charset="-122"/>
                  </a:rPr>
                  <a:t>原问题第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</a:rPr>
                  <a:t>个约束取等式，对偶问题第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</a:rPr>
                  <a:t>个变量无约束；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5304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40" y="2828600"/>
                <a:ext cx="8153400" cy="457200"/>
              </a:xfrm>
              <a:prstGeom prst="rect">
                <a:avLst/>
              </a:prstGeom>
              <a:blipFill rotWithShape="1">
                <a:blip r:embed="rId8"/>
                <a:stretch>
                  <a:fillRect l="-2" t="-68" r="2" b="6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305" name="Text Box 9"/>
              <p:cNvSpPr txBox="1">
                <a:spLocks noChangeArrowheads="1"/>
              </p:cNvSpPr>
              <p:nvPr/>
            </p:nvSpPr>
            <p:spPr bwMode="auto">
              <a:xfrm>
                <a:off x="1039640" y="3220015"/>
                <a:ext cx="86106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2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3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④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ma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个变量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0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,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j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个约束取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“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”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；</a:t>
                </a:r>
                <a:endParaRPr lang="zh-CN" altLang="en-US" sz="24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530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40" y="3220015"/>
                <a:ext cx="8610600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2" t="-122" r="2" b="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306" name="Text Box 10"/>
              <p:cNvSpPr txBox="1">
                <a:spLocks noChangeArrowheads="1"/>
              </p:cNvSpPr>
              <p:nvPr/>
            </p:nvSpPr>
            <p:spPr bwMode="auto">
              <a:xfrm>
                <a:off x="1039640" y="3677215"/>
                <a:ext cx="82296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2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3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⑤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个变量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0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ma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个约束取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“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”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</a:t>
                </a:r>
                <a:r>
                  <a:rPr lang="zh-CN" altLang="en-US" sz="2400" dirty="0">
                    <a:latin typeface="宋体" panose="02010600030101010101" pitchFamily="2" charset="-122"/>
                  </a:rPr>
                  <a:t>；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5306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40" y="3677215"/>
                <a:ext cx="8229600" cy="457200"/>
              </a:xfrm>
              <a:prstGeom prst="rect">
                <a:avLst/>
              </a:prstGeom>
              <a:blipFill rotWithShape="1">
                <a:blip r:embed="rId10"/>
                <a:stretch>
                  <a:fillRect l="-2" t="-124" r="-855" b="1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307" name="Text Box 11"/>
              <p:cNvSpPr txBox="1">
                <a:spLocks noChangeArrowheads="1"/>
              </p:cNvSpPr>
              <p:nvPr/>
            </p:nvSpPr>
            <p:spPr bwMode="auto">
              <a:xfrm>
                <a:off x="1039640" y="4210615"/>
                <a:ext cx="83820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2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3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⑥ 原问题第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</a:rPr>
                  <a:t>个变量无约束，对偶问题第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</a:rPr>
                  <a:t>个约束取等式。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5307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40" y="4210615"/>
                <a:ext cx="8382000" cy="457200"/>
              </a:xfrm>
              <a:prstGeom prst="rect">
                <a:avLst/>
              </a:prstGeom>
              <a:blipFill rotWithShape="1">
                <a:blip r:embed="rId11"/>
                <a:stretch>
                  <a:fillRect l="-2" t="-124" r="2" b="1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7106787" y="80068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/>
                    <a:gridCol w="2543453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altLang="zh-CN" sz="2400" i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𝐴𝑥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altLang="zh-CN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7106787" y="80068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/>
                    <a:gridCol w="2543453"/>
                  </a:tblGrid>
                  <a:tr h="11690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autoUpdateAnimBg="0" build="p"/>
      <p:bldP spid="55301" grpId="0" autoUpdateAnimBg="0"/>
      <p:bldP spid="55303" grpId="0" autoUpdateAnimBg="0"/>
      <p:bldP spid="55304" grpId="0" autoUpdateAnimBg="0"/>
      <p:bldP spid="55305" grpId="0" autoUpdateAnimBg="0"/>
      <p:bldP spid="55306" grpId="0" autoUpdateAnimBg="0"/>
      <p:bldP spid="5530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291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57257" y="877410"/>
                <a:ext cx="8534400" cy="3649226"/>
              </a:xfrm>
            </p:spPr>
            <p:txBody>
              <a:bodyPr>
                <a:normAutofit/>
              </a:bodyPr>
              <a:lstStyle/>
              <a:p>
                <a:pPr indent="0">
                  <a:lnSpc>
                    <a:spcPct val="100000"/>
                  </a:lnSpc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latin typeface="宋体" panose="02010600030101010101" pitchFamily="2" charset="-122"/>
                  </a:rPr>
                  <a:t>  </a:t>
                </a:r>
                <a:r>
                  <a:rPr lang="zh-CN" altLang="en-US" sz="2400" b="1" dirty="0">
                    <a:latin typeface="SimSong" panose="02020300000000000000" pitchFamily="18" charset="-122"/>
                    <a:ea typeface="SimSong" panose="02020300000000000000" pitchFamily="18" charset="-122"/>
                  </a:rPr>
                  <a:t>例：</a:t>
                </a:r>
                <a:r>
                  <a:rPr lang="en-US" altLang="zh-CN" sz="3400" b="1" dirty="0">
                    <a:latin typeface="SimSong" panose="02020300000000000000" pitchFamily="18" charset="-122"/>
                    <a:ea typeface="SimSong" panose="02020300000000000000" pitchFamily="18" charset="-122"/>
                  </a:rPr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min</m:t>
                        </m:r>
                      </m:fName>
                      <m:e/>
                    </m:func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𝑧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3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5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endParaRPr lang="en-US" sz="2400" b="0" i="1" dirty="0">
                  <a:effectLst/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indent="0">
                  <a:lnSpc>
                    <a:spcPct val="100000"/>
                  </a:lnSpc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6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无约束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dirty="0"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</p:txBody>
          </p:sp>
        </mc:Choice>
        <mc:Fallback>
          <p:sp>
            <p:nvSpPr>
              <p:cNvPr id="12291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7257" y="877410"/>
                <a:ext cx="8534400" cy="3649226"/>
              </a:xfrm>
              <a:blipFill rotWithShape="1">
                <a:blip r:embed="rId1"/>
                <a:stretch>
                  <a:fillRect l="-4" t="-13" r="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94" name="Rectangle 4"/>
              <p:cNvSpPr>
                <a:spLocks noChangeArrowheads="1"/>
              </p:cNvSpPr>
              <p:nvPr/>
            </p:nvSpPr>
            <p:spPr bwMode="auto">
              <a:xfrm>
                <a:off x="1182766" y="3267584"/>
                <a:ext cx="7908891" cy="3364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None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对偶：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max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𝑤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5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4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6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3</m:t>
                            </m:r>
                          </m:sub>
                        </m:sSub>
                      </m:e>
                    </m:func>
                  </m:oMath>
                </a14:m>
                <a:br>
                  <a:rPr lang="en-US" sz="2400" i="1" dirty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≤−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5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无约束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229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2766" y="3267584"/>
                <a:ext cx="7908891" cy="3364523"/>
              </a:xfrm>
              <a:prstGeom prst="rect">
                <a:avLst/>
              </a:prstGeom>
              <a:blipFill rotWithShape="1">
                <a:blip r:embed="rId7"/>
                <a:stretch>
                  <a:fillRect l="-5" t="-15" r="5" b="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680751" y="1453217"/>
                <a:ext cx="609452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751" y="1453217"/>
                <a:ext cx="6094520" cy="1200329"/>
              </a:xfrm>
              <a:prstGeom prst="rect">
                <a:avLst/>
              </a:prstGeom>
              <a:blipFill rotWithShape="1">
                <a:blip r:embed="rId8"/>
                <a:stretch>
                  <a:fillRect l="-3" t="-28" r="10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7106787" y="80068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/>
                    <a:gridCol w="2543453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altLang="zh-CN" sz="2400" i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𝐴𝑥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altLang="zh-CN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altLang="zh-CN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7106787" y="80068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/>
                    <a:gridCol w="2543453"/>
                  </a:tblGrid>
                  <a:tr h="11690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9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9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01427" y="1958975"/>
            <a:ext cx="7772400" cy="1470025"/>
          </a:xfrm>
        </p:spPr>
        <p:txBody>
          <a:bodyPr anchor="ctr"/>
          <a:lstStyle/>
          <a:p>
            <a:r>
              <a:rPr lang="zh-CN" altLang="en-US" sz="4400" b="1" dirty="0">
                <a:latin typeface="等线" panose="02010600030101010101" pitchFamily="2" charset="-122"/>
                <a:ea typeface="等线" panose="02010600030101010101" pitchFamily="2" charset="-122"/>
              </a:rPr>
              <a:t>对偶理论</a:t>
            </a:r>
            <a:endParaRPr lang="zh-CN" altLang="en-US" sz="4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32156" y="1031307"/>
            <a:ext cx="10413506" cy="3722687"/>
          </a:xfrm>
        </p:spPr>
        <p:txBody>
          <a:bodyPr>
            <a:normAutofit/>
          </a:bodyPr>
          <a:lstStyle/>
          <a:p>
            <a:pPr indent="608330" algn="just">
              <a:lnSpc>
                <a:spcPct val="150000"/>
              </a:lnSpc>
            </a:pPr>
            <a:r>
              <a:rPr lang="zh-CN" altLang="en-US" b="0" i="0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对偶理论是研究</a:t>
            </a:r>
            <a:r>
              <a:rPr lang="zh-CN" altLang="en-US" b="0" i="0" u="none" strike="noStrike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线性规划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中原始问题与</a:t>
            </a:r>
            <a:r>
              <a:rPr lang="zh-CN" altLang="en-US" b="0" i="0" u="none" strike="noStrike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对偶问题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之间关系的理论。在线性规划早期发展中最重要的发现是对偶问题，即每一个线性规划问题（称为原始问题）有一个与它对应的</a:t>
            </a:r>
            <a:r>
              <a:rPr lang="zh-CN" altLang="en-US" b="0" i="0" u="none" strike="noStrike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对偶线性规划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问题（称为对偶问题）。</a:t>
            </a:r>
            <a:endParaRPr lang="en-US" altLang="zh-CN" b="0" i="0" dirty="0">
              <a:effectLst/>
              <a:highlight>
                <a:srgbClr val="FFFFFF"/>
              </a:highlight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indent="608330" algn="just">
              <a:lnSpc>
                <a:spcPct val="150000"/>
              </a:lnSpc>
            </a:pP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成功的线性规划原</a:t>
            </a:r>
            <a:r>
              <a:rPr lang="en-US" altLang="zh-CN" sz="2400" dirty="0">
                <a:latin typeface="SimSong" panose="02020300000000000000" pitchFamily="18" charset="-122"/>
                <a:ea typeface="SimSong" panose="02020300000000000000" pitchFamily="18" charset="-122"/>
              </a:rPr>
              <a:t>-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对偶内点算法就是基于互补松弛定理而提出来的</a:t>
            </a:r>
            <a:r>
              <a:rPr lang="zh-CN" altLang="en-US" sz="2400" b="1" dirty="0"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  <a:r>
              <a:rPr lang="en-US" altLang="zh-CN" b="1" dirty="0">
                <a:latin typeface="SimSong" panose="02020300000000000000" pitchFamily="18" charset="-122"/>
                <a:ea typeface="SimSong" panose="02020300000000000000" pitchFamily="18" charset="-122"/>
              </a:rPr>
              <a:t>    </a:t>
            </a:r>
            <a:endParaRPr lang="en-US" altLang="zh-CN" b="1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2163763" y="836613"/>
            <a:ext cx="7772400" cy="53340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zh-CN" altLang="en-US" sz="2400"/>
          </a:p>
          <a:p>
            <a:pPr eaLnBrk="1" hangingPunct="1">
              <a:buFontTx/>
              <a:buNone/>
            </a:pP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1929894" y="687387"/>
            <a:ext cx="7436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（</a:t>
            </a:r>
            <a:r>
              <a:rPr lang="en-US" altLang="zh-CN" sz="2400" dirty="0">
                <a:latin typeface="SimSong" panose="02020300000000000000" pitchFamily="18" charset="-122"/>
                <a:ea typeface="SimSong" panose="02020300000000000000" pitchFamily="18" charset="-122"/>
              </a:rPr>
              <a:t>LP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）         </a:t>
            </a:r>
            <a:r>
              <a:rPr lang="en-US" altLang="zh-CN" sz="2400" dirty="0">
                <a:latin typeface="SimSong" panose="02020300000000000000" pitchFamily="18" charset="-122"/>
                <a:ea typeface="SimSong" panose="02020300000000000000" pitchFamily="18" charset="-122"/>
              </a:rPr>
              <a:t>   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                     （</a:t>
            </a:r>
            <a:r>
              <a:rPr lang="en-US" altLang="zh-CN" sz="2400" dirty="0">
                <a:latin typeface="SimSong" panose="02020300000000000000" pitchFamily="18" charset="-122"/>
                <a:ea typeface="SimSong" panose="02020300000000000000" pitchFamily="18" charset="-122"/>
              </a:rPr>
              <a:t>LD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）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6909" y="1541463"/>
            <a:ext cx="11172092" cy="100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" marR="20320" indent="608330" algn="just">
              <a:lnSpc>
                <a:spcPct val="130000"/>
              </a:lnSpc>
              <a:spcAft>
                <a:spcPts val="0"/>
              </a:spcAft>
              <a:tabLst>
                <a:tab pos="269875" algn="l"/>
                <a:tab pos="266700" algn="l"/>
              </a:tabLst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考虑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标准型线性规划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LP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与其对偶问题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LD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，我们有下面的基本定理，这些定理同样适用于一般线性规划和其对偶规划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854827" y="255983"/>
                <a:ext cx="6099348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27" y="255983"/>
                <a:ext cx="6099348" cy="1285480"/>
              </a:xfrm>
              <a:prstGeom prst="rect">
                <a:avLst/>
              </a:prstGeom>
              <a:blipFill rotWithShape="1">
                <a:blip r:embed="rId1"/>
                <a:stretch>
                  <a:fillRect l="-2" t="-6" r="5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318565" y="483224"/>
                <a:ext cx="609934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565" y="483224"/>
                <a:ext cx="6099348" cy="830997"/>
              </a:xfrm>
              <a:prstGeom prst="rect">
                <a:avLst/>
              </a:prstGeom>
              <a:blipFill rotWithShape="1">
                <a:blip r:embed="rId2"/>
                <a:stretch>
                  <a:fillRect l="-7" t="-75" r="10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16909" y="2601234"/>
                <a:ext cx="10866107" cy="4012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定理</a:t>
                </a:r>
                <a:r>
                  <a:rPr lang="en-US" altLang="zh-CN" sz="2400" b="1" dirty="0">
                    <a:effectLst/>
                    <a:latin typeface="+mn-ea"/>
                  </a:rPr>
                  <a:t>3-</a:t>
                </a:r>
                <a:r>
                  <a:rPr lang="en-US" sz="2400" b="1" dirty="0">
                    <a:effectLst/>
                    <a:latin typeface="+mn-ea"/>
                  </a:rPr>
                  <a:t>1</a:t>
                </a:r>
                <a:r>
                  <a:rPr lang="zh-CN" sz="2400" b="1" dirty="0">
                    <a:effectLst/>
                    <a:latin typeface="+mn-ea"/>
                  </a:rPr>
                  <a:t>（弱对偶性定理）</a:t>
                </a:r>
                <a:r>
                  <a:rPr lang="zh-CN" sz="2400" dirty="0">
                    <a:effectLst/>
                    <a:latin typeface="+mn-ea"/>
                  </a:rPr>
                  <a:t>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）的可行解，则它们的目标函数值满足不等式关系：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。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证明：令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，因为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是（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）的可行解，故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。因为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effectLst/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 ,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 ,</m:t>
                    </m:r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所以有</a:t>
                </a:r>
                <a:r>
                  <a:rPr lang="en-US" altLang="zh-CN" sz="2400" dirty="0">
                    <a:effectLst/>
                    <a:latin typeface="+mn-ea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因此，定理的结论成立。</a:t>
                </a:r>
                <a:endParaRPr lang="en-US" sz="2400" dirty="0">
                  <a:effectLst/>
                  <a:latin typeface="+mn-ea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09" y="2601234"/>
                <a:ext cx="10866107" cy="4012189"/>
              </a:xfrm>
              <a:prstGeom prst="rect">
                <a:avLst/>
              </a:prstGeom>
              <a:blipFill rotWithShape="1">
                <a:blip r:embed="rId3"/>
                <a:stretch>
                  <a:fillRect l="-3" t="-7" r="3" b="-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10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64453" y="240807"/>
                <a:ext cx="9863092" cy="1574864"/>
              </a:xfrm>
            </p:spPr>
            <p:txBody>
              <a:bodyPr/>
              <a:lstStyle/>
              <a:p>
                <a:pPr eaLnBrk="1" hangingPunct="1">
                  <a:buFontTx/>
                  <a:buNone/>
                </a:pPr>
                <a:r>
                  <a:rPr lang="zh-CN" altLang="en-US" sz="2400" b="1" dirty="0">
                    <a:latin typeface="+mn-ea"/>
                  </a:rPr>
                  <a:t>推论：</a:t>
                </a:r>
                <a:endParaRPr lang="zh-CN" altLang="en-US" sz="2400" b="1" dirty="0">
                  <a:latin typeface="+mn-ea"/>
                </a:endParaRPr>
              </a:p>
              <a:p>
                <a:pPr>
                  <a:buNone/>
                </a:pPr>
                <a:r>
                  <a:rPr lang="en-US" altLang="zh-CN" sz="2400" dirty="0">
                    <a:latin typeface="+mn-ea"/>
                  </a:rPr>
                  <a:t>(1)</a:t>
                </a:r>
                <a14:m>
                  <m:oMath xmlns:m="http://schemas.openxmlformats.org/officeDocument/2006/math">
                    <m:r>
                      <a:rPr lang="zh-CN" alt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问题任一可行解的目标值为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𝑚𝑖𝑛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问题目标值的一个下界；</a:t>
                </a:r>
                <a:endParaRPr lang="zh-CN" altLang="en-US" sz="2400" dirty="0">
                  <a:latin typeface="+mn-ea"/>
                </a:endParaRPr>
              </a:p>
              <a:p>
                <a:pPr>
                  <a:buNone/>
                </a:pPr>
                <a:r>
                  <a:rPr lang="en-US" altLang="zh-CN" sz="2400" dirty="0">
                    <a:latin typeface="+mn-ea"/>
                  </a:rPr>
                  <a:t>(2)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𝑚𝑖𝑛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问题任一可行解的目标值为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问题目标值的一个上界；</a:t>
                </a:r>
                <a:endParaRPr lang="zh-CN" altLang="en-US" sz="2400" dirty="0">
                  <a:latin typeface="+mn-ea"/>
                </a:endParaRPr>
              </a:p>
            </p:txBody>
          </p:sp>
        </mc:Choice>
        <mc:Fallback>
          <p:sp>
            <p:nvSpPr>
              <p:cNvPr id="47107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4453" y="240807"/>
                <a:ext cx="9863092" cy="1574864"/>
              </a:xfrm>
              <a:blipFill rotWithShape="1">
                <a:blip r:embed="rId1"/>
                <a:stretch>
                  <a:fillRect l="-5" t="-9" r="1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1339603" y="5497353"/>
            <a:ext cx="951279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注：该性质的逆不存在。若原(对偶)问题为无可行解，对偶(原问题)问题或为无界解，或为无可行解。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164453" y="1815671"/>
                <a:ext cx="10056921" cy="35183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defTabSz="914400">
                  <a:lnSpc>
                    <a:spcPct val="90000"/>
                  </a:lnSpc>
                  <a:spcBef>
                    <a:spcPts val="1000"/>
                  </a:spcBef>
                  <a:buFontTx/>
                  <a:buNone/>
                  <a:defRPr sz="2400"/>
                </a:lvl1pPr>
                <a:lvl2pPr marL="6858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altLang="zh-CN" dirty="0">
                    <a:latin typeface="+mn-ea"/>
                  </a:rPr>
                  <a:t>(3) </a:t>
                </a:r>
                <a:r>
                  <a:rPr lang="zh-CN" altLang="zh-CN" dirty="0">
                    <a:latin typeface="+mn-ea"/>
                  </a:rPr>
                  <a:t>如果</a:t>
                </a:r>
                <a:r>
                  <a:rPr lang="en-US" altLang="zh-CN" dirty="0">
                    <a:latin typeface="+mn-ea"/>
                  </a:rPr>
                  <a:t>(LP)</a:t>
                </a:r>
                <a:r>
                  <a:rPr lang="zh-CN" altLang="zh-CN" dirty="0">
                    <a:latin typeface="+mn-ea"/>
                  </a:rPr>
                  <a:t>的目标函数值在可行域上无下界，则</a:t>
                </a:r>
                <a:r>
                  <a:rPr lang="en-US" altLang="zh-CN" dirty="0">
                    <a:latin typeface="+mn-ea"/>
                  </a:rPr>
                  <a:t>(LD)</a:t>
                </a:r>
                <a:r>
                  <a:rPr lang="zh-CN" altLang="zh-CN" dirty="0">
                    <a:latin typeface="+mn-ea"/>
                  </a:rPr>
                  <a:t>必无可行解；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CN" dirty="0">
                    <a:latin typeface="+mn-ea"/>
                  </a:rPr>
                  <a:t>     </a:t>
                </a:r>
                <a:r>
                  <a:rPr lang="zh-CN" altLang="zh-CN" dirty="0">
                    <a:latin typeface="+mn-ea"/>
                  </a:rPr>
                  <a:t>如果</a:t>
                </a:r>
                <a:r>
                  <a:rPr lang="en-US" altLang="zh-CN" dirty="0">
                    <a:latin typeface="+mn-ea"/>
                  </a:rPr>
                  <a:t>(LD)</a:t>
                </a:r>
                <a:r>
                  <a:rPr lang="zh-CN" altLang="zh-CN" dirty="0">
                    <a:latin typeface="+mn-ea"/>
                  </a:rPr>
                  <a:t>的目标函数值在可行域上无上界，则</a:t>
                </a:r>
                <a:r>
                  <a:rPr lang="en-US" altLang="zh-CN" dirty="0">
                    <a:latin typeface="+mn-ea"/>
                  </a:rPr>
                  <a:t>(LP)</a:t>
                </a:r>
                <a:r>
                  <a:rPr lang="zh-CN" altLang="zh-CN" dirty="0">
                    <a:latin typeface="+mn-ea"/>
                  </a:rPr>
                  <a:t>必无可行解</a:t>
                </a:r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CN" altLang="en-US" dirty="0">
                    <a:latin typeface="+mn-ea"/>
                  </a:rPr>
                  <a:t>    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证明：</a:t>
                </a:r>
                <a:endParaRPr lang="en-US" altLang="zh-CN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CN" altLang="en-US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    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假设</a:t>
                </a:r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(LD)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有可行解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存在，则对</a:t>
                </a:r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(LP)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的任一可行解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都应有</a:t>
                </a:r>
                <a:endParaRPr lang="en-US" altLang="zh-CN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  <a:p>
                <a:pPr algn="ct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CN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zh-CN" altLang="zh-CN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CN" altLang="zh-CN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CN" altLang="zh-CN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    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这就与</a:t>
                </a:r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(LP)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的目标函数值在可行域上无下界矛盾，故</a:t>
                </a:r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(LD)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必无可行解</a:t>
                </a:r>
                <a:r>
                  <a:rPr lang="zh-CN" altLang="en-US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。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类似地，可以证明推论中的后一个结果</a:t>
                </a:r>
                <a:r>
                  <a:rPr lang="zh-CN" altLang="en-US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。</a:t>
                </a:r>
                <a:endParaRPr lang="zh-CN" altLang="zh-CN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453" y="1815671"/>
                <a:ext cx="10056921" cy="3518329"/>
              </a:xfrm>
              <a:prstGeom prst="rect">
                <a:avLst/>
              </a:prstGeom>
              <a:blipFill rotWithShape="1">
                <a:blip r:embed="rId7"/>
                <a:stretch>
                  <a:fillRect l="-5" t="-6" r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479167" y="340965"/>
                <a:ext cx="6049108" cy="5877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例</a:t>
                </a: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：原问题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indent="609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=−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en-US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无可行解。</a:t>
                </a:r>
                <a:endParaRPr lang="en-US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en-US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对偶问题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indent="609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max</m:t>
                          </m:r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indent="609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e>
                          </m:eqAr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20000"/>
                  </a:lnSpc>
                </a:pP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有可行解。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67" y="340965"/>
                <a:ext cx="6049108" cy="5877186"/>
              </a:xfrm>
              <a:prstGeom prst="rect">
                <a:avLst/>
              </a:prstGeom>
              <a:blipFill rotWithShape="1">
                <a:blip r:embed="rId1"/>
                <a:stretch>
                  <a:fillRect l="-6" t="-10" r="8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594184" y="235912"/>
                <a:ext cx="6049108" cy="6407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例</a:t>
                </a: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：原问题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indent="609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min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en-US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无可行解。</a:t>
                </a:r>
                <a:endParaRPr lang="en-US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en-US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对偶问题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indent="609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𝑎𝑥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≤−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≤−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20000"/>
                  </a:lnSpc>
                </a:pP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无可行解。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184" y="235912"/>
                <a:ext cx="6049108" cy="6407908"/>
              </a:xfrm>
              <a:prstGeom prst="rect">
                <a:avLst/>
              </a:prstGeom>
              <a:blipFill rotWithShape="1">
                <a:blip r:embed="rId2"/>
                <a:stretch>
                  <a:fillRect l="-8" t="-5" r="9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/>
          <p:nvPr/>
        </p:nvCxnSpPr>
        <p:spPr>
          <a:xfrm>
            <a:off x="328474" y="3568823"/>
            <a:ext cx="11505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63061" y="917864"/>
                <a:ext cx="11265877" cy="5033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定理</a:t>
                </a:r>
                <a:r>
                  <a:rPr lang="en-US" altLang="zh-CN" sz="2400" b="1" dirty="0">
                    <a:effectLst/>
                    <a:latin typeface="+mn-ea"/>
                  </a:rPr>
                  <a:t>3-</a:t>
                </a:r>
                <a:r>
                  <a:rPr lang="en-US" sz="2400" b="1" dirty="0">
                    <a:effectLst/>
                    <a:latin typeface="+mn-ea"/>
                  </a:rPr>
                  <a:t>2</a:t>
                </a:r>
                <a:r>
                  <a:rPr lang="zh-CN" sz="2400" b="1" dirty="0">
                    <a:effectLst/>
                    <a:latin typeface="+mn-ea"/>
                  </a:rPr>
                  <a:t>（最优性定理）</a:t>
                </a:r>
                <a:r>
                  <a:rPr lang="zh-CN" sz="2400" dirty="0">
                    <a:effectLst/>
                    <a:latin typeface="+mn-ea"/>
                  </a:rPr>
                  <a:t>若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）的可行解，则（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）都有最优解，且当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）的最优解。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证明：根据定理</a:t>
                </a:r>
                <a:r>
                  <a:rPr lang="en-US" altLang="zh-CN" sz="2400" dirty="0">
                    <a:effectLst/>
                    <a:latin typeface="+mn-ea"/>
                  </a:rPr>
                  <a:t>3-</a:t>
                </a:r>
                <a:r>
                  <a:rPr lang="en-US" sz="2400" dirty="0">
                    <a:effectLst/>
                    <a:latin typeface="+mn-ea"/>
                  </a:rPr>
                  <a:t>1</a:t>
                </a:r>
                <a:r>
                  <a:rPr lang="zh-CN" sz="2400" dirty="0">
                    <a:effectLst/>
                    <a:latin typeface="+mn-ea"/>
                  </a:rPr>
                  <a:t>，对线性规划（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）的任一可行解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，均有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400" i="1" dirty="0">
                  <a:effectLst/>
                  <a:latin typeface="+mn-ea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这说明（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）的目标函数在其可行域内有下界，故有有限的最小值，从而 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）有最优解。类似地，可以证明 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）也有最优解。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，根据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知，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，因此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为（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）的最优解。同理，可以证明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是（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）的最优解。</a:t>
                </a:r>
                <a:endParaRPr lang="en-US" sz="2400" dirty="0">
                  <a:effectLst/>
                  <a:latin typeface="+mn-ea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61" y="917864"/>
                <a:ext cx="11265877" cy="5033429"/>
              </a:xfrm>
              <a:prstGeom prst="rect">
                <a:avLst/>
              </a:prstGeom>
              <a:blipFill rotWithShape="1">
                <a:blip r:embed="rId1"/>
                <a:stretch>
                  <a:fillRect l="-1" t="-6" r="-289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33754" y="761282"/>
                <a:ext cx="11324492" cy="541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定理</a:t>
                </a:r>
                <a:r>
                  <a:rPr lang="en-US" altLang="zh-CN" sz="2400" b="1" dirty="0">
                    <a:effectLst/>
                    <a:latin typeface="+mn-ea"/>
                  </a:rPr>
                  <a:t>3-</a:t>
                </a:r>
                <a:r>
                  <a:rPr lang="en-US" sz="2400" b="1" dirty="0">
                    <a:effectLst/>
                    <a:latin typeface="+mn-ea"/>
                  </a:rPr>
                  <a:t>3</a:t>
                </a:r>
                <a:r>
                  <a:rPr lang="zh-CN" sz="2400" b="1" dirty="0">
                    <a:effectLst/>
                    <a:latin typeface="+mn-ea"/>
                  </a:rPr>
                  <a:t>（强对偶性定理）</a:t>
                </a:r>
                <a:r>
                  <a:rPr lang="zh-CN" sz="2400" dirty="0">
                    <a:effectLst/>
                    <a:latin typeface="+mn-ea"/>
                  </a:rPr>
                  <a:t>若（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）中有一个有最优解，则另一个问题也必存在最优解，且两个问题最优解的目标函数值必相等。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证明：假设原问题（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）存在最优解，根据</a:t>
                </a:r>
                <a:r>
                  <a:rPr lang="zh-CN" altLang="en-US" sz="2400" dirty="0">
                    <a:effectLst/>
                    <a:latin typeface="+mn-ea"/>
                  </a:rPr>
                  <a:t>基本性质部分的</a:t>
                </a:r>
                <a:r>
                  <a:rPr lang="zh-CN" sz="2400" dirty="0">
                    <a:effectLst/>
                    <a:latin typeface="+mn-ea"/>
                  </a:rPr>
                  <a:t>定理</a:t>
                </a:r>
                <a:r>
                  <a:rPr lang="en-US" altLang="zh-CN" sz="2400" dirty="0">
                    <a:effectLst/>
                    <a:latin typeface="+mn-ea"/>
                  </a:rPr>
                  <a:t>1-3</a:t>
                </a:r>
                <a:r>
                  <a:rPr lang="zh-CN" sz="2400" dirty="0">
                    <a:effectLst/>
                    <a:latin typeface="+mn-ea"/>
                  </a:rPr>
                  <a:t>知，一定存在一个基本可行解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是其最优解</a:t>
                </a:r>
                <a:r>
                  <a:rPr lang="zh-CN" altLang="en-US" sz="2400" dirty="0">
                    <a:effectLst/>
                    <a:latin typeface="+mn-ea"/>
                  </a:rPr>
                  <a:t>。</a:t>
                </a:r>
                <a:r>
                  <a:rPr lang="zh-CN" sz="2400" dirty="0">
                    <a:effectLst/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所对应的基为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，</a:t>
                </a:r>
                <a:r>
                  <a:rPr lang="zh-CN" altLang="en-US" sz="2400" dirty="0">
                    <a:effectLst/>
                    <a:latin typeface="+mn-ea"/>
                  </a:rPr>
                  <a:t>由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0" smtClean="0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0" smtClean="0"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b="0" i="0" smtClean="0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0" smtClean="0"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节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分析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effectLst/>
                    <a:latin typeface="+mn-ea"/>
                  </a:rPr>
                  <a:t>处</a:t>
                </a:r>
                <a:r>
                  <a:rPr lang="zh-CN" sz="2400" dirty="0">
                    <a:effectLst/>
                    <a:latin typeface="+mn-ea"/>
                  </a:rPr>
                  <a:t>的目标函数值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，且各变量的检验数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，于是上式可化成 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>
                  <a:effectLst/>
                  <a:latin typeface="+mn-ea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54" y="761282"/>
                <a:ext cx="11324492" cy="5416676"/>
              </a:xfrm>
              <a:prstGeom prst="rect">
                <a:avLst/>
              </a:prstGeom>
              <a:blipFill rotWithShape="1">
                <a:blip r:embed="rId1"/>
                <a:stretch>
                  <a:fillRect t="-10" r="5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467" y="5734050"/>
            <a:ext cx="3648075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76469" y="3300602"/>
            <a:ext cx="10533683" cy="11350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注：单纯形法在始终保持原问题解的可行性条件下，使其对偶问题的解由不可行向可行转化，一旦是对偶问题可行，则原问题和对偶问题同时达到最优。</a:t>
            </a:r>
            <a:endParaRPr lang="zh-CN" altLang="en-US" sz="2400" b="1" dirty="0">
              <a:solidFill>
                <a:schemeClr val="accent1"/>
              </a:solidFill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76469" y="689911"/>
                <a:ext cx="11887200" cy="2000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满足（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</a:t>
                </a:r>
                <a:r>
                  <a:rPr lang="zh-CN" altLang="en-US" sz="2400" dirty="0">
                    <a:effectLst/>
                    <a:latin typeface="+mn-ea"/>
                  </a:rPr>
                  <a:t>不等式</a:t>
                </a:r>
                <a:r>
                  <a:rPr lang="zh-CN" sz="2400" dirty="0">
                    <a:effectLst/>
                    <a:latin typeface="+mn-ea"/>
                  </a:rPr>
                  <a:t>约束，从而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是（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）的一个可行解。又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根据定理</a:t>
                </a:r>
                <a:r>
                  <a:rPr lang="en-US" altLang="zh-CN" sz="2400" dirty="0">
                    <a:effectLst/>
                    <a:latin typeface="+mn-ea"/>
                  </a:rPr>
                  <a:t>3-</a:t>
                </a:r>
                <a:r>
                  <a:rPr lang="en-US" sz="2400" dirty="0">
                    <a:effectLst/>
                    <a:latin typeface="+mn-ea"/>
                  </a:rPr>
                  <a:t>2</a:t>
                </a:r>
                <a:r>
                  <a:rPr lang="zh-CN" sz="2400" dirty="0">
                    <a:effectLst/>
                    <a:latin typeface="+mn-ea"/>
                  </a:rPr>
                  <a:t>知，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是（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）的最优解。</a:t>
                </a:r>
                <a:endParaRPr lang="en-US" sz="2400" dirty="0">
                  <a:effectLst/>
                  <a:latin typeface="+mn-ea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69" y="689911"/>
                <a:ext cx="11887200" cy="2000676"/>
              </a:xfrm>
              <a:prstGeom prst="rect">
                <a:avLst/>
              </a:prstGeom>
              <a:blipFill rotWithShape="1">
                <a:blip r:embed="rId1"/>
                <a:stretch>
                  <a:fillRect l="-4" t="-15" r="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48161" y="2278002"/>
            <a:ext cx="7772400" cy="1470025"/>
          </a:xfrm>
        </p:spPr>
        <p:txBody>
          <a:bodyPr anchor="ctr"/>
          <a:lstStyle/>
          <a:p>
            <a:r>
              <a:rPr lang="zh-CN" altLang="en-US" sz="4400" b="1" dirty="0"/>
              <a:t>对偶单纯形法</a:t>
            </a:r>
            <a:endParaRPr lang="zh-CN" altLang="en-US" sz="44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60173" y="1478882"/>
            <a:ext cx="11071653" cy="3346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08330" algn="just">
              <a:lnSpc>
                <a:spcPct val="150000"/>
              </a:lnSpc>
            </a:pP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单纯形法的迭代过程也可以理解为：是在始终保持原问题解的可行性条件下，使其对偶解由不可行向可行转化，一旦对偶解也成为了可行解，原问题和对偶问题同时达到了最优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08330" algn="just">
              <a:lnSpc>
                <a:spcPct val="150000"/>
              </a:lnSpc>
            </a:pP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当然，也可以设想另一条求解思路：即在迭代过程中，始终保持对偶问题解的可行性条件，而原问题的解由不可行向可行转化，一旦原问题的解也满足了可行性条件，对偶问题和原问题同时达到了最优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这正是对偶单纯形法的基本思路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3916364" y="408305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20484" name="矩形 2"/>
          <p:cNvSpPr>
            <a:spLocks noChangeArrowheads="1"/>
          </p:cNvSpPr>
          <p:nvPr/>
        </p:nvSpPr>
        <p:spPr bwMode="auto">
          <a:xfrm>
            <a:off x="640487" y="448369"/>
            <a:ext cx="3791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对偶单纯形法计算步骤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06027" y="1238028"/>
                <a:ext cx="11109325" cy="4246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a typeface="SimSong" panose="02020300000000000000" pitchFamily="18" charset="-122"/>
                  </a:rPr>
                  <a:t>定义</a:t>
                </a:r>
                <a:r>
                  <a:rPr 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：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是线性规划（</a:t>
                </a:r>
                <a:r>
                  <a:rPr lang="en-US" sz="2400" dirty="0">
                    <a:effectLst/>
                    <a:latin typeface="宋体" panose="02010600030101010101" pitchFamily="2" charset="-122"/>
                    <a:ea typeface="Times New Roman" panose="02020603050405020304" pitchFamily="18" charset="0"/>
                  </a:rPr>
                  <a:t>LP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）对应于基阵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𝐵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的一个基本解，若它所对应的检验数向量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𝜎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𝐵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𝐴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是</a:t>
                </a:r>
                <a:r>
                  <a:rPr lang="en-US" sz="2400" dirty="0">
                    <a:effectLst/>
                    <a:latin typeface="宋体" panose="02010600030101010101" pitchFamily="2" charset="-122"/>
                    <a:ea typeface="Times New Roman" panose="02020603050405020304" pitchFamily="18" charset="0"/>
                  </a:rPr>
                  <a:t>(LP)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的一个</a:t>
                </a:r>
                <a:r>
                  <a:rPr 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对偶可行的基本解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对偶单纯形法的算法步骤：</a:t>
                </a:r>
                <a:r>
                  <a:rPr lang="en-US" sz="2400" dirty="0">
                    <a:effectLst/>
                    <a:latin typeface="宋体" panose="02010600030101010101" pitchFamily="2" charset="-122"/>
                    <a:ea typeface="Times New Roman" panose="02020603050405020304" pitchFamily="18" charset="0"/>
                  </a:rPr>
                  <a:t> 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 dirty="0">
                    <a:ea typeface="SimSong" panose="02020300000000000000" pitchFamily="18" charset="-122"/>
                  </a:rPr>
                  <a:t>第</a:t>
                </a:r>
                <a:r>
                  <a:rPr lang="en-US" sz="2400" b="1" dirty="0">
                    <a:ea typeface="SimSong" panose="02020300000000000000" pitchFamily="18" charset="-122"/>
                  </a:rPr>
                  <a:t>1</a:t>
                </a:r>
                <a:r>
                  <a:rPr lang="zh-CN" altLang="en-US" sz="2400" b="1" dirty="0">
                    <a:ea typeface="SimSong" panose="02020300000000000000" pitchFamily="18" charset="-122"/>
                  </a:rPr>
                  <a:t>步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zh-CN" sz="24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选取一个初始对偶可行的基本解，对应的基阵为</a:t>
                </a:r>
                <a:r>
                  <a:rPr lang="en-US" sz="2400" b="1" dirty="0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Times New Roman" panose="02020603050405020304" pitchFamily="18" charset="0"/>
                  </a:rPr>
                  <a:t>B</a:t>
                </a:r>
                <a:r>
                  <a:rPr lang="zh-CN" sz="24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，列出初始单纯形表。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a typeface="SimSong" panose="02020300000000000000" pitchFamily="18" charset="-122"/>
                  </a:rPr>
                  <a:t>第</a:t>
                </a:r>
                <a:r>
                  <a:rPr lang="en-US" sz="2400" b="1" dirty="0">
                    <a:ea typeface="SimSong" panose="02020300000000000000" pitchFamily="18" charset="-122"/>
                  </a:rPr>
                  <a:t>2</a:t>
                </a:r>
                <a:r>
                  <a:rPr lang="zh-CN" sz="2400" b="1" dirty="0">
                    <a:ea typeface="SimSong" panose="02020300000000000000" pitchFamily="18" charset="-122"/>
                  </a:rPr>
                  <a:t>步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zh-CN" sz="24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最优性检验。</a:t>
                </a:r>
                <a:r>
                  <a:rPr 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计算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𝑏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𝐵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𝑏</m:t>
                    </m:r>
                  </m:oMath>
                </a14:m>
                <a:r>
                  <a:rPr 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，若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𝑏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r>
                  <a:rPr 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，则停止计算，当前的对偶可行基本解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𝑏</m:t>
                            </m:r>
                          </m:e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便是最优解；否则转下步。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27" y="1238028"/>
                <a:ext cx="11109325" cy="4246932"/>
              </a:xfrm>
              <a:prstGeom prst="rect">
                <a:avLst/>
              </a:prstGeom>
              <a:blipFill rotWithShape="1">
                <a:blip r:embed="rId6"/>
                <a:stretch>
                  <a:fillRect l="-5" t="-10" r="-789" b="-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45075" y="155315"/>
                <a:ext cx="11701849" cy="6547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第</a:t>
                </a:r>
                <a:r>
                  <a:rPr lang="en-US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3</a:t>
                </a: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步 </a:t>
                </a:r>
                <a:r>
                  <a:rPr lang="zh-CN" sz="2400" dirty="0">
                    <a:solidFill>
                      <a:srgbClr val="FF0000"/>
                    </a:solidFill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确定离基变量。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根据公式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𝑙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𝑚𝑖𝑛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|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≤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≤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确定离基变量的指标为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𝑙</m:t>
                    </m:r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𝑙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为离基变量。</a:t>
                </a:r>
                <a:endParaRPr lang="en-US" sz="24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第</a:t>
                </a:r>
                <a:r>
                  <a:rPr lang="en-US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4</a:t>
                </a: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步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 </a:t>
                </a:r>
                <a:r>
                  <a:rPr lang="zh-CN" sz="2400" dirty="0">
                    <a:solidFill>
                      <a:srgbClr val="FF0000"/>
                    </a:solidFill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检查单纯形表中第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𝑙</m:t>
                    </m:r>
                  </m:oMath>
                </a14:m>
                <a:r>
                  <a:rPr lang="zh-CN" sz="2400" dirty="0">
                    <a:solidFill>
                      <a:srgbClr val="FF0000"/>
                    </a:solidFill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行的系数。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若对所有的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𝑗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1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,⋯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𝑛</m:t>
                    </m:r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，都有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𝑙𝑗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，则原问题（</a:t>
                </a:r>
                <a:r>
                  <a:rPr lang="en-US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LP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）无可行解；否则转下一步。</a:t>
                </a:r>
                <a:endParaRPr lang="en-US" sz="24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第</a:t>
                </a:r>
                <a:r>
                  <a:rPr lang="en-US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5</a:t>
                </a: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步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 </a:t>
                </a:r>
                <a:r>
                  <a:rPr lang="zh-CN" sz="2400" dirty="0">
                    <a:solidFill>
                      <a:srgbClr val="FF0000"/>
                    </a:solidFill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确定进基变量。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根据如下公式确定进基变量的指标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𝑘</m:t>
                    </m:r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：</a:t>
                </a:r>
                <a:endParaRPr lang="en-US" sz="24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𝜃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𝑙𝑘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𝑚𝑎𝑥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𝑙𝑗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𝑙𝑗</m:t>
                              </m:r>
                            </m:sub>
                          </m:s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&lt;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故，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为进基变量</a:t>
                </a:r>
                <a:r>
                  <a:rPr lang="zh-CN" altLang="en-US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。</a:t>
                </a:r>
                <a:endParaRPr lang="en-US" sz="24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第</a:t>
                </a:r>
                <a:r>
                  <a:rPr lang="en-US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6</a:t>
                </a: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步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 </a:t>
                </a:r>
                <a:r>
                  <a:rPr lang="zh-CN" sz="2400" dirty="0">
                    <a:solidFill>
                      <a:srgbClr val="FF0000"/>
                    </a:solidFill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取主变换。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用进基变量替换离基变量，构造一个新的基，并以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𝑙𝑘</m:t>
                        </m:r>
                      </m:sub>
                    </m:sSub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为主元进行消元变换，迭代到一个新的对偶可行的基本解。</a:t>
                </a:r>
                <a:endParaRPr lang="en-US" sz="24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75" y="155315"/>
                <a:ext cx="11701849" cy="6547370"/>
              </a:xfrm>
              <a:prstGeom prst="rect">
                <a:avLst/>
              </a:prstGeom>
              <a:blipFill rotWithShape="1">
                <a:blip r:embed="rId1"/>
                <a:stretch>
                  <a:fillRect l="-5" t="-6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45094" y="716737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en-US" sz="2400" kern="100" dirty="0">
                <a:effectLst/>
                <a:latin typeface="SimSong" panose="02020300000000000000" pitchFamily="18" charset="-122"/>
                <a:ea typeface="SimSong" panose="02020300000000000000" pitchFamily="18" charset="-122"/>
                <a:cs typeface="Times New Roman" panose="02020603050405020304" pitchFamily="18" charset="0"/>
              </a:rPr>
              <a:t>假设</a:t>
            </a:r>
            <a:r>
              <a:rPr lang="zh-CN" altLang="zh-CN" sz="2400" kern="100" dirty="0">
                <a:effectLst/>
                <a:latin typeface="SimSong" panose="02020300000000000000" pitchFamily="18" charset="-122"/>
                <a:ea typeface="SimSong" panose="02020300000000000000" pitchFamily="18" charset="-122"/>
                <a:cs typeface="Times New Roman" panose="02020603050405020304" pitchFamily="18" charset="0"/>
              </a:rPr>
              <a:t>已知当前的增广矩阵</a:t>
            </a:r>
            <a:endParaRPr lang="zh-CN" altLang="zh-CN" sz="2400" kern="100" dirty="0">
              <a:effectLst/>
              <a:latin typeface="SimSong" panose="02020300000000000000" pitchFamily="18" charset="-122"/>
              <a:ea typeface="SimSong" panose="020203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86074" y="1038675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72735" y="3525500"/>
                <a:ext cx="10795248" cy="22099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400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lim>
                        </m:limLow>
                      </m:fName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</m:func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，确定当前的</a:t>
                </a:r>
                <a:r>
                  <a:rPr lang="zh-CN" altLang="en-US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离</a:t>
                </a:r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基变量指标为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kern="1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假设入基变量指标为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，则需要通过初等行变换将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化为</a:t>
                </a:r>
                <a:r>
                  <a:rPr lang="en-US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，且同时要将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化为非负值，所以希望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。故在第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行中考察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的那些指标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≔{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𝑙𝑖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。另外，要保持检验数的非负性。</a:t>
                </a:r>
                <a:endParaRPr lang="zh-CN" altLang="zh-CN" sz="2400" kern="1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35" y="3525500"/>
                <a:ext cx="10795248" cy="2209900"/>
              </a:xfrm>
              <a:prstGeom prst="rect">
                <a:avLst/>
              </a:prstGeom>
              <a:blipFill rotWithShape="1">
                <a:blip r:embed="rId1"/>
                <a:stretch>
                  <a:fillRect l="-3" t="-28" r="5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472735" y="257590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第</a:t>
            </a:r>
            <a:r>
              <a:rPr lang="en-US" altLang="zh-CN" sz="2400" b="1" dirty="0"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5</a:t>
            </a:r>
            <a:r>
              <a:rPr lang="zh-CN" altLang="zh-CN" sz="2400" b="1" dirty="0"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步</a:t>
            </a:r>
            <a:r>
              <a:rPr lang="zh-CN" altLang="en-US" sz="2400" b="1" dirty="0"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分析：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1"/>
              <p:cNvSpPr txBox="1"/>
              <p:nvPr/>
            </p:nvSpPr>
            <p:spPr>
              <a:xfrm>
                <a:off x="2519798" y="1343703"/>
                <a:ext cx="6096000" cy="2032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zh-CN" altLang="zh-CN" sz="24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  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     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   ⋯   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   ⋯   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          </m:t>
                                    </m:r>
                                    <m:r>
                                      <a:rPr lang="zh-CN" altLang="en-US" sz="24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  <m:r>
                                <a:rPr lang="zh-CN" altLang="en-US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⋯   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     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   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eqArr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  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&amp;⋯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𝑚𝑘</m:t>
                                  </m:r>
                                </m:sub>
                              </m:sSub>
                            </m:e>
                          </m:eqArr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 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&amp;⋯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    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    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 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798" y="1343703"/>
                <a:ext cx="6096000" cy="2032351"/>
              </a:xfrm>
              <a:prstGeom prst="rect">
                <a:avLst/>
              </a:prstGeom>
              <a:blipFill rotWithShape="1">
                <a:blip r:embed="rId2"/>
                <a:stretch>
                  <a:fillRect l="-2" t="-2" r="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03440" y="185676"/>
                <a:ext cx="11318789" cy="6486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kern="100" dirty="0">
                    <a:latin typeface="+mn-ea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kern="100" dirty="0">
                    <a:latin typeface="+mn-ea"/>
                    <a:cs typeface="Times New Roman" panose="02020603050405020304" pitchFamily="18" charset="0"/>
                  </a:rPr>
                  <a:t>对当前的检验数行做初等行变换</a:t>
                </a:r>
                <a:r>
                  <a:rPr lang="zh-CN" altLang="en-US" sz="2400" b="1" kern="100" dirty="0">
                    <a:latin typeface="+mn-ea"/>
                    <a:cs typeface="Times New Roman" panose="02020603050405020304" pitchFamily="18" charset="0"/>
                  </a:rPr>
                  <a:t>使得</a:t>
                </a:r>
                <a:endParaRPr lang="en-US" altLang="zh-CN" sz="2400" b="1" i="1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,⋯,</m:t>
                          </m:r>
                          <m:limLow>
                            <m:limLow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zh-CN" sz="24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kern="100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2400" b="0" i="1" kern="100" smtClean="0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groupChr>
                            </m:e>
                            <m:lim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lim>
                          </m:limLow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,⋯,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sz="2400" b="0" i="1" kern="10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sz="2400" b="0" i="1" kern="10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en-US" sz="2400" b="1" kern="100" dirty="0">
                    <a:latin typeface="+mn-ea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en-US" sz="2400" b="1" kern="100" dirty="0">
                    <a:effectLst/>
                    <a:latin typeface="+mn-ea"/>
                    <a:cs typeface="Times New Roman" panose="02020603050405020304" pitchFamily="18" charset="0"/>
                  </a:rPr>
                  <a:t>个分量为零</a:t>
                </a:r>
                <a:r>
                  <a:rPr lang="zh-CN" altLang="en-US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，同时希望所有的检验数非负。</a:t>
                </a:r>
                <a:endParaRPr lang="zh-CN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，所以</a:t>
                </a:r>
                <a:r>
                  <a:rPr lang="zh-CN" altLang="en-US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有</a:t>
                </a:r>
                <a:endParaRPr lang="en-US" altLang="zh-CN" sz="24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，有</a:t>
                </a:r>
                <a:endParaRPr lang="en-US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lvl="8" algn="just"/>
                <a:r>
                  <a:rPr lang="en-US" altLang="zh-CN" sz="2400" kern="100" dirty="0">
                    <a:effectLst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en-US" altLang="zh-CN" sz="24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en-US" altLang="zh-CN" sz="24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，注意到</a:t>
                </a:r>
                <a:endParaRPr lang="zh-CN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4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所以</a:t>
                </a:r>
                <a:r>
                  <a:rPr lang="zh-CN" altLang="en-US" sz="2400" kern="100" dirty="0">
                    <a:latin typeface="+mn-ea"/>
                    <a:cs typeface="Times New Roman" panose="02020603050405020304" pitchFamily="18" charset="0"/>
                  </a:rPr>
                  <a:t>只要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𝑙𝑗</m:t>
                            </m:r>
                          </m:sub>
                        </m:sSub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en-US" altLang="zh-CN" sz="24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kern="100" dirty="0">
                    <a:latin typeface="+mn-ea"/>
                    <a:cs typeface="Times New Roman" panose="02020603050405020304" pitchFamily="18" charset="0"/>
                  </a:rPr>
                  <a:t>则有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𝑙𝑘</m:t>
                            </m:r>
                          </m:sub>
                        </m:sSub>
                      </m:den>
                    </m:f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zh-CN" altLang="en-US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从而取</a:t>
                </a:r>
                <a:r>
                  <a:rPr lang="zh-CN" altLang="en-US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进</a:t>
                </a:r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基变量指标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满足</a:t>
                </a:r>
                <a:endParaRPr lang="zh-CN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𝑙𝑘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𝑚𝑎𝑥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𝑙𝑗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40" y="185676"/>
                <a:ext cx="11318789" cy="6486648"/>
              </a:xfrm>
              <a:prstGeom prst="rect">
                <a:avLst/>
              </a:prstGeom>
              <a:blipFill rotWithShape="1">
                <a:blip r:embed="rId1"/>
                <a:stretch>
                  <a:fillRect l="-5" t="-4" r="4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65205" y="731609"/>
                <a:ext cx="10861589" cy="46819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例</a:t>
                </a:r>
                <a:r>
                  <a:rPr lang="en-US" sz="2400" dirty="0">
                    <a:effectLst/>
                    <a:latin typeface="宋体" panose="02010600030101010101" pitchFamily="2" charset="-122"/>
                    <a:ea typeface="Times New Roman" panose="02020603050405020304" pitchFamily="18" charset="0"/>
                  </a:rPr>
                  <a:t> 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试求解下列线性规划问题：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5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解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将两个不等式约束分别引进剩余变量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，原问题化为标准形式：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5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5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𝑖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5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05" y="731609"/>
                <a:ext cx="10861589" cy="4681923"/>
              </a:xfrm>
              <a:prstGeom prst="rect">
                <a:avLst/>
              </a:prstGeom>
              <a:blipFill rotWithShape="1">
                <a:blip r:embed="rId1"/>
                <a:stretch>
                  <a:fillRect l="-3" t="-2" r="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27318" y="304701"/>
            <a:ext cx="1195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latin typeface="+mn-ea"/>
              </a:defRPr>
            </a:lvl1pPr>
          </a:lstStyle>
          <a:p>
            <a:r>
              <a:rPr lang="zh-CN" altLang="en-US" dirty="0"/>
              <a:t>即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27318" y="2820968"/>
            <a:ext cx="3086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列出初始单纯形表</a:t>
            </a:r>
            <a:endParaRPr lang="zh-CN" altLang="en-US" sz="2400" dirty="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084156" y="244944"/>
                <a:ext cx="8600302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5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&amp;−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&amp;−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156" y="244944"/>
                <a:ext cx="8600302" cy="1640770"/>
              </a:xfrm>
              <a:prstGeom prst="rect">
                <a:avLst/>
              </a:prstGeom>
              <a:blipFill rotWithShape="1">
                <a:blip r:embed="rId1"/>
                <a:stretch>
                  <a:fillRect l="-2" t="-29" r="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4241215" y="2367032"/>
              <a:ext cx="6287464" cy="322472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85933"/>
                    <a:gridCol w="785933"/>
                    <a:gridCol w="785933"/>
                    <a:gridCol w="785933"/>
                    <a:gridCol w="785933"/>
                    <a:gridCol w="785933"/>
                    <a:gridCol w="785933"/>
                    <a:gridCol w="785933"/>
                  </a:tblGrid>
                  <a:tr h="600782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728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sz="240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基</a:t>
                          </a:r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6210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-4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-3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-1</a:t>
                          </a:r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6210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-10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-6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[-3]</a:t>
                          </a:r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-5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00782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4241215" y="2367032"/>
              <a:ext cx="6287464" cy="322472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85933"/>
                    <a:gridCol w="785933"/>
                    <a:gridCol w="785933"/>
                    <a:gridCol w="785933"/>
                    <a:gridCol w="785933"/>
                    <a:gridCol w="785933"/>
                    <a:gridCol w="785933"/>
                    <a:gridCol w="785933"/>
                  </a:tblGrid>
                  <a:tr h="60071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727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sz="240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基</a:t>
                          </a:r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  <a:tr h="56197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-4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-3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-1</a:t>
                          </a:r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626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-10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-6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[-3]</a:t>
                          </a:r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-5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0071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024034" y="5821492"/>
                <a:ext cx="6098058" cy="804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034" y="5821492"/>
                <a:ext cx="6098058" cy="804259"/>
              </a:xfrm>
              <a:prstGeom prst="rect">
                <a:avLst/>
              </a:prstGeom>
              <a:blipFill rotWithShape="1">
                <a:blip r:embed="rId3"/>
                <a:stretch>
                  <a:fillRect l="-7" t="-56" r="9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739344" y="347833"/>
              <a:ext cx="10713312" cy="463791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39164"/>
                    <a:gridCol w="1339164"/>
                    <a:gridCol w="1339164"/>
                    <a:gridCol w="1339164"/>
                    <a:gridCol w="1339164"/>
                    <a:gridCol w="1339164"/>
                    <a:gridCol w="1339164"/>
                    <a:gridCol w="1339164"/>
                  </a:tblGrid>
                  <a:tr h="323327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2561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sz="24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基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276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[-1]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3475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27627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739344" y="347833"/>
              <a:ext cx="10713312" cy="463791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39164"/>
                    <a:gridCol w="1339164"/>
                    <a:gridCol w="1339164"/>
                    <a:gridCol w="1339164"/>
                    <a:gridCol w="1339164"/>
                    <a:gridCol w="1339164"/>
                    <a:gridCol w="1339164"/>
                    <a:gridCol w="1339164"/>
                  </a:tblGrid>
                  <a:tr h="57150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486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sz="24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基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10210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[-1]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1033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102108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046971" y="5354583"/>
                <a:ext cx="6098058" cy="1325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den>
                          </m:f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den>
                          </m:f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4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971" y="5354583"/>
                <a:ext cx="6098058" cy="1325684"/>
              </a:xfrm>
              <a:prstGeom prst="rect">
                <a:avLst/>
              </a:prstGeom>
              <a:blipFill rotWithShape="1">
                <a:blip r:embed="rId2"/>
                <a:stretch>
                  <a:fillRect l="-4" t="-20" r="6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/>
            </p:nvGraphicFramePr>
            <p:xfrm>
              <a:off x="1301576" y="935415"/>
              <a:ext cx="9588848" cy="498716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98606"/>
                    <a:gridCol w="1198606"/>
                    <a:gridCol w="1198606"/>
                    <a:gridCol w="1198606"/>
                    <a:gridCol w="1198606"/>
                    <a:gridCol w="1198606"/>
                    <a:gridCol w="1198606"/>
                    <a:gridCol w="1198606"/>
                  </a:tblGrid>
                  <a:tr h="805025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664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sz="24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基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33192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518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331929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/>
            </p:nvGraphicFramePr>
            <p:xfrm>
              <a:off x="1301576" y="935415"/>
              <a:ext cx="9588848" cy="498716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98606"/>
                    <a:gridCol w="1198606"/>
                    <a:gridCol w="1198606"/>
                    <a:gridCol w="1198606"/>
                    <a:gridCol w="1198606"/>
                    <a:gridCol w="1198606"/>
                    <a:gridCol w="1198606"/>
                    <a:gridCol w="1198606"/>
                  </a:tblGrid>
                  <a:tr h="80518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664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sz="24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基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13315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751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-1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33223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宋体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US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94951" y="658138"/>
                <a:ext cx="10602097" cy="4243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由于表中的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𝑏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，检验数向量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𝜎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，故当前的对偶可行的基本解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f>
                          <m:f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3</m:t>
                            </m:r>
                          </m:den>
                        </m:f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为最优解，最优基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𝐵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。而根据最终单纯形表可以看到，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𝐵</m:t>
                            </m:r>
                          </m:e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∗</m:t>
                            </m:r>
                          </m:sup>
                        </m:s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=−</m:t>
                    </m:r>
                    <m:d>
                      <m:dPr>
                        <m:ctrlPr>
                          <a:rPr lang="en-US" altLang="zh-CN" sz="240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，故对偶问题的最优解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𝑐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  <m:sSup>
                            <m:sSup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5</m:t>
                                  </m:r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51" y="658138"/>
                <a:ext cx="10602097" cy="4243149"/>
              </a:xfrm>
              <a:prstGeom prst="rect">
                <a:avLst/>
              </a:prstGeom>
              <a:blipFill rotWithShape="1">
                <a:blip r:embed="rId1"/>
                <a:stretch>
                  <a:fillRect l="-5" t="-7" r="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79938" y="490506"/>
                <a:ext cx="11031416" cy="1135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8330">
                  <a:lnSpc>
                    <a:spcPct val="150000"/>
                  </a:lnSpc>
                </a:pP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给定线性规划（</a:t>
                </a:r>
                <a:r>
                  <a:rPr lang="en-US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LP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）的一个基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，我们称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是（</a:t>
                </a:r>
                <a:r>
                  <a:rPr lang="en-US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LP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）关于基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的一个</a:t>
                </a: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单纯形乘子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。根据上述定理</a:t>
                </a:r>
                <a:r>
                  <a:rPr lang="en-US" alt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3-</a:t>
                </a:r>
                <a:r>
                  <a:rPr lang="en-US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3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的证明过程，可得到如下单纯形乘子定理</a:t>
                </a:r>
                <a:r>
                  <a:rPr lang="zh-CN" altLang="en-US" sz="2400" dirty="0">
                    <a:latin typeface="SimSong" panose="02020300000000000000" pitchFamily="18" charset="-122"/>
                    <a:ea typeface="SimSong" panose="02020300000000000000" pitchFamily="18" charset="-122"/>
                  </a:rPr>
                  <a:t>。</a:t>
                </a:r>
                <a:endParaRPr lang="en-US" sz="2400" dirty="0"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38" y="490506"/>
                <a:ext cx="11031416" cy="1135054"/>
              </a:xfrm>
              <a:prstGeom prst="rect">
                <a:avLst/>
              </a:prstGeom>
              <a:blipFill rotWithShape="1">
                <a:blip r:embed="rId1"/>
                <a:stretch>
                  <a:fillRect l="-4" t="-25" b="-2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79938" y="2253944"/>
                <a:ext cx="11031416" cy="40652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定理</a:t>
                </a:r>
                <a:r>
                  <a:rPr lang="en-US" altLang="zh-CN" sz="2400" b="1" dirty="0">
                    <a:effectLst/>
                    <a:latin typeface="+mn-ea"/>
                  </a:rPr>
                  <a:t>3-</a:t>
                </a:r>
                <a:r>
                  <a:rPr lang="en-US" sz="2400" b="1" dirty="0">
                    <a:effectLst/>
                    <a:latin typeface="+mn-ea"/>
                  </a:rPr>
                  <a:t>4</a:t>
                </a:r>
                <a:r>
                  <a:rPr lang="zh-CN" sz="2400" b="1" dirty="0">
                    <a:effectLst/>
                    <a:latin typeface="+mn-ea"/>
                  </a:rPr>
                  <a:t>（单纯形乘子定理）</a:t>
                </a:r>
                <a:r>
                  <a:rPr lang="zh-CN" sz="2400" dirty="0">
                    <a:effectLst/>
                    <a:latin typeface="+mn-ea"/>
                  </a:rPr>
                  <a:t> 假设（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）有一个对应于基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的最优基本可行解，则此时的单纯形乘子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是相应于对偶问题（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）的一个最优解。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根据此结论，我们可以从原问题的最优单纯形表中直接获得对偶问题的最优解。因为，若在原问题（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）的系数矩阵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中有一个对应于初始基本可行解的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阶单位阵，则由初等变换求逆矩阵的方法，</a:t>
                </a:r>
                <a:r>
                  <a:rPr lang="zh-CN" sz="2400" u="sng" dirty="0">
                    <a:solidFill>
                      <a:srgbClr val="FF0000"/>
                    </a:solidFill>
                    <a:effectLst/>
                    <a:latin typeface="+mn-ea"/>
                  </a:rPr>
                  <a:t>在最终单纯形表中与此初始可行基对应位置上的</a:t>
                </a:r>
                <a14:m>
                  <m:oMath xmlns:m="http://schemas.openxmlformats.org/officeDocument/2006/math">
                    <m:r>
                      <a:rPr lang="en-US" sz="2400" i="1" u="sng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sz="2400" u="sng" dirty="0">
                    <a:solidFill>
                      <a:srgbClr val="FF0000"/>
                    </a:solidFill>
                    <a:effectLst/>
                    <a:latin typeface="+mn-ea"/>
                  </a:rPr>
                  <a:t>个系数列向量即组成最优基的逆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sz="2400" u="sng" dirty="0">
                    <a:solidFill>
                      <a:srgbClr val="FF0000"/>
                    </a:solidFill>
                    <a:effectLst/>
                    <a:latin typeface="+mn-ea"/>
                  </a:rPr>
                  <a:t>。这样，由</a:t>
                </a:r>
                <a14:m>
                  <m:oMath xmlns:m="http://schemas.openxmlformats.org/officeDocument/2006/math">
                    <m:r>
                      <a:rPr lang="en-US" sz="2400" i="1" u="sng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u="sng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i="1" u="sng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u="sng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sz="2400" i="1" u="sng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 u="sng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u="sng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u="sng" dirty="0">
                    <a:solidFill>
                      <a:srgbClr val="FF0000"/>
                    </a:solidFill>
                    <a:effectLst/>
                    <a:latin typeface="+mn-ea"/>
                  </a:rPr>
                  <a:t>便可求得对偶问题的最优解。</a:t>
                </a:r>
                <a:endParaRPr lang="en-US" sz="2400" dirty="0">
                  <a:effectLst/>
                  <a:latin typeface="+mn-ea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38" y="2253944"/>
                <a:ext cx="11031416" cy="4065280"/>
              </a:xfrm>
              <a:prstGeom prst="rect">
                <a:avLst/>
              </a:prstGeom>
              <a:blipFill rotWithShape="1">
                <a:blip r:embed="rId2"/>
                <a:stretch>
                  <a:fillRect l="-4" t="-8" b="-5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71281" y="330055"/>
                <a:ext cx="11383108" cy="59917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定理</a:t>
                </a:r>
                <a:r>
                  <a:rPr lang="en-US" altLang="zh-CN" sz="2400" b="1" dirty="0">
                    <a:effectLst/>
                    <a:latin typeface="+mn-ea"/>
                  </a:rPr>
                  <a:t>3-</a:t>
                </a:r>
                <a:r>
                  <a:rPr lang="en-US" sz="2400" b="1" dirty="0">
                    <a:effectLst/>
                    <a:latin typeface="+mn-ea"/>
                  </a:rPr>
                  <a:t>5</a:t>
                </a:r>
                <a:r>
                  <a:rPr lang="zh-CN" sz="2400" b="1" dirty="0">
                    <a:effectLst/>
                    <a:latin typeface="+mn-ea"/>
                  </a:rPr>
                  <a:t>（互补松弛定理）</a:t>
                </a:r>
                <a:r>
                  <a:rPr lang="zh-CN" sz="2400" dirty="0">
                    <a:effectLst/>
                    <a:latin typeface="+mn-ea"/>
                  </a:rPr>
                  <a:t> </a:t>
                </a:r>
                <a:r>
                  <a:rPr lang="zh-CN" sz="2400" b="1" dirty="0">
                    <a:effectLst/>
                    <a:latin typeface="+mn-ea"/>
                  </a:rPr>
                  <a:t>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1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zh-CN" sz="2400" b="1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zh-CN" sz="2400" b="1" dirty="0">
                    <a:effectLst/>
                    <a:latin typeface="+mn-ea"/>
                  </a:rPr>
                  <a:t>分别是（</a:t>
                </a:r>
                <a:r>
                  <a:rPr lang="en-US" sz="2400" b="1" dirty="0">
                    <a:effectLst/>
                    <a:latin typeface="+mn-ea"/>
                  </a:rPr>
                  <a:t>LP</a:t>
                </a:r>
                <a:r>
                  <a:rPr lang="zh-CN" sz="2400" b="1" dirty="0">
                    <a:effectLst/>
                    <a:latin typeface="+mn-ea"/>
                  </a:rPr>
                  <a:t>）和（</a:t>
                </a:r>
                <a:r>
                  <a:rPr lang="en-US" sz="2400" b="1" dirty="0">
                    <a:effectLst/>
                    <a:latin typeface="+mn-ea"/>
                  </a:rPr>
                  <a:t>LD</a:t>
                </a:r>
                <a:r>
                  <a:rPr lang="zh-CN" sz="2400" b="1" dirty="0">
                    <a:effectLst/>
                    <a:latin typeface="+mn-ea"/>
                  </a:rPr>
                  <a:t>）的可行解</a:t>
                </a:r>
                <a:r>
                  <a:rPr lang="zh-CN" sz="2400" dirty="0">
                    <a:effectLst/>
                    <a:latin typeface="+mn-ea"/>
                  </a:rPr>
                  <a:t>，则它们分别是（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）的最优解的</a:t>
                </a:r>
                <a:r>
                  <a:rPr lang="zh-CN" sz="2400" b="1" dirty="0">
                    <a:effectLst/>
                    <a:latin typeface="+mn-ea"/>
                  </a:rPr>
                  <a:t>充要条件</a:t>
                </a:r>
                <a:r>
                  <a:rPr lang="zh-CN" sz="2400" dirty="0">
                    <a:effectLst/>
                    <a:latin typeface="+mn-ea"/>
                  </a:rPr>
                  <a:t>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。</a:t>
                </a:r>
                <a:endParaRPr lang="en-US" sz="2400" dirty="0">
                  <a:effectLst/>
                  <a:latin typeface="+mn-ea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证明</a:t>
                </a:r>
                <a:r>
                  <a:rPr lang="zh-CN" sz="2400" dirty="0">
                    <a:effectLst/>
                    <a:latin typeface="+mn-ea"/>
                  </a:rPr>
                  <a:t> </a:t>
                </a:r>
                <a:r>
                  <a:rPr lang="zh-CN" sz="2400" b="1" dirty="0">
                    <a:effectLst/>
                    <a:latin typeface="+mn-ea"/>
                  </a:rPr>
                  <a:t>必要性：</a:t>
                </a:r>
                <a:r>
                  <a:rPr lang="zh-CN" sz="2400" dirty="0">
                    <a:effectLst/>
                    <a:latin typeface="+mn-ea"/>
                  </a:rPr>
                  <a:t>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分别是各自问题的最优解，则根据强对偶性定理知，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又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，便有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成立。</a:t>
                </a:r>
                <a:endParaRPr lang="en-US" sz="2400" dirty="0">
                  <a:effectLst/>
                  <a:latin typeface="+mn-ea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充分性：</a:t>
                </a:r>
                <a:r>
                  <a:rPr lang="zh-CN" sz="2400" dirty="0">
                    <a:effectLst/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）的可行解且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，故知</a:t>
                </a:r>
                <a:r>
                  <a:rPr lang="en-US" sz="2400" dirty="0">
                    <a:effectLst/>
                    <a:latin typeface="+mn-ea"/>
                  </a:rPr>
                  <a:t>,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根据最优性定理，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分别是（</a:t>
                </a:r>
                <a:r>
                  <a:rPr lang="en-US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US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）的最优解。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证毕</a:t>
                </a:r>
                <a:r>
                  <a:rPr lang="zh-CN" sz="2400" dirty="0">
                    <a:effectLst/>
                    <a:latin typeface="+mn-ea"/>
                  </a:rPr>
                  <a:t>。</a:t>
                </a:r>
                <a:endParaRPr lang="en-US" sz="2400" dirty="0">
                  <a:effectLst/>
                  <a:latin typeface="+mn-ea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81" y="330055"/>
                <a:ext cx="11383108" cy="5991768"/>
              </a:xfrm>
              <a:prstGeom prst="rect">
                <a:avLst/>
              </a:prstGeom>
              <a:blipFill rotWithShape="1">
                <a:blip r:embed="rId1"/>
                <a:stretch>
                  <a:fillRect l="-1" t="-8" r="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189" y="5626462"/>
            <a:ext cx="6948811" cy="123153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58105" y="322384"/>
            <a:ext cx="2250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原问题（</a:t>
            </a:r>
            <a:r>
              <a:rPr lang="en-US" altLang="zh-CN" sz="2400" dirty="0">
                <a:latin typeface="SimSong" panose="02020300000000000000" pitchFamily="18" charset="-122"/>
                <a:ea typeface="SimSong" panose="02020300000000000000" pitchFamily="18" charset="-122"/>
              </a:rPr>
              <a:t>P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）：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30342" y="322383"/>
            <a:ext cx="2591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对偶问题（</a:t>
            </a:r>
            <a:r>
              <a:rPr lang="en-US" altLang="zh-CN" sz="2400" dirty="0">
                <a:latin typeface="SimSong" panose="02020300000000000000" pitchFamily="18" charset="-122"/>
                <a:ea typeface="SimSong" panose="02020300000000000000" pitchFamily="18" charset="-122"/>
              </a:rPr>
              <a:t>D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）：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56094" y="1935755"/>
                <a:ext cx="11422246" cy="4922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推论</a:t>
                </a:r>
                <a:r>
                  <a:rPr lang="en-US" sz="2400" dirty="0">
                    <a:effectLst/>
                    <a:latin typeface="+mn-ea"/>
                  </a:rPr>
                  <a:t>  </a:t>
                </a:r>
                <a:r>
                  <a:rPr lang="zh-CN" sz="2400" dirty="0">
                    <a:effectLst/>
                    <a:latin typeface="+mn-ea"/>
                  </a:rPr>
                  <a:t>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分别是对称形式的原问题</a:t>
                </a:r>
                <a:r>
                  <a:rPr lang="en-US" sz="2400" dirty="0">
                    <a:effectLst/>
                    <a:latin typeface="+mn-ea"/>
                  </a:rPr>
                  <a:t>(</a:t>
                </a:r>
                <a:r>
                  <a:rPr lang="en-US" sz="2400" dirty="0">
                    <a:effectLst/>
                    <a:latin typeface="+mn-ea"/>
                  </a:rPr>
                  <a:t>P</a:t>
                </a:r>
                <a:r>
                  <a:rPr lang="en-US" sz="2400" dirty="0">
                    <a:effectLst/>
                    <a:latin typeface="+mn-ea"/>
                  </a:rPr>
                  <a:t>)</a:t>
                </a:r>
                <a:r>
                  <a:rPr lang="zh-CN" sz="2400" dirty="0">
                    <a:effectLst/>
                    <a:latin typeface="+mn-ea"/>
                  </a:rPr>
                  <a:t>及其对偶问题</a:t>
                </a:r>
                <a:r>
                  <a:rPr lang="en-US" sz="2400" dirty="0">
                    <a:effectLst/>
                    <a:latin typeface="+mn-ea"/>
                  </a:rPr>
                  <a:t>(</a:t>
                </a:r>
                <a:r>
                  <a:rPr lang="en-US" sz="2400" dirty="0">
                    <a:effectLst/>
                    <a:latin typeface="+mn-ea"/>
                  </a:rPr>
                  <a:t>D</a:t>
                </a:r>
                <a:r>
                  <a:rPr lang="en-US" sz="2400" dirty="0">
                    <a:effectLst/>
                    <a:latin typeface="+mn-ea"/>
                  </a:rPr>
                  <a:t>)</a:t>
                </a:r>
                <a:r>
                  <a:rPr lang="zh-CN" sz="2400" dirty="0">
                    <a:effectLst/>
                    <a:latin typeface="+mn-ea"/>
                  </a:rPr>
                  <a:t>的可行解，则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分别是各自问题最优解的充要条件为：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或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i="1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i="1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i="1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i="1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+mn-ea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94" y="1935755"/>
                <a:ext cx="11422246" cy="4922245"/>
              </a:xfrm>
              <a:prstGeom prst="rect">
                <a:avLst/>
              </a:prstGeom>
              <a:blipFill rotWithShape="1">
                <a:blip r:embed="rId1"/>
                <a:stretch>
                  <a:fillRect l="-4" t="-6" r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084223" y="263052"/>
                <a:ext cx="6160476" cy="1439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400" dirty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indent="2667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&amp;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𝐴𝑥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&amp;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23" y="263052"/>
                <a:ext cx="6160476" cy="1439368"/>
              </a:xfrm>
              <a:prstGeom prst="rect">
                <a:avLst/>
              </a:prstGeom>
              <a:blipFill rotWithShape="1">
                <a:blip r:embed="rId2"/>
                <a:stretch>
                  <a:fillRect l="-5" t="-11" r="10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267217" y="263052"/>
                <a:ext cx="6160476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217" y="263052"/>
                <a:ext cx="6160476" cy="1285480"/>
              </a:xfrm>
              <a:prstGeom prst="rect">
                <a:avLst/>
              </a:prstGeom>
              <a:blipFill rotWithShape="1">
                <a:blip r:embed="rId3"/>
                <a:stretch>
                  <a:fillRect l="-7" t="-13" r="2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/>
          <p:cNvCxnSpPr/>
          <p:nvPr/>
        </p:nvCxnSpPr>
        <p:spPr>
          <a:xfrm>
            <a:off x="292963" y="1702420"/>
            <a:ext cx="1154984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856302" y="664392"/>
            <a:ext cx="7009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latin typeface="SimSong" panose="02020300000000000000" pitchFamily="18" charset="-122"/>
                <a:ea typeface="SimSong" panose="02020300000000000000" pitchFamily="18" charset="-122"/>
                <a:cs typeface="Times New Roman" panose="02020603050405020304" pitchFamily="18" charset="0"/>
              </a:rPr>
              <a:t>证明</a:t>
            </a:r>
            <a:r>
              <a:rPr lang="zh-CN" altLang="zh-CN" sz="2400" kern="100" dirty="0">
                <a:latin typeface="SimSong" panose="02020300000000000000" pitchFamily="18" charset="-122"/>
                <a:ea typeface="SimSong" panose="02020300000000000000" pitchFamily="18" charset="-122"/>
                <a:cs typeface="Times New Roman" panose="02020603050405020304" pitchFamily="18" charset="0"/>
              </a:rPr>
              <a:t>：原问题</a:t>
            </a:r>
            <a:r>
              <a:rPr lang="en-US" altLang="zh-CN" sz="2400" kern="100" dirty="0">
                <a:latin typeface="SimSong" panose="02020300000000000000" pitchFamily="18" charset="-122"/>
                <a:ea typeface="SimSong" panose="02020300000000000000" pitchFamily="18" charset="-122"/>
                <a:cs typeface="Times New Roman" panose="02020603050405020304" pitchFamily="18" charset="0"/>
              </a:rPr>
              <a:t>(P)                            </a:t>
            </a:r>
            <a:r>
              <a:rPr lang="zh-CN" altLang="zh-CN" sz="2400" kern="100" dirty="0">
                <a:latin typeface="SimSong" panose="02020300000000000000" pitchFamily="18" charset="-122"/>
                <a:ea typeface="SimSong" panose="02020300000000000000" pitchFamily="18" charset="-122"/>
                <a:cs typeface="Times New Roman" panose="02020603050405020304" pitchFamily="18" charset="0"/>
              </a:rPr>
              <a:t>等价于</a:t>
            </a:r>
            <a:endParaRPr lang="en-US" altLang="zh-CN" sz="2400" kern="100" dirty="0">
              <a:latin typeface="SimSong" panose="02020300000000000000" pitchFamily="18" charset="-122"/>
              <a:ea typeface="SimSong" panose="02020300000000000000" pitchFamily="18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0" y="1989632"/>
                <a:ext cx="6096000" cy="1439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400" dirty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indent="2667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&amp;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𝐴𝑥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𝑠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&amp;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s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89632"/>
                <a:ext cx="6096000" cy="1439368"/>
              </a:xfrm>
              <a:prstGeom prst="rect">
                <a:avLst/>
              </a:prstGeom>
              <a:blipFill rotWithShape="1">
                <a:blip r:embed="rId1"/>
                <a:stretch>
                  <a:fillRect t="-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689649" y="1619146"/>
                <a:ext cx="6096000" cy="2180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即</a:t>
                </a:r>
                <a:r>
                  <a:rPr lang="en-US" altLang="zh-CN" sz="2400" dirty="0">
                    <a:latin typeface="SimSong" panose="02020300000000000000" pitchFamily="18" charset="-122"/>
                    <a:ea typeface="SimSong" panose="02020300000000000000" pitchFamily="18" charset="-122"/>
                  </a:rPr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min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𝑧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𝑠</m:t>
                                  </m:r>
                                </m:e>
                              </m:mr>
                            </m:m>
                          </m:e>
                        </m:d>
                      </m:e>
                    </m:func>
                  </m:oMath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d>
                      <m:dPr>
                        <m:begChr m:val="{"/>
                        <m:endChr m:val="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eqArrPr>
                          <m:e>
                            <m:r>
                              <a:rPr lang="en-US" sz="24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𝐼</m:t>
                                      </m:r>
                                    </m:e>
                                  </m:mr>
                                </m:m>
                              </m:e>
                            </m:d>
                            <m:d>
                              <m:d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24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e>
                            <m:r>
                              <a:rPr lang="en-US" sz="24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24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≥</m:t>
                            </m:r>
                            <m:r>
                              <a:rPr lang="en-US" sz="24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eqAr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     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(∗)</m:t>
                        </m:r>
                      </m:e>
                    </m:d>
                  </m:oMath>
                </a14:m>
                <a:r>
                  <a:rPr lang="en-US" sz="2400" dirty="0">
                    <a:effectLst/>
                  </a:rPr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49" y="1619146"/>
                <a:ext cx="6096000" cy="2180340"/>
              </a:xfrm>
              <a:prstGeom prst="rect">
                <a:avLst/>
              </a:prstGeom>
              <a:blipFill rotWithShape="1">
                <a:blip r:embed="rId2"/>
                <a:stretch>
                  <a:fillRect l="-1" t="-24" r="1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4"/>
              <p:cNvSpPr txBox="1"/>
              <p:nvPr/>
            </p:nvSpPr>
            <p:spPr>
              <a:xfrm>
                <a:off x="1554739" y="309109"/>
                <a:ext cx="6160476" cy="1439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400" dirty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indent="2667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&amp;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𝐴𝑥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&amp;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739" y="309109"/>
                <a:ext cx="6160476" cy="1439368"/>
              </a:xfrm>
              <a:prstGeom prst="rect">
                <a:avLst/>
              </a:prstGeom>
              <a:blipFill rotWithShape="1">
                <a:blip r:embed="rId3"/>
                <a:stretch>
                  <a:fillRect l="-4" t="-35" r="10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113694" y="4040641"/>
                <a:ext cx="11078306" cy="25402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由互补松弛定理知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分别是</a:t>
                </a: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(*)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和其对偶问题</a:t>
                </a: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(D)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的最优解当且仅当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 −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94" y="4040641"/>
                <a:ext cx="11078306" cy="2540247"/>
              </a:xfrm>
              <a:prstGeom prst="rect">
                <a:avLst/>
              </a:prstGeom>
              <a:blipFill rotWithShape="1">
                <a:blip r:embed="rId4"/>
                <a:stretch>
                  <a:fillRect l="-5" t="-5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67509" y="464246"/>
                <a:ext cx="11078306" cy="5375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由互补松弛定理知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分别是</a:t>
                </a: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(*)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和其对偶问题</a:t>
                </a: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(D)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的最优解当且仅当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 −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即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注意到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acc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，所以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因为上式中的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均非负，所以</a:t>
                </a: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=(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. 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09" y="464246"/>
                <a:ext cx="11078306" cy="5375511"/>
              </a:xfrm>
              <a:prstGeom prst="rect">
                <a:avLst/>
              </a:prstGeom>
              <a:blipFill rotWithShape="1">
                <a:blip r:embed="rId1"/>
                <a:stretch>
                  <a:fillRect l="-1" t="-1" r="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39615" y="951827"/>
                <a:ext cx="11312769" cy="3413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例</a:t>
                </a:r>
                <a:r>
                  <a:rPr lang="en-US" sz="2400" dirty="0">
                    <a:effectLst/>
                    <a:latin typeface="+mn-ea"/>
                  </a:rPr>
                  <a:t> </a:t>
                </a:r>
                <a:r>
                  <a:rPr lang="zh-CN" sz="2400" dirty="0">
                    <a:effectLst/>
                    <a:latin typeface="+mn-ea"/>
                  </a:rPr>
                  <a:t>给定如下线性规划问题</a:t>
                </a:r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effectLst/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80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试用互补松弛定理证明：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lin"/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num>
                              <m:den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den>
                        </m:f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为它的最优解。</a:t>
                </a:r>
                <a:endParaRPr lang="en-US" sz="2400" dirty="0">
                  <a:effectLst/>
                  <a:latin typeface="+mn-ea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15" y="951827"/>
                <a:ext cx="11312769" cy="3413435"/>
              </a:xfrm>
              <a:prstGeom prst="rect">
                <a:avLst/>
              </a:prstGeom>
              <a:blipFill rotWithShape="1">
                <a:blip r:embed="rId1"/>
                <a:stretch>
                  <a:fillRect l="-2" t="-17" r="4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92349" y="1746760"/>
                <a:ext cx="11807301" cy="6476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解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若把给定的线性规划问题看作对偶问题，则其原问题为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60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40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80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直接验证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可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20</m:t>
                            </m:r>
                          </m:num>
                          <m:den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3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,</m:t>
                            </m:r>
                            <m:f>
                              <m:fPr>
                                <m:type m:val="lin"/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50</m:t>
                                </m:r>
                              </m:num>
                              <m:den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3</m:t>
                                </m:r>
                              </m:den>
                            </m:f>
                          </m:den>
                        </m:f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是对偶问题的一个可行解</a:t>
                </a:r>
                <a:r>
                  <a:rPr lang="zh-CN" altLang="en-US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  <m:r>
                              <a:rPr lang="en-US" altLang="zh-CN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  <m:r>
                              <a:rPr lang="en-US" altLang="zh-CN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为原问题</a:t>
                </a:r>
                <a:r>
                  <a:rPr lang="zh-CN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的一个可行解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。由最优性定理知，原问题和对偶问题均有最优解，不妨设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为原问题的最优解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。如果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20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3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,</m:t>
                            </m:r>
                            <m:f>
                              <m:fPr>
                                <m:type m:val="lin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50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3</m:t>
                                </m:r>
                              </m:den>
                            </m:f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是对偶问题的最优解，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由互补松弛定理知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US" altLang="zh-CN" sz="24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49" y="1746760"/>
                <a:ext cx="11807301" cy="6476709"/>
              </a:xfrm>
              <a:prstGeom prst="rect">
                <a:avLst/>
              </a:prstGeom>
              <a:blipFill rotWithShape="1">
                <a:blip r:embed="rId1"/>
                <a:stretch>
                  <a:fillRect l="-5" t="-8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601" y="181115"/>
            <a:ext cx="3229520" cy="175421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96340" y="329754"/>
                <a:ext cx="10679723" cy="5235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 algn="just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zh-CN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因为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20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&gt;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zh-CN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因为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5</m:t>
                                  </m:r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&gt;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zh-CN" sz="24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因为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160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80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8330" algn="just">
                  <a:lnSpc>
                    <a:spcPct val="120000"/>
                  </a:lnSpc>
                </a:pPr>
                <a:r>
                  <a:rPr lang="zh-CN" sz="24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由此方程组可解得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。直接验证可知它是原问题的一个可行解。现</a:t>
                </a:r>
                <a:r>
                  <a:rPr lang="zh-CN" altLang="en-US" sz="24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分别是对偶问题和原问题的可行解，</a:t>
                </a:r>
                <a:r>
                  <a:rPr lang="zh-CN" altLang="en-US" sz="24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且</a:t>
                </a:r>
                <a:r>
                  <a:rPr lang="zh-CN" sz="24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满足互补松弛条件，故分别是对偶问题和原问题的最优解。</a:t>
                </a:r>
                <a:r>
                  <a:rPr lang="en-US" sz="2400" dirty="0">
                    <a:effectLst/>
                  </a:rPr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40" y="329754"/>
                <a:ext cx="10679723" cy="5235151"/>
              </a:xfrm>
              <a:prstGeom prst="rect">
                <a:avLst/>
              </a:prstGeom>
              <a:blipFill rotWithShape="1">
                <a:blip r:embed="rId1"/>
                <a:stretch>
                  <a:fillRect l="-1" t="-4" r="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13759</Words>
  <Application>WPS 演示</Application>
  <PresentationFormat>宽屏</PresentationFormat>
  <Paragraphs>876</Paragraphs>
  <Slides>46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3" baseType="lpstr">
      <vt:lpstr>Arial</vt:lpstr>
      <vt:lpstr>宋体</vt:lpstr>
      <vt:lpstr>Wingdings</vt:lpstr>
      <vt:lpstr>黑体</vt:lpstr>
      <vt:lpstr>等线</vt:lpstr>
      <vt:lpstr>SimSong</vt:lpstr>
      <vt:lpstr>Times New Roman</vt:lpstr>
      <vt:lpstr>Cambria Math</vt:lpstr>
      <vt:lpstr>Tahoma</vt:lpstr>
      <vt:lpstr>等线 Light</vt:lpstr>
      <vt:lpstr>Calibri Light</vt:lpstr>
      <vt:lpstr>Calibri</vt:lpstr>
      <vt:lpstr>微软雅黑</vt:lpstr>
      <vt:lpstr>Arial Unicode MS</vt:lpstr>
      <vt:lpstr>SimSong</vt:lpstr>
      <vt:lpstr>Symbol</vt:lpstr>
      <vt:lpstr>Office 主题​​</vt:lpstr>
      <vt:lpstr>PowerPoint 演示文稿</vt:lpstr>
      <vt:lpstr>对偶问题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对偶理论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对偶单纯形法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 Leon</dc:creator>
  <cp:lastModifiedBy>淡忘旧梦</cp:lastModifiedBy>
  <cp:revision>142</cp:revision>
  <dcterms:created xsi:type="dcterms:W3CDTF">2020-12-08T13:29:00Z</dcterms:created>
  <dcterms:modified xsi:type="dcterms:W3CDTF">2026-01-02T13:58:35Z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7E5FD2BC57D2474FB52E59A8C97D9BE2_12</vt:lpwstr>
  </property>
</Properties>
</file>